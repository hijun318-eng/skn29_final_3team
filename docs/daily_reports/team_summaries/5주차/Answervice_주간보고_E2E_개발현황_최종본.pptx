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0497" autoAdjust="0"/>
  </p:normalViewPr>
  <p:slideViewPr>
    <p:cSldViewPr snapToGrid="0" snapToObjects="1">
      <p:cViewPr varScale="1">
        <p:scale>
          <a:sx n="66" d="100"/>
          <a:sy n="66" d="100"/>
        </p:scale>
        <p:origin x="1301" y="53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</a:t>
            </a:r>
            <a:r>
              <a:rPr lang="ko-KR" altLang="en-US" dirty="0"/>
              <a:t>팀 주간 보고 시작하겠습니다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이번 주 진행 상황은 크게 세 </a:t>
            </a:r>
            <a:r>
              <a:rPr lang="ko-KR" altLang="en-US" dirty="0"/>
              <a:t>가지 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ko-KR" dirty="0"/>
              <a:t>첫 번째는 </a:t>
            </a:r>
            <a:r>
              <a:rPr lang="ko-KR" altLang="ko-KR" b="1" dirty="0"/>
              <a:t>개발 방식 변경</a:t>
            </a:r>
            <a:r>
              <a:rPr lang="ko-KR" altLang="ko-KR" dirty="0"/>
              <a:t>, </a:t>
            </a:r>
            <a:br>
              <a:rPr lang="en-US" altLang="ko-KR" dirty="0"/>
            </a:br>
            <a:r>
              <a:rPr lang="ko-KR" altLang="ko-KR" dirty="0"/>
              <a:t>두 번째는 </a:t>
            </a:r>
            <a:r>
              <a:rPr lang="ko-KR" altLang="ko-KR" b="1" dirty="0" err="1"/>
              <a:t>GPT를</a:t>
            </a:r>
            <a:r>
              <a:rPr lang="ko-KR" altLang="ko-KR" b="1" dirty="0"/>
              <a:t> 활용한 E2E 검증</a:t>
            </a:r>
            <a:r>
              <a:rPr lang="ko-KR" altLang="ko-KR" dirty="0"/>
              <a:t>, </a:t>
            </a:r>
            <a:br>
              <a:rPr lang="en-US" altLang="ko-KR" dirty="0"/>
            </a:br>
            <a:r>
              <a:rPr lang="ko-KR" altLang="ko-KR" dirty="0"/>
              <a:t>세 번째는 </a:t>
            </a:r>
            <a:r>
              <a:rPr lang="ko-KR" altLang="ko-KR" b="1" dirty="0"/>
              <a:t>합성 데이터 개선 및 </a:t>
            </a:r>
            <a:r>
              <a:rPr lang="ko-KR" altLang="ko-KR" b="1" dirty="0" err="1"/>
              <a:t>sLLM</a:t>
            </a:r>
            <a:r>
              <a:rPr lang="ko-KR" altLang="ko-KR" b="1" dirty="0"/>
              <a:t> 도입</a:t>
            </a:r>
            <a:r>
              <a:rPr lang="ko-KR" altLang="en-US" b="1" dirty="0"/>
              <a:t>예정</a:t>
            </a:r>
            <a:r>
              <a:rPr lang="ko-KR" altLang="ko-KR" dirty="0"/>
              <a:t>입니다.</a:t>
            </a:r>
          </a:p>
          <a:p>
            <a:r>
              <a:rPr lang="ko-KR" altLang="ko-KR" dirty="0"/>
              <a:t>그리고 마지막으로 </a:t>
            </a:r>
            <a:r>
              <a:rPr lang="ko-KR" altLang="ko-KR" b="1" dirty="0"/>
              <a:t>향후 계획</a:t>
            </a:r>
            <a:r>
              <a:rPr lang="ko-KR" altLang="ko-KR" dirty="0"/>
              <a:t>까지 말씀드리며 마치겠습니다.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"기존에는 R1부터 R5까지 역할 구조로 </a:t>
            </a:r>
            <a:r>
              <a:rPr lang="ko-KR" altLang="ko-KR" dirty="0" err="1"/>
              <a:t>하네스를</a:t>
            </a:r>
            <a:r>
              <a:rPr lang="ko-KR" altLang="ko-KR" dirty="0"/>
              <a:t> 적용해 개발을 진행했습니다.</a:t>
            </a:r>
          </a:p>
          <a:p>
            <a:r>
              <a:rPr lang="ko-KR" altLang="en-US" dirty="0" err="1"/>
              <a:t>하네스를</a:t>
            </a:r>
            <a:r>
              <a:rPr lang="ko-KR" altLang="en-US" dirty="0"/>
              <a:t> 너무 강하게 정하고</a:t>
            </a:r>
            <a:r>
              <a:rPr lang="en-US" altLang="ko-KR" dirty="0"/>
              <a:t> </a:t>
            </a:r>
            <a:r>
              <a:rPr lang="ko-KR" altLang="en-US" dirty="0"/>
              <a:t>개발을 해보니 </a:t>
            </a:r>
            <a:r>
              <a:rPr lang="ko-KR" altLang="ko-KR" dirty="0"/>
              <a:t>검증에는 도움이 되었지만, 단계마다 R1 승인을 </a:t>
            </a:r>
            <a:r>
              <a:rPr lang="ko-KR" altLang="en-US" dirty="0"/>
              <a:t>반복하다 </a:t>
            </a:r>
            <a:r>
              <a:rPr lang="ko-KR" altLang="ko-KR" dirty="0"/>
              <a:t>보니 개발 흐름이 자주 끊기고 진행 속도가 느려졌습니다.</a:t>
            </a:r>
            <a:br>
              <a:rPr lang="en-US" altLang="ko-KR" dirty="0"/>
            </a:br>
            <a:endParaRPr lang="ko-KR" altLang="ko-KR" dirty="0"/>
          </a:p>
          <a:p>
            <a:r>
              <a:rPr lang="ko-KR" altLang="ko-KR" dirty="0"/>
              <a:t>또한, 개별 작업은 진행되었으나 전체 E2E 연결이 지연되면서, </a:t>
            </a:r>
            <a:br>
              <a:rPr lang="en-US" altLang="ko-KR" dirty="0"/>
            </a:br>
            <a:r>
              <a:rPr lang="ko-KR" altLang="ko-KR" b="1" dirty="0"/>
              <a:t>결국 </a:t>
            </a:r>
            <a:r>
              <a:rPr lang="ko-KR" altLang="ko-KR" b="1" dirty="0" err="1"/>
              <a:t>하네스</a:t>
            </a:r>
            <a:r>
              <a:rPr lang="ko-KR" altLang="ko-KR" b="1" dirty="0"/>
              <a:t> 적용과 승인 중심의 개발 방식을 변경하기로 팀 내부적으로 결정했습니다.</a:t>
            </a:r>
            <a:r>
              <a:rPr lang="ko-KR" altLang="ko-KR" dirty="0"/>
              <a:t>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"멘토</a:t>
            </a:r>
            <a:r>
              <a:rPr lang="ko-KR" altLang="en-US" dirty="0"/>
              <a:t>님께서도</a:t>
            </a:r>
            <a:r>
              <a:rPr lang="ko-KR" altLang="ko-KR" dirty="0"/>
              <a:t>**</a:t>
            </a:r>
            <a:r>
              <a:rPr lang="ko-KR" altLang="en-US" dirty="0"/>
              <a:t>완벽히</a:t>
            </a:r>
            <a:r>
              <a:rPr lang="ko-KR" altLang="ko-KR" dirty="0"/>
              <a:t> 만들기</a:t>
            </a:r>
            <a:r>
              <a:rPr lang="ko-KR" altLang="en-US" dirty="0"/>
              <a:t>보다는</a:t>
            </a:r>
            <a:r>
              <a:rPr lang="ko-KR" altLang="ko-KR" dirty="0"/>
              <a:t> 먼저 전체 흐름이 연결되는지 확인하고, 그 이후에 개선해 나가라＇**는 피드백을 받았습니다.</a:t>
            </a:r>
            <a:br>
              <a:rPr lang="en-US" altLang="ko-KR" dirty="0"/>
            </a:br>
            <a:endParaRPr lang="ko-KR" altLang="ko-KR" dirty="0"/>
          </a:p>
          <a:p>
            <a:r>
              <a:rPr lang="ko-KR" altLang="ko-KR" dirty="0"/>
              <a:t>이에 따라 </a:t>
            </a:r>
            <a:r>
              <a:rPr lang="ko-KR" altLang="ko-KR" dirty="0" err="1"/>
              <a:t>하네스</a:t>
            </a:r>
            <a:r>
              <a:rPr lang="ko-KR" altLang="ko-KR" dirty="0"/>
              <a:t> 제약과 R1 반복 승인 구조를 제거</a:t>
            </a:r>
            <a:r>
              <a:rPr lang="ko-KR" altLang="en-US" dirty="0"/>
              <a:t>했습니다</a:t>
            </a:r>
            <a:r>
              <a:rPr lang="en-US" altLang="ko-KR" dirty="0"/>
              <a:t>.</a:t>
            </a:r>
            <a:br>
              <a:rPr lang="en-US" altLang="ko-KR" dirty="0"/>
            </a:br>
            <a:endParaRPr lang="ko-KR" altLang="ko-KR" dirty="0"/>
          </a:p>
          <a:p>
            <a:r>
              <a:rPr lang="ko-KR" altLang="ko-KR" dirty="0"/>
              <a:t>개별 기능의 완성보다 </a:t>
            </a:r>
            <a:r>
              <a:rPr lang="ko-KR" altLang="ko-KR" b="1" dirty="0"/>
              <a:t>전체 E2E 연결을 최우선으로 진행하고, 실제 실행 결과를 보며 문제를 점진적으로 개선하는 방식</a:t>
            </a:r>
            <a:r>
              <a:rPr lang="ko-KR" altLang="ko-KR" dirty="0"/>
              <a:t>으로 전환했습니다."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현재는 전체 기능 검증을 위해 </a:t>
            </a:r>
            <a:r>
              <a:rPr lang="ko-KR" altLang="ko-KR" dirty="0" err="1"/>
              <a:t>GPT를</a:t>
            </a:r>
            <a:r>
              <a:rPr lang="ko-KR" altLang="ko-KR" dirty="0"/>
              <a:t> 임시 대체 모델로 활용하고 있습니다.</a:t>
            </a:r>
          </a:p>
          <a:p>
            <a:endParaRPr lang="en-US" altLang="ko-KR" dirty="0"/>
          </a:p>
          <a:p>
            <a:r>
              <a:rPr lang="ko-KR" altLang="ko-KR" dirty="0"/>
              <a:t>상단 프로세스처럼 </a:t>
            </a:r>
            <a:r>
              <a:rPr lang="ko-KR" altLang="ko-KR" b="1" dirty="0"/>
              <a:t>사용자의 자연어 질문부터 SQL 생성, 데이터 분석, 그리고 최종 보고서 작성까지 이어지는 전체 흐름</a:t>
            </a:r>
            <a:r>
              <a:rPr lang="ko-KR" altLang="ko-KR" dirty="0"/>
              <a:t>을 하나로 연결해 점검 중입니다.</a:t>
            </a:r>
          </a:p>
          <a:p>
            <a:endParaRPr lang="en-US" altLang="ko-KR" dirty="0"/>
          </a:p>
          <a:p>
            <a:r>
              <a:rPr lang="ko-KR" altLang="ko-KR" dirty="0"/>
              <a:t>이 과정에서 </a:t>
            </a:r>
            <a:r>
              <a:rPr lang="ko-KR" altLang="en-US" dirty="0"/>
              <a:t>기능적으로 필요하다고 생각하는 부분이나 오류들을 </a:t>
            </a:r>
            <a:r>
              <a:rPr lang="ko-KR" altLang="ko-KR" dirty="0"/>
              <a:t>계속해서 개선해 나가고 있습니다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E2E를 </a:t>
            </a:r>
            <a:r>
              <a:rPr dirty="0" err="1"/>
              <a:t>검증하는</a:t>
            </a:r>
            <a:r>
              <a:rPr dirty="0"/>
              <a:t> </a:t>
            </a:r>
            <a:r>
              <a:rPr dirty="0" err="1"/>
              <a:t>과정에서</a:t>
            </a:r>
            <a:r>
              <a:rPr lang="en-US" dirty="0"/>
              <a:t> </a:t>
            </a:r>
            <a:r>
              <a:rPr lang="ko-KR" altLang="ko-KR" dirty="0"/>
              <a:t>기존 합성 데이터가 특정 시나리오에만 맞춰져 있다는 한계를 발견했습니다.</a:t>
            </a:r>
          </a:p>
          <a:p>
            <a:r>
              <a:rPr lang="ko-KR" altLang="ko-KR" dirty="0"/>
              <a:t>다양한 사용자 질문이나 분석 조건을 검증하기엔 현실성이 부족하다고 판단</a:t>
            </a:r>
            <a:r>
              <a:rPr lang="ko-KR" altLang="en-US" dirty="0"/>
              <a:t>해서</a:t>
            </a:r>
            <a:r>
              <a:rPr lang="en-US" altLang="ko-KR" b="0" dirty="0"/>
              <a:t> </a:t>
            </a:r>
            <a:r>
              <a:rPr lang="ko-KR" altLang="ko-KR" b="1" dirty="0" err="1"/>
              <a:t>워커힐</a:t>
            </a:r>
            <a:r>
              <a:rPr lang="ko-KR" altLang="ko-KR" b="1" dirty="0"/>
              <a:t> 공개 정보를 참고해 실제 호텔 운영 데이터 기준으로 생성 전략을 재설계</a:t>
            </a:r>
            <a:r>
              <a:rPr lang="ko-KR" altLang="ko-KR" dirty="0"/>
              <a:t>했습니다.</a:t>
            </a:r>
          </a:p>
          <a:p>
            <a:r>
              <a:rPr lang="ko-KR" altLang="ko-KR" dirty="0"/>
              <a:t>현재는 실제 운영 환경에 가까운 품질과 구조를 확보하며 새롭게 데이터를 생성하고 있습니다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 err="1"/>
              <a:t>sLLM</a:t>
            </a:r>
            <a:r>
              <a:rPr lang="ko-KR" altLang="ko-KR" dirty="0"/>
              <a:t> 모델 자체는 기존 </a:t>
            </a:r>
            <a:r>
              <a:rPr lang="ko-KR" altLang="en-US" dirty="0"/>
              <a:t>합성 </a:t>
            </a:r>
            <a:r>
              <a:rPr lang="ko-KR" altLang="ko-KR" dirty="0"/>
              <a:t>데이터로</a:t>
            </a:r>
            <a:r>
              <a:rPr lang="ko-KR" altLang="en-US" dirty="0"/>
              <a:t> 학습을 완료한 상태입니다</a:t>
            </a:r>
            <a:r>
              <a:rPr lang="en-US" altLang="ko-KR" dirty="0"/>
              <a:t>.</a:t>
            </a:r>
            <a:r>
              <a:rPr lang="ko-KR" altLang="ko-KR" dirty="0"/>
              <a:t>.</a:t>
            </a:r>
            <a:br>
              <a:rPr lang="en-US" altLang="ko-KR" dirty="0"/>
            </a:br>
            <a:endParaRPr lang="ko-KR" altLang="ko-KR" dirty="0"/>
          </a:p>
          <a:p>
            <a:r>
              <a:rPr lang="ko-KR" altLang="ko-KR" dirty="0"/>
              <a:t>원래는</a:t>
            </a:r>
            <a:r>
              <a:rPr lang="en-US" altLang="ko-KR" dirty="0"/>
              <a:t> </a:t>
            </a:r>
            <a:r>
              <a:rPr lang="en-US" altLang="ko-KR" dirty="0" err="1"/>
              <a:t>sLLM</a:t>
            </a:r>
            <a:r>
              <a:rPr lang="ko-KR" altLang="en-US" dirty="0"/>
              <a:t>이 </a:t>
            </a:r>
            <a:r>
              <a:rPr lang="en-US" altLang="ko-KR" dirty="0"/>
              <a:t>SQL</a:t>
            </a:r>
            <a:r>
              <a:rPr lang="ko-KR" altLang="en-US" dirty="0"/>
              <a:t>을 생성하도록 설계를 했지만</a:t>
            </a:r>
            <a:r>
              <a:rPr lang="en-US" altLang="ko-KR" dirty="0"/>
              <a:t>, </a:t>
            </a:r>
            <a:r>
              <a:rPr lang="ko-KR" altLang="en-US" dirty="0"/>
              <a:t>합성 </a:t>
            </a:r>
            <a:r>
              <a:rPr lang="ko-KR" altLang="ko-KR" b="1" dirty="0"/>
              <a:t>데이터 기준이 새로 바뀌었기 때문에, </a:t>
            </a:r>
            <a:r>
              <a:rPr lang="ko-KR" altLang="en-US" b="1" dirty="0"/>
              <a:t>현재 학습된 </a:t>
            </a:r>
            <a:r>
              <a:rPr lang="ko-KR" altLang="ko-KR" b="1" dirty="0"/>
              <a:t>모델이 새 데이터에서도 잘 맞는지 먼저 확인</a:t>
            </a:r>
            <a:r>
              <a:rPr lang="ko-KR" altLang="ko-KR" dirty="0"/>
              <a:t>해 볼 필요가 있</a:t>
            </a:r>
            <a:r>
              <a:rPr lang="ko-KR" altLang="en-US" dirty="0"/>
              <a:t>을 것 같습니다</a:t>
            </a:r>
            <a:r>
              <a:rPr lang="en-US" altLang="ko-KR" dirty="0"/>
              <a:t>.</a:t>
            </a:r>
            <a:br>
              <a:rPr lang="en-US" altLang="ko-KR" dirty="0"/>
            </a:br>
            <a:endParaRPr lang="ko-KR" altLang="ko-KR" dirty="0"/>
          </a:p>
          <a:p>
            <a:r>
              <a:rPr lang="ko-KR" altLang="ko-KR" b="1" dirty="0"/>
              <a:t>만약 새 </a:t>
            </a:r>
            <a:r>
              <a:rPr lang="ko-KR" altLang="en-US" b="1" dirty="0"/>
              <a:t>합성 데이터</a:t>
            </a:r>
            <a:r>
              <a:rPr lang="ko-KR" altLang="ko-KR" b="1" dirty="0"/>
              <a:t>에 잘 맞지 않는다면 다시 학습</a:t>
            </a:r>
            <a:r>
              <a:rPr lang="ko-KR" altLang="en-US" b="1" dirty="0"/>
              <a:t>을 </a:t>
            </a:r>
            <a:r>
              <a:rPr lang="ko-KR" altLang="ko-KR" b="1" dirty="0"/>
              <a:t>진행할 수도 있으며</a:t>
            </a:r>
            <a:r>
              <a:rPr lang="ko-KR" altLang="ko-KR" dirty="0"/>
              <a:t>, 최종 검증을 거친 뒤에 </a:t>
            </a:r>
            <a:r>
              <a:rPr lang="ko-KR" altLang="ko-KR" dirty="0" err="1"/>
              <a:t>RunPod에</a:t>
            </a:r>
            <a:r>
              <a:rPr lang="ko-KR" altLang="ko-KR" dirty="0"/>
              <a:t> 올려서 E2E 흐름에 연결할 계획입니다.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앞으로는</a:t>
            </a:r>
            <a:r>
              <a:rPr dirty="0"/>
              <a:t> </a:t>
            </a:r>
            <a:r>
              <a:rPr dirty="0" err="1"/>
              <a:t>분석과</a:t>
            </a:r>
            <a:r>
              <a:rPr dirty="0"/>
              <a:t> </a:t>
            </a:r>
            <a:r>
              <a:rPr dirty="0" err="1"/>
              <a:t>보고서</a:t>
            </a:r>
            <a:r>
              <a:rPr dirty="0"/>
              <a:t> </a:t>
            </a:r>
            <a:r>
              <a:rPr dirty="0" err="1"/>
              <a:t>기능을</a:t>
            </a:r>
            <a:r>
              <a:rPr dirty="0"/>
              <a:t> </a:t>
            </a:r>
            <a:r>
              <a:rPr dirty="0" err="1"/>
              <a:t>계속</a:t>
            </a:r>
            <a:r>
              <a:rPr dirty="0"/>
              <a:t> </a:t>
            </a:r>
            <a:r>
              <a:rPr dirty="0" err="1"/>
              <a:t>다듬고</a:t>
            </a:r>
            <a:r>
              <a:rPr dirty="0"/>
              <a:t>,</a:t>
            </a:r>
            <a:r>
              <a:rPr lang="en-US" dirty="0"/>
              <a:t> </a:t>
            </a:r>
            <a:r>
              <a:rPr lang="ko-KR" altLang="en-US" dirty="0"/>
              <a:t>신규 </a:t>
            </a:r>
            <a:r>
              <a:rPr dirty="0" err="1"/>
              <a:t>합성</a:t>
            </a:r>
            <a:r>
              <a:rPr dirty="0"/>
              <a:t> </a:t>
            </a:r>
            <a:r>
              <a:rPr dirty="0" err="1"/>
              <a:t>데이터로</a:t>
            </a:r>
            <a:r>
              <a:rPr dirty="0"/>
              <a:t> E2E를 </a:t>
            </a:r>
            <a:r>
              <a:rPr dirty="0" err="1"/>
              <a:t>다시</a:t>
            </a:r>
            <a:r>
              <a:rPr dirty="0"/>
              <a:t> </a:t>
            </a:r>
            <a:r>
              <a:rPr dirty="0" err="1"/>
              <a:t>검증하겠습니다</a:t>
            </a:r>
            <a:r>
              <a:rPr dirty="0"/>
              <a:t>. </a:t>
            </a:r>
            <a:br>
              <a:rPr lang="en-US" dirty="0"/>
            </a:br>
            <a:br>
              <a:rPr lang="en-US" dirty="0"/>
            </a:br>
            <a:r>
              <a:rPr dirty="0" err="1"/>
              <a:t>그다음</a:t>
            </a:r>
            <a:r>
              <a:rPr dirty="0"/>
              <a:t> </a:t>
            </a:r>
            <a:r>
              <a:rPr dirty="0" err="1"/>
              <a:t>sLLM을</a:t>
            </a:r>
            <a:r>
              <a:rPr dirty="0"/>
              <a:t> </a:t>
            </a:r>
            <a:r>
              <a:rPr dirty="0" err="1"/>
              <a:t>연결하고</a:t>
            </a:r>
            <a:r>
              <a:rPr dirty="0"/>
              <a:t>, </a:t>
            </a:r>
            <a:r>
              <a:rPr dirty="0" err="1"/>
              <a:t>현재의</a:t>
            </a:r>
            <a:r>
              <a:rPr dirty="0"/>
              <a:t> </a:t>
            </a:r>
            <a:r>
              <a:rPr dirty="0" err="1"/>
              <a:t>역할</a:t>
            </a:r>
            <a:r>
              <a:rPr dirty="0"/>
              <a:t> </a:t>
            </a:r>
            <a:r>
              <a:rPr dirty="0" err="1"/>
              <a:t>구분을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접근</a:t>
            </a:r>
            <a:r>
              <a:rPr dirty="0"/>
              <a:t> </a:t>
            </a:r>
            <a:r>
              <a:rPr dirty="0" err="1"/>
              <a:t>권한까지</a:t>
            </a:r>
            <a:r>
              <a:rPr dirty="0"/>
              <a:t> 더 </a:t>
            </a:r>
            <a:r>
              <a:rPr dirty="0" err="1"/>
              <a:t>세분화할</a:t>
            </a:r>
            <a:r>
              <a:rPr dirty="0"/>
              <a:t> </a:t>
            </a:r>
            <a:r>
              <a:rPr dirty="0" err="1"/>
              <a:t>계획입니다</a:t>
            </a:r>
            <a:r>
              <a:rPr dirty="0"/>
              <a:t>. </a:t>
            </a:r>
            <a:br>
              <a:rPr lang="en-US" dirty="0"/>
            </a:br>
            <a:br>
              <a:rPr lang="en-US" dirty="0"/>
            </a:br>
            <a:r>
              <a:rPr lang="ko-KR" altLang="en-US" dirty="0"/>
              <a:t>감사합니다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4107F62-2F09-4B74-9898-8175D3C98E96}"/>
              </a:ext>
            </a:extLst>
          </p:cNvPr>
          <p:cNvSpPr>
            <a:spLocks noGrp="1"/>
          </p:cNvSpPr>
          <p:nvPr/>
        </p:nvSpPr>
        <p:spPr>
          <a:xfrm>
            <a:off x="822960" y="1828800"/>
            <a:ext cx="10543032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00" b="1" spc="300">
                <a:solidFill>
                  <a:srgbClr val="3AAFB9"/>
                </a:solidFill>
                <a:latin typeface="Pretendard"/>
                <a:ea typeface="Pretendard"/>
                <a:cs typeface="Pretendard"/>
              </a:rPr>
              <a:t>A N S W E R V I C E</a:t>
            </a:r>
            <a:endParaRPr sz="13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6A09DAF-0C13-4B4E-A7BF-8EC2E9A5EE5E}"/>
              </a:ext>
            </a:extLst>
          </p:cNvPr>
          <p:cNvSpPr>
            <a:spLocks noGrp="1"/>
          </p:cNvSpPr>
          <p:nvPr/>
        </p:nvSpPr>
        <p:spPr>
          <a:xfrm>
            <a:off x="822960" y="2286000"/>
            <a:ext cx="10543032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4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주간 보고</a:t>
            </a:r>
            <a:endParaRPr sz="48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635D673-36AF-403E-9BD1-ABB9AE8DD281}"/>
              </a:ext>
            </a:extLst>
          </p:cNvPr>
          <p:cNvSpPr>
            <a:spLocks noGrp="1"/>
          </p:cNvSpPr>
          <p:nvPr/>
        </p:nvSpPr>
        <p:spPr>
          <a:xfrm>
            <a:off x="822960" y="3566160"/>
            <a:ext cx="10543032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800">
                <a:solidFill>
                  <a:srgbClr val="8B949E"/>
                </a:solidFill>
                <a:latin typeface="Pretendard"/>
                <a:ea typeface="Pretendard"/>
                <a:cs typeface="Pretendard"/>
              </a:rPr>
              <a:t>3</a:t>
            </a:r>
            <a:r>
              <a:rPr>
                <a:solidFill>
                  <a:srgbClr val="8B949E"/>
                </a:solidFill>
                <a:latin typeface="Pretendard"/>
                <a:ea typeface="Pretendard"/>
                <a:cs typeface="Pretendard"/>
              </a:rPr>
              <a:t>팀: 대화형 </a:t>
            </a:r>
            <a:r>
              <a:rPr sz="1800">
                <a:solidFill>
                  <a:srgbClr val="8B949E"/>
                </a:solidFill>
                <a:latin typeface="Pretendard"/>
                <a:ea typeface="Pretendard"/>
                <a:cs typeface="Pretendard"/>
              </a:rPr>
              <a:t>데이터 기반 분석 에이전트 및 자동 리포팅 플랫폼</a:t>
            </a:r>
            <a:endParaRPr sz="18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0E5C220-75E1-49CA-946D-3450DD1E5FC6}"/>
              </a:ext>
            </a:extLst>
          </p:cNvPr>
          <p:cNvSpPr>
            <a:spLocks noGrp="1"/>
          </p:cNvSpPr>
          <p:nvPr/>
        </p:nvSpPr>
        <p:spPr>
          <a:xfrm>
            <a:off x="822960" y="5669280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200" b="1">
                <a:solidFill>
                  <a:srgbClr val="D6DCE4"/>
                </a:solidFill>
                <a:latin typeface="Pretendard"/>
                <a:ea typeface="Pretendard"/>
                <a:cs typeface="Pretendard"/>
              </a:rPr>
              <a:t>Answervice</a:t>
            </a:r>
            <a:r>
              <a:rPr sz="1200">
                <a:solidFill>
                  <a:srgbClr val="8B949E"/>
                </a:solidFill>
                <a:latin typeface="Pretendard"/>
                <a:ea typeface="Pretendard"/>
                <a:cs typeface="Pretendard"/>
              </a:rPr>
              <a:t>   |   발표자  </a:t>
            </a:r>
            <a:r>
              <a:rPr sz="1200" u="sng">
                <a:solidFill>
                  <a:srgbClr val="8B949E"/>
                </a:solidFill>
                <a:latin typeface="Pretendard"/>
                <a:ea typeface="Pretendard"/>
                <a:cs typeface="Pretendard"/>
              </a:rPr>
              <a:t>윤대성</a:t>
            </a:r>
            <a:r>
              <a:rPr sz="1200">
                <a:solidFill>
                  <a:srgbClr val="8B949E"/>
                </a:solidFill>
                <a:latin typeface="Pretendard"/>
                <a:ea typeface="Pretendard"/>
                <a:cs typeface="Pretendard"/>
              </a:rPr>
              <a:t>   |   </a:t>
            </a:r>
            <a:r>
              <a:rPr sz="1200" u="sng">
                <a:solidFill>
                  <a:srgbClr val="8B949E"/>
                </a:solidFill>
                <a:latin typeface="Pretendard"/>
                <a:ea typeface="Pretendard"/>
                <a:cs typeface="Pretendard"/>
              </a:rPr>
              <a:t>5주차</a:t>
            </a:r>
            <a:endParaRPr sz="1200" u="sng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A2D9D22-6CB5-4BA6-9410-53322CBBD0F9}"/>
              </a:ext>
            </a:extLst>
          </p:cNvPr>
          <p:cNvSpPr>
            <a:spLocks noGrp="1"/>
          </p:cNvSpPr>
          <p:nvPr/>
        </p:nvSpPr>
        <p:spPr>
          <a:xfrm>
            <a:off x="11365992" y="6473952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4A5568"/>
                </a:solidFill>
                <a:latin typeface="Pretendard"/>
                <a:ea typeface="Pretendard"/>
                <a:cs typeface="Pretendard"/>
              </a:rPr>
              <a:t>1</a:t>
            </a:r>
            <a:endParaRPr sz="100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3E020851-6B27-C989-B673-4982ECD7C1CD}"/>
              </a:ext>
            </a:extLst>
          </p:cNvPr>
          <p:cNvSpPr>
            <a:spLocks noGrp="1"/>
          </p:cNvSpPr>
          <p:nvPr/>
        </p:nvSpPr>
        <p:spPr>
          <a:xfrm>
            <a:off x="822960" y="5669280"/>
            <a:ext cx="2592044" cy="0"/>
          </a:xfrm>
          <a:prstGeom prst="line">
            <a:avLst/>
          </a:prstGeom>
          <a:noFill/>
          <a:ln w="19050">
            <a:solidFill>
              <a:srgbClr val="3AAFB9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204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verview-heading">
            <a:extLst>
              <a:ext uri="{FF2B5EF4-FFF2-40B4-BE49-F238E27FC236}">
                <a16:creationId xmlns:a16="http://schemas.microsoft.com/office/drawing/2014/main" id="{0AC0BC2C-AE2E-4C27-BD54-D744F6CDCB53}"/>
              </a:ext>
            </a:extLst>
          </p:cNvPr>
          <p:cNvSpPr>
            <a:spLocks noGrp="1"/>
          </p:cNvSpPr>
          <p:nvPr/>
        </p:nvSpPr>
        <p:spPr>
          <a:xfrm>
            <a:off x="640080" y="365760"/>
            <a:ext cx="10908792" cy="8229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이번 주 주요 내용</a:t>
            </a:r>
          </a:p>
        </p:txBody>
      </p:sp>
      <p:sp>
        <p:nvSpPr>
          <p:cNvPr id="2" name="overview-subtitle">
            <a:extLst>
              <a:ext uri="{FF2B5EF4-FFF2-40B4-BE49-F238E27FC236}">
                <a16:creationId xmlns:a16="http://schemas.microsoft.com/office/drawing/2014/main" id="{2F7E09CE-809C-4529-BD3C-BA92C505543B}"/>
              </a:ext>
            </a:extLst>
          </p:cNvPr>
          <p:cNvSpPr>
            <a:spLocks noGrp="1"/>
          </p:cNvSpPr>
          <p:nvPr/>
        </p:nvSpPr>
        <p:spPr>
          <a:xfrm>
            <a:off x="640080" y="1190625"/>
            <a:ext cx="10908792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1500">
                <a:solidFill>
                  <a:srgbClr val="8B949E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8B949E"/>
                </a:solidFill>
                <a:latin typeface="Pretendard"/>
                <a:ea typeface="Pretendard"/>
                <a:cs typeface="Pretendard"/>
              </a:rPr>
              <a:t>왜 바꿨는지, 지금 무엇을 검증하는지, 다음에 무엇을 할지 순서대로 말씀드리겠습니다.</a:t>
            </a:r>
          </a:p>
        </p:txBody>
      </p:sp>
      <p:sp>
        <p:nvSpPr>
          <p:cNvPr id="3" name="overview-card-01">
            <a:extLst>
              <a:ext uri="{FF2B5EF4-FFF2-40B4-BE49-F238E27FC236}">
                <a16:creationId xmlns:a16="http://schemas.microsoft.com/office/drawing/2014/main" id="{72A9678A-888A-4A45-8351-FDACB3ADCB2F}"/>
              </a:ext>
            </a:extLst>
          </p:cNvPr>
          <p:cNvSpPr>
            <a:spLocks noGrp="1"/>
          </p:cNvSpPr>
          <p:nvPr/>
        </p:nvSpPr>
        <p:spPr>
          <a:xfrm>
            <a:off x="640080" y="1952625"/>
            <a:ext cx="3333750" cy="2714625"/>
          </a:xfrm>
          <a:prstGeom prst="roundRect">
            <a:avLst>
              <a:gd name="adj" fmla="val 4211"/>
            </a:avLst>
          </a:prstGeom>
          <a:solidFill>
            <a:srgbClr val="1C2430"/>
          </a:solidFill>
          <a:ln w="9525">
            <a:solidFill>
              <a:srgbClr val="2D38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overview-card-accent-01">
            <a:extLst>
              <a:ext uri="{FF2B5EF4-FFF2-40B4-BE49-F238E27FC236}">
                <a16:creationId xmlns:a16="http://schemas.microsoft.com/office/drawing/2014/main" id="{141CC38B-83D1-40C9-9B82-2C69794E425D}"/>
              </a:ext>
            </a:extLst>
          </p:cNvPr>
          <p:cNvSpPr>
            <a:spLocks noGrp="1"/>
          </p:cNvSpPr>
          <p:nvPr/>
        </p:nvSpPr>
        <p:spPr>
          <a:xfrm>
            <a:off x="640080" y="1952625"/>
            <a:ext cx="3333750" cy="47625"/>
          </a:xfrm>
          <a:prstGeom prst="rect">
            <a:avLst/>
          </a:prstGeom>
          <a:solidFill>
            <a:srgbClr val="3AAFB9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overview-number-01">
            <a:extLst>
              <a:ext uri="{FF2B5EF4-FFF2-40B4-BE49-F238E27FC236}">
                <a16:creationId xmlns:a16="http://schemas.microsoft.com/office/drawing/2014/main" id="{316FE43E-D982-48D3-A0A3-6700A30A30C2}"/>
              </a:ext>
            </a:extLst>
          </p:cNvPr>
          <p:cNvSpPr>
            <a:spLocks noGrp="1"/>
          </p:cNvSpPr>
          <p:nvPr/>
        </p:nvSpPr>
        <p:spPr>
          <a:xfrm>
            <a:off x="906780" y="2219325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1350" b="1">
                <a:solidFill>
                  <a:srgbClr val="3AAFB9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3AAFB9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6" name="overview-title-01">
            <a:extLst>
              <a:ext uri="{FF2B5EF4-FFF2-40B4-BE49-F238E27FC236}">
                <a16:creationId xmlns:a16="http://schemas.microsoft.com/office/drawing/2014/main" id="{692956CB-64B4-4B6F-BA60-952FD2C1FAFC}"/>
              </a:ext>
            </a:extLst>
          </p:cNvPr>
          <p:cNvSpPr>
            <a:spLocks noGrp="1"/>
          </p:cNvSpPr>
          <p:nvPr/>
        </p:nvSpPr>
        <p:spPr>
          <a:xfrm>
            <a:off x="906780" y="2695575"/>
            <a:ext cx="2800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개발 방식 변경</a:t>
            </a:r>
          </a:p>
        </p:txBody>
      </p:sp>
      <p:sp>
        <p:nvSpPr>
          <p:cNvPr id="7" name="overview-body-01">
            <a:extLst>
              <a:ext uri="{FF2B5EF4-FFF2-40B4-BE49-F238E27FC236}">
                <a16:creationId xmlns:a16="http://schemas.microsoft.com/office/drawing/2014/main" id="{9DFDA3BC-A064-41F9-8AE6-56DF90036D36}"/>
              </a:ext>
            </a:extLst>
          </p:cNvPr>
          <p:cNvSpPr>
            <a:spLocks noGrp="1"/>
          </p:cNvSpPr>
          <p:nvPr/>
        </p:nvSpPr>
        <p:spPr>
          <a:xfrm>
            <a:off x="906780" y="3381375"/>
            <a:ext cx="28003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lnSpc>
                <a:spcPct val="135000"/>
              </a:lnSpc>
              <a:buNone/>
              <a:defRPr sz="1500">
                <a:solidFill>
                  <a:srgbClr val="D6DCE4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D6DCE4"/>
                </a:solidFill>
                <a:latin typeface="Pretendard"/>
                <a:ea typeface="Pretendard"/>
                <a:cs typeface="Pretendard"/>
              </a:rPr>
              <a:t>하네스·R1 승인 중심에서</a:t>
            </a:r>
          </a:p>
          <a:p>
            <a:pPr algn="l">
              <a:lnSpc>
                <a:spcPct val="135000"/>
              </a:lnSpc>
              <a:buNone/>
              <a:defRPr sz="1500">
                <a:solidFill>
                  <a:srgbClr val="D6DCE4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D6DCE4"/>
                </a:solidFill>
                <a:latin typeface="Pretendard"/>
                <a:ea typeface="Pretendard"/>
                <a:cs typeface="Pretendard"/>
              </a:rPr>
              <a:t>E2E 우선 개발로 전환</a:t>
            </a:r>
          </a:p>
        </p:txBody>
      </p:sp>
      <p:sp>
        <p:nvSpPr>
          <p:cNvPr id="8" name="overview-card-02">
            <a:extLst>
              <a:ext uri="{FF2B5EF4-FFF2-40B4-BE49-F238E27FC236}">
                <a16:creationId xmlns:a16="http://schemas.microsoft.com/office/drawing/2014/main" id="{D47D6046-1B73-4A09-BE46-9A18DA5B734B}"/>
              </a:ext>
            </a:extLst>
          </p:cNvPr>
          <p:cNvSpPr>
            <a:spLocks noGrp="1"/>
          </p:cNvSpPr>
          <p:nvPr/>
        </p:nvSpPr>
        <p:spPr>
          <a:xfrm>
            <a:off x="4429125" y="1952625"/>
            <a:ext cx="3333750" cy="2714625"/>
          </a:xfrm>
          <a:prstGeom prst="roundRect">
            <a:avLst>
              <a:gd name="adj" fmla="val 4211"/>
            </a:avLst>
          </a:prstGeom>
          <a:solidFill>
            <a:srgbClr val="1C2430"/>
          </a:solidFill>
          <a:ln w="9525">
            <a:solidFill>
              <a:srgbClr val="2D38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overview-card-accent-02">
            <a:extLst>
              <a:ext uri="{FF2B5EF4-FFF2-40B4-BE49-F238E27FC236}">
                <a16:creationId xmlns:a16="http://schemas.microsoft.com/office/drawing/2014/main" id="{EA35FAEC-74AD-4E3E-9B01-E22963475075}"/>
              </a:ext>
            </a:extLst>
          </p:cNvPr>
          <p:cNvSpPr>
            <a:spLocks noGrp="1"/>
          </p:cNvSpPr>
          <p:nvPr/>
        </p:nvSpPr>
        <p:spPr>
          <a:xfrm>
            <a:off x="4429125" y="1952625"/>
            <a:ext cx="3333750" cy="47625"/>
          </a:xfrm>
          <a:prstGeom prst="rect">
            <a:avLst/>
          </a:prstGeom>
          <a:solidFill>
            <a:srgbClr val="3AAFB9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overview-number-02">
            <a:extLst>
              <a:ext uri="{FF2B5EF4-FFF2-40B4-BE49-F238E27FC236}">
                <a16:creationId xmlns:a16="http://schemas.microsoft.com/office/drawing/2014/main" id="{82B026AC-FBD0-4260-9C3C-9E307C9D4AAA}"/>
              </a:ext>
            </a:extLst>
          </p:cNvPr>
          <p:cNvSpPr>
            <a:spLocks noGrp="1"/>
          </p:cNvSpPr>
          <p:nvPr/>
        </p:nvSpPr>
        <p:spPr>
          <a:xfrm>
            <a:off x="4695825" y="2219325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1350" b="1">
                <a:solidFill>
                  <a:srgbClr val="3AAFB9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3AAFB9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1" name="overview-title-02">
            <a:extLst>
              <a:ext uri="{FF2B5EF4-FFF2-40B4-BE49-F238E27FC236}">
                <a16:creationId xmlns:a16="http://schemas.microsoft.com/office/drawing/2014/main" id="{3476327B-F47D-454C-94A0-5AA1267FA88D}"/>
              </a:ext>
            </a:extLst>
          </p:cNvPr>
          <p:cNvSpPr>
            <a:spLocks noGrp="1"/>
          </p:cNvSpPr>
          <p:nvPr/>
        </p:nvSpPr>
        <p:spPr>
          <a:xfrm>
            <a:off x="4695825" y="2695575"/>
            <a:ext cx="2800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lang="en-US" sz="2025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GPT </a:t>
            </a:r>
            <a:r>
              <a:rPr lang="ko-KR" altLang="en-US" sz="2025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활용 </a:t>
            </a:r>
            <a:r>
              <a:rPr sz="2025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E2E </a:t>
            </a:r>
            <a:r>
              <a:rPr sz="2025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검증</a:t>
            </a:r>
            <a:endParaRPr sz="2025" b="1" dirty="0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overview-body-02">
            <a:extLst>
              <a:ext uri="{FF2B5EF4-FFF2-40B4-BE49-F238E27FC236}">
                <a16:creationId xmlns:a16="http://schemas.microsoft.com/office/drawing/2014/main" id="{EF62D91F-9D52-41A8-91A5-74344E8E1047}"/>
              </a:ext>
            </a:extLst>
          </p:cNvPr>
          <p:cNvSpPr>
            <a:spLocks noGrp="1"/>
          </p:cNvSpPr>
          <p:nvPr/>
        </p:nvSpPr>
        <p:spPr>
          <a:xfrm>
            <a:off x="4695825" y="3381375"/>
            <a:ext cx="28003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lnSpc>
                <a:spcPct val="135000"/>
              </a:lnSpc>
              <a:buNone/>
              <a:defRPr sz="1500">
                <a:solidFill>
                  <a:srgbClr val="D6DCE4"/>
                </a:solidFill>
                <a:latin typeface="Pretendard"/>
                <a:ea typeface="Pretendard"/>
                <a:cs typeface="Pretendard"/>
              </a:defRPr>
            </a:pPr>
            <a:r>
              <a:rPr sz="1500" dirty="0" err="1">
                <a:solidFill>
                  <a:srgbClr val="D6DCE4"/>
                </a:solidFill>
                <a:latin typeface="Pretendard"/>
                <a:ea typeface="Pretendard"/>
                <a:cs typeface="Pretendard"/>
              </a:rPr>
              <a:t>질문부터</a:t>
            </a:r>
            <a:r>
              <a:rPr sz="1500" dirty="0">
                <a:solidFill>
                  <a:srgbClr val="D6DCE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dirty="0" err="1">
                <a:solidFill>
                  <a:srgbClr val="D6DCE4"/>
                </a:solidFill>
                <a:latin typeface="Pretendard"/>
                <a:ea typeface="Pretendard"/>
                <a:cs typeface="Pretendard"/>
              </a:rPr>
              <a:t>분석·보고서까지</a:t>
            </a:r>
            <a:endParaRPr lang="ko-KR" altLang="en-US" sz="1500" dirty="0">
              <a:solidFill>
                <a:srgbClr val="D6DCE4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5000"/>
              </a:lnSpc>
              <a:buNone/>
              <a:defRPr sz="1500">
                <a:solidFill>
                  <a:srgbClr val="D6DCE4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1500" dirty="0">
                <a:solidFill>
                  <a:srgbClr val="D6DCE4"/>
                </a:solidFill>
                <a:latin typeface="Pretendard"/>
                <a:ea typeface="Pretendard"/>
                <a:cs typeface="Pretendard"/>
              </a:rPr>
              <a:t>전체 기능 흐름을 검증</a:t>
            </a:r>
          </a:p>
        </p:txBody>
      </p:sp>
      <p:sp>
        <p:nvSpPr>
          <p:cNvPr id="13" name="overview-card-03">
            <a:extLst>
              <a:ext uri="{FF2B5EF4-FFF2-40B4-BE49-F238E27FC236}">
                <a16:creationId xmlns:a16="http://schemas.microsoft.com/office/drawing/2014/main" id="{71E19FD8-7391-4F09-B248-CD4C03E4A153}"/>
              </a:ext>
            </a:extLst>
          </p:cNvPr>
          <p:cNvSpPr>
            <a:spLocks noGrp="1"/>
          </p:cNvSpPr>
          <p:nvPr/>
        </p:nvSpPr>
        <p:spPr>
          <a:xfrm>
            <a:off x="8218170" y="1952625"/>
            <a:ext cx="3333750" cy="2714625"/>
          </a:xfrm>
          <a:prstGeom prst="roundRect">
            <a:avLst>
              <a:gd name="adj" fmla="val 4211"/>
            </a:avLst>
          </a:prstGeom>
          <a:solidFill>
            <a:srgbClr val="1C2430"/>
          </a:solidFill>
          <a:ln w="9525">
            <a:solidFill>
              <a:srgbClr val="2D38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overview-card-accent-03">
            <a:extLst>
              <a:ext uri="{FF2B5EF4-FFF2-40B4-BE49-F238E27FC236}">
                <a16:creationId xmlns:a16="http://schemas.microsoft.com/office/drawing/2014/main" id="{9708C88A-BA11-4E9A-9B26-DAAA40164DA6}"/>
              </a:ext>
            </a:extLst>
          </p:cNvPr>
          <p:cNvSpPr>
            <a:spLocks noGrp="1"/>
          </p:cNvSpPr>
          <p:nvPr/>
        </p:nvSpPr>
        <p:spPr>
          <a:xfrm>
            <a:off x="8218170" y="1952625"/>
            <a:ext cx="3333750" cy="47625"/>
          </a:xfrm>
          <a:prstGeom prst="rect">
            <a:avLst/>
          </a:prstGeom>
          <a:solidFill>
            <a:srgbClr val="3AAFB9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overview-number-03">
            <a:extLst>
              <a:ext uri="{FF2B5EF4-FFF2-40B4-BE49-F238E27FC236}">
                <a16:creationId xmlns:a16="http://schemas.microsoft.com/office/drawing/2014/main" id="{606604DA-2F04-4AD4-8EDD-D41069391F3F}"/>
              </a:ext>
            </a:extLst>
          </p:cNvPr>
          <p:cNvSpPr>
            <a:spLocks noGrp="1"/>
          </p:cNvSpPr>
          <p:nvPr/>
        </p:nvSpPr>
        <p:spPr>
          <a:xfrm>
            <a:off x="8484870" y="2219325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1350" b="1">
                <a:solidFill>
                  <a:srgbClr val="3AAFB9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3AAFB9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6" name="overview-title-03">
            <a:extLst>
              <a:ext uri="{FF2B5EF4-FFF2-40B4-BE49-F238E27FC236}">
                <a16:creationId xmlns:a16="http://schemas.microsoft.com/office/drawing/2014/main" id="{FDF87538-D766-4A0D-AE37-E4469C7B66A8}"/>
              </a:ext>
            </a:extLst>
          </p:cNvPr>
          <p:cNvSpPr>
            <a:spLocks noGrp="1"/>
          </p:cNvSpPr>
          <p:nvPr/>
        </p:nvSpPr>
        <p:spPr>
          <a:xfrm>
            <a:off x="8484870" y="2695575"/>
            <a:ext cx="2800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2025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데이터 및 </a:t>
            </a:r>
            <a:r>
              <a:rPr lang="en-US" altLang="ko-KR" sz="2025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sLLM</a:t>
            </a:r>
            <a:endParaRPr sz="2025" b="1" dirty="0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overview-body-03">
            <a:extLst>
              <a:ext uri="{FF2B5EF4-FFF2-40B4-BE49-F238E27FC236}">
                <a16:creationId xmlns:a16="http://schemas.microsoft.com/office/drawing/2014/main" id="{51DE84DC-A64F-4730-9056-E16813558B2D}"/>
              </a:ext>
            </a:extLst>
          </p:cNvPr>
          <p:cNvSpPr>
            <a:spLocks noGrp="1"/>
          </p:cNvSpPr>
          <p:nvPr/>
        </p:nvSpPr>
        <p:spPr>
          <a:xfrm>
            <a:off x="8484870" y="3381375"/>
            <a:ext cx="28003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lnSpc>
                <a:spcPct val="135000"/>
              </a:lnSpc>
              <a:buNone/>
              <a:defRPr sz="1500">
                <a:solidFill>
                  <a:srgbClr val="D6DCE4"/>
                </a:solidFill>
                <a:latin typeface="Pretendard"/>
                <a:ea typeface="Pretendard"/>
                <a:cs typeface="Pretendard"/>
              </a:defRPr>
            </a:pPr>
            <a:r>
              <a:rPr sz="1500" dirty="0" err="1">
                <a:solidFill>
                  <a:srgbClr val="D6DCE4"/>
                </a:solidFill>
                <a:latin typeface="Pretendard"/>
                <a:ea typeface="Pretendard"/>
                <a:cs typeface="Pretendard"/>
              </a:rPr>
              <a:t>합성</a:t>
            </a:r>
            <a:r>
              <a:rPr sz="1500" dirty="0">
                <a:solidFill>
                  <a:srgbClr val="D6DCE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dirty="0" err="1">
                <a:solidFill>
                  <a:srgbClr val="D6DCE4"/>
                </a:solidFill>
                <a:latin typeface="Pretendard"/>
                <a:ea typeface="Pretendard"/>
                <a:cs typeface="Pretendard"/>
              </a:rPr>
              <a:t>데이터</a:t>
            </a:r>
            <a:r>
              <a:rPr sz="1500" dirty="0">
                <a:solidFill>
                  <a:srgbClr val="D6DCE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dirty="0" err="1">
                <a:solidFill>
                  <a:srgbClr val="D6DCE4"/>
                </a:solidFill>
                <a:latin typeface="Pretendard"/>
                <a:ea typeface="Pretendard"/>
                <a:cs typeface="Pretendard"/>
              </a:rPr>
              <a:t>개선</a:t>
            </a:r>
            <a:r>
              <a:rPr sz="1500" dirty="0">
                <a:solidFill>
                  <a:srgbClr val="D6DCE4"/>
                </a:solidFill>
                <a:latin typeface="Pretendard"/>
                <a:ea typeface="Pretendard"/>
                <a:cs typeface="Pretendard"/>
              </a:rPr>
              <a:t> 후</a:t>
            </a:r>
          </a:p>
          <a:p>
            <a:pPr algn="l">
              <a:lnSpc>
                <a:spcPct val="135000"/>
              </a:lnSpc>
              <a:buNone/>
              <a:defRPr sz="1500">
                <a:solidFill>
                  <a:srgbClr val="D6DCE4"/>
                </a:solidFill>
                <a:latin typeface="Pretendard"/>
                <a:ea typeface="Pretendard"/>
                <a:cs typeface="Pretendard"/>
              </a:defRPr>
            </a:pPr>
            <a:r>
              <a:rPr sz="1500" dirty="0" err="1">
                <a:solidFill>
                  <a:srgbClr val="D6DCE4"/>
                </a:solidFill>
                <a:latin typeface="Pretendard"/>
                <a:ea typeface="Pretendard"/>
                <a:cs typeface="Pretendard"/>
              </a:rPr>
              <a:t>sLLM</a:t>
            </a:r>
            <a:r>
              <a:rPr lang="en-US" sz="1500" dirty="0">
                <a:solidFill>
                  <a:srgbClr val="D6DCE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500" dirty="0">
                <a:solidFill>
                  <a:srgbClr val="D6DCE4"/>
                </a:solidFill>
                <a:latin typeface="Pretendard"/>
                <a:ea typeface="Pretendard"/>
                <a:cs typeface="Pretendard"/>
              </a:rPr>
              <a:t>도입 예정</a:t>
            </a:r>
            <a:endParaRPr sz="1500" dirty="0">
              <a:solidFill>
                <a:srgbClr val="D6DCE4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overview-takeaway">
            <a:extLst>
              <a:ext uri="{FF2B5EF4-FFF2-40B4-BE49-F238E27FC236}">
                <a16:creationId xmlns:a16="http://schemas.microsoft.com/office/drawing/2014/main" id="{8237EBF9-9C85-460D-A837-5D6765C89ED5}"/>
              </a:ext>
            </a:extLst>
          </p:cNvPr>
          <p:cNvSpPr>
            <a:spLocks noGrp="1"/>
          </p:cNvSpPr>
          <p:nvPr/>
        </p:nvSpPr>
        <p:spPr>
          <a:xfrm>
            <a:off x="640080" y="5810250"/>
            <a:ext cx="10908792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1500">
                <a:solidFill>
                  <a:srgbClr val="3AAFB9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3AAFB9"/>
                </a:solidFill>
                <a:latin typeface="Pretendard"/>
                <a:ea typeface="Pretendard"/>
                <a:cs typeface="Pretendard"/>
              </a:rPr>
              <a:t>개발 방식 변경 → 현재 검증 → 다음 단계</a:t>
            </a:r>
          </a:p>
        </p:txBody>
      </p:sp>
      <p:sp>
        <p:nvSpPr>
          <p:cNvPr id="19" name="overview-page-number">
            <a:extLst>
              <a:ext uri="{FF2B5EF4-FFF2-40B4-BE49-F238E27FC236}">
                <a16:creationId xmlns:a16="http://schemas.microsoft.com/office/drawing/2014/main" id="{0D72D3BD-6AE0-4C46-BBED-7D49CFB73C25}"/>
              </a:ext>
            </a:extLst>
          </p:cNvPr>
          <p:cNvSpPr>
            <a:spLocks noGrp="1"/>
          </p:cNvSpPr>
          <p:nvPr/>
        </p:nvSpPr>
        <p:spPr>
          <a:xfrm>
            <a:off x="11365992" y="6473952"/>
            <a:ext cx="365760" cy="2011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r">
              <a:defRPr sz="1000">
                <a:solidFill>
                  <a:srgbClr val="4A5568"/>
                </a:solidFill>
                <a:latin typeface="Pretendard"/>
                <a:ea typeface="Pretendard"/>
                <a:cs typeface="Pretendard"/>
              </a:defRPr>
            </a:pPr>
            <a:r>
              <a:rPr sz="1000">
                <a:solidFill>
                  <a:srgbClr val="4A5568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98635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164DE4F-199E-4571-AFD9-E197A2BA7511}"/>
              </a:ext>
            </a:extLst>
          </p:cNvPr>
          <p:cNvSpPr>
            <a:spLocks noGrp="1"/>
          </p:cNvSpPr>
          <p:nvPr/>
        </p:nvSpPr>
        <p:spPr>
          <a:xfrm>
            <a:off x="640080" y="531019"/>
            <a:ext cx="10908792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하네스 기반 개발 방식</a:t>
            </a:r>
            <a:endParaRPr sz="3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CE9D06D-230E-456E-8459-B60F7CEAC715}"/>
              </a:ext>
            </a:extLst>
          </p:cNvPr>
          <p:cNvSpPr>
            <a:spLocks noGrp="1"/>
          </p:cNvSpPr>
          <p:nvPr/>
        </p:nvSpPr>
        <p:spPr>
          <a:xfrm>
            <a:off x="640080" y="1934288"/>
            <a:ext cx="5714067" cy="345880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 algn="l">
              <a:lnSpc>
                <a:spcPct val="200000"/>
              </a:lnSpc>
              <a:spcAft>
                <a:spcPts val="1000"/>
              </a:spcAft>
              <a:buSzPct val="100000"/>
              <a:buChar char="•"/>
            </a:pPr>
            <a:r>
              <a:rPr sz="2000">
                <a:solidFill>
                  <a:srgbClr val="D6DCE4"/>
                </a:solidFill>
                <a:latin typeface="Pretendard"/>
                <a:ea typeface="Pretendard"/>
                <a:cs typeface="Pretendard"/>
              </a:rPr>
              <a:t>하네스를 적용해 개발 진행</a:t>
            </a:r>
            <a:endParaRPr sz="2000"/>
          </a:p>
          <a:p>
            <a:pPr marL="342900" indent="-342900" algn="l">
              <a:lnSpc>
                <a:spcPct val="200000"/>
              </a:lnSpc>
              <a:spcAft>
                <a:spcPts val="1000"/>
              </a:spcAft>
              <a:buSzPct val="100000"/>
              <a:buChar char="•"/>
            </a:pPr>
            <a:r>
              <a:rPr sz="2000">
                <a:solidFill>
                  <a:srgbClr val="D6DCE4"/>
                </a:solidFill>
                <a:latin typeface="Pretendard"/>
                <a:ea typeface="Pretendard"/>
                <a:cs typeface="Pretendard"/>
              </a:rPr>
              <a:t>R1~R5 역할 분담과 R1 승인 구조로 작업</a:t>
            </a:r>
            <a:endParaRPr sz="2000"/>
          </a:p>
          <a:p>
            <a:pPr marL="342900" indent="-342900" algn="l">
              <a:lnSpc>
                <a:spcPct val="200000"/>
              </a:lnSpc>
              <a:spcAft>
                <a:spcPts val="1000"/>
              </a:spcAft>
              <a:buSzPct val="100000"/>
              <a:buChar char="•"/>
            </a:pPr>
            <a:r>
              <a:rPr sz="2000">
                <a:solidFill>
                  <a:srgbClr val="D6DCE4"/>
                </a:solidFill>
                <a:latin typeface="Pretendard"/>
                <a:ea typeface="Pretendard"/>
                <a:cs typeface="Pretendard"/>
              </a:rPr>
              <a:t>반복적인 승인과 확인 과정으로 개발 흐름이 자주 중단</a:t>
            </a:r>
            <a:endParaRPr sz="2000"/>
          </a:p>
          <a:p>
            <a:pPr marL="342900" indent="-342900" algn="l">
              <a:lnSpc>
                <a:spcPct val="200000"/>
              </a:lnSpc>
              <a:spcAft>
                <a:spcPts val="1000"/>
              </a:spcAft>
              <a:buSzPct val="100000"/>
              <a:buChar char="•"/>
            </a:pPr>
            <a:r>
              <a:rPr sz="2000">
                <a:solidFill>
                  <a:srgbClr val="D6DCE4"/>
                </a:solidFill>
                <a:latin typeface="Pretendard"/>
                <a:ea typeface="Pretendard"/>
                <a:cs typeface="Pretendard"/>
              </a:rPr>
              <a:t>개별 작업은 진행됐지만 전체 E2E 연결 속도는 느렸음</a:t>
            </a:r>
            <a:endParaRPr sz="20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7DC2743-7741-4643-9202-755656D01A77}"/>
              </a:ext>
            </a:extLst>
          </p:cNvPr>
          <p:cNvSpPr>
            <a:spLocks noGrp="1"/>
          </p:cNvSpPr>
          <p:nvPr/>
        </p:nvSpPr>
        <p:spPr>
          <a:xfrm>
            <a:off x="6702552" y="2697480"/>
            <a:ext cx="2194560" cy="594360"/>
          </a:xfrm>
          <a:prstGeom prst="roundRect">
            <a:avLst>
              <a:gd name="adj" fmla="val 12308"/>
            </a:avLst>
          </a:prstGeom>
          <a:solidFill>
            <a:srgbClr val="212B3A"/>
          </a:solidFill>
          <a:ln w="9525">
            <a:solidFill>
              <a:srgbClr val="2D384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A0914A6-D7BB-415F-92B8-22D4527F066A}"/>
              </a:ext>
            </a:extLst>
          </p:cNvPr>
          <p:cNvSpPr>
            <a:spLocks noGrp="1"/>
          </p:cNvSpPr>
          <p:nvPr/>
        </p:nvSpPr>
        <p:spPr>
          <a:xfrm>
            <a:off x="6702552" y="2697480"/>
            <a:ext cx="219456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하네스 제약 적용</a:t>
            </a:r>
            <a:endParaRPr sz="13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9ADCA65-C2F4-46B0-84AE-CF6F421A07DC}"/>
              </a:ext>
            </a:extLst>
          </p:cNvPr>
          <p:cNvSpPr>
            <a:spLocks noGrp="1"/>
          </p:cNvSpPr>
          <p:nvPr/>
        </p:nvSpPr>
        <p:spPr>
          <a:xfrm>
            <a:off x="9354312" y="2697480"/>
            <a:ext cx="2194560" cy="594360"/>
          </a:xfrm>
          <a:prstGeom prst="roundRect">
            <a:avLst>
              <a:gd name="adj" fmla="val 12308"/>
            </a:avLst>
          </a:prstGeom>
          <a:solidFill>
            <a:srgbClr val="1A3040"/>
          </a:solidFill>
          <a:ln w="9525">
            <a:solidFill>
              <a:srgbClr val="3AAFB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BEF633A-0FF0-40C3-806D-94D805F0C144}"/>
              </a:ext>
            </a:extLst>
          </p:cNvPr>
          <p:cNvSpPr>
            <a:spLocks noGrp="1"/>
          </p:cNvSpPr>
          <p:nvPr/>
        </p:nvSpPr>
        <p:spPr>
          <a:xfrm>
            <a:off x="9354312" y="2697480"/>
            <a:ext cx="219456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R1 승인</a:t>
            </a:r>
            <a:endParaRPr sz="13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A3FC726-EF4F-4331-B5C7-43F994A4CCC6}"/>
              </a:ext>
            </a:extLst>
          </p:cNvPr>
          <p:cNvSpPr>
            <a:spLocks noGrp="1"/>
          </p:cNvSpPr>
          <p:nvPr/>
        </p:nvSpPr>
        <p:spPr>
          <a:xfrm>
            <a:off x="9354312" y="3840480"/>
            <a:ext cx="2194560" cy="594360"/>
          </a:xfrm>
          <a:prstGeom prst="roundRect">
            <a:avLst>
              <a:gd name="adj" fmla="val 12308"/>
            </a:avLst>
          </a:prstGeom>
          <a:solidFill>
            <a:srgbClr val="212B3A"/>
          </a:solidFill>
          <a:ln w="9525">
            <a:solidFill>
              <a:srgbClr val="2D384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872F13F-8E15-4E85-AC78-E95D6D2A0636}"/>
              </a:ext>
            </a:extLst>
          </p:cNvPr>
          <p:cNvSpPr>
            <a:spLocks noGrp="1"/>
          </p:cNvSpPr>
          <p:nvPr/>
        </p:nvSpPr>
        <p:spPr>
          <a:xfrm>
            <a:off x="9354312" y="3840480"/>
            <a:ext cx="219456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R2~R5 작업 진행</a:t>
            </a:r>
            <a:endParaRPr sz="13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B6E5E7B-CB24-4250-93CD-1195745EBCFF}"/>
              </a:ext>
            </a:extLst>
          </p:cNvPr>
          <p:cNvSpPr>
            <a:spLocks noGrp="1"/>
          </p:cNvSpPr>
          <p:nvPr/>
        </p:nvSpPr>
        <p:spPr>
          <a:xfrm>
            <a:off x="6702552" y="3840480"/>
            <a:ext cx="2194560" cy="594360"/>
          </a:xfrm>
          <a:prstGeom prst="roundRect">
            <a:avLst>
              <a:gd name="adj" fmla="val 12308"/>
            </a:avLst>
          </a:prstGeom>
          <a:solidFill>
            <a:srgbClr val="1A3040"/>
          </a:solidFill>
          <a:ln w="9525">
            <a:solidFill>
              <a:srgbClr val="3AAFB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C013803-10DE-4755-92EC-55C4B4DBB2B2}"/>
              </a:ext>
            </a:extLst>
          </p:cNvPr>
          <p:cNvSpPr>
            <a:spLocks noGrp="1"/>
          </p:cNvSpPr>
          <p:nvPr/>
        </p:nvSpPr>
        <p:spPr>
          <a:xfrm>
            <a:off x="6702552" y="3840480"/>
            <a:ext cx="219456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다시 R1 승인</a:t>
            </a:r>
            <a:endParaRPr sz="13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7612DFF8-CDC6-4EDD-A0FC-86899B8DA8D8}"/>
              </a:ext>
            </a:extLst>
          </p:cNvPr>
          <p:cNvSpPr>
            <a:spLocks noGrp="1"/>
          </p:cNvSpPr>
          <p:nvPr/>
        </p:nvSpPr>
        <p:spPr>
          <a:xfrm>
            <a:off x="8942832" y="2994660"/>
            <a:ext cx="365760" cy="0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0F3C6AA-F659-430F-94A1-BAA0EA9BED8F}"/>
              </a:ext>
            </a:extLst>
          </p:cNvPr>
          <p:cNvSpPr>
            <a:spLocks noGrp="1"/>
          </p:cNvSpPr>
          <p:nvPr/>
        </p:nvSpPr>
        <p:spPr>
          <a:xfrm>
            <a:off x="10451592" y="3337560"/>
            <a:ext cx="0" cy="457200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C683E26-1391-4B18-8063-41DA8A82988C}"/>
              </a:ext>
            </a:extLst>
          </p:cNvPr>
          <p:cNvSpPr>
            <a:spLocks noGrp="1"/>
          </p:cNvSpPr>
          <p:nvPr/>
        </p:nvSpPr>
        <p:spPr>
          <a:xfrm>
            <a:off x="8942832" y="4137660"/>
            <a:ext cx="365760" cy="0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  <a:headEnd type="triangle"/>
          </a:ln>
        </p:spPr>
        <p:txBody>
          <a:bodyPr/>
          <a:lstStyle/>
          <a:p>
            <a:endParaRPr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D2EEF7A-D07A-4F25-8B02-30A6FCD91D0D}"/>
              </a:ext>
            </a:extLst>
          </p:cNvPr>
          <p:cNvSpPr>
            <a:spLocks noGrp="1"/>
          </p:cNvSpPr>
          <p:nvPr/>
        </p:nvSpPr>
        <p:spPr>
          <a:xfrm>
            <a:off x="7799832" y="3337560"/>
            <a:ext cx="0" cy="457200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  <a:headEnd type="triangle"/>
          </a:ln>
        </p:spPr>
        <p:txBody>
          <a:bodyPr/>
          <a:lstStyle/>
          <a:p>
            <a:endParaRPr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C293610-388D-47A5-B5CC-7C9293CD54EB}"/>
              </a:ext>
            </a:extLst>
          </p:cNvPr>
          <p:cNvSpPr>
            <a:spLocks noGrp="1"/>
          </p:cNvSpPr>
          <p:nvPr/>
        </p:nvSpPr>
        <p:spPr>
          <a:xfrm>
            <a:off x="8897112" y="329184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i="1">
                <a:solidFill>
                  <a:srgbClr val="3AAFB9"/>
                </a:solidFill>
                <a:latin typeface="Pretendard"/>
                <a:ea typeface="Pretendard"/>
                <a:cs typeface="Pretendard"/>
              </a:rPr>
              <a:t>반복</a:t>
            </a:r>
            <a:endParaRPr sz="11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C0AA643-3132-4E4C-8ECD-32A26E9B7030}"/>
              </a:ext>
            </a:extLst>
          </p:cNvPr>
          <p:cNvSpPr>
            <a:spLocks noGrp="1"/>
          </p:cNvSpPr>
          <p:nvPr/>
        </p:nvSpPr>
        <p:spPr>
          <a:xfrm>
            <a:off x="640080" y="5943600"/>
            <a:ext cx="10908792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600">
                <a:solidFill>
                  <a:srgbClr val="3AAFB9"/>
                </a:solidFill>
                <a:latin typeface="Pretendard"/>
                <a:ea typeface="Pretendard"/>
                <a:cs typeface="Pretendard"/>
              </a:rPr>
              <a:t>반복적인 R1 승인으로 E2E 연결이 지연되어 개발 방식을 변경했습니다.</a:t>
            </a:r>
            <a:endParaRPr sz="16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6A2A245-CBFD-4EAB-AED1-97991CE23049}"/>
              </a:ext>
            </a:extLst>
          </p:cNvPr>
          <p:cNvSpPr>
            <a:spLocks noGrp="1"/>
          </p:cNvSpPr>
          <p:nvPr/>
        </p:nvSpPr>
        <p:spPr>
          <a:xfrm>
            <a:off x="11365992" y="6473952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4A5568"/>
                </a:solidFill>
                <a:latin typeface="Pretendard"/>
                <a:ea typeface="Pretendard"/>
                <a:cs typeface="Pretendard"/>
              </a:rPr>
              <a:t>3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941888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DD1C27C-9C7F-4EE9-967C-85AB691C42C5}"/>
              </a:ext>
            </a:extLst>
          </p:cNvPr>
          <p:cNvSpPr>
            <a:spLocks noGrp="1"/>
          </p:cNvSpPr>
          <p:nvPr/>
        </p:nvSpPr>
        <p:spPr>
          <a:xfrm>
            <a:off x="640080" y="365760"/>
            <a:ext cx="10908792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E2E 우선 개발 방식으로 전환</a:t>
            </a:r>
            <a:endParaRPr sz="3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C8A8174-FB71-4DA9-BBB5-2F4B88D589AC}"/>
              </a:ext>
            </a:extLst>
          </p:cNvPr>
          <p:cNvSpPr>
            <a:spLocks noGrp="1"/>
          </p:cNvSpPr>
          <p:nvPr/>
        </p:nvSpPr>
        <p:spPr>
          <a:xfrm>
            <a:off x="640080" y="1508760"/>
            <a:ext cx="10908792" cy="2331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 algn="l">
              <a:lnSpc>
                <a:spcPct val="115000"/>
              </a:lnSpc>
              <a:spcAft>
                <a:spcPts val="1000"/>
              </a:spcAft>
              <a:buSzPct val="100000"/>
              <a:buChar char="•"/>
              <a:defRPr sz="1650">
                <a:solidFill>
                  <a:srgbClr val="D5D9E0"/>
                </a:solidFill>
                <a:latin typeface="Pretendard"/>
                <a:ea typeface="Pretendard"/>
                <a:cs typeface="Pretendard"/>
              </a:defRPr>
            </a:pPr>
            <a:r>
              <a:rPr sz="165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멘토링에서 E2E 흐름을 먼저 완성할 필요가 있다는 피드백을 받음</a:t>
            </a:r>
            <a:endParaRPr sz="2000"/>
          </a:p>
          <a:p>
            <a:pPr marL="342900" indent="-342900" algn="l">
              <a:lnSpc>
                <a:spcPct val="115000"/>
              </a:lnSpc>
              <a:spcAft>
                <a:spcPts val="1000"/>
              </a:spcAft>
              <a:buSzPct val="100000"/>
              <a:buChar char="•"/>
              <a:defRPr sz="1650">
                <a:solidFill>
                  <a:srgbClr val="D5D9E0"/>
                </a:solidFill>
                <a:latin typeface="Pretendard"/>
                <a:ea typeface="Pretendard"/>
                <a:cs typeface="Pretendard"/>
              </a:defRPr>
            </a:pPr>
            <a:r>
              <a:rPr sz="165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개발 과정의 하네스 제약과 R1 반복 승인 구조 제거</a:t>
            </a:r>
            <a:endParaRPr sz="2000"/>
          </a:p>
          <a:p>
            <a:pPr marL="342900" indent="-342900" algn="l">
              <a:lnSpc>
                <a:spcPct val="115000"/>
              </a:lnSpc>
              <a:spcAft>
                <a:spcPts val="1000"/>
              </a:spcAft>
              <a:buSzPct val="100000"/>
              <a:buChar char="•"/>
              <a:defRPr sz="1650">
                <a:solidFill>
                  <a:srgbClr val="D5D9E0"/>
                </a:solidFill>
                <a:latin typeface="Pretendard"/>
                <a:ea typeface="Pretendard"/>
                <a:cs typeface="Pretendard"/>
              </a:defRPr>
            </a:pPr>
            <a:r>
              <a:rPr sz="165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기능별 완성보다 전체 서비스 연결을 우선</a:t>
            </a:r>
            <a:endParaRPr sz="2000"/>
          </a:p>
          <a:p>
            <a:pPr marL="342900" indent="-342900" algn="l">
              <a:lnSpc>
                <a:spcPct val="115000"/>
              </a:lnSpc>
              <a:spcAft>
                <a:spcPts val="1000"/>
              </a:spcAft>
              <a:buSzPct val="100000"/>
              <a:buChar char="•"/>
              <a:defRPr sz="1650">
                <a:solidFill>
                  <a:srgbClr val="D5D9E0"/>
                </a:solidFill>
                <a:latin typeface="Pretendard"/>
                <a:ea typeface="Pretendard"/>
                <a:cs typeface="Pretendard"/>
              </a:defRPr>
            </a:pPr>
            <a:r>
              <a:rPr sz="165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실제 실행에서 발견되는 문제를 반복적으로 개선</a:t>
            </a:r>
            <a:endParaRPr sz="20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A8D2959-0659-45CF-A507-CD6A70FAF3FC}"/>
              </a:ext>
            </a:extLst>
          </p:cNvPr>
          <p:cNvSpPr>
            <a:spLocks noGrp="1"/>
          </p:cNvSpPr>
          <p:nvPr/>
        </p:nvSpPr>
        <p:spPr>
          <a:xfrm>
            <a:off x="640080" y="379476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1C2430"/>
          </a:solidFill>
          <a:ln w="9525">
            <a:solidFill>
              <a:srgbClr val="2D384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9E3B556-AA4C-4A86-92C3-21221E8F8F19}"/>
              </a:ext>
            </a:extLst>
          </p:cNvPr>
          <p:cNvSpPr>
            <a:spLocks noGrp="1"/>
          </p:cNvSpPr>
          <p:nvPr/>
        </p:nvSpPr>
        <p:spPr>
          <a:xfrm>
            <a:off x="914400" y="3977640"/>
            <a:ext cx="731520" cy="256032"/>
          </a:xfrm>
          <a:prstGeom prst="roundRect">
            <a:avLst>
              <a:gd name="adj" fmla="val 17857"/>
            </a:avLst>
          </a:prstGeom>
          <a:solidFill>
            <a:srgbClr val="3D4555"/>
          </a:solidFill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ED7409D-696C-418D-930D-C829FB8E866B}"/>
              </a:ext>
            </a:extLst>
          </p:cNvPr>
          <p:cNvSpPr>
            <a:spLocks noGrp="1"/>
          </p:cNvSpPr>
          <p:nvPr/>
        </p:nvSpPr>
        <p:spPr>
          <a:xfrm>
            <a:off x="914400" y="397764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>
                <a:solidFill>
                  <a:srgbClr val="8B949E"/>
                </a:solidFill>
                <a:latin typeface="Pretendard"/>
                <a:ea typeface="Pretendard"/>
                <a:cs typeface="Pretendard"/>
              </a:rPr>
              <a:t>기존</a:t>
            </a:r>
            <a:endParaRPr sz="11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2C66528-422B-41F5-BD96-A6E209FC8E1E}"/>
              </a:ext>
            </a:extLst>
          </p:cNvPr>
          <p:cNvSpPr>
            <a:spLocks noGrp="1"/>
          </p:cNvSpPr>
          <p:nvPr/>
        </p:nvSpPr>
        <p:spPr>
          <a:xfrm>
            <a:off x="914400" y="4343400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800">
                <a:solidFill>
                  <a:srgbClr val="D6DCE4"/>
                </a:solidFill>
                <a:latin typeface="Pretendard"/>
                <a:ea typeface="Pretendard"/>
                <a:cs typeface="Pretendard"/>
              </a:rPr>
              <a:t>기능별 개발  →  승인  →  다음 기능</a:t>
            </a:r>
            <a:endParaRPr sz="18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9B3E3EA-C488-4F10-8619-CAE9B2D07E6A}"/>
              </a:ext>
            </a:extLst>
          </p:cNvPr>
          <p:cNvSpPr>
            <a:spLocks noGrp="1"/>
          </p:cNvSpPr>
          <p:nvPr/>
        </p:nvSpPr>
        <p:spPr>
          <a:xfrm rot="5400000">
            <a:off x="5943600" y="4297680"/>
            <a:ext cx="320040" cy="274320"/>
          </a:xfrm>
          <a:prstGeom prst="triangle">
            <a:avLst/>
          </a:prstGeom>
          <a:solidFill>
            <a:srgbClr val="3AAFB9"/>
          </a:solidFill>
        </p:spPr>
        <p:txBody>
          <a:bodyPr/>
          <a:lstStyle/>
          <a:p>
            <a:endParaRPr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D8F603B-4CC4-4175-B622-FE667C9369D9}"/>
              </a:ext>
            </a:extLst>
          </p:cNvPr>
          <p:cNvSpPr>
            <a:spLocks noGrp="1"/>
          </p:cNvSpPr>
          <p:nvPr/>
        </p:nvSpPr>
        <p:spPr>
          <a:xfrm>
            <a:off x="6355080" y="379476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1A3040"/>
          </a:solidFill>
          <a:ln w="9525">
            <a:solidFill>
              <a:srgbClr val="3AAFB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103DA3C-826A-4CE9-8995-BAC1256805B8}"/>
              </a:ext>
            </a:extLst>
          </p:cNvPr>
          <p:cNvSpPr>
            <a:spLocks noGrp="1"/>
          </p:cNvSpPr>
          <p:nvPr/>
        </p:nvSpPr>
        <p:spPr>
          <a:xfrm>
            <a:off x="6629400" y="3977640"/>
            <a:ext cx="731520" cy="256032"/>
          </a:xfrm>
          <a:prstGeom prst="roundRect">
            <a:avLst>
              <a:gd name="adj" fmla="val 17857"/>
            </a:avLst>
          </a:prstGeom>
          <a:solidFill>
            <a:srgbClr val="2A8A96"/>
          </a:solidFill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2E81E33-ED70-4BF0-AF1B-31BD375E96C7}"/>
              </a:ext>
            </a:extLst>
          </p:cNvPr>
          <p:cNvSpPr>
            <a:spLocks noGrp="1"/>
          </p:cNvSpPr>
          <p:nvPr/>
        </p:nvSpPr>
        <p:spPr>
          <a:xfrm>
            <a:off x="6629400" y="397764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변경</a:t>
            </a:r>
            <a:endParaRPr sz="11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A12D932-AE83-4EC1-8E3F-1246B3A08C32}"/>
              </a:ext>
            </a:extLst>
          </p:cNvPr>
          <p:cNvSpPr>
            <a:spLocks noGrp="1"/>
          </p:cNvSpPr>
          <p:nvPr/>
        </p:nvSpPr>
        <p:spPr>
          <a:xfrm>
            <a:off x="6629400" y="4343400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8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E2E 연결  →  실행 및 검증  →  반복 개선</a:t>
            </a:r>
            <a:endParaRPr sz="18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3E7E40E-70A6-486A-BA07-CBECDF999106}"/>
              </a:ext>
            </a:extLst>
          </p:cNvPr>
          <p:cNvSpPr>
            <a:spLocks noGrp="1"/>
          </p:cNvSpPr>
          <p:nvPr/>
        </p:nvSpPr>
        <p:spPr>
          <a:xfrm>
            <a:off x="640080" y="5943600"/>
            <a:ext cx="10908792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600">
                <a:solidFill>
                  <a:srgbClr val="3AAFB9"/>
                </a:solidFill>
                <a:latin typeface="Pretendard"/>
                <a:ea typeface="Pretendard"/>
                <a:cs typeface="Pretendard"/>
              </a:rPr>
              <a:t>E2E를 먼저 연결하고 실제 실행 결과를 바탕으로 개선하는 방식으로 전환했습니다.</a:t>
            </a:r>
            <a:endParaRPr sz="16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924455B-9E32-4A1F-AC81-625865E18404}"/>
              </a:ext>
            </a:extLst>
          </p:cNvPr>
          <p:cNvSpPr>
            <a:spLocks noGrp="1"/>
          </p:cNvSpPr>
          <p:nvPr/>
        </p:nvSpPr>
        <p:spPr>
          <a:xfrm>
            <a:off x="11365992" y="6473952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4A5568"/>
                </a:solidFill>
                <a:latin typeface="Pretendard"/>
                <a:ea typeface="Pretendard"/>
                <a:cs typeface="Pretendard"/>
              </a:rPr>
              <a:t>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62497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C4E946D-7924-42F6-A9D0-599F75FDC594}"/>
              </a:ext>
            </a:extLst>
          </p:cNvPr>
          <p:cNvSpPr>
            <a:spLocks noGrp="1"/>
          </p:cNvSpPr>
          <p:nvPr/>
        </p:nvSpPr>
        <p:spPr>
          <a:xfrm>
            <a:off x="640080" y="365760"/>
            <a:ext cx="10908792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GPT 기반 전체 기능 검증 현황</a:t>
            </a:r>
            <a:endParaRPr sz="32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30D77AD-A400-47D9-9671-A3700AD8598C}"/>
              </a:ext>
            </a:extLst>
          </p:cNvPr>
          <p:cNvSpPr>
            <a:spLocks noGrp="1"/>
          </p:cNvSpPr>
          <p:nvPr/>
        </p:nvSpPr>
        <p:spPr>
          <a:xfrm>
            <a:off x="1124712" y="1463040"/>
            <a:ext cx="2148840" cy="685800"/>
          </a:xfrm>
          <a:prstGeom prst="homePlate">
            <a:avLst/>
          </a:prstGeom>
          <a:solidFill>
            <a:srgbClr val="2A8A96"/>
          </a:solidFill>
          <a:ln w="9525">
            <a:solidFill>
              <a:srgbClr val="3AAFB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D13F71B-702D-4E9A-98C7-FCA6268BADBF}"/>
              </a:ext>
            </a:extLst>
          </p:cNvPr>
          <p:cNvSpPr>
            <a:spLocks noGrp="1"/>
          </p:cNvSpPr>
          <p:nvPr/>
        </p:nvSpPr>
        <p:spPr>
          <a:xfrm>
            <a:off x="1124712" y="1463040"/>
            <a:ext cx="208849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사용자 질문</a:t>
            </a:r>
            <a:endParaRPr sz="12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E629438-9F66-47CE-B434-9C68652E413B}"/>
              </a:ext>
            </a:extLst>
          </p:cNvPr>
          <p:cNvSpPr>
            <a:spLocks noGrp="1"/>
          </p:cNvSpPr>
          <p:nvPr/>
        </p:nvSpPr>
        <p:spPr>
          <a:xfrm>
            <a:off x="3072384" y="1463040"/>
            <a:ext cx="2148840" cy="685800"/>
          </a:xfrm>
          <a:prstGeom prst="chevron">
            <a:avLst/>
          </a:prstGeom>
          <a:solidFill>
            <a:srgbClr val="212B3A"/>
          </a:solidFill>
          <a:ln w="9525">
            <a:solidFill>
              <a:srgbClr val="2D384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D9BC2AC-76D1-4ADE-B9A7-C3CA110F09F6}"/>
              </a:ext>
            </a:extLst>
          </p:cNvPr>
          <p:cNvSpPr>
            <a:spLocks noGrp="1"/>
          </p:cNvSpPr>
          <p:nvPr/>
        </p:nvSpPr>
        <p:spPr>
          <a:xfrm>
            <a:off x="3213202" y="1463040"/>
            <a:ext cx="1947672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SQL </a:t>
            </a:r>
            <a:r>
              <a:rPr sz="12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생성</a:t>
            </a:r>
            <a:endParaRPr sz="12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6C0B744-7B77-49F7-A9B4-A055A6FFA11F}"/>
              </a:ext>
            </a:extLst>
          </p:cNvPr>
          <p:cNvSpPr>
            <a:spLocks noGrp="1"/>
          </p:cNvSpPr>
          <p:nvPr/>
        </p:nvSpPr>
        <p:spPr>
          <a:xfrm>
            <a:off x="5020056" y="1463040"/>
            <a:ext cx="2148840" cy="685800"/>
          </a:xfrm>
          <a:prstGeom prst="chevron">
            <a:avLst/>
          </a:prstGeom>
          <a:solidFill>
            <a:srgbClr val="212B3A"/>
          </a:solidFill>
          <a:ln w="9525">
            <a:solidFill>
              <a:srgbClr val="2D384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C934A7C-80DD-4575-A0D7-8116A10EEF18}"/>
              </a:ext>
            </a:extLst>
          </p:cNvPr>
          <p:cNvSpPr>
            <a:spLocks noGrp="1"/>
          </p:cNvSpPr>
          <p:nvPr/>
        </p:nvSpPr>
        <p:spPr>
          <a:xfrm>
            <a:off x="5160874" y="1463040"/>
            <a:ext cx="1947672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데이터 분석</a:t>
            </a:r>
            <a:endParaRPr sz="12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9E6428A-EE64-4C34-A36D-B95C98B0891D}"/>
              </a:ext>
            </a:extLst>
          </p:cNvPr>
          <p:cNvSpPr>
            <a:spLocks noGrp="1"/>
          </p:cNvSpPr>
          <p:nvPr/>
        </p:nvSpPr>
        <p:spPr>
          <a:xfrm>
            <a:off x="6967728" y="1463040"/>
            <a:ext cx="2148840" cy="685800"/>
          </a:xfrm>
          <a:prstGeom prst="chevron">
            <a:avLst/>
          </a:prstGeom>
          <a:solidFill>
            <a:srgbClr val="212B3A"/>
          </a:solidFill>
          <a:ln w="9525">
            <a:solidFill>
              <a:srgbClr val="2D384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830DF36-D70F-4CE0-8440-E7B1F5FADBB6}"/>
              </a:ext>
            </a:extLst>
          </p:cNvPr>
          <p:cNvSpPr>
            <a:spLocks noGrp="1"/>
          </p:cNvSpPr>
          <p:nvPr/>
        </p:nvSpPr>
        <p:spPr>
          <a:xfrm>
            <a:off x="7108546" y="1463040"/>
            <a:ext cx="1947672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결과 확인</a:t>
            </a:r>
            <a:endParaRPr sz="12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9F9CE84-09F6-4607-9851-78B501A86695}"/>
              </a:ext>
            </a:extLst>
          </p:cNvPr>
          <p:cNvSpPr>
            <a:spLocks noGrp="1"/>
          </p:cNvSpPr>
          <p:nvPr/>
        </p:nvSpPr>
        <p:spPr>
          <a:xfrm>
            <a:off x="8915400" y="1463040"/>
            <a:ext cx="2148840" cy="685800"/>
          </a:xfrm>
          <a:prstGeom prst="chevron">
            <a:avLst/>
          </a:prstGeom>
          <a:solidFill>
            <a:srgbClr val="2A8A96"/>
          </a:solidFill>
          <a:ln w="9525">
            <a:solidFill>
              <a:srgbClr val="3AAFB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C64E0E3-4FEF-4414-A2C2-B88C9E998420}"/>
              </a:ext>
            </a:extLst>
          </p:cNvPr>
          <p:cNvSpPr>
            <a:spLocks noGrp="1"/>
          </p:cNvSpPr>
          <p:nvPr/>
        </p:nvSpPr>
        <p:spPr>
          <a:xfrm>
            <a:off x="9056218" y="1463040"/>
            <a:ext cx="2008022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보고서</a:t>
            </a:r>
            <a:endParaRPr sz="12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22C41CC-DA94-4640-B89C-3A366A778555}"/>
              </a:ext>
            </a:extLst>
          </p:cNvPr>
          <p:cNvSpPr>
            <a:spLocks noGrp="1"/>
          </p:cNvSpPr>
          <p:nvPr/>
        </p:nvSpPr>
        <p:spPr>
          <a:xfrm>
            <a:off x="640080" y="2783520"/>
            <a:ext cx="10908792" cy="2331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 algn="l">
              <a:lnSpc>
                <a:spcPct val="200000"/>
              </a:lnSpc>
              <a:spcAft>
                <a:spcPts val="1000"/>
              </a:spcAft>
              <a:buSzPct val="100000"/>
              <a:buChar char="•"/>
              <a:defRPr sz="1650">
                <a:solidFill>
                  <a:srgbClr val="D5D9E0"/>
                </a:solidFill>
                <a:latin typeface="Pretendard"/>
                <a:ea typeface="Pretendard"/>
                <a:cs typeface="Pretendard"/>
              </a:defRPr>
            </a:pPr>
            <a:r>
              <a:rPr sz="1650" dirty="0" err="1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자연어</a:t>
            </a:r>
            <a:r>
              <a:rPr sz="1650" dirty="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50" dirty="0" err="1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질문부터</a:t>
            </a:r>
            <a:r>
              <a:rPr sz="1650" dirty="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50" dirty="0" err="1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데이터</a:t>
            </a:r>
            <a:r>
              <a:rPr sz="1650" dirty="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50" dirty="0" err="1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분석까지</a:t>
            </a:r>
            <a:r>
              <a:rPr sz="1650" dirty="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50" dirty="0" err="1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전체</a:t>
            </a:r>
            <a:r>
              <a:rPr sz="1650" dirty="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50" dirty="0" err="1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흐름</a:t>
            </a:r>
            <a:r>
              <a:rPr sz="1650" dirty="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50" dirty="0" err="1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연결</a:t>
            </a:r>
            <a:endParaRPr sz="2000" dirty="0"/>
          </a:p>
          <a:p>
            <a:pPr marL="342900" indent="-342900" algn="l">
              <a:lnSpc>
                <a:spcPct val="200000"/>
              </a:lnSpc>
              <a:spcAft>
                <a:spcPts val="1000"/>
              </a:spcAft>
              <a:buSzPct val="100000"/>
              <a:buChar char="•"/>
              <a:defRPr sz="1650">
                <a:solidFill>
                  <a:srgbClr val="D5D9E0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1650" dirty="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분석 결과 확인과 보고서 작성 기능 검증</a:t>
            </a:r>
            <a:endParaRPr lang="ko-KR" altLang="en-US" sz="2000" dirty="0"/>
          </a:p>
          <a:p>
            <a:pPr marL="342900" indent="-342900" algn="l">
              <a:lnSpc>
                <a:spcPct val="200000"/>
              </a:lnSpc>
              <a:spcAft>
                <a:spcPts val="1000"/>
              </a:spcAft>
              <a:buSzPct val="100000"/>
              <a:buChar char="•"/>
              <a:defRPr sz="1650">
                <a:solidFill>
                  <a:srgbClr val="D5D9E0"/>
                </a:solidFill>
                <a:latin typeface="Pretendard"/>
                <a:ea typeface="Pretendard"/>
                <a:cs typeface="Pretendard"/>
              </a:defRPr>
            </a:pPr>
            <a:r>
              <a:rPr sz="1650" dirty="0" err="1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검증</a:t>
            </a:r>
            <a:r>
              <a:rPr sz="1650" dirty="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50" dirty="0" err="1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과정에서</a:t>
            </a:r>
            <a:r>
              <a:rPr lang="en-US" sz="1650" dirty="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650" dirty="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기능 및 </a:t>
            </a:r>
            <a:r>
              <a:rPr sz="1650" dirty="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50" dirty="0" err="1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발견되는</a:t>
            </a:r>
            <a:r>
              <a:rPr sz="1650" dirty="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650" dirty="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오류 개선</a:t>
            </a:r>
            <a:endParaRPr sz="2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F9FDC4F-5451-47EC-A855-D555E7033022}"/>
              </a:ext>
            </a:extLst>
          </p:cNvPr>
          <p:cNvSpPr>
            <a:spLocks noGrp="1"/>
          </p:cNvSpPr>
          <p:nvPr/>
        </p:nvSpPr>
        <p:spPr>
          <a:xfrm>
            <a:off x="640080" y="5943600"/>
            <a:ext cx="10908792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600">
                <a:solidFill>
                  <a:srgbClr val="3AAFB9"/>
                </a:solidFill>
                <a:latin typeface="Pretendard"/>
                <a:ea typeface="Pretendard"/>
                <a:cs typeface="Pretendard"/>
              </a:rPr>
              <a:t>GPT는 최종 모델이 아니라 전체 기능 흐름을 빠르게 검증하기 위한 대체 모델입니다.</a:t>
            </a:r>
            <a:endParaRPr sz="16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CC4B3E2-FBFD-4A5C-B8D3-0368FD14C21E}"/>
              </a:ext>
            </a:extLst>
          </p:cNvPr>
          <p:cNvSpPr>
            <a:spLocks noGrp="1"/>
          </p:cNvSpPr>
          <p:nvPr/>
        </p:nvSpPr>
        <p:spPr>
          <a:xfrm>
            <a:off x="11365992" y="6473952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4A5568"/>
                </a:solidFill>
                <a:latin typeface="Pretendard"/>
                <a:ea typeface="Pretendard"/>
                <a:cs typeface="Pretendard"/>
              </a:rPr>
              <a:t>5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345314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FEC6667-5F16-4E31-8464-787D74AAF75A}"/>
              </a:ext>
            </a:extLst>
          </p:cNvPr>
          <p:cNvSpPr>
            <a:spLocks noGrp="1"/>
          </p:cNvSpPr>
          <p:nvPr/>
        </p:nvSpPr>
        <p:spPr>
          <a:xfrm>
            <a:off x="640080" y="365760"/>
            <a:ext cx="10908792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합성 데이터 생성 전략 재설계</a:t>
            </a:r>
            <a:endParaRPr sz="3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954E740-8A59-4491-9B07-C8BFA759BC87}"/>
              </a:ext>
            </a:extLst>
          </p:cNvPr>
          <p:cNvSpPr>
            <a:spLocks noGrp="1"/>
          </p:cNvSpPr>
          <p:nvPr/>
        </p:nvSpPr>
        <p:spPr>
          <a:xfrm>
            <a:off x="640080" y="1508760"/>
            <a:ext cx="10908792" cy="2331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 algn="l">
              <a:lnSpc>
                <a:spcPct val="110000"/>
              </a:lnSpc>
              <a:spcAft>
                <a:spcPts val="1000"/>
              </a:spcAft>
              <a:buSzPct val="100000"/>
              <a:buChar char="•"/>
              <a:defRPr sz="1575">
                <a:solidFill>
                  <a:srgbClr val="D5D9E0"/>
                </a:solidFill>
                <a:latin typeface="Pretendard"/>
                <a:ea typeface="Pretendard"/>
                <a:cs typeface="Pretendard"/>
              </a:defRPr>
            </a:pPr>
            <a:r>
              <a:rPr sz="1575" dirty="0" err="1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기존</a:t>
            </a:r>
            <a:r>
              <a:rPr sz="1575" dirty="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75" dirty="0" err="1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합성</a:t>
            </a:r>
            <a:r>
              <a:rPr sz="1575" dirty="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75" dirty="0" err="1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데이터가</a:t>
            </a:r>
            <a:r>
              <a:rPr sz="1575" dirty="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75" dirty="0" err="1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특정</a:t>
            </a:r>
            <a:r>
              <a:rPr sz="1575" dirty="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75" dirty="0" err="1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시나리오</a:t>
            </a:r>
            <a:r>
              <a:rPr lang="ko-KR" altLang="en-US" sz="1575" dirty="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를 위해서 만들어졌을 가능성을 </a:t>
            </a:r>
            <a:r>
              <a:rPr sz="1575" dirty="0" err="1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확인</a:t>
            </a:r>
            <a:endParaRPr sz="2000" dirty="0">
              <a:solidFill>
                <a:srgbClr val="D6DCE4"/>
              </a:solidFill>
              <a:latin typeface="Pretendard"/>
              <a:ea typeface="Pretendard"/>
              <a:cs typeface="Pretendard"/>
            </a:endParaRP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SzPct val="100000"/>
              <a:buChar char="•"/>
              <a:defRPr sz="1575">
                <a:solidFill>
                  <a:srgbClr val="D5D9E0"/>
                </a:solidFill>
                <a:latin typeface="Pretendard"/>
                <a:ea typeface="Pretendard"/>
                <a:cs typeface="Pretendard"/>
              </a:defRPr>
            </a:pPr>
            <a:r>
              <a:rPr sz="1575" dirty="0" err="1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다양한</a:t>
            </a:r>
            <a:r>
              <a:rPr sz="1575" dirty="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75" dirty="0" err="1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질문과</a:t>
            </a:r>
            <a:r>
              <a:rPr sz="1575" dirty="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75" dirty="0" err="1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조건을</a:t>
            </a:r>
            <a:r>
              <a:rPr sz="1575" dirty="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75" dirty="0" err="1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검증하기에는</a:t>
            </a:r>
            <a:r>
              <a:rPr sz="1575" dirty="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75" dirty="0" err="1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현실성과</a:t>
            </a:r>
            <a:r>
              <a:rPr sz="1575" dirty="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75" dirty="0" err="1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확장성이</a:t>
            </a:r>
            <a:r>
              <a:rPr sz="1575" dirty="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75" dirty="0" err="1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부족하다고</a:t>
            </a:r>
            <a:r>
              <a:rPr sz="1575" dirty="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75" dirty="0" err="1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판단</a:t>
            </a:r>
            <a:endParaRPr sz="2000" dirty="0"/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SzPct val="100000"/>
              <a:buChar char="•"/>
              <a:defRPr sz="1575">
                <a:solidFill>
                  <a:srgbClr val="D5D9E0"/>
                </a:solidFill>
                <a:latin typeface="Pretendard"/>
                <a:ea typeface="Pretendard"/>
                <a:cs typeface="Pretendard"/>
              </a:defRPr>
            </a:pPr>
            <a:r>
              <a:rPr sz="1575" dirty="0" err="1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워커힐</a:t>
            </a:r>
            <a:r>
              <a:rPr sz="1575" dirty="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75" dirty="0" err="1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공개</a:t>
            </a:r>
            <a:r>
              <a:rPr sz="1575" dirty="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75" dirty="0" err="1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정보를</a:t>
            </a:r>
            <a:r>
              <a:rPr sz="1575" dirty="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75" dirty="0" err="1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참고해</a:t>
            </a:r>
            <a:r>
              <a:rPr sz="1575" dirty="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75" dirty="0" err="1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호텔</a:t>
            </a:r>
            <a:r>
              <a:rPr sz="1575" dirty="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75" dirty="0" err="1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운영형</a:t>
            </a:r>
            <a:r>
              <a:rPr sz="1575" dirty="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75" dirty="0" err="1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합성</a:t>
            </a:r>
            <a:r>
              <a:rPr sz="1575" dirty="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75" dirty="0" err="1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데이터</a:t>
            </a:r>
            <a:r>
              <a:rPr sz="1575" dirty="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75" dirty="0" err="1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생성</a:t>
            </a:r>
            <a:r>
              <a:rPr sz="1575" dirty="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75" dirty="0" err="1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기준</a:t>
            </a:r>
            <a:r>
              <a:rPr sz="1575" dirty="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75" dirty="0" err="1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재설계</a:t>
            </a:r>
            <a:endParaRPr sz="2000" dirty="0"/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SzPct val="100000"/>
              <a:buChar char="•"/>
              <a:defRPr sz="1575">
                <a:solidFill>
                  <a:srgbClr val="D5D9E0"/>
                </a:solidFill>
                <a:latin typeface="Pretendard"/>
                <a:ea typeface="Pretendard"/>
                <a:cs typeface="Pretendard"/>
              </a:defRPr>
            </a:pPr>
            <a:r>
              <a:rPr sz="1575" dirty="0" err="1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새로운</a:t>
            </a:r>
            <a:r>
              <a:rPr sz="1575" dirty="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75" dirty="0" err="1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기준에</a:t>
            </a:r>
            <a:r>
              <a:rPr sz="1575" dirty="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75" dirty="0" err="1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따라</a:t>
            </a:r>
            <a:r>
              <a:rPr sz="1575" dirty="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75" dirty="0" err="1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합성</a:t>
            </a:r>
            <a:r>
              <a:rPr sz="1575" dirty="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75" dirty="0" err="1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데이터를</a:t>
            </a:r>
            <a:r>
              <a:rPr sz="1575" dirty="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75" dirty="0" err="1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생성</a:t>
            </a:r>
            <a:r>
              <a:rPr sz="1575" dirty="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 중</a:t>
            </a:r>
            <a:endParaRPr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2F08EF4-7DB4-48AD-BBEB-D5870E43B2C0}"/>
              </a:ext>
            </a:extLst>
          </p:cNvPr>
          <p:cNvSpPr>
            <a:spLocks noGrp="1"/>
          </p:cNvSpPr>
          <p:nvPr/>
        </p:nvSpPr>
        <p:spPr>
          <a:xfrm>
            <a:off x="640080" y="379476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1C2430"/>
          </a:solidFill>
          <a:ln w="9525">
            <a:solidFill>
              <a:srgbClr val="2D384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D81C592-FDE6-41F2-8179-1DA320A08C79}"/>
              </a:ext>
            </a:extLst>
          </p:cNvPr>
          <p:cNvSpPr>
            <a:spLocks noGrp="1"/>
          </p:cNvSpPr>
          <p:nvPr/>
        </p:nvSpPr>
        <p:spPr>
          <a:xfrm>
            <a:off x="914400" y="3977640"/>
            <a:ext cx="731520" cy="256032"/>
          </a:xfrm>
          <a:prstGeom prst="roundRect">
            <a:avLst>
              <a:gd name="adj" fmla="val 17857"/>
            </a:avLst>
          </a:prstGeom>
          <a:solidFill>
            <a:srgbClr val="3D4555"/>
          </a:solidFill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8EBAB31-F1F9-4B5B-83A7-3C7491673DFA}"/>
              </a:ext>
            </a:extLst>
          </p:cNvPr>
          <p:cNvSpPr>
            <a:spLocks noGrp="1"/>
          </p:cNvSpPr>
          <p:nvPr/>
        </p:nvSpPr>
        <p:spPr>
          <a:xfrm>
            <a:off x="914400" y="397764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>
                <a:solidFill>
                  <a:srgbClr val="8B949E"/>
                </a:solidFill>
                <a:latin typeface="Pretendard"/>
                <a:ea typeface="Pretendard"/>
                <a:cs typeface="Pretendard"/>
              </a:rPr>
              <a:t>기존</a:t>
            </a:r>
            <a:endParaRPr sz="11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3B9C859-6E60-4C86-AAC6-529C847E3236}"/>
              </a:ext>
            </a:extLst>
          </p:cNvPr>
          <p:cNvSpPr>
            <a:spLocks noGrp="1"/>
          </p:cNvSpPr>
          <p:nvPr/>
        </p:nvSpPr>
        <p:spPr>
          <a:xfrm>
            <a:off x="914400" y="4343400"/>
            <a:ext cx="466344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000">
                <a:solidFill>
                  <a:srgbClr val="D6DCE4"/>
                </a:solidFill>
                <a:latin typeface="Pretendard"/>
                <a:ea typeface="Pretendard"/>
                <a:cs typeface="Pretendard"/>
              </a:rPr>
              <a:t>특정 시나리오 중심의 합성 데이터</a:t>
            </a:r>
            <a:endParaRPr sz="20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6580F3A-5E5A-407D-8707-FF64FE46029B}"/>
              </a:ext>
            </a:extLst>
          </p:cNvPr>
          <p:cNvSpPr>
            <a:spLocks noGrp="1"/>
          </p:cNvSpPr>
          <p:nvPr/>
        </p:nvSpPr>
        <p:spPr>
          <a:xfrm rot="5400000">
            <a:off x="5943600" y="4343400"/>
            <a:ext cx="320040" cy="274320"/>
          </a:xfrm>
          <a:prstGeom prst="triangle">
            <a:avLst/>
          </a:prstGeom>
          <a:solidFill>
            <a:srgbClr val="3AAFB9"/>
          </a:solidFill>
        </p:spPr>
        <p:txBody>
          <a:bodyPr/>
          <a:lstStyle/>
          <a:p>
            <a:endParaRPr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5F33A20-083E-4E9E-B28F-A734153C166C}"/>
              </a:ext>
            </a:extLst>
          </p:cNvPr>
          <p:cNvSpPr>
            <a:spLocks noGrp="1"/>
          </p:cNvSpPr>
          <p:nvPr/>
        </p:nvSpPr>
        <p:spPr>
          <a:xfrm>
            <a:off x="6355080" y="379476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1A3040"/>
          </a:solidFill>
          <a:ln w="9525">
            <a:solidFill>
              <a:srgbClr val="3AAFB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7F85A9E-C60D-43E5-85B2-A91EF30469C0}"/>
              </a:ext>
            </a:extLst>
          </p:cNvPr>
          <p:cNvSpPr>
            <a:spLocks noGrp="1"/>
          </p:cNvSpPr>
          <p:nvPr/>
        </p:nvSpPr>
        <p:spPr>
          <a:xfrm>
            <a:off x="6629400" y="3977640"/>
            <a:ext cx="731520" cy="256032"/>
          </a:xfrm>
          <a:prstGeom prst="roundRect">
            <a:avLst>
              <a:gd name="adj" fmla="val 17857"/>
            </a:avLst>
          </a:prstGeom>
          <a:solidFill>
            <a:srgbClr val="2A8A96"/>
          </a:solidFill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06D6E17-C782-4309-9FD6-32B84586C412}"/>
              </a:ext>
            </a:extLst>
          </p:cNvPr>
          <p:cNvSpPr>
            <a:spLocks noGrp="1"/>
          </p:cNvSpPr>
          <p:nvPr/>
        </p:nvSpPr>
        <p:spPr>
          <a:xfrm>
            <a:off x="6629400" y="397764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개선</a:t>
            </a:r>
            <a:endParaRPr sz="11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28C5CC7-A3E2-4E12-8B6C-C500FD242BD7}"/>
              </a:ext>
            </a:extLst>
          </p:cNvPr>
          <p:cNvSpPr>
            <a:spLocks noGrp="1"/>
          </p:cNvSpPr>
          <p:nvPr/>
        </p:nvSpPr>
        <p:spPr>
          <a:xfrm>
            <a:off x="6629400" y="4343400"/>
            <a:ext cx="466344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다양한 분석을 검증할 수 있는 합성 데이터</a:t>
            </a:r>
            <a:endParaRPr sz="20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DEBF4F6-0AC4-4314-9339-7313B766FB50}"/>
              </a:ext>
            </a:extLst>
          </p:cNvPr>
          <p:cNvSpPr>
            <a:spLocks noGrp="1"/>
          </p:cNvSpPr>
          <p:nvPr/>
        </p:nvSpPr>
        <p:spPr>
          <a:xfrm>
            <a:off x="640080" y="5943600"/>
            <a:ext cx="10908792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600">
                <a:solidFill>
                  <a:srgbClr val="3AAFB9"/>
                </a:solidFill>
                <a:latin typeface="Pretendard"/>
                <a:ea typeface="Pretendard"/>
                <a:cs typeface="Pretendard"/>
              </a:rPr>
              <a:t>다양한 질문과 분석 조건을 검증할 수 있는 품질과 구조를 확보하는 것이 목표입니다.</a:t>
            </a:r>
            <a:endParaRPr sz="16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89B57C7-D14B-46ED-91F5-5D73D838FFEF}"/>
              </a:ext>
            </a:extLst>
          </p:cNvPr>
          <p:cNvSpPr>
            <a:spLocks noGrp="1"/>
          </p:cNvSpPr>
          <p:nvPr/>
        </p:nvSpPr>
        <p:spPr>
          <a:xfrm>
            <a:off x="11365992" y="6473952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4A5568"/>
                </a:solidFill>
                <a:latin typeface="Pretendard"/>
                <a:ea typeface="Pretendard"/>
                <a:cs typeface="Pretendard"/>
              </a:rPr>
              <a:t>6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598635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AB952F1-653A-4388-90A4-0EE17C184B7A}"/>
              </a:ext>
            </a:extLst>
          </p:cNvPr>
          <p:cNvSpPr>
            <a:spLocks noGrp="1"/>
          </p:cNvSpPr>
          <p:nvPr/>
        </p:nvSpPr>
        <p:spPr>
          <a:xfrm>
            <a:off x="640080" y="365760"/>
            <a:ext cx="10908792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3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sLLM 현황 — 학습 완료, 적용 시점 조정</a:t>
            </a:r>
            <a:endParaRPr sz="32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2EA0CF0-E717-465E-B159-FD29004E21E4}"/>
              </a:ext>
            </a:extLst>
          </p:cNvPr>
          <p:cNvSpPr>
            <a:spLocks noGrp="1"/>
          </p:cNvSpPr>
          <p:nvPr/>
        </p:nvSpPr>
        <p:spPr>
          <a:xfrm>
            <a:off x="640080" y="2066544"/>
            <a:ext cx="5120640" cy="2560320"/>
          </a:xfrm>
          <a:prstGeom prst="roundRect">
            <a:avLst>
              <a:gd name="adj" fmla="val 3571"/>
            </a:avLst>
          </a:prstGeom>
          <a:solidFill>
            <a:srgbClr val="1C2430"/>
          </a:solidFill>
          <a:ln w="9525">
            <a:solidFill>
              <a:srgbClr val="2D384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0857794-4C68-4DC5-BA26-182F8D459CD6}"/>
              </a:ext>
            </a:extLst>
          </p:cNvPr>
          <p:cNvSpPr>
            <a:spLocks noGrp="1"/>
          </p:cNvSpPr>
          <p:nvPr/>
        </p:nvSpPr>
        <p:spPr>
          <a:xfrm>
            <a:off x="640080" y="2066544"/>
            <a:ext cx="5120640" cy="54864"/>
          </a:xfrm>
          <a:prstGeom prst="rect">
            <a:avLst/>
          </a:prstGeom>
          <a:solidFill>
            <a:srgbClr val="3AAFB9"/>
          </a:solidFill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126D056-366F-48C3-A298-7CCDD193B064}"/>
              </a:ext>
            </a:extLst>
          </p:cNvPr>
          <p:cNvSpPr>
            <a:spLocks noGrp="1"/>
          </p:cNvSpPr>
          <p:nvPr/>
        </p:nvSpPr>
        <p:spPr>
          <a:xfrm>
            <a:off x="960120" y="2340864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2A8A96"/>
          </a:solidFill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2C9CD3F-BA96-4FE7-8D21-1D7D92F926D4}"/>
              </a:ext>
            </a:extLst>
          </p:cNvPr>
          <p:cNvSpPr>
            <a:spLocks noGrp="1"/>
          </p:cNvSpPr>
          <p:nvPr/>
        </p:nvSpPr>
        <p:spPr>
          <a:xfrm>
            <a:off x="960120" y="2340864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학습 완료</a:t>
            </a:r>
            <a:endParaRPr sz="12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20F0029-70C7-41F4-9D82-89830E4289E4}"/>
              </a:ext>
            </a:extLst>
          </p:cNvPr>
          <p:cNvSpPr>
            <a:spLocks noGrp="1"/>
          </p:cNvSpPr>
          <p:nvPr/>
        </p:nvSpPr>
        <p:spPr>
          <a:xfrm>
            <a:off x="960120" y="2843784"/>
            <a:ext cx="448056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 algn="l">
              <a:lnSpc>
                <a:spcPct val="140000"/>
              </a:lnSpc>
              <a:spcAft>
                <a:spcPts val="800"/>
              </a:spcAft>
              <a:buSzPct val="100000"/>
              <a:buChar char="•"/>
            </a:pPr>
            <a:r>
              <a:rPr sz="1600" dirty="0" err="1">
                <a:solidFill>
                  <a:srgbClr val="D6DCE4"/>
                </a:solidFill>
                <a:latin typeface="Pretendard"/>
                <a:ea typeface="Pretendard"/>
                <a:cs typeface="Pretendard"/>
              </a:rPr>
              <a:t>기존</a:t>
            </a:r>
            <a:r>
              <a:rPr sz="1600" dirty="0">
                <a:solidFill>
                  <a:srgbClr val="D6DCE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solidFill>
                  <a:srgbClr val="D6DCE4"/>
                </a:solidFill>
                <a:latin typeface="Pretendard"/>
                <a:ea typeface="Pretendard"/>
                <a:cs typeface="Pretendard"/>
              </a:rPr>
              <a:t>합성</a:t>
            </a:r>
            <a:r>
              <a:rPr sz="1600" dirty="0">
                <a:solidFill>
                  <a:srgbClr val="D6DCE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solidFill>
                  <a:srgbClr val="D6DCE4"/>
                </a:solidFill>
                <a:latin typeface="Pretendard"/>
                <a:ea typeface="Pretendard"/>
                <a:cs typeface="Pretendard"/>
              </a:rPr>
              <a:t>데이터를</a:t>
            </a:r>
            <a:r>
              <a:rPr sz="1600" dirty="0">
                <a:solidFill>
                  <a:srgbClr val="D6DCE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solidFill>
                  <a:srgbClr val="D6DCE4"/>
                </a:solidFill>
                <a:latin typeface="Pretendard"/>
                <a:ea typeface="Pretendard"/>
                <a:cs typeface="Pretendard"/>
              </a:rPr>
              <a:t>기준으로</a:t>
            </a:r>
            <a:r>
              <a:rPr sz="1600" dirty="0">
                <a:solidFill>
                  <a:srgbClr val="D6DCE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solidFill>
                  <a:srgbClr val="D6DCE4"/>
                </a:solidFill>
                <a:latin typeface="Pretendard"/>
                <a:ea typeface="Pretendard"/>
                <a:cs typeface="Pretendard"/>
              </a:rPr>
              <a:t>학습</a:t>
            </a:r>
            <a:r>
              <a:rPr sz="1600" dirty="0">
                <a:solidFill>
                  <a:srgbClr val="D6DCE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solidFill>
                  <a:srgbClr val="D6DCE4"/>
                </a:solidFill>
                <a:latin typeface="Pretendard"/>
                <a:ea typeface="Pretendard"/>
                <a:cs typeface="Pretendard"/>
              </a:rPr>
              <a:t>완료</a:t>
            </a:r>
            <a:endParaRPr lang="en-US" sz="1600" dirty="0">
              <a:solidFill>
                <a:srgbClr val="D6DCE4"/>
              </a:solidFill>
              <a:latin typeface="Pretendard"/>
              <a:ea typeface="Pretendard"/>
              <a:cs typeface="Pretendard"/>
            </a:endParaRPr>
          </a:p>
          <a:p>
            <a:pPr marL="800100" lvl="1" indent="-342900">
              <a:lnSpc>
                <a:spcPct val="14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6DCE4"/>
                </a:solidFill>
                <a:latin typeface="Pretendard"/>
                <a:ea typeface="Pretendard"/>
                <a:cs typeface="Pretendard"/>
              </a:rPr>
              <a:t>Qwen3.5-4B </a:t>
            </a:r>
            <a:r>
              <a:rPr lang="ko-KR" altLang="en-US" sz="1600" dirty="0">
                <a:solidFill>
                  <a:srgbClr val="D6DCE4"/>
                </a:solidFill>
                <a:latin typeface="Pretendard"/>
                <a:ea typeface="Pretendard"/>
                <a:cs typeface="Pretendard"/>
              </a:rPr>
              <a:t>기반 </a:t>
            </a:r>
            <a:r>
              <a:rPr lang="en-US" altLang="ko-KR" sz="1600" dirty="0" err="1">
                <a:solidFill>
                  <a:srgbClr val="D6DCE4"/>
                </a:solidFill>
                <a:latin typeface="Pretendard"/>
                <a:ea typeface="Pretendard"/>
                <a:cs typeface="Pretendard"/>
              </a:rPr>
              <a:t>LoRA</a:t>
            </a:r>
            <a:r>
              <a:rPr lang="en-US" altLang="ko-KR" sz="1600" dirty="0">
                <a:solidFill>
                  <a:srgbClr val="D6DCE4"/>
                </a:solidFill>
                <a:latin typeface="Pretendard"/>
                <a:ea typeface="Pretendard"/>
                <a:cs typeface="Pretendard"/>
              </a:rPr>
              <a:t> Adapter</a:t>
            </a:r>
            <a:endParaRPr sz="1600" dirty="0"/>
          </a:p>
          <a:p>
            <a:pPr marL="342900" indent="-342900" algn="l">
              <a:lnSpc>
                <a:spcPct val="140000"/>
              </a:lnSpc>
              <a:buSzPct val="100000"/>
              <a:buChar char="•"/>
            </a:pPr>
            <a:r>
              <a:rPr sz="1600" dirty="0" err="1">
                <a:solidFill>
                  <a:srgbClr val="D6DCE4"/>
                </a:solidFill>
                <a:latin typeface="Pretendard"/>
                <a:ea typeface="Pretendard"/>
                <a:cs typeface="Pretendard"/>
              </a:rPr>
              <a:t>원래는</a:t>
            </a:r>
            <a:r>
              <a:rPr sz="1600" dirty="0">
                <a:solidFill>
                  <a:srgbClr val="D6DCE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solidFill>
                  <a:srgbClr val="D6DCE4"/>
                </a:solidFill>
                <a:latin typeface="Pretendard"/>
                <a:ea typeface="Pretendard"/>
                <a:cs typeface="Pretendard"/>
              </a:rPr>
              <a:t>sLLM이</a:t>
            </a:r>
            <a:r>
              <a:rPr sz="1600" dirty="0">
                <a:solidFill>
                  <a:srgbClr val="D6DCE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solidFill>
                  <a:srgbClr val="D6DCE4"/>
                </a:solidFill>
                <a:latin typeface="Pretendard"/>
                <a:ea typeface="Pretendard"/>
                <a:cs typeface="Pretendard"/>
              </a:rPr>
              <a:t>SQL을</a:t>
            </a:r>
            <a:r>
              <a:rPr sz="1600" dirty="0">
                <a:solidFill>
                  <a:srgbClr val="D6DCE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solidFill>
                  <a:srgbClr val="D6DCE4"/>
                </a:solidFill>
                <a:latin typeface="Pretendard"/>
                <a:ea typeface="Pretendard"/>
                <a:cs typeface="Pretendard"/>
              </a:rPr>
              <a:t>생성하도록</a:t>
            </a:r>
            <a:r>
              <a:rPr sz="1600" dirty="0">
                <a:solidFill>
                  <a:srgbClr val="D6DCE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solidFill>
                  <a:srgbClr val="D6DCE4"/>
                </a:solidFill>
                <a:latin typeface="Pretendard"/>
                <a:ea typeface="Pretendard"/>
                <a:cs typeface="Pretendard"/>
              </a:rPr>
              <a:t>설계</a:t>
            </a:r>
            <a:r>
              <a:rPr sz="1600" dirty="0">
                <a:solidFill>
                  <a:srgbClr val="D6DCE4"/>
                </a:solidFill>
                <a:latin typeface="Pretendard"/>
                <a:ea typeface="Pretendard"/>
                <a:cs typeface="Pretendard"/>
              </a:rPr>
              <a:t>(Node 2)</a:t>
            </a:r>
            <a:endParaRPr sz="16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556BD02-09C8-4B54-BC4D-B96103CA2187}"/>
              </a:ext>
            </a:extLst>
          </p:cNvPr>
          <p:cNvSpPr>
            <a:spLocks noGrp="1"/>
          </p:cNvSpPr>
          <p:nvPr/>
        </p:nvSpPr>
        <p:spPr>
          <a:xfrm>
            <a:off x="6400800" y="2066544"/>
            <a:ext cx="5120640" cy="2560320"/>
          </a:xfrm>
          <a:prstGeom prst="roundRect">
            <a:avLst>
              <a:gd name="adj" fmla="val 3571"/>
            </a:avLst>
          </a:prstGeom>
          <a:solidFill>
            <a:srgbClr val="1C2430"/>
          </a:solidFill>
          <a:ln w="9525">
            <a:solidFill>
              <a:srgbClr val="2D384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364EBFD-35CF-45CF-8F7B-605C709A0C74}"/>
              </a:ext>
            </a:extLst>
          </p:cNvPr>
          <p:cNvSpPr>
            <a:spLocks noGrp="1"/>
          </p:cNvSpPr>
          <p:nvPr/>
        </p:nvSpPr>
        <p:spPr>
          <a:xfrm>
            <a:off x="6400800" y="2066544"/>
            <a:ext cx="5120640" cy="54864"/>
          </a:xfrm>
          <a:prstGeom prst="rect">
            <a:avLst/>
          </a:prstGeom>
          <a:solidFill>
            <a:srgbClr val="3D4555"/>
          </a:solidFill>
        </p:spPr>
        <p:txBody>
          <a:bodyPr/>
          <a:lstStyle/>
          <a:p>
            <a:endParaRPr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01F0215-F98F-4ED2-B70A-C423756F1C98}"/>
              </a:ext>
            </a:extLst>
          </p:cNvPr>
          <p:cNvSpPr>
            <a:spLocks noGrp="1"/>
          </p:cNvSpPr>
          <p:nvPr/>
        </p:nvSpPr>
        <p:spPr>
          <a:xfrm>
            <a:off x="6720840" y="2340864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3D4555"/>
          </a:solidFill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E39DCD7-C08A-4CE8-910B-F39CF357B62F}"/>
              </a:ext>
            </a:extLst>
          </p:cNvPr>
          <p:cNvSpPr>
            <a:spLocks noGrp="1"/>
          </p:cNvSpPr>
          <p:nvPr/>
        </p:nvSpPr>
        <p:spPr>
          <a:xfrm>
            <a:off x="6720840" y="2340864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D6DCE4"/>
                </a:solidFill>
                <a:latin typeface="Pretendard"/>
                <a:ea typeface="Pretendard"/>
                <a:cs typeface="Pretendard"/>
              </a:rPr>
              <a:t>E2E 적용 대기</a:t>
            </a:r>
            <a:endParaRPr sz="12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1C9ECA5-ADAB-4420-9E65-310F16C9B2CA}"/>
              </a:ext>
            </a:extLst>
          </p:cNvPr>
          <p:cNvSpPr>
            <a:spLocks noGrp="1"/>
          </p:cNvSpPr>
          <p:nvPr/>
        </p:nvSpPr>
        <p:spPr>
          <a:xfrm>
            <a:off x="6720840" y="2843784"/>
            <a:ext cx="448056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 algn="l">
              <a:lnSpc>
                <a:spcPct val="115000"/>
              </a:lnSpc>
              <a:spcAft>
                <a:spcPts val="800"/>
              </a:spcAft>
              <a:buSzPct val="100000"/>
              <a:buChar char="•"/>
              <a:defRPr sz="1575">
                <a:solidFill>
                  <a:srgbClr val="D5D9E0"/>
                </a:solidFill>
                <a:latin typeface="Pretendard"/>
                <a:ea typeface="Pretendard"/>
                <a:cs typeface="Pretendard"/>
              </a:defRPr>
            </a:pPr>
            <a:r>
              <a:rPr sz="1575" dirty="0" err="1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합성</a:t>
            </a:r>
            <a:r>
              <a:rPr sz="1575" dirty="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75" dirty="0" err="1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데이터</a:t>
            </a:r>
            <a:r>
              <a:rPr sz="1575" dirty="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75" dirty="0" err="1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기준이</a:t>
            </a:r>
            <a:r>
              <a:rPr sz="1575" dirty="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75" dirty="0" err="1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변경되고</a:t>
            </a:r>
            <a:r>
              <a:rPr sz="1575" dirty="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75" dirty="0" err="1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있어</a:t>
            </a:r>
            <a:r>
              <a:rPr sz="1575" dirty="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75" dirty="0" err="1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기존</a:t>
            </a:r>
            <a:r>
              <a:rPr sz="1575" dirty="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75" dirty="0" err="1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학습</a:t>
            </a:r>
            <a:r>
              <a:rPr sz="1575" dirty="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75" dirty="0" err="1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모델의</a:t>
            </a:r>
            <a:r>
              <a:rPr sz="1575" dirty="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75" dirty="0" err="1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적합성</a:t>
            </a:r>
            <a:r>
              <a:rPr sz="1575" dirty="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75" dirty="0" err="1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재확인</a:t>
            </a:r>
            <a:r>
              <a:rPr sz="1575" dirty="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75" dirty="0" err="1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필요</a:t>
            </a:r>
            <a:endParaRPr sz="1600" dirty="0"/>
          </a:p>
          <a:p>
            <a:pPr marL="342900" indent="-342900" algn="l">
              <a:lnSpc>
                <a:spcPct val="115000"/>
              </a:lnSpc>
              <a:buSzPct val="100000"/>
              <a:buChar char="•"/>
              <a:defRPr sz="1575">
                <a:solidFill>
                  <a:srgbClr val="D5D9E0"/>
                </a:solidFill>
                <a:latin typeface="Pretendard"/>
                <a:ea typeface="Pretendard"/>
                <a:cs typeface="Pretendard"/>
              </a:defRPr>
            </a:pPr>
            <a:r>
              <a:rPr sz="1575" dirty="0" err="1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새로운</a:t>
            </a:r>
            <a:r>
              <a:rPr sz="1575" dirty="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75" dirty="0" err="1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데이터</a:t>
            </a:r>
            <a:r>
              <a:rPr sz="1575" dirty="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75" dirty="0" err="1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검증</a:t>
            </a:r>
            <a:r>
              <a:rPr sz="1575" dirty="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 후 </a:t>
            </a:r>
            <a:r>
              <a:rPr sz="1575" dirty="0" err="1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RunPod에서</a:t>
            </a:r>
            <a:r>
              <a:rPr sz="1575" dirty="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75" dirty="0" err="1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다시</a:t>
            </a:r>
            <a:r>
              <a:rPr sz="1575" dirty="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75" dirty="0" err="1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연결</a:t>
            </a:r>
            <a:r>
              <a:rPr sz="1575" dirty="0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75" dirty="0" err="1">
                <a:solidFill>
                  <a:srgbClr val="D5D9E0"/>
                </a:solidFill>
                <a:latin typeface="Pretendard"/>
                <a:ea typeface="Pretendard"/>
                <a:cs typeface="Pretendard"/>
              </a:rPr>
              <a:t>예정</a:t>
            </a:r>
            <a:endParaRPr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31B99DA-2E74-4588-A862-07B59A7D05EA}"/>
              </a:ext>
            </a:extLst>
          </p:cNvPr>
          <p:cNvSpPr>
            <a:spLocks noGrp="1"/>
          </p:cNvSpPr>
          <p:nvPr/>
        </p:nvSpPr>
        <p:spPr>
          <a:xfrm>
            <a:off x="640080" y="5943600"/>
            <a:ext cx="10908792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600">
                <a:solidFill>
                  <a:srgbClr val="3AAFB9"/>
                </a:solidFill>
                <a:latin typeface="Pretendard"/>
                <a:ea typeface="Pretendard"/>
                <a:cs typeface="Pretendard"/>
              </a:rPr>
              <a:t>새 데이터 기준을 확인한 뒤 sLLM을 E2E 흐름에 다시 연결할 예정입니다.</a:t>
            </a:r>
            <a:endParaRPr sz="16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B8CF775-DAF6-441A-B54A-9ACAE03AC9D8}"/>
              </a:ext>
            </a:extLst>
          </p:cNvPr>
          <p:cNvSpPr>
            <a:spLocks noGrp="1"/>
          </p:cNvSpPr>
          <p:nvPr/>
        </p:nvSpPr>
        <p:spPr>
          <a:xfrm>
            <a:off x="11365992" y="6473952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4A5568"/>
                </a:solidFill>
                <a:latin typeface="Pretendard"/>
                <a:ea typeface="Pretendard"/>
                <a:cs typeface="Pretendard"/>
              </a:rPr>
              <a:t>7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4537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ED76765-6F99-4417-A8BD-E48165A4DCA0}"/>
              </a:ext>
            </a:extLst>
          </p:cNvPr>
          <p:cNvSpPr>
            <a:spLocks noGrp="1"/>
          </p:cNvSpPr>
          <p:nvPr/>
        </p:nvSpPr>
        <p:spPr>
          <a:xfrm>
            <a:off x="640080" y="531019"/>
            <a:ext cx="10908792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32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향후</a:t>
            </a:r>
            <a:r>
              <a:rPr sz="32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로드맵</a:t>
            </a:r>
            <a:r>
              <a:rPr sz="32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— </a:t>
            </a:r>
            <a:r>
              <a:rPr sz="32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자체</a:t>
            </a:r>
            <a:r>
              <a:rPr sz="32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sLLM</a:t>
            </a:r>
            <a:r>
              <a:rPr lang="en-US" sz="32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모델</a:t>
            </a:r>
            <a:r>
              <a:rPr sz="32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적용까지</a:t>
            </a:r>
            <a:endParaRPr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D9A5907-4D5F-4D93-A159-90CD2B8C932F}"/>
              </a:ext>
            </a:extLst>
          </p:cNvPr>
          <p:cNvSpPr>
            <a:spLocks noGrp="1"/>
          </p:cNvSpPr>
          <p:nvPr/>
        </p:nvSpPr>
        <p:spPr>
          <a:xfrm>
            <a:off x="1354805" y="2933551"/>
            <a:ext cx="9628632" cy="0"/>
          </a:xfrm>
          <a:prstGeom prst="line">
            <a:avLst/>
          </a:prstGeom>
          <a:noFill/>
          <a:ln w="25400">
            <a:solidFill>
              <a:srgbClr val="2D384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AFADB50-E53A-4DA0-97AD-5DB092BE6809}"/>
              </a:ext>
            </a:extLst>
          </p:cNvPr>
          <p:cNvSpPr>
            <a:spLocks noGrp="1"/>
          </p:cNvSpPr>
          <p:nvPr/>
        </p:nvSpPr>
        <p:spPr>
          <a:xfrm>
            <a:off x="1280160" y="2933551"/>
            <a:ext cx="3209544" cy="0"/>
          </a:xfrm>
          <a:prstGeom prst="line">
            <a:avLst/>
          </a:prstGeom>
          <a:noFill/>
          <a:ln w="31750">
            <a:solidFill>
              <a:srgbClr val="3AAFB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CB9838F-29C2-41C0-986B-A58619C6C711}"/>
              </a:ext>
            </a:extLst>
          </p:cNvPr>
          <p:cNvSpPr>
            <a:spLocks noGrp="1"/>
          </p:cNvSpPr>
          <p:nvPr/>
        </p:nvSpPr>
        <p:spPr>
          <a:xfrm>
            <a:off x="1078992" y="2732383"/>
            <a:ext cx="402336" cy="402336"/>
          </a:xfrm>
          <a:prstGeom prst="ellipse">
            <a:avLst/>
          </a:prstGeom>
          <a:solidFill>
            <a:srgbClr val="2A8A96"/>
          </a:solidFill>
          <a:ln w="19050">
            <a:solidFill>
              <a:srgbClr val="3AAFB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D8B883F-511B-4FFA-842F-B498EC061249}"/>
              </a:ext>
            </a:extLst>
          </p:cNvPr>
          <p:cNvSpPr>
            <a:spLocks noGrp="1"/>
          </p:cNvSpPr>
          <p:nvPr/>
        </p:nvSpPr>
        <p:spPr>
          <a:xfrm>
            <a:off x="1078992" y="2732383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  <a:endParaRPr sz="13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0EAD8E4-CC9B-4CE0-9D93-AB6CCEE8F267}"/>
              </a:ext>
            </a:extLst>
          </p:cNvPr>
          <p:cNvSpPr>
            <a:spLocks noGrp="1"/>
          </p:cNvSpPr>
          <p:nvPr/>
        </p:nvSpPr>
        <p:spPr>
          <a:xfrm>
            <a:off x="91440" y="3317599"/>
            <a:ext cx="237744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sz="14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분석 및 보고서</a:t>
            </a:r>
            <a:endParaRPr sz="1400"/>
          </a:p>
          <a:p>
            <a:pPr marL="0" indent="0" algn="ctr">
              <a:lnSpc>
                <a:spcPct val="135000"/>
              </a:lnSpc>
              <a:buNone/>
            </a:pPr>
            <a:r>
              <a:rPr sz="14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기능 지속 고도화</a:t>
            </a:r>
            <a:endParaRPr sz="14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AC447CC-3757-4E4F-B667-FD140BA38A20}"/>
              </a:ext>
            </a:extLst>
          </p:cNvPr>
          <p:cNvSpPr>
            <a:spLocks noGrp="1"/>
          </p:cNvSpPr>
          <p:nvPr/>
        </p:nvSpPr>
        <p:spPr>
          <a:xfrm>
            <a:off x="822960" y="2229463"/>
            <a:ext cx="914400" cy="256032"/>
          </a:xfrm>
          <a:prstGeom prst="roundRect">
            <a:avLst>
              <a:gd name="adj" fmla="val 17857"/>
            </a:avLst>
          </a:prstGeom>
          <a:solidFill>
            <a:srgbClr val="2A8A96"/>
          </a:solidFill>
          <a:ln w="9525">
            <a:solidFill>
              <a:srgbClr val="3AAFB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0218C9F-D32C-4F6B-A957-3C03E8C55C07}"/>
              </a:ext>
            </a:extLst>
          </p:cNvPr>
          <p:cNvSpPr>
            <a:spLocks noGrp="1"/>
          </p:cNvSpPr>
          <p:nvPr/>
        </p:nvSpPr>
        <p:spPr>
          <a:xfrm>
            <a:off x="822960" y="2229463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현재 진행</a:t>
            </a:r>
            <a:endParaRPr sz="10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A6DA93A-90DC-4736-93EA-E3AE10ED2FB1}"/>
              </a:ext>
            </a:extLst>
          </p:cNvPr>
          <p:cNvSpPr>
            <a:spLocks noGrp="1"/>
          </p:cNvSpPr>
          <p:nvPr/>
        </p:nvSpPr>
        <p:spPr>
          <a:xfrm>
            <a:off x="4288536" y="2732383"/>
            <a:ext cx="402336" cy="402336"/>
          </a:xfrm>
          <a:prstGeom prst="ellipse">
            <a:avLst/>
          </a:prstGeom>
          <a:solidFill>
            <a:srgbClr val="2A8A96"/>
          </a:solidFill>
          <a:ln w="19050">
            <a:solidFill>
              <a:srgbClr val="3AAFB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C1DFC84-719E-4FCC-869B-42BC05200D43}"/>
              </a:ext>
            </a:extLst>
          </p:cNvPr>
          <p:cNvSpPr>
            <a:spLocks noGrp="1"/>
          </p:cNvSpPr>
          <p:nvPr/>
        </p:nvSpPr>
        <p:spPr>
          <a:xfrm>
            <a:off x="4288536" y="2732383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  <a:endParaRPr sz="13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CA2E5A6-4540-420E-B48E-8D83C95D4CD3}"/>
              </a:ext>
            </a:extLst>
          </p:cNvPr>
          <p:cNvSpPr>
            <a:spLocks noGrp="1"/>
          </p:cNvSpPr>
          <p:nvPr/>
        </p:nvSpPr>
        <p:spPr>
          <a:xfrm>
            <a:off x="3300984" y="3317599"/>
            <a:ext cx="237744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sz="14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신규 합성 데이터</a:t>
            </a:r>
            <a:endParaRPr sz="1400"/>
          </a:p>
          <a:p>
            <a:pPr marL="0" indent="0" algn="ctr">
              <a:lnSpc>
                <a:spcPct val="135000"/>
              </a:lnSpc>
              <a:buNone/>
            </a:pPr>
            <a:r>
              <a:rPr sz="14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품질 검증 및 E2E 재검증</a:t>
            </a:r>
            <a:endParaRPr sz="14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A8B1D0B-6DA8-4141-A108-2DCBC0E26BC9}"/>
              </a:ext>
            </a:extLst>
          </p:cNvPr>
          <p:cNvSpPr>
            <a:spLocks noGrp="1"/>
          </p:cNvSpPr>
          <p:nvPr/>
        </p:nvSpPr>
        <p:spPr>
          <a:xfrm>
            <a:off x="7498080" y="2732383"/>
            <a:ext cx="402336" cy="402336"/>
          </a:xfrm>
          <a:prstGeom prst="ellipse">
            <a:avLst/>
          </a:prstGeom>
          <a:solidFill>
            <a:srgbClr val="212B3A"/>
          </a:solidFill>
          <a:ln w="19050">
            <a:solidFill>
              <a:srgbClr val="2D384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E3E1BAF-3851-4ACE-9E08-0101D31E0923}"/>
              </a:ext>
            </a:extLst>
          </p:cNvPr>
          <p:cNvSpPr>
            <a:spLocks noGrp="1"/>
          </p:cNvSpPr>
          <p:nvPr/>
        </p:nvSpPr>
        <p:spPr>
          <a:xfrm>
            <a:off x="7498080" y="2732383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  <a:endParaRPr sz="13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88C3847-7399-4EF2-BCEA-DD685C337A90}"/>
              </a:ext>
            </a:extLst>
          </p:cNvPr>
          <p:cNvSpPr>
            <a:spLocks noGrp="1"/>
          </p:cNvSpPr>
          <p:nvPr/>
        </p:nvSpPr>
        <p:spPr>
          <a:xfrm>
            <a:off x="6510528" y="3317599"/>
            <a:ext cx="237744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sz="1400" dirty="0" err="1">
                <a:solidFill>
                  <a:srgbClr val="D6DCE4"/>
                </a:solidFill>
                <a:latin typeface="Pretendard"/>
                <a:ea typeface="Pretendard"/>
                <a:cs typeface="Pretendard"/>
              </a:rPr>
              <a:t>sLLM을</a:t>
            </a:r>
            <a:r>
              <a:rPr lang="en-US" sz="1400" dirty="0"/>
              <a:t> </a:t>
            </a:r>
            <a:r>
              <a:rPr sz="1400" dirty="0" err="1">
                <a:solidFill>
                  <a:srgbClr val="D6DCE4"/>
                </a:solidFill>
                <a:latin typeface="Pretendard"/>
                <a:ea typeface="Pretendard"/>
                <a:cs typeface="Pretendard"/>
              </a:rPr>
              <a:t>전체</a:t>
            </a:r>
            <a:r>
              <a:rPr sz="1400" dirty="0">
                <a:solidFill>
                  <a:srgbClr val="D6DCE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D6DCE4"/>
                </a:solidFill>
                <a:latin typeface="Pretendard"/>
                <a:ea typeface="Pretendard"/>
                <a:cs typeface="Pretendard"/>
              </a:rPr>
              <a:t>흐름에</a:t>
            </a:r>
            <a:r>
              <a:rPr sz="1400" dirty="0">
                <a:solidFill>
                  <a:srgbClr val="D6DCE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D6DCE4"/>
                </a:solidFill>
                <a:latin typeface="Pretendard"/>
                <a:ea typeface="Pretendard"/>
                <a:cs typeface="Pretendard"/>
              </a:rPr>
              <a:t>연결</a:t>
            </a:r>
            <a:endParaRPr sz="14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0355E5B6-5394-4F7E-8331-F6E802F38254}"/>
              </a:ext>
            </a:extLst>
          </p:cNvPr>
          <p:cNvSpPr>
            <a:spLocks noGrp="1"/>
          </p:cNvSpPr>
          <p:nvPr/>
        </p:nvSpPr>
        <p:spPr>
          <a:xfrm>
            <a:off x="10707624" y="2732383"/>
            <a:ext cx="402336" cy="402336"/>
          </a:xfrm>
          <a:prstGeom prst="ellipse">
            <a:avLst/>
          </a:prstGeom>
          <a:solidFill>
            <a:srgbClr val="212B3A"/>
          </a:solidFill>
          <a:ln w="19050">
            <a:solidFill>
              <a:srgbClr val="2D384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3A99A2A-6A78-4C3E-9B29-D64FB9552489}"/>
              </a:ext>
            </a:extLst>
          </p:cNvPr>
          <p:cNvSpPr>
            <a:spLocks noGrp="1"/>
          </p:cNvSpPr>
          <p:nvPr/>
        </p:nvSpPr>
        <p:spPr>
          <a:xfrm>
            <a:off x="10707624" y="2732383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  <a:endParaRPr sz="13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7D8ACEB-CD56-4A03-B88F-F28B8CBA3B14}"/>
              </a:ext>
            </a:extLst>
          </p:cNvPr>
          <p:cNvSpPr>
            <a:spLocks noGrp="1"/>
          </p:cNvSpPr>
          <p:nvPr/>
        </p:nvSpPr>
        <p:spPr>
          <a:xfrm>
            <a:off x="9720072" y="3317599"/>
            <a:ext cx="237744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sz="1400">
                <a:solidFill>
                  <a:srgbClr val="D6DCE4"/>
                </a:solidFill>
                <a:latin typeface="Pretendard"/>
                <a:ea typeface="Pretendard"/>
                <a:cs typeface="Pretendard"/>
              </a:rPr>
              <a:t>사용자 역할별 데이터</a:t>
            </a:r>
            <a:endParaRPr sz="1400"/>
          </a:p>
          <a:p>
            <a:pPr marL="0" indent="0" algn="ctr">
              <a:lnSpc>
                <a:spcPct val="135000"/>
              </a:lnSpc>
              <a:buNone/>
            </a:pPr>
            <a:r>
              <a:rPr sz="1400">
                <a:solidFill>
                  <a:srgbClr val="D6DCE4"/>
                </a:solidFill>
                <a:latin typeface="Pretendard"/>
                <a:ea typeface="Pretendard"/>
                <a:cs typeface="Pretendard"/>
              </a:rPr>
              <a:t>접근 권한 세분화</a:t>
            </a:r>
            <a:endParaRPr sz="140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FE921476-7C60-43AC-886E-6659CD6B18B0}"/>
              </a:ext>
            </a:extLst>
          </p:cNvPr>
          <p:cNvSpPr>
            <a:spLocks noGrp="1"/>
          </p:cNvSpPr>
          <p:nvPr/>
        </p:nvSpPr>
        <p:spPr>
          <a:xfrm>
            <a:off x="640080" y="548640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C2430"/>
          </a:solidFill>
          <a:ln w="9525">
            <a:solidFill>
              <a:srgbClr val="2D384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D15BB88-A45A-4759-B2AC-2263BDC5FF76}"/>
              </a:ext>
            </a:extLst>
          </p:cNvPr>
          <p:cNvSpPr>
            <a:spLocks noGrp="1"/>
          </p:cNvSpPr>
          <p:nvPr/>
        </p:nvSpPr>
        <p:spPr>
          <a:xfrm>
            <a:off x="914400" y="5486400"/>
            <a:ext cx="10360152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500">
                <a:solidFill>
                  <a:srgbClr val="D6DCE4"/>
                </a:solidFill>
                <a:latin typeface="Pretendard"/>
                <a:ea typeface="Pretendard"/>
                <a:cs typeface="Pretendard"/>
              </a:rPr>
              <a:t>GPT로 전체 흐름을 안정화하고, 데이터 검증 후 sLLM과 역할별 접근 권한을 단계적으로 고도화할 계획입니다.</a:t>
            </a:r>
            <a:endParaRPr sz="15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189DAAE-DCBA-4FD8-9723-1A33CADA534F}"/>
              </a:ext>
            </a:extLst>
          </p:cNvPr>
          <p:cNvSpPr>
            <a:spLocks noGrp="1"/>
          </p:cNvSpPr>
          <p:nvPr/>
        </p:nvSpPr>
        <p:spPr>
          <a:xfrm>
            <a:off x="11365992" y="6473952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4A5568"/>
                </a:solidFill>
                <a:latin typeface="Pretendard"/>
                <a:ea typeface="Pretendard"/>
                <a:cs typeface="Pretendard"/>
              </a:rPr>
              <a:t>8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44475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825</Words>
  <Application>Microsoft Office PowerPoint</Application>
  <DocSecurity>0</DocSecurity>
  <PresentationFormat>와이드스크린</PresentationFormat>
  <Paragraphs>112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Pretendard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SKN 29기_3</cp:lastModifiedBy>
  <cp:revision>23</cp:revision>
  <dcterms:created xsi:type="dcterms:W3CDTF">2026-08-14T05:38:59Z</dcterms:created>
  <dcterms:modified xsi:type="dcterms:W3CDTF">2026-08-14T08:25:44Z</dcterms:modified>
</cp:coreProperties>
</file>