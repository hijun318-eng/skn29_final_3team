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759" autoAdjust="0"/>
  </p:normalViewPr>
  <p:slideViewPr>
    <p:cSldViewPr snapToGrid="0">
      <p:cViewPr varScale="1">
        <p:scale>
          <a:sx n="66" d="100"/>
          <a:sy n="66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장에서는 팀 정보와 발표 범위를 소개합니다. 3팀 FSD의 팀원은 박준희, 윤대성, 김재홍, 정승, 송민지입니다. 이번 발표는 한 질문이 데이터 답변으로 이어지는 검색 흐름을 따라갑니다.</a:t>
            </a:r>
          </a:p>
          <a:p>
            <a:endParaRPr/>
          </a:p>
          <a:p>
            <a:r>
              <a:t>[Sources]</a:t>
            </a:r>
          </a:p>
          <a:p>
            <a:r>
              <a:t>- C:/Users/Playdata/Downloads/final_team3_test2/skn29_final_3team/README.md</a:t>
            </a:r>
          </a:p>
          <a:p>
            <a:r>
              <a:t>- C:/Users/Playdata/Downloads/final_team3_test2/skn29_final_3team/docs/daily_reports/README.md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예시 질문은 ‘지난달 호텔별 객실 매출을 알려줘’입니다. Backend가 기간, 분석 기준, 검색어를 분리하고 DataHub 후보 검색, BM25 순위, Role과 Entitlement 필터, SQLGlot AST 검사, Trino 실행으로 이어집니다.</a:t>
            </a:r>
          </a:p>
          <a:p>
            <a:endParaRPr/>
          </a:p>
          <a:p>
            <a:r>
              <a:t>[Sources]</a:t>
            </a:r>
          </a:p>
          <a:p>
            <a:r>
              <a:t>- C:/Users/Playdata/Downloads/final_team3_test2/skn29_final_3team/app/backend/app/adapters/datahub_catalog.py</a:t>
            </a:r>
          </a:p>
          <a:p>
            <a:r>
              <a:t>- C:/Users/Playdata/Downloads/final_team3_test2/skn29_final_3team/app/backend/app/services/analysis/stages/context_stage.py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DataHub는 실제 업무 데이터를 저장하는 곳이 아니라 질문을 검색 가능한 메타데이터 자산에 연결하는 카탈로그입니다. 이 예시에서는 객실과 매출이 이름, 설명, Schema, Glossary에 어떻게 등록되어 있는지가 후보 검색의 근거가 됩니다.</a:t>
            </a:r>
          </a:p>
          <a:p>
            <a:endParaRPr/>
          </a:p>
          <a:p>
            <a:r>
              <a:t>[Sources]</a:t>
            </a:r>
          </a:p>
          <a:p>
            <a:r>
              <a:t>- https://docs.datahub.com/docs/api/graphql/getting-started</a:t>
            </a:r>
          </a:p>
          <a:p>
            <a:r>
              <a:t>- C:/Users/Playdata/Downloads/final_team3_test2/skn29_final_3team/infrastructure/database/datahub/SEMANTIC_SEARCH.md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Dataset, Schema, Glossary, Domain, Owner, Entitlement는 각각 검색 대상, 사용 필드, 승인 용어, 업무 분류, 관리 책임, 허용 Role을 표현합니다. 메타데이터가 충실할수록 예시 질문과 실제 자산 사이의 연결 단서가 많아집니다.</a:t>
            </a:r>
          </a:p>
          <a:p>
            <a:endParaRPr/>
          </a:p>
          <a:p>
            <a:r>
              <a:t>[Sources]</a:t>
            </a:r>
          </a:p>
          <a:p>
            <a:r>
              <a:t>- C:/Users/Playdata/Downloads/final_team3_test2/skn29_final_3team/infrastructure/database/datahub/dataset_semantic_index.py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역인덱스는 단어에서 그 단어를 포함한 자산 목록으로 바로 이동하는 구조입니다. 객실과 매출에 연결된 후보를 모은 다음 Elasticsearch 검색 점수로 순위를 정합니다.</a:t>
            </a:r>
          </a:p>
          <a:p>
            <a:endParaRPr/>
          </a:p>
          <a:p>
            <a:r>
              <a:t>[Sources]</a:t>
            </a:r>
          </a:p>
          <a:p>
            <a:r>
              <a:t>- https://docs.datahub.com/docs/api/graphql/getting-started</a:t>
            </a:r>
          </a:p>
          <a:p>
            <a:r>
              <a:t>- C:/Users/Playdata/Downloads/final_team3_test2/skn29_final_3team/infrastructure/database/datahub/SEMANTIC_SEARCH.md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DataHub는 Elasticsearch 검색 설정을 제공하며, Elasticsearch의 기본 텍스트 유사도는 BM25입니다. BM25는 희소한 단어의 가치를 높이고, 반복 출현의 효과는 포화시키며, 문서 길이를 보정합니다. 기본값은 k1 1.2, b 0.75입니다. DataHub에서는 정확 일치, 2~4 gram, partial match, 필드 구성의 boost가 최종 점수를 바꿀 수 있으므로 단순 고정 점수표와 다릅니다.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https://github.com/datahub-project/datahub/blob/master/docs/deploy/environment-vars.md</a:t>
            </a:r>
          </a:p>
          <a:p>
            <a:r>
              <a:t>- https://github.com/datahub-project/datahub/blob/master/metadata-service/configuration/src/main/resources/application.yaml</a:t>
            </a:r>
          </a:p>
          <a:p>
            <a:r>
              <a:t>- https://www.elastic.co/docs/reference/elasticsearch/index-settings/similarity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BM25와 필드 boost가 만드는 _score는 질문과 자산의 관련도입니다. 이 프로젝트의 사용 권한은 로그인 Role과 Dataset Entitlement를 비교해 별도로 판단하고, 실제 접근은 Trino가 최종 집행합니다.</a:t>
            </a:r>
          </a:p>
          <a:p>
            <a:endParaRPr/>
          </a:p>
          <a:p>
            <a:r>
              <a:t>[Sources]</a:t>
            </a:r>
          </a:p>
          <a:p>
            <a:r>
              <a:t>- https://www.elastic.co/docs/solutions/search/ranking</a:t>
            </a:r>
          </a:p>
          <a:p>
            <a:r>
              <a:t>- C:/Users/Playdata/Downloads/final_team3_test2/skn29_final_3team/app/backend/app/services/analysis/stages/context_stage.py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개선은 메타데이터와 별칭을 보강하고, BM25와 DataHub 검색 설정을 실제 대표 질문으로 검증하며, 권한 범위 안의 상위 후보만 Context에 포함하는 방향입니다.</a:t>
            </a:r>
          </a:p>
          <a:p>
            <a:endParaRPr/>
          </a:p>
          <a:p>
            <a:r>
              <a:t>[Sources]</a:t>
            </a:r>
          </a:p>
          <a:p>
            <a:r>
              <a:t>- C:/Users/Playdata/Downloads/final_team3_test2/skn29_final_3team/infrastructure/database/datahub/SEMANTIC_SEARCH.md</a:t>
            </a:r>
          </a:p>
          <a:p>
            <a:r>
              <a:t>- C:/Users/Playdata/Downloads/final_team3_test2/skn29_final_3team/app/backend/app/services/context/metric_resolver.py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현재는 데이터 검증 완료, LoRA 학습과 평가 진행, 목업의 실제 서비스 적용, DataHub 검색 구조 점검, 확장 아키텍처 검토를 병행하고 있습니다. SFT 2,700건은 학습 2,400건과 검증 300건으로 분리했고, RTX 4090×2 GPU pod 2대에서 Qwen3.5 2B와 4B LoRA 학습을 병렬 진행하고 있습니다. 담당자 이름은 표시하지 않고 프로젝트 전체 상태만 설명합니다.</a:t>
            </a:r>
          </a:p>
          <a:p>
            <a:endParaRPr/>
          </a:p>
          <a:p>
            <a:r>
              <a:t>[Sources]</a:t>
            </a:r>
          </a:p>
          <a:p>
            <a:r>
              <a:t>- 사용자 제공 최신 작업 요약, 2026-08-21</a:t>
            </a:r>
          </a:p>
          <a:p>
            <a:r>
              <a:t>- C:/Users/Playdata/Downloads/final_team3_test2/skn29_final_3team/docs/daily_reports/team_summaries/6주차/20260818.md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다음 단계는 검색 품질을 실제 서비스 품질로 연결하는 것입니다. 메타데이터와 점수 조정을 이어가고 LoRA 모델, Trino, 전체 E2E를 검증해야 합니다. MCP, Graph DB, 멀티 에이전트는 실제 효과와 운영 복잡도를 비교한 뒤 도입 위치를 결정합니다.</a:t>
            </a:r>
          </a:p>
          <a:p>
            <a:endParaRPr/>
          </a:p>
          <a:p>
            <a:r>
              <a:t>[Sources]</a:t>
            </a:r>
          </a:p>
          <a:p>
            <a:r>
              <a:t>- 사용자 제공 최신 작업 요약, 2026-08-21</a:t>
            </a:r>
          </a:p>
          <a:p>
            <a:r>
              <a:t>- C:/Users/Playdata/Downloads/final_team3_test2/skn29_final_3team/infrastructure/database/datahub/SEMANTIC_SEARCH.md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kicker">
            <a:extLst>
              <a:ext uri="{FF2B5EF4-FFF2-40B4-BE49-F238E27FC236}">
                <a16:creationId xmlns:a16="http://schemas.microsoft.com/office/drawing/2014/main" id="{2A4DBFB5-30AD-405D-93C2-5C589DC69418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dirty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3팀 · FSD</a:t>
            </a:r>
            <a:r>
              <a:rPr lang="en-US" sz="1950" b="1" dirty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950" b="1" dirty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· 6</a:t>
            </a:r>
            <a:r>
              <a:rPr lang="ko-KR" altLang="en-US" sz="1950" b="1" dirty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주차 주간보고</a:t>
            </a:r>
            <a:endParaRPr sz="1950" b="1" dirty="0">
              <a:solidFill>
                <a:srgbClr val="3D8D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cover-date">
            <a:extLst>
              <a:ext uri="{FF2B5EF4-FFF2-40B4-BE49-F238E27FC236}">
                <a16:creationId xmlns:a16="http://schemas.microsoft.com/office/drawing/2014/main" id="{6679C392-12E8-49DC-BC27-78D5622230CB}"/>
              </a:ext>
            </a:extLst>
          </p:cNvPr>
          <p:cNvSpPr>
            <a:spLocks noGrp="1"/>
          </p:cNvSpPr>
          <p:nvPr/>
        </p:nvSpPr>
        <p:spPr>
          <a:xfrm>
            <a:off x="8096250" y="4000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buNone/>
              <a:def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2026.08.17 — 08.21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91B21F42-5A13-4649-B9EC-B75B694FFCE2}"/>
              </a:ext>
            </a:extLst>
          </p:cNvPr>
          <p:cNvSpPr>
            <a:spLocks noGrp="1"/>
          </p:cNvSpPr>
          <p:nvPr/>
        </p:nvSpPr>
        <p:spPr>
          <a:xfrm>
            <a:off x="457200" y="3952568"/>
            <a:ext cx="10382250" cy="809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5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5250" b="1" dirty="0" err="1"/>
              <a:t>Answervice</a:t>
            </a:r>
            <a:endParaRPr sz="5250" b="1" dirty="0">
              <a:solidFill>
                <a:srgbClr val="101820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33" name="cover-accent"/>
          <p:cNvCxnSpPr/>
          <p:nvPr/>
        </p:nvCxnSpPr>
        <p:spPr>
          <a:xfrm>
            <a:off x="457200" y="5095875"/>
            <a:ext cx="2952750" cy="0"/>
          </a:xfrm>
          <a:prstGeom prst="straightConnector1">
            <a:avLst/>
          </a:prstGeom>
          <a:ln w="76200">
            <a:solidFill>
              <a:srgbClr val="3D8DFF"/>
            </a:solidFill>
            <a:prstDash val="solid"/>
          </a:ln>
        </p:spPr>
      </p:cxnSp>
      <p:sp>
        <p:nvSpPr>
          <p:cNvPr id="5" name="cover-sub">
            <a:extLst>
              <a:ext uri="{FF2B5EF4-FFF2-40B4-BE49-F238E27FC236}">
                <a16:creationId xmlns:a16="http://schemas.microsoft.com/office/drawing/2014/main" id="{7B3E7984-5ED3-4C66-83DE-BADDFD508119}"/>
              </a:ext>
            </a:extLst>
          </p:cNvPr>
          <p:cNvSpPr>
            <a:spLocks noGrp="1"/>
          </p:cNvSpPr>
          <p:nvPr/>
        </p:nvSpPr>
        <p:spPr>
          <a:xfrm>
            <a:off x="457200" y="53911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박준희 · 윤대성 · 김재홍 · 정승 · 송민지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BCF85-4F85-B622-72ED-9D4CD3B73F62}"/>
              </a:ext>
            </a:extLst>
          </p:cNvPr>
          <p:cNvSpPr txBox="1"/>
          <p:nvPr/>
        </p:nvSpPr>
        <p:spPr>
          <a:xfrm>
            <a:off x="1671484" y="60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94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-4">
            <a:extLst>
              <a:ext uri="{FF2B5EF4-FFF2-40B4-BE49-F238E27FC236}">
                <a16:creationId xmlns:a16="http://schemas.microsoft.com/office/drawing/2014/main" id="{357083A0-DD42-48F4-AA0A-EF5885444F9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한 질문이 답변이 되기까지 일곱 단계를 거칩니다</a:t>
            </a:r>
          </a:p>
        </p:txBody>
      </p:sp>
      <p:sp>
        <p:nvSpPr>
          <p:cNvPr id="2" name="page-4">
            <a:extLst>
              <a:ext uri="{FF2B5EF4-FFF2-40B4-BE49-F238E27FC236}">
                <a16:creationId xmlns:a16="http://schemas.microsoft.com/office/drawing/2014/main" id="{D876FE36-1BC7-4762-86A1-B7E143AD3376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cxnSp>
        <p:nvCxnSpPr>
          <p:cNvPr id="89" name="header-rule-4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cxnSp>
        <p:nvCxnSpPr>
          <p:cNvPr id="90" name="flow-line-0"/>
          <p:cNvCxnSpPr/>
          <p:nvPr/>
        </p:nvCxnSpPr>
        <p:spPr>
          <a:xfrm>
            <a:off x="17145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1" name="flow-line-1"/>
          <p:cNvCxnSpPr/>
          <p:nvPr/>
        </p:nvCxnSpPr>
        <p:spPr>
          <a:xfrm>
            <a:off x="33528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2" name="flow-line-2"/>
          <p:cNvCxnSpPr/>
          <p:nvPr/>
        </p:nvCxnSpPr>
        <p:spPr>
          <a:xfrm>
            <a:off x="49911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3" name="flow-line-3"/>
          <p:cNvCxnSpPr/>
          <p:nvPr/>
        </p:nvCxnSpPr>
        <p:spPr>
          <a:xfrm>
            <a:off x="66294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4" name="flow-line-4"/>
          <p:cNvCxnSpPr/>
          <p:nvPr/>
        </p:nvCxnSpPr>
        <p:spPr>
          <a:xfrm>
            <a:off x="82677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5" name="flow-line-5"/>
          <p:cNvCxnSpPr/>
          <p:nvPr/>
        </p:nvCxnSpPr>
        <p:spPr>
          <a:xfrm>
            <a:off x="9906000" y="3152775"/>
            <a:ext cx="381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0" name="flow-node-0">
            <a:extLst>
              <a:ext uri="{FF2B5EF4-FFF2-40B4-BE49-F238E27FC236}">
                <a16:creationId xmlns:a16="http://schemas.microsoft.com/office/drawing/2014/main" id="{AFCDB20A-2898-4EEF-866D-7600BDBE6A79}"/>
              </a:ext>
            </a:extLst>
          </p:cNvPr>
          <p:cNvSpPr>
            <a:spLocks noGrp="1"/>
          </p:cNvSpPr>
          <p:nvPr/>
        </p:nvSpPr>
        <p:spPr>
          <a:xfrm>
            <a:off x="457200" y="2428875"/>
            <a:ext cx="1257300" cy="14668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flow-num-0">
            <a:extLst>
              <a:ext uri="{FF2B5EF4-FFF2-40B4-BE49-F238E27FC236}">
                <a16:creationId xmlns:a16="http://schemas.microsoft.com/office/drawing/2014/main" id="{4BECFC66-0818-4783-BF84-8725DECF0568}"/>
              </a:ext>
            </a:extLst>
          </p:cNvPr>
          <p:cNvSpPr>
            <a:spLocks noGrp="1"/>
          </p:cNvSpPr>
          <p:nvPr/>
        </p:nvSpPr>
        <p:spPr>
          <a:xfrm>
            <a:off x="5905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flow-label-0">
            <a:extLst>
              <a:ext uri="{FF2B5EF4-FFF2-40B4-BE49-F238E27FC236}">
                <a16:creationId xmlns:a16="http://schemas.microsoft.com/office/drawing/2014/main" id="{F88032A2-C374-4FC3-AFD0-7F93A8631155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3" name="flow-node-1">
            <a:extLst>
              <a:ext uri="{FF2B5EF4-FFF2-40B4-BE49-F238E27FC236}">
                <a16:creationId xmlns:a16="http://schemas.microsoft.com/office/drawing/2014/main" id="{2A2DC726-FBC2-43CE-8D29-A5CF8595379E}"/>
              </a:ext>
            </a:extLst>
          </p:cNvPr>
          <p:cNvSpPr>
            <a:spLocks noGrp="1"/>
          </p:cNvSpPr>
          <p:nvPr/>
        </p:nvSpPr>
        <p:spPr>
          <a:xfrm>
            <a:off x="2095500" y="2428875"/>
            <a:ext cx="1257300" cy="14668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flow-num-1">
            <a:extLst>
              <a:ext uri="{FF2B5EF4-FFF2-40B4-BE49-F238E27FC236}">
                <a16:creationId xmlns:a16="http://schemas.microsoft.com/office/drawing/2014/main" id="{3F42076C-80C4-4631-9682-AD597AC06361}"/>
              </a:ext>
            </a:extLst>
          </p:cNvPr>
          <p:cNvSpPr>
            <a:spLocks noGrp="1"/>
          </p:cNvSpPr>
          <p:nvPr/>
        </p:nvSpPr>
        <p:spPr>
          <a:xfrm>
            <a:off x="22288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flow-label-1">
            <a:extLst>
              <a:ext uri="{FF2B5EF4-FFF2-40B4-BE49-F238E27FC236}">
                <a16:creationId xmlns:a16="http://schemas.microsoft.com/office/drawing/2014/main" id="{88E806A5-47C0-475B-9113-93BEAD7D863F}"/>
              </a:ext>
            </a:extLst>
          </p:cNvPr>
          <p:cNvSpPr>
            <a:spLocks noGrp="1"/>
          </p:cNvSpPr>
          <p:nvPr/>
        </p:nvSpPr>
        <p:spPr>
          <a:xfrm>
            <a:off x="22098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283"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의도·기간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6" name="flow-node-2">
            <a:extLst>
              <a:ext uri="{FF2B5EF4-FFF2-40B4-BE49-F238E27FC236}">
                <a16:creationId xmlns:a16="http://schemas.microsoft.com/office/drawing/2014/main" id="{E55B4222-7680-46DF-BA8C-250196570E4D}"/>
              </a:ext>
            </a:extLst>
          </p:cNvPr>
          <p:cNvSpPr>
            <a:spLocks noGrp="1"/>
          </p:cNvSpPr>
          <p:nvPr/>
        </p:nvSpPr>
        <p:spPr>
          <a:xfrm>
            <a:off x="3733800" y="2428875"/>
            <a:ext cx="1257300" cy="14668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flow-num-2">
            <a:extLst>
              <a:ext uri="{FF2B5EF4-FFF2-40B4-BE49-F238E27FC236}">
                <a16:creationId xmlns:a16="http://schemas.microsoft.com/office/drawing/2014/main" id="{C5C98061-FB21-4A04-BE5F-72FA8AA7C887}"/>
              </a:ext>
            </a:extLst>
          </p:cNvPr>
          <p:cNvSpPr>
            <a:spLocks noGrp="1"/>
          </p:cNvSpPr>
          <p:nvPr/>
        </p:nvSpPr>
        <p:spPr>
          <a:xfrm>
            <a:off x="38671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flow-label-2">
            <a:extLst>
              <a:ext uri="{FF2B5EF4-FFF2-40B4-BE49-F238E27FC236}">
                <a16:creationId xmlns:a16="http://schemas.microsoft.com/office/drawing/2014/main" id="{76855879-C93E-4ECF-AE1C-6C7C92F86A80}"/>
              </a:ext>
            </a:extLst>
          </p:cNvPr>
          <p:cNvSpPr>
            <a:spLocks noGrp="1"/>
          </p:cNvSpPr>
          <p:nvPr/>
        </p:nvSpPr>
        <p:spPr>
          <a:xfrm>
            <a:off x="38481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702" lnSpcReduction="20000"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DataHub</a:t>
            </a:r>
            <a:endParaRPr lang="en-US" sz="1575" b="1" dirty="0">
              <a:solidFill>
                <a:srgbClr val="101820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역인덱스</a:t>
            </a:r>
            <a:endParaRPr sz="1575" b="1" dirty="0">
              <a:solidFill>
                <a:srgbClr val="101820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후보</a:t>
            </a:r>
            <a:r>
              <a:rPr sz="1575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</a:t>
            </a:r>
            <a:endParaRPr sz="1575" b="1" dirty="0">
              <a:solidFill>
                <a:srgbClr val="10182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flow-node-3">
            <a:extLst>
              <a:ext uri="{FF2B5EF4-FFF2-40B4-BE49-F238E27FC236}">
                <a16:creationId xmlns:a16="http://schemas.microsoft.com/office/drawing/2014/main" id="{5311EA31-DE96-4231-91CE-006A533DAAAC}"/>
              </a:ext>
            </a:extLst>
          </p:cNvPr>
          <p:cNvSpPr>
            <a:spLocks noGrp="1"/>
          </p:cNvSpPr>
          <p:nvPr/>
        </p:nvSpPr>
        <p:spPr>
          <a:xfrm>
            <a:off x="5372100" y="2428875"/>
            <a:ext cx="1257300" cy="14668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flow-num-3">
            <a:extLst>
              <a:ext uri="{FF2B5EF4-FFF2-40B4-BE49-F238E27FC236}">
                <a16:creationId xmlns:a16="http://schemas.microsoft.com/office/drawing/2014/main" id="{C4AF09D7-582A-4840-A5DB-25C462EE8882}"/>
              </a:ext>
            </a:extLst>
          </p:cNvPr>
          <p:cNvSpPr>
            <a:spLocks noGrp="1"/>
          </p:cNvSpPr>
          <p:nvPr/>
        </p:nvSpPr>
        <p:spPr>
          <a:xfrm>
            <a:off x="55054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flow-label-3">
            <a:extLst>
              <a:ext uri="{FF2B5EF4-FFF2-40B4-BE49-F238E27FC236}">
                <a16:creationId xmlns:a16="http://schemas.microsoft.com/office/drawing/2014/main" id="{3B5B2A0F-6A7E-452F-AB32-03B7D2917E9F}"/>
              </a:ext>
            </a:extLst>
          </p:cNvPr>
          <p:cNvSpPr>
            <a:spLocks noGrp="1"/>
          </p:cNvSpPr>
          <p:nvPr/>
        </p:nvSpPr>
        <p:spPr>
          <a:xfrm>
            <a:off x="54864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702" lnSpcReduction="20000"/>
          </a:bodyPr>
          <a:lstStyle/>
          <a:p>
            <a:pPr algn="ctr"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75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DataHub</a:t>
            </a:r>
            <a:endParaRPr lang="en-US" altLang="ko-KR" sz="1575" b="1" dirty="0">
              <a:solidFill>
                <a:srgbClr val="101820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순위</a:t>
            </a:r>
            <a:r>
              <a:rPr sz="1575" b="1" dirty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1" dirty="0" err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계산</a:t>
            </a:r>
            <a:endParaRPr sz="1575" b="1" dirty="0">
              <a:solidFill>
                <a:srgbClr val="10182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flow-node-4">
            <a:extLst>
              <a:ext uri="{FF2B5EF4-FFF2-40B4-BE49-F238E27FC236}">
                <a16:creationId xmlns:a16="http://schemas.microsoft.com/office/drawing/2014/main" id="{5C4375C4-47CA-4A8D-BE2F-B62851EEF641}"/>
              </a:ext>
            </a:extLst>
          </p:cNvPr>
          <p:cNvSpPr>
            <a:spLocks noGrp="1"/>
          </p:cNvSpPr>
          <p:nvPr/>
        </p:nvSpPr>
        <p:spPr>
          <a:xfrm>
            <a:off x="7010400" y="2428875"/>
            <a:ext cx="1257300" cy="14668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flow-num-4">
            <a:extLst>
              <a:ext uri="{FF2B5EF4-FFF2-40B4-BE49-F238E27FC236}">
                <a16:creationId xmlns:a16="http://schemas.microsoft.com/office/drawing/2014/main" id="{E7AAC119-B9F2-4D00-B0E0-9876DCFA95F2}"/>
              </a:ext>
            </a:extLst>
          </p:cNvPr>
          <p:cNvSpPr>
            <a:spLocks noGrp="1"/>
          </p:cNvSpPr>
          <p:nvPr/>
        </p:nvSpPr>
        <p:spPr>
          <a:xfrm>
            <a:off x="71437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flow-label-4">
            <a:extLst>
              <a:ext uri="{FF2B5EF4-FFF2-40B4-BE49-F238E27FC236}">
                <a16:creationId xmlns:a16="http://schemas.microsoft.com/office/drawing/2014/main" id="{0FACF021-853A-412D-8802-396AE54EA08C}"/>
              </a:ext>
            </a:extLst>
          </p:cNvPr>
          <p:cNvSpPr>
            <a:spLocks noGrp="1"/>
          </p:cNvSpPr>
          <p:nvPr/>
        </p:nvSpPr>
        <p:spPr>
          <a:xfrm>
            <a:off x="71247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필터</a:t>
            </a:r>
          </a:p>
        </p:txBody>
      </p:sp>
      <p:sp>
        <p:nvSpPr>
          <p:cNvPr id="25" name="flow-node-5">
            <a:extLst>
              <a:ext uri="{FF2B5EF4-FFF2-40B4-BE49-F238E27FC236}">
                <a16:creationId xmlns:a16="http://schemas.microsoft.com/office/drawing/2014/main" id="{A0F7F15F-B157-4BB9-9602-BD20B51D9A22}"/>
              </a:ext>
            </a:extLst>
          </p:cNvPr>
          <p:cNvSpPr>
            <a:spLocks noGrp="1"/>
          </p:cNvSpPr>
          <p:nvPr/>
        </p:nvSpPr>
        <p:spPr>
          <a:xfrm>
            <a:off x="8648700" y="2428875"/>
            <a:ext cx="1257300" cy="14668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flow-num-5">
            <a:extLst>
              <a:ext uri="{FF2B5EF4-FFF2-40B4-BE49-F238E27FC236}">
                <a16:creationId xmlns:a16="http://schemas.microsoft.com/office/drawing/2014/main" id="{5BF62F3B-8FE6-4DBB-8C23-EBD9B2849A89}"/>
              </a:ext>
            </a:extLst>
          </p:cNvPr>
          <p:cNvSpPr>
            <a:spLocks noGrp="1"/>
          </p:cNvSpPr>
          <p:nvPr/>
        </p:nvSpPr>
        <p:spPr>
          <a:xfrm>
            <a:off x="87820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7" name="flow-label-5">
            <a:extLst>
              <a:ext uri="{FF2B5EF4-FFF2-40B4-BE49-F238E27FC236}">
                <a16:creationId xmlns:a16="http://schemas.microsoft.com/office/drawing/2014/main" id="{342D8C67-5947-4654-9F69-2A217129EA2F}"/>
              </a:ext>
            </a:extLst>
          </p:cNvPr>
          <p:cNvSpPr>
            <a:spLocks noGrp="1"/>
          </p:cNvSpPr>
          <p:nvPr/>
        </p:nvSpPr>
        <p:spPr>
          <a:xfrm>
            <a:off x="87630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131"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SQL 생성·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AST 검사</a:t>
            </a:r>
          </a:p>
        </p:txBody>
      </p:sp>
      <p:sp>
        <p:nvSpPr>
          <p:cNvPr id="28" name="flow-node-6">
            <a:extLst>
              <a:ext uri="{FF2B5EF4-FFF2-40B4-BE49-F238E27FC236}">
                <a16:creationId xmlns:a16="http://schemas.microsoft.com/office/drawing/2014/main" id="{1994FE91-ECB8-4417-B9D8-CF6559038C7C}"/>
              </a:ext>
            </a:extLst>
          </p:cNvPr>
          <p:cNvSpPr>
            <a:spLocks noGrp="1"/>
          </p:cNvSpPr>
          <p:nvPr/>
        </p:nvSpPr>
        <p:spPr>
          <a:xfrm>
            <a:off x="10287000" y="2428875"/>
            <a:ext cx="1257300" cy="14668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flow-num-6">
            <a:extLst>
              <a:ext uri="{FF2B5EF4-FFF2-40B4-BE49-F238E27FC236}">
                <a16:creationId xmlns:a16="http://schemas.microsoft.com/office/drawing/2014/main" id="{0E564E5F-9742-4F4B-8393-FF11F33C32D8}"/>
              </a:ext>
            </a:extLst>
          </p:cNvPr>
          <p:cNvSpPr>
            <a:spLocks noGrp="1"/>
          </p:cNvSpPr>
          <p:nvPr/>
        </p:nvSpPr>
        <p:spPr>
          <a:xfrm>
            <a:off x="10420350" y="25622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0" name="flow-label-6">
            <a:extLst>
              <a:ext uri="{FF2B5EF4-FFF2-40B4-BE49-F238E27FC236}">
                <a16:creationId xmlns:a16="http://schemas.microsoft.com/office/drawing/2014/main" id="{847C4826-46E9-415A-8586-337051722E65}"/>
              </a:ext>
            </a:extLst>
          </p:cNvPr>
          <p:cNvSpPr>
            <a:spLocks noGrp="1"/>
          </p:cNvSpPr>
          <p:nvPr/>
        </p:nvSpPr>
        <p:spPr>
          <a:xfrm>
            <a:off x="10401300" y="3009900"/>
            <a:ext cx="1028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Trino</a:t>
            </a:r>
          </a:p>
          <a:p>
            <a:pPr algn="ctr">
              <a:buNone/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31" name="flow-callout">
            <a:extLst>
              <a:ext uri="{FF2B5EF4-FFF2-40B4-BE49-F238E27FC236}">
                <a16:creationId xmlns:a16="http://schemas.microsoft.com/office/drawing/2014/main" id="{F8386E13-E3CD-4C07-8FD2-412CBD09800B}"/>
              </a:ext>
            </a:extLst>
          </p:cNvPr>
          <p:cNvSpPr>
            <a:spLocks noGrp="1"/>
          </p:cNvSpPr>
          <p:nvPr/>
        </p:nvSpPr>
        <p:spPr>
          <a:xfrm>
            <a:off x="5372100" y="4400550"/>
            <a:ext cx="617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예시 질문: 지난달 호텔별 객실 매출은?</a:t>
            </a:r>
          </a:p>
        </p:txBody>
      </p:sp>
      <p:sp>
        <p:nvSpPr>
          <p:cNvPr id="32" name="flow-explain">
            <a:extLst>
              <a:ext uri="{FF2B5EF4-FFF2-40B4-BE49-F238E27FC236}">
                <a16:creationId xmlns:a16="http://schemas.microsoft.com/office/drawing/2014/main" id="{8C0E3D5E-C1B7-4233-80FB-D83EFBAF8D79}"/>
              </a:ext>
            </a:extLst>
          </p:cNvPr>
          <p:cNvSpPr>
            <a:spLocks noGrp="1"/>
          </p:cNvSpPr>
          <p:nvPr/>
        </p:nvSpPr>
        <p:spPr>
          <a:xfrm>
            <a:off x="5372100" y="5010150"/>
            <a:ext cx="617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객실·매출=검색어 · 호텔별=분석 기준 · 지난달=기간</a:t>
            </a:r>
          </a:p>
        </p:txBody>
      </p:sp>
    </p:spTree>
    <p:extLst>
      <p:ext uri="{BB962C8B-B14F-4D97-AF65-F5344CB8AC3E}">
        <p14:creationId xmlns:p14="http://schemas.microsoft.com/office/powerpoint/2010/main" val="68653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2">
            <a:extLst>
              <a:ext uri="{FF2B5EF4-FFF2-40B4-BE49-F238E27FC236}">
                <a16:creationId xmlns:a16="http://schemas.microsoft.com/office/drawing/2014/main" id="{4AEA461B-B24A-4AB3-BC2A-5DB02292DBD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DataHub는 ‘객실 매출’을 자산과 연결합니다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D8522D57-2848-4DC7-A228-DE9220B65553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31" name="header-rule-2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datahub-lead">
            <a:extLst>
              <a:ext uri="{FF2B5EF4-FFF2-40B4-BE49-F238E27FC236}">
                <a16:creationId xmlns:a16="http://schemas.microsoft.com/office/drawing/2014/main" id="{11D14F73-EF40-4E98-A9D1-7B049B2BE119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질문의 업무 표현을 이름·설명·Schema·Glossary가 등록된 자산에서 찾습니다.</a:t>
            </a:r>
          </a:p>
        </p:txBody>
      </p:sp>
      <p:sp>
        <p:nvSpPr>
          <p:cNvPr id="5" name="datahub-does">
            <a:extLst>
              <a:ext uri="{FF2B5EF4-FFF2-40B4-BE49-F238E27FC236}">
                <a16:creationId xmlns:a16="http://schemas.microsoft.com/office/drawing/2014/main" id="{D601A040-3293-40B3-AE92-94A5B149CADD}"/>
              </a:ext>
            </a:extLst>
          </p:cNvPr>
          <p:cNvSpPr>
            <a:spLocks noGrp="1"/>
          </p:cNvSpPr>
          <p:nvPr/>
        </p:nvSpPr>
        <p:spPr>
          <a:xfrm>
            <a:off x="457200" y="2266950"/>
            <a:ext cx="5314950" cy="285750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atahub-not">
            <a:extLst>
              <a:ext uri="{FF2B5EF4-FFF2-40B4-BE49-F238E27FC236}">
                <a16:creationId xmlns:a16="http://schemas.microsoft.com/office/drawing/2014/main" id="{F076987E-2FC4-483B-A2AE-DF6CB86E0C5E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5772150" cy="285750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datahub-does-title">
            <a:extLst>
              <a:ext uri="{FF2B5EF4-FFF2-40B4-BE49-F238E27FC236}">
                <a16:creationId xmlns:a16="http://schemas.microsoft.com/office/drawing/2014/main" id="{AFF4E7A0-DBF5-4CE4-A230-2F45434BB9DF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DataHub가 찾는 근거</a:t>
            </a:r>
          </a:p>
        </p:txBody>
      </p:sp>
      <p:sp>
        <p:nvSpPr>
          <p:cNvPr id="8" name="datahub-does-body">
            <a:extLst>
              <a:ext uri="{FF2B5EF4-FFF2-40B4-BE49-F238E27FC236}">
                <a16:creationId xmlns:a16="http://schemas.microsoft.com/office/drawing/2014/main" id="{7CFD3C32-2CED-4B08-90D2-73D64FBE79AC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38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이름·설명의 ‘객실’·‘매출’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Schema의 hotel·revenue 필드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Glossary의 승인 업무 용어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Domain·Owner·Entitlement</a:t>
            </a:r>
          </a:p>
        </p:txBody>
      </p:sp>
      <p:sp>
        <p:nvSpPr>
          <p:cNvPr id="9" name="datahub-not-title">
            <a:extLst>
              <a:ext uri="{FF2B5EF4-FFF2-40B4-BE49-F238E27FC236}">
                <a16:creationId xmlns:a16="http://schemas.microsoft.com/office/drawing/2014/main" id="{266CAC98-2E43-4823-9D57-9A7AFAA0A133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찾은 뒤 이어지는 처리</a:t>
            </a:r>
          </a:p>
        </p:txBody>
      </p:sp>
      <p:sp>
        <p:nvSpPr>
          <p:cNvPr id="10" name="datahub-not-body">
            <a:extLst>
              <a:ext uri="{FF2B5EF4-FFF2-40B4-BE49-F238E27FC236}">
                <a16:creationId xmlns:a16="http://schemas.microsoft.com/office/drawing/2014/main" id="{08C670D6-0A63-40A5-A2B2-13D2F9A05610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47625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Backend: 기간·지표·분석 기준 확정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Backend: 권한 Context와 SQL 구성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SQLGlot: 읽기 전용 AST 정책 검사</a:t>
            </a:r>
          </a:p>
          <a:p>
            <a:r>
              <a:t>• Trino: 실제 데이터 조회·권한 집행</a:t>
            </a:r>
          </a:p>
        </p:txBody>
      </p:sp>
    </p:spTree>
    <p:extLst>
      <p:ext uri="{BB962C8B-B14F-4D97-AF65-F5344CB8AC3E}">
        <p14:creationId xmlns:p14="http://schemas.microsoft.com/office/powerpoint/2010/main" val="1760158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6">
            <a:extLst>
              <a:ext uri="{FF2B5EF4-FFF2-40B4-BE49-F238E27FC236}">
                <a16:creationId xmlns:a16="http://schemas.microsoft.com/office/drawing/2014/main" id="{4560DC7C-A368-4BE6-BF4A-F9C4ACDA257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예시 질문은 다섯 가지 메타데이터로 연결됩니다</a:t>
            </a:r>
          </a:p>
        </p:txBody>
      </p:sp>
      <p:sp>
        <p:nvSpPr>
          <p:cNvPr id="2" name="page-6">
            <a:extLst>
              <a:ext uri="{FF2B5EF4-FFF2-40B4-BE49-F238E27FC236}">
                <a16:creationId xmlns:a16="http://schemas.microsoft.com/office/drawing/2014/main" id="{92C1F0F0-CF92-461B-8CB1-033EEA9ACE5F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cxnSp>
        <p:nvCxnSpPr>
          <p:cNvPr id="146" name="header-rule-6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team-lead">
            <a:extLst>
              <a:ext uri="{FF2B5EF4-FFF2-40B4-BE49-F238E27FC236}">
                <a16:creationId xmlns:a16="http://schemas.microsoft.com/office/drawing/2014/main" id="{8D97C31E-C930-437D-8D61-2E5386A69F45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‘객실 매출’과 실제 테이블을 연결할 단서가 많을수록 후보 순위가 선명해집니다.</a:t>
            </a:r>
          </a:p>
        </p:txBody>
      </p:sp>
      <p:sp>
        <p:nvSpPr>
          <p:cNvPr id="5" name="team-name-0">
            <a:extLst>
              <a:ext uri="{FF2B5EF4-FFF2-40B4-BE49-F238E27FC236}">
                <a16:creationId xmlns:a16="http://schemas.microsoft.com/office/drawing/2014/main" id="{BD943B36-5C03-446D-A779-AA6034C22D3C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Dataset</a:t>
            </a:r>
          </a:p>
        </p:txBody>
      </p:sp>
      <p:sp>
        <p:nvSpPr>
          <p:cNvPr id="6" name="team-work-0">
            <a:extLst>
              <a:ext uri="{FF2B5EF4-FFF2-40B4-BE49-F238E27FC236}">
                <a16:creationId xmlns:a16="http://schemas.microsoft.com/office/drawing/2014/main" id="{2AD1757D-55B6-4ED9-BDF5-BD2470FB22BB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객실 매출 View</a:t>
            </a:r>
          </a:p>
        </p:txBody>
      </p:sp>
      <p:sp>
        <p:nvSpPr>
          <p:cNvPr id="7" name="team-result-0">
            <a:extLst>
              <a:ext uri="{FF2B5EF4-FFF2-40B4-BE49-F238E27FC236}">
                <a16:creationId xmlns:a16="http://schemas.microsoft.com/office/drawing/2014/main" id="{A90F0E51-23B8-4002-AE6A-6A77500B0535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이름·설명에서 객실 매출 후보 확인</a:t>
            </a:r>
          </a:p>
        </p:txBody>
      </p:sp>
      <p:cxnSp>
        <p:nvCxnSpPr>
          <p:cNvPr id="151" name="team-rule-1"/>
          <p:cNvCxnSpPr/>
          <p:nvPr/>
        </p:nvCxnSpPr>
        <p:spPr>
          <a:xfrm>
            <a:off x="457200" y="27051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team-name-1">
            <a:extLst>
              <a:ext uri="{FF2B5EF4-FFF2-40B4-BE49-F238E27FC236}">
                <a16:creationId xmlns:a16="http://schemas.microsoft.com/office/drawing/2014/main" id="{CDDF4A5F-046D-4328-A6D2-B309B5B36C12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Schema</a:t>
            </a:r>
          </a:p>
        </p:txBody>
      </p:sp>
      <p:sp>
        <p:nvSpPr>
          <p:cNvPr id="10" name="team-work-1">
            <a:extLst>
              <a:ext uri="{FF2B5EF4-FFF2-40B4-BE49-F238E27FC236}">
                <a16:creationId xmlns:a16="http://schemas.microsoft.com/office/drawing/2014/main" id="{FE183705-EA63-432D-B1EC-BFA85D4FEBFB}"/>
              </a:ext>
            </a:extLst>
          </p:cNvPr>
          <p:cNvSpPr>
            <a:spLocks noGrp="1"/>
          </p:cNvSpPr>
          <p:nvPr/>
        </p:nvSpPr>
        <p:spPr>
          <a:xfrm>
            <a:off x="2095500" y="28384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사용 가능 필드</a:t>
            </a:r>
          </a:p>
        </p:txBody>
      </p:sp>
      <p:sp>
        <p:nvSpPr>
          <p:cNvPr id="11" name="team-result-1">
            <a:extLst>
              <a:ext uri="{FF2B5EF4-FFF2-40B4-BE49-F238E27FC236}">
                <a16:creationId xmlns:a16="http://schemas.microsoft.com/office/drawing/2014/main" id="{3E5F3BCB-A028-4CD6-95E4-2C902DDC915A}"/>
              </a:ext>
            </a:extLst>
          </p:cNvPr>
          <p:cNvSpPr>
            <a:spLocks noGrp="1"/>
          </p:cNvSpPr>
          <p:nvPr/>
        </p:nvSpPr>
        <p:spPr>
          <a:xfrm>
            <a:off x="5810250" y="28384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hotel_id · stay_date · room_revenue</a:t>
            </a:r>
          </a:p>
        </p:txBody>
      </p:sp>
      <p:cxnSp>
        <p:nvCxnSpPr>
          <p:cNvPr id="155" name="team-rule-2"/>
          <p:cNvCxnSpPr/>
          <p:nvPr/>
        </p:nvCxnSpPr>
        <p:spPr>
          <a:xfrm>
            <a:off x="457200" y="344805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3" name="team-name-2">
            <a:extLst>
              <a:ext uri="{FF2B5EF4-FFF2-40B4-BE49-F238E27FC236}">
                <a16:creationId xmlns:a16="http://schemas.microsoft.com/office/drawing/2014/main" id="{727B7184-7620-41DE-B9FA-B6F7325A9762}"/>
              </a:ext>
            </a:extLst>
          </p:cNvPr>
          <p:cNvSpPr>
            <a:spLocks noGrp="1"/>
          </p:cNvSpPr>
          <p:nvPr/>
        </p:nvSpPr>
        <p:spPr>
          <a:xfrm>
            <a:off x="45720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Glossary</a:t>
            </a:r>
          </a:p>
        </p:txBody>
      </p:sp>
      <p:sp>
        <p:nvSpPr>
          <p:cNvPr id="14" name="team-work-2">
            <a:extLst>
              <a:ext uri="{FF2B5EF4-FFF2-40B4-BE49-F238E27FC236}">
                <a16:creationId xmlns:a16="http://schemas.microsoft.com/office/drawing/2014/main" id="{FBB03D11-3B29-42FA-903B-07C54BE0B3DA}"/>
              </a:ext>
            </a:extLst>
          </p:cNvPr>
          <p:cNvSpPr>
            <a:spLocks noGrp="1"/>
          </p:cNvSpPr>
          <p:nvPr/>
        </p:nvSpPr>
        <p:spPr>
          <a:xfrm>
            <a:off x="2095500" y="35814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승인 용어·별칭</a:t>
            </a:r>
          </a:p>
        </p:txBody>
      </p:sp>
      <p:sp>
        <p:nvSpPr>
          <p:cNvPr id="15" name="team-result-2">
            <a:extLst>
              <a:ext uri="{FF2B5EF4-FFF2-40B4-BE49-F238E27FC236}">
                <a16:creationId xmlns:a16="http://schemas.microsoft.com/office/drawing/2014/main" id="{988B2863-CB12-4825-B94E-96272AE8A11D}"/>
              </a:ext>
            </a:extLst>
          </p:cNvPr>
          <p:cNvSpPr>
            <a:spLocks noGrp="1"/>
          </p:cNvSpPr>
          <p:nvPr/>
        </p:nvSpPr>
        <p:spPr>
          <a:xfrm>
            <a:off x="5810250" y="35814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‘객실 매출’의 뜻·집계 기준·동의어</a:t>
            </a:r>
          </a:p>
        </p:txBody>
      </p:sp>
      <p:cxnSp>
        <p:nvCxnSpPr>
          <p:cNvPr id="159" name="team-rule-3"/>
          <p:cNvCxnSpPr/>
          <p:nvPr/>
        </p:nvCxnSpPr>
        <p:spPr>
          <a:xfrm>
            <a:off x="457200" y="41910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7" name="team-name-3">
            <a:extLst>
              <a:ext uri="{FF2B5EF4-FFF2-40B4-BE49-F238E27FC236}">
                <a16:creationId xmlns:a16="http://schemas.microsoft.com/office/drawing/2014/main" id="{BC5ED8A7-0F56-4CD2-8F11-55440996827D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Domain</a:t>
            </a:r>
          </a:p>
        </p:txBody>
      </p:sp>
      <p:sp>
        <p:nvSpPr>
          <p:cNvPr id="18" name="team-work-3">
            <a:extLst>
              <a:ext uri="{FF2B5EF4-FFF2-40B4-BE49-F238E27FC236}">
                <a16:creationId xmlns:a16="http://schemas.microsoft.com/office/drawing/2014/main" id="{1D155DB4-23D8-4DA5-ABB4-BEE7A69EB49C}"/>
              </a:ext>
            </a:extLst>
          </p:cNvPr>
          <p:cNvSpPr>
            <a:spLocks noGrp="1"/>
          </p:cNvSpPr>
          <p:nvPr/>
        </p:nvSpPr>
        <p:spPr>
          <a:xfrm>
            <a:off x="2095500" y="43243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객실 Domain·Owner</a:t>
            </a:r>
          </a:p>
        </p:txBody>
      </p:sp>
      <p:sp>
        <p:nvSpPr>
          <p:cNvPr id="19" name="team-result-3">
            <a:extLst>
              <a:ext uri="{FF2B5EF4-FFF2-40B4-BE49-F238E27FC236}">
                <a16:creationId xmlns:a16="http://schemas.microsoft.com/office/drawing/2014/main" id="{DCC50F2E-D8D2-4A64-A3CA-A6AFE71E0955}"/>
              </a:ext>
            </a:extLst>
          </p:cNvPr>
          <p:cNvSpPr>
            <a:spLocks noGrp="1"/>
          </p:cNvSpPr>
          <p:nvPr/>
        </p:nvSpPr>
        <p:spPr>
          <a:xfrm>
            <a:off x="5810250" y="43243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객실 업무 영역과 데이터 관리 책임</a:t>
            </a:r>
          </a:p>
        </p:txBody>
      </p:sp>
      <p:cxnSp>
        <p:nvCxnSpPr>
          <p:cNvPr id="163" name="team-rule-4"/>
          <p:cNvCxnSpPr/>
          <p:nvPr/>
        </p:nvCxnSpPr>
        <p:spPr>
          <a:xfrm>
            <a:off x="457200" y="493395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1" name="team-name-4">
            <a:extLst>
              <a:ext uri="{FF2B5EF4-FFF2-40B4-BE49-F238E27FC236}">
                <a16:creationId xmlns:a16="http://schemas.microsoft.com/office/drawing/2014/main" id="{4B84C569-AEBD-42A9-9274-C312FF177D9F}"/>
              </a:ext>
            </a:extLst>
          </p:cNvPr>
          <p:cNvSpPr>
            <a:spLocks noGrp="1"/>
          </p:cNvSpPr>
          <p:nvPr/>
        </p:nvSpPr>
        <p:spPr>
          <a:xfrm>
            <a:off x="457200" y="50673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sp>
        <p:nvSpPr>
          <p:cNvPr id="22" name="team-work-4">
            <a:extLst>
              <a:ext uri="{FF2B5EF4-FFF2-40B4-BE49-F238E27FC236}">
                <a16:creationId xmlns:a16="http://schemas.microsoft.com/office/drawing/2014/main" id="{4DCAA444-64D7-4F99-AFDB-3488E12E2FB0}"/>
              </a:ext>
            </a:extLst>
          </p:cNvPr>
          <p:cNvSpPr>
            <a:spLocks noGrp="1"/>
          </p:cNvSpPr>
          <p:nvPr/>
        </p:nvSpPr>
        <p:spPr>
          <a:xfrm>
            <a:off x="2095500" y="50673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Role·Entitlement</a:t>
            </a:r>
          </a:p>
        </p:txBody>
      </p:sp>
      <p:sp>
        <p:nvSpPr>
          <p:cNvPr id="23" name="team-result-4">
            <a:extLst>
              <a:ext uri="{FF2B5EF4-FFF2-40B4-BE49-F238E27FC236}">
                <a16:creationId xmlns:a16="http://schemas.microsoft.com/office/drawing/2014/main" id="{509B1AE0-8DAD-49CC-8F9C-F5760874A59E}"/>
              </a:ext>
            </a:extLst>
          </p:cNvPr>
          <p:cNvSpPr>
            <a:spLocks noGrp="1"/>
          </p:cNvSpPr>
          <p:nvPr/>
        </p:nvSpPr>
        <p:spPr>
          <a:xfrm>
            <a:off x="5810250" y="50673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analyst가 사용할 수 있는 자산인지 표시</a:t>
            </a:r>
          </a:p>
        </p:txBody>
      </p:sp>
    </p:spTree>
    <p:extLst>
      <p:ext uri="{BB962C8B-B14F-4D97-AF65-F5344CB8AC3E}">
        <p14:creationId xmlns:p14="http://schemas.microsoft.com/office/powerpoint/2010/main" val="156573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3">
            <a:extLst>
              <a:ext uri="{FF2B5EF4-FFF2-40B4-BE49-F238E27FC236}">
                <a16:creationId xmlns:a16="http://schemas.microsoft.com/office/drawing/2014/main" id="{7760C568-9618-487B-B7C8-0A9A6B96F50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역인덱스는 후보 자산을 빠르게 좁힙니다</a:t>
            </a:r>
          </a:p>
        </p:txBody>
      </p:sp>
      <p:sp>
        <p:nvSpPr>
          <p:cNvPr id="2" name="page-3">
            <a:extLst>
              <a:ext uri="{FF2B5EF4-FFF2-40B4-BE49-F238E27FC236}">
                <a16:creationId xmlns:a16="http://schemas.microsoft.com/office/drawing/2014/main" id="{29E2C3DC-5351-40D6-8DBB-670BC7FFDB79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cxnSp>
        <p:nvCxnSpPr>
          <p:cNvPr id="32" name="header-rule-3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beforeafter-lead">
            <a:extLst>
              <a:ext uri="{FF2B5EF4-FFF2-40B4-BE49-F238E27FC236}">
                <a16:creationId xmlns:a16="http://schemas.microsoft.com/office/drawing/2014/main" id="{40F38B73-E6A0-4126-9DE4-959EAC7D793A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‘객실’과 ‘매출’이 어느 자산의 검색 필드에 들어 있는지 미리 만든 목록을 조회합니다.</a:t>
            </a:r>
          </a:p>
        </p:txBody>
      </p:sp>
      <p:sp>
        <p:nvSpPr>
          <p:cNvPr id="5" name="before-panel">
            <a:extLst>
              <a:ext uri="{FF2B5EF4-FFF2-40B4-BE49-F238E27FC236}">
                <a16:creationId xmlns:a16="http://schemas.microsoft.com/office/drawing/2014/main" id="{A9ECB0F1-3234-4241-BF6F-83D7146C4135}"/>
              </a:ext>
            </a:extLst>
          </p:cNvPr>
          <p:cNvSpPr>
            <a:spLocks noGrp="1"/>
          </p:cNvSpPr>
          <p:nvPr/>
        </p:nvSpPr>
        <p:spPr>
          <a:xfrm>
            <a:off x="457200" y="2247900"/>
            <a:ext cx="4953000" cy="31432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fter-panel">
            <a:extLst>
              <a:ext uri="{FF2B5EF4-FFF2-40B4-BE49-F238E27FC236}">
                <a16:creationId xmlns:a16="http://schemas.microsoft.com/office/drawing/2014/main" id="{C74C7987-FD6C-4291-8963-476D2573204A}"/>
              </a:ext>
            </a:extLst>
          </p:cNvPr>
          <p:cNvSpPr>
            <a:spLocks noGrp="1"/>
          </p:cNvSpPr>
          <p:nvPr/>
        </p:nvSpPr>
        <p:spPr>
          <a:xfrm>
            <a:off x="6781800" y="2247900"/>
            <a:ext cx="4953000" cy="31432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before-label">
            <a:extLst>
              <a:ext uri="{FF2B5EF4-FFF2-40B4-BE49-F238E27FC236}">
                <a16:creationId xmlns:a16="http://schemas.microsoft.com/office/drawing/2014/main" id="{23FD1E23-4EE4-4795-B9DD-C80F2BB06E10}"/>
              </a:ext>
            </a:extLst>
          </p:cNvPr>
          <p:cNvSpPr>
            <a:spLocks noGrp="1"/>
          </p:cNvSpPr>
          <p:nvPr/>
        </p:nvSpPr>
        <p:spPr>
          <a:xfrm>
            <a:off x="742950" y="2533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질문 분해</a:t>
            </a:r>
          </a:p>
        </p:txBody>
      </p:sp>
      <p:sp>
        <p:nvSpPr>
          <p:cNvPr id="8" name="before-flow">
            <a:extLst>
              <a:ext uri="{FF2B5EF4-FFF2-40B4-BE49-F238E27FC236}">
                <a16:creationId xmlns:a16="http://schemas.microsoft.com/office/drawing/2014/main" id="{F88BA904-814C-4D4B-A5DA-90A86CE30DF7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905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55" lnSpcReduction="10000"/>
          </a:bodyPr>
          <a:lstStyle/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지난달 → 기간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호텔별 → 분석 기준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객실·매출 → 검색어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역인덱스 조회</a:t>
            </a:r>
          </a:p>
        </p:txBody>
      </p:sp>
      <p:sp>
        <p:nvSpPr>
          <p:cNvPr id="9" name="after-label">
            <a:extLst>
              <a:ext uri="{FF2B5EF4-FFF2-40B4-BE49-F238E27FC236}">
                <a16:creationId xmlns:a16="http://schemas.microsoft.com/office/drawing/2014/main" id="{DF3543DD-339E-4909-89D2-90EA9354C58D}"/>
              </a:ext>
            </a:extLst>
          </p:cNvPr>
          <p:cNvSpPr>
            <a:spLocks noGrp="1"/>
          </p:cNvSpPr>
          <p:nvPr/>
        </p:nvSpPr>
        <p:spPr>
          <a:xfrm>
            <a:off x="7067550" y="2533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후보 목록</a:t>
            </a:r>
          </a:p>
        </p:txBody>
      </p:sp>
      <p:sp>
        <p:nvSpPr>
          <p:cNvPr id="10" name="after-flow">
            <a:extLst>
              <a:ext uri="{FF2B5EF4-FFF2-40B4-BE49-F238E27FC236}">
                <a16:creationId xmlns:a16="http://schemas.microsoft.com/office/drawing/2014/main" id="{07D21926-D03D-4E97-A1B3-2A73F620F206}"/>
              </a:ext>
            </a:extLst>
          </p:cNvPr>
          <p:cNvSpPr>
            <a:spLocks noGrp="1"/>
          </p:cNvSpPr>
          <p:nvPr/>
        </p:nvSpPr>
        <p:spPr>
          <a:xfrm>
            <a:off x="7067550" y="3105150"/>
            <a:ext cx="3905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55" lnSpcReduction="10000"/>
          </a:bodyPr>
          <a:lstStyle/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‘객실’ → A · B · C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‘매출’ → A · D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공통 후보 A 우선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 순위 계산</a:t>
            </a:r>
          </a:p>
        </p:txBody>
      </p:sp>
      <p:sp>
        <p:nvSpPr>
          <p:cNvPr id="11" name="transition-arrow">
            <a:extLst>
              <a:ext uri="{FF2B5EF4-FFF2-40B4-BE49-F238E27FC236}">
                <a16:creationId xmlns:a16="http://schemas.microsoft.com/office/drawing/2014/main" id="{0D79EC33-FEE1-422C-8E35-1597FA322F20}"/>
              </a:ext>
            </a:extLst>
          </p:cNvPr>
          <p:cNvSpPr>
            <a:spLocks noGrp="1"/>
          </p:cNvSpPr>
          <p:nvPr/>
        </p:nvSpPr>
        <p:spPr>
          <a:xfrm>
            <a:off x="5638800" y="3381375"/>
            <a:ext cx="914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4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1518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5">
            <a:extLst>
              <a:ext uri="{FF2B5EF4-FFF2-40B4-BE49-F238E27FC236}">
                <a16:creationId xmlns:a16="http://schemas.microsoft.com/office/drawing/2014/main" id="{78F532A2-5C4A-43F3-958C-91B8D4F845B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DataHub는 BM25로 자산 관련도를 정렬합니다</a:t>
            </a:r>
          </a:p>
        </p:txBody>
      </p:sp>
      <p:sp>
        <p:nvSpPr>
          <p:cNvPr id="2" name="page-5">
            <a:extLst>
              <a:ext uri="{FF2B5EF4-FFF2-40B4-BE49-F238E27FC236}">
                <a16:creationId xmlns:a16="http://schemas.microsoft.com/office/drawing/2014/main" id="{E08F38B4-A251-4D50-B9B7-F60B2D6FEB7B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cxnSp>
        <p:nvCxnSpPr>
          <p:cNvPr id="30" name="header-rule-5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join-lead">
            <a:extLst>
              <a:ext uri="{FF2B5EF4-FFF2-40B4-BE49-F238E27FC236}">
                <a16:creationId xmlns:a16="http://schemas.microsoft.com/office/drawing/2014/main" id="{BEC866BE-EF97-4976-AE91-709F0B5AD301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기본 BM25 점수에 DataHub의 정확 일치·n-gram·검색 필드 가중치가 더해질 수 있습니다.</a:t>
            </a:r>
          </a:p>
        </p:txBody>
      </p:sp>
      <p:sp>
        <p:nvSpPr>
          <p:cNvPr id="5" name="join-formula-bg">
            <a:extLst>
              <a:ext uri="{FF2B5EF4-FFF2-40B4-BE49-F238E27FC236}">
                <a16:creationId xmlns:a16="http://schemas.microsoft.com/office/drawing/2014/main" id="{6E56AE6C-9270-4175-A9D3-260BD2217B25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5905500" cy="323850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join-formula">
            <a:extLst>
              <a:ext uri="{FF2B5EF4-FFF2-40B4-BE49-F238E27FC236}">
                <a16:creationId xmlns:a16="http://schemas.microsoft.com/office/drawing/2014/main" id="{CA9DEF73-066F-4E81-99B5-798AB8A36B7A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5048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 기본 관련도</a:t>
            </a:r>
          </a:p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희소 단어(IDF)일수록 ↑</a:t>
            </a:r>
          </a:p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반복 일치(TF)는 점차 포화</a:t>
            </a:r>
          </a:p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긴 문서는 길이 보정</a:t>
            </a:r>
          </a:p>
          <a:p>
            <a:pPr algn="ctr">
              <a:buNone/>
              <a:def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k1=1.2 · b=0.75 기본값</a:t>
            </a:r>
          </a:p>
        </p:txBody>
      </p:sp>
      <p:sp>
        <p:nvSpPr>
          <p:cNvPr id="7" name="join-not-equal">
            <a:extLst>
              <a:ext uri="{FF2B5EF4-FFF2-40B4-BE49-F238E27FC236}">
                <a16:creationId xmlns:a16="http://schemas.microsoft.com/office/drawing/2014/main" id="{1FC1B7C2-061D-4536-9FB0-C2978ACC9CB9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1047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768" lnSpcReduction="10000"/>
          </a:bodyPr>
          <a:lstStyle/>
          <a:p>
            <a:pPr algn="ctr">
              <a:buNone/>
              <a:defRPr sz="5400" b="1">
                <a:solidFill>
                  <a:srgbClr val="D85C5C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D85C5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join-warning-title">
            <a:extLst>
              <a:ext uri="{FF2B5EF4-FFF2-40B4-BE49-F238E27FC236}">
                <a16:creationId xmlns:a16="http://schemas.microsoft.com/office/drawing/2014/main" id="{2B5BD1DB-D193-4AF1-87E4-116A83ED8A19}"/>
              </a:ext>
            </a:extLst>
          </p:cNvPr>
          <p:cNvSpPr>
            <a:spLocks noGrp="1"/>
          </p:cNvSpPr>
          <p:nvPr/>
        </p:nvSpPr>
        <p:spPr>
          <a:xfrm>
            <a:off x="7600950" y="2476500"/>
            <a:ext cx="3905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‘객실 매출’의 최종 _score</a:t>
            </a:r>
          </a:p>
        </p:txBody>
      </p:sp>
      <p:sp>
        <p:nvSpPr>
          <p:cNvPr id="9" name="join-warning-body">
            <a:extLst>
              <a:ext uri="{FF2B5EF4-FFF2-40B4-BE49-F238E27FC236}">
                <a16:creationId xmlns:a16="http://schemas.microsoft.com/office/drawing/2014/main" id="{D82555E5-BCE5-452F-A9C8-DD98C0B1A3F7}"/>
              </a:ext>
            </a:extLst>
          </p:cNvPr>
          <p:cNvSpPr>
            <a:spLocks noGrp="1"/>
          </p:cNvSpPr>
          <p:nvPr/>
        </p:nvSpPr>
        <p:spPr>
          <a:xfrm>
            <a:off x="7600950" y="3524250"/>
            <a:ext cx="3762375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Dataset 이름·설명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Schema·Glossary 필드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정확 일치·n-gram boost</a:t>
            </a:r>
          </a:p>
          <a:p>
            <a:r>
              <a:t>→ 점수들을 합산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→ 높은 자산부터 반환</a:t>
            </a:r>
          </a:p>
        </p:txBody>
      </p:sp>
    </p:spTree>
    <p:extLst>
      <p:ext uri="{BB962C8B-B14F-4D97-AF65-F5344CB8AC3E}">
        <p14:creationId xmlns:p14="http://schemas.microsoft.com/office/powerpoint/2010/main" val="67500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2">
            <a:extLst>
              <a:ext uri="{FF2B5EF4-FFF2-40B4-BE49-F238E27FC236}">
                <a16:creationId xmlns:a16="http://schemas.microsoft.com/office/drawing/2014/main" id="{4AEA461B-B24A-4AB3-BC2A-5DB02292DBD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26"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 순위가 높아도 권한이 없으면 사용할 수 없습니다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D8522D57-2848-4DC7-A228-DE9220B65553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cxnSp>
        <p:nvCxnSpPr>
          <p:cNvPr id="31" name="header-rule-2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datahub-lead">
            <a:extLst>
              <a:ext uri="{FF2B5EF4-FFF2-40B4-BE49-F238E27FC236}">
                <a16:creationId xmlns:a16="http://schemas.microsoft.com/office/drawing/2014/main" id="{11D14F73-EF40-4E98-A9D1-7B049B2BE119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‘객실 매출’ 후보의 관련도와 analyst 사용 권한은 서로 다른 기준으로 판단합니다.</a:t>
            </a:r>
          </a:p>
        </p:txBody>
      </p:sp>
      <p:sp>
        <p:nvSpPr>
          <p:cNvPr id="5" name="datahub-does">
            <a:extLst>
              <a:ext uri="{FF2B5EF4-FFF2-40B4-BE49-F238E27FC236}">
                <a16:creationId xmlns:a16="http://schemas.microsoft.com/office/drawing/2014/main" id="{D601A040-3293-40B3-AE92-94A5B149CADD}"/>
              </a:ext>
            </a:extLst>
          </p:cNvPr>
          <p:cNvSpPr>
            <a:spLocks noGrp="1"/>
          </p:cNvSpPr>
          <p:nvPr/>
        </p:nvSpPr>
        <p:spPr>
          <a:xfrm>
            <a:off x="457200" y="2266950"/>
            <a:ext cx="5314950" cy="285750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atahub-not">
            <a:extLst>
              <a:ext uri="{FF2B5EF4-FFF2-40B4-BE49-F238E27FC236}">
                <a16:creationId xmlns:a16="http://schemas.microsoft.com/office/drawing/2014/main" id="{F076987E-2FC4-483B-A2AE-DF6CB86E0C5E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5772150" cy="285750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datahub-does-title">
            <a:extLst>
              <a:ext uri="{FF2B5EF4-FFF2-40B4-BE49-F238E27FC236}">
                <a16:creationId xmlns:a16="http://schemas.microsoft.com/office/drawing/2014/main" id="{AFF4E7A0-DBF5-4CE4-A230-2F45434BB9DF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검색 순위 판단</a:t>
            </a:r>
          </a:p>
        </p:txBody>
      </p:sp>
      <p:sp>
        <p:nvSpPr>
          <p:cNvPr id="8" name="datahub-does-body">
            <a:extLst>
              <a:ext uri="{FF2B5EF4-FFF2-40B4-BE49-F238E27FC236}">
                <a16:creationId xmlns:a16="http://schemas.microsoft.com/office/drawing/2014/main" id="{7CFD3C32-2CED-4B08-90D2-73D64FBE79AC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38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역인덱스로 후보 수집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BM25 기본 관련도 계산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DataHub 필드 boost 반영</a:t>
            </a:r>
          </a:p>
          <a:p>
            <a:pPr algn="l">
              <a:buNone/>
              <a:def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• _score 높은 순으로 정렬</a:t>
            </a:r>
          </a:p>
        </p:txBody>
      </p:sp>
      <p:sp>
        <p:nvSpPr>
          <p:cNvPr id="9" name="datahub-not-title">
            <a:extLst>
              <a:ext uri="{FF2B5EF4-FFF2-40B4-BE49-F238E27FC236}">
                <a16:creationId xmlns:a16="http://schemas.microsoft.com/office/drawing/2014/main" id="{266CAC98-2E43-4823-9D57-9A7AFAA0A133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사용 가능 여부</a:t>
            </a:r>
          </a:p>
        </p:txBody>
      </p:sp>
      <p:sp>
        <p:nvSpPr>
          <p:cNvPr id="10" name="datahub-not-body">
            <a:extLst>
              <a:ext uri="{FF2B5EF4-FFF2-40B4-BE49-F238E27FC236}">
                <a16:creationId xmlns:a16="http://schemas.microsoft.com/office/drawing/2014/main" id="{08C670D6-0A63-40A5-A2B2-13D2F9A05610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47625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로그인 Role: analyst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Dataset Entitlement 비교</a:t>
            </a:r>
          </a:p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• 허용 자산만 Context 포함</a:t>
            </a:r>
          </a:p>
          <a:p>
            <a:r>
              <a:t>• Trino가 실제 접근을 최종 집행</a:t>
            </a:r>
          </a:p>
        </p:txBody>
      </p:sp>
    </p:spTree>
    <p:extLst>
      <p:ext uri="{BB962C8B-B14F-4D97-AF65-F5344CB8AC3E}">
        <p14:creationId xmlns:p14="http://schemas.microsoft.com/office/powerpoint/2010/main" val="176015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3">
            <a:extLst>
              <a:ext uri="{FF2B5EF4-FFF2-40B4-BE49-F238E27FC236}">
                <a16:creationId xmlns:a16="http://schemas.microsoft.com/office/drawing/2014/main" id="{7760C568-9618-487B-B7C8-0A9A6B96F50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859" lnSpcReduction="10000"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 속도 다음에는 정확도와 권한을 함께 보강해야 합니다</a:t>
            </a:r>
          </a:p>
        </p:txBody>
      </p:sp>
      <p:sp>
        <p:nvSpPr>
          <p:cNvPr id="2" name="page-3">
            <a:extLst>
              <a:ext uri="{FF2B5EF4-FFF2-40B4-BE49-F238E27FC236}">
                <a16:creationId xmlns:a16="http://schemas.microsoft.com/office/drawing/2014/main" id="{29E2C3DC-5351-40D6-8DBB-670BC7FFDB79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cxnSp>
        <p:nvCxnSpPr>
          <p:cNvPr id="32" name="header-rule-3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beforeafter-lead">
            <a:extLst>
              <a:ext uri="{FF2B5EF4-FFF2-40B4-BE49-F238E27FC236}">
                <a16:creationId xmlns:a16="http://schemas.microsoft.com/office/drawing/2014/main" id="{40F38B73-E6A0-4126-9DE4-959EAC7D793A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예시 질문이 올바른 ‘객실 매출’ 자산과 안전한 SQL로 이어지도록 수정하고 있습니다.</a:t>
            </a:r>
          </a:p>
        </p:txBody>
      </p:sp>
      <p:sp>
        <p:nvSpPr>
          <p:cNvPr id="5" name="before-panel">
            <a:extLst>
              <a:ext uri="{FF2B5EF4-FFF2-40B4-BE49-F238E27FC236}">
                <a16:creationId xmlns:a16="http://schemas.microsoft.com/office/drawing/2014/main" id="{A9ECB0F1-3234-4241-BF6F-83D7146C4135}"/>
              </a:ext>
            </a:extLst>
          </p:cNvPr>
          <p:cNvSpPr>
            <a:spLocks noGrp="1"/>
          </p:cNvSpPr>
          <p:nvPr/>
        </p:nvSpPr>
        <p:spPr>
          <a:xfrm>
            <a:off x="457200" y="2247900"/>
            <a:ext cx="4953000" cy="3143250"/>
          </a:xfrm>
          <a:prstGeom prst="rect">
            <a:avLst/>
          </a:prstGeom>
          <a:solidFill>
            <a:srgbClr val="EDEF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fter-panel">
            <a:extLst>
              <a:ext uri="{FF2B5EF4-FFF2-40B4-BE49-F238E27FC236}">
                <a16:creationId xmlns:a16="http://schemas.microsoft.com/office/drawing/2014/main" id="{C74C7987-FD6C-4291-8963-476D2573204A}"/>
              </a:ext>
            </a:extLst>
          </p:cNvPr>
          <p:cNvSpPr>
            <a:spLocks noGrp="1"/>
          </p:cNvSpPr>
          <p:nvPr/>
        </p:nvSpPr>
        <p:spPr>
          <a:xfrm>
            <a:off x="6781800" y="2247900"/>
            <a:ext cx="4953000" cy="3143250"/>
          </a:xfrm>
          <a:prstGeom prst="rect">
            <a:avLst/>
          </a:prstGeom>
          <a:solidFill>
            <a:srgbClr val="F1F6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before-label">
            <a:extLst>
              <a:ext uri="{FF2B5EF4-FFF2-40B4-BE49-F238E27FC236}">
                <a16:creationId xmlns:a16="http://schemas.microsoft.com/office/drawing/2014/main" id="{23FD1E23-4EE4-4795-B9DD-C80F2BB06E10}"/>
              </a:ext>
            </a:extLst>
          </p:cNvPr>
          <p:cNvSpPr>
            <a:spLocks noGrp="1"/>
          </p:cNvSpPr>
          <p:nvPr/>
        </p:nvSpPr>
        <p:spPr>
          <a:xfrm>
            <a:off x="742950" y="2533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현재 문제</a:t>
            </a:r>
          </a:p>
        </p:txBody>
      </p:sp>
      <p:sp>
        <p:nvSpPr>
          <p:cNvPr id="8" name="before-flow">
            <a:extLst>
              <a:ext uri="{FF2B5EF4-FFF2-40B4-BE49-F238E27FC236}">
                <a16:creationId xmlns:a16="http://schemas.microsoft.com/office/drawing/2014/main" id="{F88BA904-814C-4D4B-A5DA-90A86CE30DF7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905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55" lnSpcReduction="10000"/>
          </a:bodyPr>
          <a:lstStyle/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메타데이터·용어 누락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동의어 결과 분산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BM25·필드 boost 미조정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권한 전 후보 노출 위험</a:t>
            </a:r>
          </a:p>
        </p:txBody>
      </p:sp>
      <p:sp>
        <p:nvSpPr>
          <p:cNvPr id="9" name="after-label">
            <a:extLst>
              <a:ext uri="{FF2B5EF4-FFF2-40B4-BE49-F238E27FC236}">
                <a16:creationId xmlns:a16="http://schemas.microsoft.com/office/drawing/2014/main" id="{DF3543DD-339E-4909-89D2-90EA9354C58D}"/>
              </a:ext>
            </a:extLst>
          </p:cNvPr>
          <p:cNvSpPr>
            <a:spLocks noGrp="1"/>
          </p:cNvSpPr>
          <p:nvPr/>
        </p:nvSpPr>
        <p:spPr>
          <a:xfrm>
            <a:off x="7067550" y="2533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수정 방향</a:t>
            </a:r>
          </a:p>
        </p:txBody>
      </p:sp>
      <p:sp>
        <p:nvSpPr>
          <p:cNvPr id="10" name="after-flow">
            <a:extLst>
              <a:ext uri="{FF2B5EF4-FFF2-40B4-BE49-F238E27FC236}">
                <a16:creationId xmlns:a16="http://schemas.microsoft.com/office/drawing/2014/main" id="{07D21926-D03D-4E97-A1B3-2A73F620F206}"/>
              </a:ext>
            </a:extLst>
          </p:cNvPr>
          <p:cNvSpPr>
            <a:spLocks noGrp="1"/>
          </p:cNvSpPr>
          <p:nvPr/>
        </p:nvSpPr>
        <p:spPr>
          <a:xfrm>
            <a:off x="7067550" y="3105150"/>
            <a:ext cx="3905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655" lnSpcReduction="10000"/>
          </a:bodyPr>
          <a:lstStyle/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Glossary·설명·별칭 보강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 설정·점수 검증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권한 범위 내 상위 후보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buNone/>
              <a:def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AnalysisPlan → SQL → Trino</a:t>
            </a:r>
          </a:p>
        </p:txBody>
      </p:sp>
      <p:sp>
        <p:nvSpPr>
          <p:cNvPr id="11" name="transition-arrow">
            <a:extLst>
              <a:ext uri="{FF2B5EF4-FFF2-40B4-BE49-F238E27FC236}">
                <a16:creationId xmlns:a16="http://schemas.microsoft.com/office/drawing/2014/main" id="{0D79EC33-FEE1-422C-8E35-1597FA322F20}"/>
              </a:ext>
            </a:extLst>
          </p:cNvPr>
          <p:cNvSpPr>
            <a:spLocks noGrp="1"/>
          </p:cNvSpPr>
          <p:nvPr/>
        </p:nvSpPr>
        <p:spPr>
          <a:xfrm>
            <a:off x="5638800" y="3381375"/>
            <a:ext cx="914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4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1518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6">
            <a:extLst>
              <a:ext uri="{FF2B5EF4-FFF2-40B4-BE49-F238E27FC236}">
                <a16:creationId xmlns:a16="http://schemas.microsoft.com/office/drawing/2014/main" id="{4560DC7C-A368-4BE6-BF4A-F9C4ACDA257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검색·모델·화면·시스템을 함께 개선하고 있습니다</a:t>
            </a:r>
          </a:p>
        </p:txBody>
      </p:sp>
      <p:sp>
        <p:nvSpPr>
          <p:cNvPr id="2" name="page-6">
            <a:extLst>
              <a:ext uri="{FF2B5EF4-FFF2-40B4-BE49-F238E27FC236}">
                <a16:creationId xmlns:a16="http://schemas.microsoft.com/office/drawing/2014/main" id="{92C1F0F0-CF92-461B-8CB1-033EEA9ACE5F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10000"/>
          </a:bodyPr>
          <a:lstStyle/>
          <a:p>
            <a:pPr algn="r">
              <a:buNone/>
              <a:def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cxnSp>
        <p:nvCxnSpPr>
          <p:cNvPr id="146" name="header-rule-6"/>
          <p:cNvCxnSpPr/>
          <p:nvPr/>
        </p:nvCxnSpPr>
        <p:spPr>
          <a:xfrm>
            <a:off x="457200" y="10668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team-lead">
            <a:extLst>
              <a:ext uri="{FF2B5EF4-FFF2-40B4-BE49-F238E27FC236}">
                <a16:creationId xmlns:a16="http://schemas.microsoft.com/office/drawing/2014/main" id="{8D97C31E-C930-437D-8D61-2E5386A69F45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완료·진행·적용·검토 상태를 구분해 프로젝트 전체 흐름으로 관리합니다.</a:t>
            </a:r>
          </a:p>
        </p:txBody>
      </p:sp>
      <p:sp>
        <p:nvSpPr>
          <p:cNvPr id="5" name="team-name-0">
            <a:extLst>
              <a:ext uri="{FF2B5EF4-FFF2-40B4-BE49-F238E27FC236}">
                <a16:creationId xmlns:a16="http://schemas.microsoft.com/office/drawing/2014/main" id="{BD943B36-5C03-446D-A779-AA6034C22D3C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6" name="team-work-0">
            <a:extLst>
              <a:ext uri="{FF2B5EF4-FFF2-40B4-BE49-F238E27FC236}">
                <a16:creationId xmlns:a16="http://schemas.microsoft.com/office/drawing/2014/main" id="{2AD1757D-55B6-4ED9-BDF5-BD2470FB22BB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데이터 검증</a:t>
            </a:r>
          </a:p>
        </p:txBody>
      </p:sp>
      <p:sp>
        <p:nvSpPr>
          <p:cNvPr id="7" name="team-result-0">
            <a:extLst>
              <a:ext uri="{FF2B5EF4-FFF2-40B4-BE49-F238E27FC236}">
                <a16:creationId xmlns:a16="http://schemas.microsoft.com/office/drawing/2014/main" id="{A90F0E51-23B8-4002-AE6A-6A77500B0535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SFT 2,700건 분리 · 누수 검사 · Trino 비교 완료</a:t>
            </a:r>
          </a:p>
        </p:txBody>
      </p:sp>
      <p:cxnSp>
        <p:nvCxnSpPr>
          <p:cNvPr id="151" name="team-rule-1"/>
          <p:cNvCxnSpPr/>
          <p:nvPr/>
        </p:nvCxnSpPr>
        <p:spPr>
          <a:xfrm>
            <a:off x="457200" y="27051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team-name-1">
            <a:extLst>
              <a:ext uri="{FF2B5EF4-FFF2-40B4-BE49-F238E27FC236}">
                <a16:creationId xmlns:a16="http://schemas.microsoft.com/office/drawing/2014/main" id="{CDDF4A5F-046D-4328-A6D2-B309B5B36C12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진행</a:t>
            </a:r>
          </a:p>
        </p:txBody>
      </p:sp>
      <p:sp>
        <p:nvSpPr>
          <p:cNvPr id="10" name="team-work-1">
            <a:extLst>
              <a:ext uri="{FF2B5EF4-FFF2-40B4-BE49-F238E27FC236}">
                <a16:creationId xmlns:a16="http://schemas.microsoft.com/office/drawing/2014/main" id="{FE183705-EA63-432D-B1EC-BFA85D4FEBFB}"/>
              </a:ext>
            </a:extLst>
          </p:cNvPr>
          <p:cNvSpPr>
            <a:spLocks noGrp="1"/>
          </p:cNvSpPr>
          <p:nvPr/>
        </p:nvSpPr>
        <p:spPr>
          <a:xfrm>
            <a:off x="2095500" y="28384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LoRA 학습·평가</a:t>
            </a:r>
          </a:p>
        </p:txBody>
      </p:sp>
      <p:sp>
        <p:nvSpPr>
          <p:cNvPr id="11" name="team-result-1">
            <a:extLst>
              <a:ext uri="{FF2B5EF4-FFF2-40B4-BE49-F238E27FC236}">
                <a16:creationId xmlns:a16="http://schemas.microsoft.com/office/drawing/2014/main" id="{3E5F3BCB-A028-4CD6-95E4-2C902DDC915A}"/>
              </a:ext>
            </a:extLst>
          </p:cNvPr>
          <p:cNvSpPr>
            <a:spLocks noGrp="1"/>
          </p:cNvSpPr>
          <p:nvPr/>
        </p:nvSpPr>
        <p:spPr>
          <a:xfrm>
            <a:off x="5810250" y="28384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Qwen3.5 2B·4B를 RTX 4090×2 GPU pod 2대에서 병렬 실행</a:t>
            </a:r>
          </a:p>
        </p:txBody>
      </p:sp>
      <p:cxnSp>
        <p:nvCxnSpPr>
          <p:cNvPr id="155" name="team-rule-2"/>
          <p:cNvCxnSpPr/>
          <p:nvPr/>
        </p:nvCxnSpPr>
        <p:spPr>
          <a:xfrm>
            <a:off x="457200" y="344805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3" name="team-name-2">
            <a:extLst>
              <a:ext uri="{FF2B5EF4-FFF2-40B4-BE49-F238E27FC236}">
                <a16:creationId xmlns:a16="http://schemas.microsoft.com/office/drawing/2014/main" id="{727B7184-7620-41DE-B9FA-B6F7325A9762}"/>
              </a:ext>
            </a:extLst>
          </p:cNvPr>
          <p:cNvSpPr>
            <a:spLocks noGrp="1"/>
          </p:cNvSpPr>
          <p:nvPr/>
        </p:nvSpPr>
        <p:spPr>
          <a:xfrm>
            <a:off x="45720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적용</a:t>
            </a:r>
          </a:p>
        </p:txBody>
      </p:sp>
      <p:sp>
        <p:nvSpPr>
          <p:cNvPr id="14" name="team-work-2">
            <a:extLst>
              <a:ext uri="{FF2B5EF4-FFF2-40B4-BE49-F238E27FC236}">
                <a16:creationId xmlns:a16="http://schemas.microsoft.com/office/drawing/2014/main" id="{FBB03D11-3B29-42FA-903B-07C54BE0B3DA}"/>
              </a:ext>
            </a:extLst>
          </p:cNvPr>
          <p:cNvSpPr>
            <a:spLocks noGrp="1"/>
          </p:cNvSpPr>
          <p:nvPr/>
        </p:nvSpPr>
        <p:spPr>
          <a:xfrm>
            <a:off x="2095500" y="35814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서비스 연결</a:t>
            </a:r>
          </a:p>
        </p:txBody>
      </p:sp>
      <p:sp>
        <p:nvSpPr>
          <p:cNvPr id="15" name="team-result-2">
            <a:extLst>
              <a:ext uri="{FF2B5EF4-FFF2-40B4-BE49-F238E27FC236}">
                <a16:creationId xmlns:a16="http://schemas.microsoft.com/office/drawing/2014/main" id="{988B2863-CB12-4825-B94E-96272AE8A11D}"/>
              </a:ext>
            </a:extLst>
          </p:cNvPr>
          <p:cNvSpPr>
            <a:spLocks noGrp="1"/>
          </p:cNvSpPr>
          <p:nvPr/>
        </p:nvSpPr>
        <p:spPr>
          <a:xfrm>
            <a:off x="5810250" y="35814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목업 실제 적용 · 지표와 기간 추가 입력 안내</a:t>
            </a:r>
          </a:p>
        </p:txBody>
      </p:sp>
      <p:cxnSp>
        <p:nvCxnSpPr>
          <p:cNvPr id="159" name="team-rule-3"/>
          <p:cNvCxnSpPr/>
          <p:nvPr/>
        </p:nvCxnSpPr>
        <p:spPr>
          <a:xfrm>
            <a:off x="457200" y="419100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7" name="team-name-3">
            <a:extLst>
              <a:ext uri="{FF2B5EF4-FFF2-40B4-BE49-F238E27FC236}">
                <a16:creationId xmlns:a16="http://schemas.microsoft.com/office/drawing/2014/main" id="{BC5ED8A7-0F56-4CD2-8F11-55440996827D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18" name="team-work-3">
            <a:extLst>
              <a:ext uri="{FF2B5EF4-FFF2-40B4-BE49-F238E27FC236}">
                <a16:creationId xmlns:a16="http://schemas.microsoft.com/office/drawing/2014/main" id="{1D155DB4-23D8-4DA5-ABB4-BEE7A69EB49C}"/>
              </a:ext>
            </a:extLst>
          </p:cNvPr>
          <p:cNvSpPr>
            <a:spLocks noGrp="1"/>
          </p:cNvSpPr>
          <p:nvPr/>
        </p:nvSpPr>
        <p:spPr>
          <a:xfrm>
            <a:off x="2095500" y="43243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DataHub 검색</a:t>
            </a:r>
          </a:p>
        </p:txBody>
      </p:sp>
      <p:sp>
        <p:nvSpPr>
          <p:cNvPr id="19" name="team-result-3">
            <a:extLst>
              <a:ext uri="{FF2B5EF4-FFF2-40B4-BE49-F238E27FC236}">
                <a16:creationId xmlns:a16="http://schemas.microsoft.com/office/drawing/2014/main" id="{DCC50F2E-D8D2-4A64-A3CA-A6AFE71E0955}"/>
              </a:ext>
            </a:extLst>
          </p:cNvPr>
          <p:cNvSpPr>
            <a:spLocks noGrp="1"/>
          </p:cNvSpPr>
          <p:nvPr/>
        </p:nvSpPr>
        <p:spPr>
          <a:xfrm>
            <a:off x="5810250" y="43243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역인덱스 · 자산 점수 · Role · Entitlement 점검</a:t>
            </a:r>
          </a:p>
        </p:txBody>
      </p:sp>
      <p:cxnSp>
        <p:nvCxnSpPr>
          <p:cNvPr id="163" name="team-rule-4"/>
          <p:cNvCxnSpPr/>
          <p:nvPr/>
        </p:nvCxnSpPr>
        <p:spPr>
          <a:xfrm>
            <a:off x="457200" y="4933950"/>
            <a:ext cx="11277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1" name="team-name-4">
            <a:extLst>
              <a:ext uri="{FF2B5EF4-FFF2-40B4-BE49-F238E27FC236}">
                <a16:creationId xmlns:a16="http://schemas.microsoft.com/office/drawing/2014/main" id="{4B84C569-AEBD-42A9-9274-C312FF177D9F}"/>
              </a:ext>
            </a:extLst>
          </p:cNvPr>
          <p:cNvSpPr>
            <a:spLocks noGrp="1"/>
          </p:cNvSpPr>
          <p:nvPr/>
        </p:nvSpPr>
        <p:spPr>
          <a:xfrm>
            <a:off x="457200" y="50673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22" name="team-work-4">
            <a:extLst>
              <a:ext uri="{FF2B5EF4-FFF2-40B4-BE49-F238E27FC236}">
                <a16:creationId xmlns:a16="http://schemas.microsoft.com/office/drawing/2014/main" id="{4DCAA444-64D7-4F99-AFDB-3488E12E2FB0}"/>
              </a:ext>
            </a:extLst>
          </p:cNvPr>
          <p:cNvSpPr>
            <a:spLocks noGrp="1"/>
          </p:cNvSpPr>
          <p:nvPr/>
        </p:nvSpPr>
        <p:spPr>
          <a:xfrm>
            <a:off x="2095500" y="50673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확장 구조</a:t>
            </a:r>
          </a:p>
        </p:txBody>
      </p:sp>
      <p:sp>
        <p:nvSpPr>
          <p:cNvPr id="23" name="team-result-4">
            <a:extLst>
              <a:ext uri="{FF2B5EF4-FFF2-40B4-BE49-F238E27FC236}">
                <a16:creationId xmlns:a16="http://schemas.microsoft.com/office/drawing/2014/main" id="{509B1AE0-8DAD-49CC-8F9C-F5760874A59E}"/>
              </a:ext>
            </a:extLst>
          </p:cNvPr>
          <p:cNvSpPr>
            <a:spLocks noGrp="1"/>
          </p:cNvSpPr>
          <p:nvPr/>
        </p:nvSpPr>
        <p:spPr>
          <a:xfrm>
            <a:off x="5810250" y="50673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MCP · Neo4j/Graph DB · 멀티 에이전트 적용 위치 검토</a:t>
            </a:r>
          </a:p>
        </p:txBody>
      </p:sp>
    </p:spTree>
    <p:extLst>
      <p:ext uri="{BB962C8B-B14F-4D97-AF65-F5344CB8AC3E}">
        <p14:creationId xmlns:p14="http://schemas.microsoft.com/office/powerpoint/2010/main" val="156573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lose-kicker">
            <a:extLst>
              <a:ext uri="{FF2B5EF4-FFF2-40B4-BE49-F238E27FC236}">
                <a16:creationId xmlns:a16="http://schemas.microsoft.com/office/drawing/2014/main" id="{DC890ECD-DC9C-41B1-A7A1-BF50DA2542F3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9035D01D-C38C-4528-B7CB-B1AFEAE4FC5E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0287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 정확도를 실제 서비스 품질로</a:t>
            </a:r>
          </a:p>
          <a:p>
            <a:pPr algn="l">
              <a:buNone/>
              <a:def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연결하는 단계가 남았습니다</a:t>
            </a:r>
          </a:p>
        </p:txBody>
      </p:sp>
      <p:cxnSp>
        <p:nvCxnSpPr>
          <p:cNvPr id="37" name="next-line"/>
          <p:cNvCxnSpPr/>
          <p:nvPr/>
        </p:nvCxnSpPr>
        <p:spPr>
          <a:xfrm>
            <a:off x="619125" y="3657600"/>
            <a:ext cx="99822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4" name="next-dot-0">
            <a:extLst>
              <a:ext uri="{FF2B5EF4-FFF2-40B4-BE49-F238E27FC236}">
                <a16:creationId xmlns:a16="http://schemas.microsoft.com/office/drawing/2014/main" id="{09A6E37A-4269-4F1C-9672-A1FE6DCD4305}"/>
              </a:ext>
            </a:extLst>
          </p:cNvPr>
          <p:cNvSpPr>
            <a:spLocks noGrp="1"/>
          </p:cNvSpPr>
          <p:nvPr/>
        </p:nvSpPr>
        <p:spPr>
          <a:xfrm>
            <a:off x="542925" y="35623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next-num-0">
            <a:extLst>
              <a:ext uri="{FF2B5EF4-FFF2-40B4-BE49-F238E27FC236}">
                <a16:creationId xmlns:a16="http://schemas.microsoft.com/office/drawing/2014/main" id="{A24DD9B2-B504-42BF-A662-D70227C9BE9D}"/>
              </a:ext>
            </a:extLst>
          </p:cNvPr>
          <p:cNvSpPr>
            <a:spLocks noGrp="1"/>
          </p:cNvSpPr>
          <p:nvPr/>
        </p:nvSpPr>
        <p:spPr>
          <a:xfrm>
            <a:off x="619125" y="31051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next-title-0">
            <a:extLst>
              <a:ext uri="{FF2B5EF4-FFF2-40B4-BE49-F238E27FC236}">
                <a16:creationId xmlns:a16="http://schemas.microsoft.com/office/drawing/2014/main" id="{FD3D16F9-75D5-4BA9-87E1-896C21183870}"/>
              </a:ext>
            </a:extLst>
          </p:cNvPr>
          <p:cNvSpPr>
            <a:spLocks noGrp="1"/>
          </p:cNvSpPr>
          <p:nvPr/>
        </p:nvSpPr>
        <p:spPr>
          <a:xfrm>
            <a:off x="619125" y="4000500"/>
            <a:ext cx="2905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검색 품질</a:t>
            </a:r>
          </a:p>
        </p:txBody>
      </p:sp>
      <p:sp>
        <p:nvSpPr>
          <p:cNvPr id="7" name="next-body-0">
            <a:extLst>
              <a:ext uri="{FF2B5EF4-FFF2-40B4-BE49-F238E27FC236}">
                <a16:creationId xmlns:a16="http://schemas.microsoft.com/office/drawing/2014/main" id="{F129EBA6-8E7B-4572-9B6A-112CF76A5D67}"/>
              </a:ext>
            </a:extLst>
          </p:cNvPr>
          <p:cNvSpPr>
            <a:spLocks noGrp="1"/>
          </p:cNvSpPr>
          <p:nvPr/>
        </p:nvSpPr>
        <p:spPr>
          <a:xfrm>
            <a:off x="619125" y="459105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메타데이터 · 동의어 · 점수 튜닝</a:t>
            </a:r>
          </a:p>
        </p:txBody>
      </p:sp>
      <p:sp>
        <p:nvSpPr>
          <p:cNvPr id="8" name="next-dot-1">
            <a:extLst>
              <a:ext uri="{FF2B5EF4-FFF2-40B4-BE49-F238E27FC236}">
                <a16:creationId xmlns:a16="http://schemas.microsoft.com/office/drawing/2014/main" id="{06861540-5705-4FF2-BCBA-D45B6C806F0B}"/>
              </a:ext>
            </a:extLst>
          </p:cNvPr>
          <p:cNvSpPr>
            <a:spLocks noGrp="1"/>
          </p:cNvSpPr>
          <p:nvPr/>
        </p:nvSpPr>
        <p:spPr>
          <a:xfrm>
            <a:off x="4200525" y="35623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next-num-1">
            <a:extLst>
              <a:ext uri="{FF2B5EF4-FFF2-40B4-BE49-F238E27FC236}">
                <a16:creationId xmlns:a16="http://schemas.microsoft.com/office/drawing/2014/main" id="{09C62CEA-FCDE-4DD8-A550-69033801CCD3}"/>
              </a:ext>
            </a:extLst>
          </p:cNvPr>
          <p:cNvSpPr>
            <a:spLocks noGrp="1"/>
          </p:cNvSpPr>
          <p:nvPr/>
        </p:nvSpPr>
        <p:spPr>
          <a:xfrm>
            <a:off x="4276725" y="31051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next-title-1">
            <a:extLst>
              <a:ext uri="{FF2B5EF4-FFF2-40B4-BE49-F238E27FC236}">
                <a16:creationId xmlns:a16="http://schemas.microsoft.com/office/drawing/2014/main" id="{0ACC6171-DBF0-4E74-8009-FD33D0B986E8}"/>
              </a:ext>
            </a:extLst>
          </p:cNvPr>
          <p:cNvSpPr>
            <a:spLocks noGrp="1"/>
          </p:cNvSpPr>
          <p:nvPr/>
        </p:nvSpPr>
        <p:spPr>
          <a:xfrm>
            <a:off x="4276725" y="4000500"/>
            <a:ext cx="2905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실제 검증</a:t>
            </a:r>
          </a:p>
        </p:txBody>
      </p:sp>
      <p:sp>
        <p:nvSpPr>
          <p:cNvPr id="11" name="next-body-1">
            <a:extLst>
              <a:ext uri="{FF2B5EF4-FFF2-40B4-BE49-F238E27FC236}">
                <a16:creationId xmlns:a16="http://schemas.microsoft.com/office/drawing/2014/main" id="{2984A510-A9BF-4898-841A-1ABBF9D0274D}"/>
              </a:ext>
            </a:extLst>
          </p:cNvPr>
          <p:cNvSpPr>
            <a:spLocks noGrp="1"/>
          </p:cNvSpPr>
          <p:nvPr/>
        </p:nvSpPr>
        <p:spPr>
          <a:xfrm>
            <a:off x="4276725" y="459105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LoRA 모델 · Trino · 전체 E2E</a:t>
            </a:r>
          </a:p>
        </p:txBody>
      </p:sp>
      <p:sp>
        <p:nvSpPr>
          <p:cNvPr id="12" name="next-dot-2">
            <a:extLst>
              <a:ext uri="{FF2B5EF4-FFF2-40B4-BE49-F238E27FC236}">
                <a16:creationId xmlns:a16="http://schemas.microsoft.com/office/drawing/2014/main" id="{04A91F2B-CD58-41C9-A97B-142B5AD60DF9}"/>
              </a:ext>
            </a:extLst>
          </p:cNvPr>
          <p:cNvSpPr>
            <a:spLocks noGrp="1"/>
          </p:cNvSpPr>
          <p:nvPr/>
        </p:nvSpPr>
        <p:spPr>
          <a:xfrm>
            <a:off x="7858125" y="35623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next-num-2">
            <a:extLst>
              <a:ext uri="{FF2B5EF4-FFF2-40B4-BE49-F238E27FC236}">
                <a16:creationId xmlns:a16="http://schemas.microsoft.com/office/drawing/2014/main" id="{5B3ED132-6017-445C-A4B2-A3CB29CA0585}"/>
              </a:ext>
            </a:extLst>
          </p:cNvPr>
          <p:cNvSpPr>
            <a:spLocks noGrp="1"/>
          </p:cNvSpPr>
          <p:nvPr/>
        </p:nvSpPr>
        <p:spPr>
          <a:xfrm>
            <a:off x="7934325" y="31051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next-title-2">
            <a:extLst>
              <a:ext uri="{FF2B5EF4-FFF2-40B4-BE49-F238E27FC236}">
                <a16:creationId xmlns:a16="http://schemas.microsoft.com/office/drawing/2014/main" id="{D371C483-34B8-4E7C-9DE2-EBE6689FDC0C}"/>
              </a:ext>
            </a:extLst>
          </p:cNvPr>
          <p:cNvSpPr>
            <a:spLocks noGrp="1"/>
          </p:cNvSpPr>
          <p:nvPr/>
        </p:nvSpPr>
        <p:spPr>
          <a:xfrm>
            <a:off x="7934325" y="4000500"/>
            <a:ext cx="2905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확장 구조</a:t>
            </a:r>
          </a:p>
        </p:txBody>
      </p:sp>
      <p:sp>
        <p:nvSpPr>
          <p:cNvPr id="15" name="next-body-2">
            <a:extLst>
              <a:ext uri="{FF2B5EF4-FFF2-40B4-BE49-F238E27FC236}">
                <a16:creationId xmlns:a16="http://schemas.microsoft.com/office/drawing/2014/main" id="{4EB3C806-CABF-40F1-8E7D-2539C03F758D}"/>
              </a:ext>
            </a:extLst>
          </p:cNvPr>
          <p:cNvSpPr>
            <a:spLocks noGrp="1"/>
          </p:cNvSpPr>
          <p:nvPr/>
        </p:nvSpPr>
        <p:spPr>
          <a:xfrm>
            <a:off x="7934325" y="459105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873"/>
                </a:solidFill>
                <a:latin typeface="Malgun Gothic"/>
                <a:ea typeface="Malgun Gothic"/>
                <a:cs typeface="Malgun Gothic"/>
              </a:rPr>
              <a:t>MCP · Graph DB · 멀티 에이전트 판단</a:t>
            </a:r>
          </a:p>
        </p:txBody>
      </p:sp>
      <p:sp>
        <p:nvSpPr>
          <p:cNvPr id="16" name="close-bottom">
            <a:extLst>
              <a:ext uri="{FF2B5EF4-FFF2-40B4-BE49-F238E27FC236}">
                <a16:creationId xmlns:a16="http://schemas.microsoft.com/office/drawing/2014/main" id="{520BE292-8A39-43F5-903B-0A0BEF870650}"/>
              </a:ext>
            </a:extLst>
          </p:cNvPr>
          <p:cNvSpPr>
            <a:spLocks noGrp="1"/>
          </p:cNvSpPr>
          <p:nvPr/>
        </p:nvSpPr>
        <p:spPr>
          <a:xfrm>
            <a:off x="457200" y="597217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도입 여부는 검색 정확도 · 운영 복잡도 · 검증 비용을 비교해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7041954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1674</Words>
  <Application>Microsoft Office PowerPoint</Application>
  <DocSecurity>0</DocSecurity>
  <PresentationFormat>와이드스크린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SKN 29기_3</cp:lastModifiedBy>
  <cp:revision>3</cp:revision>
  <dcterms:created xsi:type="dcterms:W3CDTF">2026-08-21T06:52:55Z</dcterms:created>
  <dcterms:modified xsi:type="dcterms:W3CDTF">2026-08-21T07:32:35Z</dcterms:modified>
</cp:coreProperties>
</file>