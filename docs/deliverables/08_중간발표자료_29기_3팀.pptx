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72" r:id="rId5"/>
    <p:sldId id="288" r:id="rId6"/>
    <p:sldId id="289" r:id="rId7"/>
    <p:sldId id="290" r:id="rId8"/>
    <p:sldId id="309" r:id="rId9"/>
    <p:sldId id="292" r:id="rId10"/>
    <p:sldId id="310" r:id="rId11"/>
    <p:sldId id="316" r:id="rId12"/>
    <p:sldId id="312" r:id="rId13"/>
    <p:sldId id="296" r:id="rId14"/>
    <p:sldId id="304" r:id="rId15"/>
    <p:sldId id="297" r:id="rId16"/>
    <p:sldId id="315" r:id="rId17"/>
    <p:sldId id="311" r:id="rId18"/>
    <p:sldId id="314" r:id="rId19"/>
    <p:sldId id="305" r:id="rId20"/>
    <p:sldId id="306" r:id="rId2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8FF0"/>
    <a:srgbClr val="8A94A3"/>
    <a:srgbClr val="C8CFD8"/>
    <a:srgbClr val="D7A64F"/>
    <a:srgbClr val="548DE9"/>
    <a:srgbClr val="FFFFFF"/>
    <a:srgbClr val="1C69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298B25-2A35-4D47-B054-6D2EAFFC79E9}" v="16" dt="2026-08-06T01:52:43.2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5157" autoAdjust="0"/>
  </p:normalViewPr>
  <p:slideViewPr>
    <p:cSldViewPr snapToGrid="0">
      <p:cViewPr varScale="1">
        <p:scale>
          <a:sx n="25" d="100"/>
          <a:sy n="25" d="100"/>
        </p:scale>
        <p:origin x="2386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3517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안녕하세요. 29기 3팀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FSD입니다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대화형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분석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리포팅 플랫폼의 주제로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만들고 있는 서비스는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Answervice입니다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설명부터 길게 드리기보다,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질문에 어떻게 답하는지 보시겠습니다.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시연 영상을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질문에서 시작해서,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탐색,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표와 차트,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근거 확인,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리포트 활용까지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흐름으로 이어집니다.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 시연에 사용하는 데이터는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복합 리조트 운영 환경을 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재현한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AI레디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데이터입니다.</a:t>
            </a:r>
          </a:p>
          <a:p>
            <a:endParaRPr 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정리된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 환경에서는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흐름이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원할하게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동작하지만,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기업 환경은 훨씬 복잡합니다.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검증 환경에서는 세 가지 흐름을 확인하고 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필요한 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어디에 있는지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찾는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 탐색입니다.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조회한 결과를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표와 차트로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결과 화면입니다.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사용한 데이터의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출처를 확인하는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근거 표시입니다.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정리된 AI 레디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환경에서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흐름을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확인한 단계이며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기업에서는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수와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종류, 권한과 업무 기준이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훨씬 복잡합니다.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정리된 데이터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열 개에서 하나를 찾는 것과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수많은 데이터에서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정확한 하나를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찾는 것은 전혀 다른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개뿐이라면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필요한 정보를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찾는 일은 비교적 단순합니다.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 개로 늘어나면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이야기가 달라집니다.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어느 시스템에 있는지,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항목이 맞는지,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서로 연결해도 되는지를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판단해야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중요한 원칙이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Garbage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가비지인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Garbage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가비지아웃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입력되는 데이터와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기준이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정리되지 않으면,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아무리 좋은 AI 모델을 사용해도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 답을 기대하기 어렵습니다.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문제는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모델만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바꾼다고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해결되지 않으며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올바른 데이터를 찾을 수 있는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환경이 먼저 필요합니다.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환경을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어렵게 만드는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대표적인 문제가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사일로입니다.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기업의 데이터는 보통 한곳에 모여 있지 않습니다.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들면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영업 데이터는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(포스트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그레스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큐엘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운영 데이터는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정보는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CRM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재무와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시설 데이터는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서로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 시스템에 있을 수 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부서와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시스템별로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나뉜 상태를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사일로라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문제는 단순히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 위치만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 것이 아닙니다.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형식이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다르고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업무에서 사용하는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기준도 다르고,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볼 수 있는 사람의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권한도 다릅니다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연결하려면,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항목을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기준으로 연결해야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하는지도 알아야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없는 것이 아니라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많이 있지만,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질문에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신뢰할 수 있는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답을 만드는 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어렵습니다.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바로 이 연결 과정에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초점을 맞췄습니다.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연결이 자동화되지 않으면,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사람은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보고서를 만들 때마다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과정을 반복하게 됩니다.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조직의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주간 보고서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만드는 과정을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예시로 들어보겠습니다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보고서를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만들기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부서를 거쳐야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영업과 운영,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고객관리부와 재무 부서에 자료를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취합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받는 파일도 하나의 형식이 아닙니다.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재무 팀만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들어도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ERP 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이미지로 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원장,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엑셀된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예산파일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CSV로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정리된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정산 자료,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PDF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세금계산서,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외부 API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카드내역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같이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형태가 서로 다릅니다.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작성하려면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자료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요청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취합하고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분석한 뒤,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값이 맞는지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검증하고,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보고서로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정리합니다.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과정이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끝나지 않는다는 점입니다.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유형의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 때마다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자료 요청부터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작성까지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비슷한 작업이 반복됩니다.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반복 업무를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줄이려면,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데이터의 위치와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의미를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정리해야 한다고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판단했습니다.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해결의 출발점으로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데이터카탈로그를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D0B0E-92E0-C2C5-508A-3C4EB316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3855D-8704-485B-C43A-4CB30D8A3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5D7434-1255-6F0C-A371-0544C3948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쉽게 말하면,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회사 데이터용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검색엔진입니다.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회사 안에는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영업,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운영, 고객,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재무,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시설 데이터가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서로 다른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시스템에 흩어져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분석하기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어디에 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어떤 의미인지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기준이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누가 볼 수 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무엇과 연결되는지를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알아야 합니다.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저희는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역활을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DataHub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도구를 사용합니다.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DataHub는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한곳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옮기거나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합치는 도구가 아닙니다.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 데이터는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그대로 두고,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쉽게 찾고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이해할 수 있도록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권한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 정보를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정리해 줍니다.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정보를 바탕으로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맞는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정확하게 찾아 분석합니다.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국내 여러 기업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회사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쉽게 찾고 활용하기 위해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구축하고 있습니다.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5A683-68F3-0722-D3E4-29ADEE59F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612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B46C-86B3-0D03-4611-8D63D91F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0B84F-43E3-0853-D2F3-66300D122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8B301-E663-63B0-3558-EA01C136D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국내 기업 사례를 살펴보면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공통된 방향을 확인할 수 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우아한형제들은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DataHub를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바탕으로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검색 화면과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 정보를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관리하는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방향을 선택했습니다.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쏘카는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DataHub와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Amundsen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(아문센)을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비교한 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검색 플랫폼을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구축했습니다.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뱅크샐러드는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개발자가 아니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더라도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쉽게 찾을 수 있는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환경을 만들고자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하였고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IBK기업은행은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 용어를 통합한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전사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사용하는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 포털을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구축했습니다.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회사의 구체적인 환경과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 방식은 다릅니다.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많은 조직일수록,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메타데이터를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업무에서 찾고 활용할 수 있게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만드는 것이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방향이라는 점은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확인할 수 있었습니다.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SK네트웍스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관계자분들에게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질문이 있습니다.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사전에 말씀 드린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IBK기업은행의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포털을 구축을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엔코아에서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했다는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기사를 접했습니다.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이와 같이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SK네트웍스에서도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사내 데이터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검색·활용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환경을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구축하고 있는지,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앞으로 검토할 계획이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있는지 궁금합니다.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공개 가능한 범위에서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혹시 Q&amp;A 시간에 답변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해주실수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있을까요?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저희 발표로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넘어가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이 구조를 검증할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환경으로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복합 리조트 운영 시나리오를 선택했습니다.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35A5D-46B2-2006-D495-465EFAF61C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5478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FA797-1D35-15AE-531E-D2B4C4B2C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174D5F-AE0D-FCDB-B29D-A0C7258C4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31B50-E060-9E5D-4735-1D7425FC4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SK네트웍스에는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정보통신과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호텔앤리조트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웰니스와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모빌리티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글로벌 트레이딩처럼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다양한 사업 영역이 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첫 검증 시나리오로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워커힐과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복합 리조트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운영 환경을 선택했습니다.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복합 리조트에는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다양한 데이터가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객실과 예약,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다이닝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멤버십과 고객,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시설 운영,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연회와 매출 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함께 존재합니다.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이 환경을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 개의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소스로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나눴습니다.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객실과 예약은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(포스트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그레스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큐엘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F&amp;B는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멤버십과 고객은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Server(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에스큐엘서버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시설 운영은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ClickHouse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연회와 매출은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별도의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(포스트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그레스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큐엘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구성했습니다.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 개의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이질적인 시스템과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종류의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 엔진을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연결하는 구조입니다.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생성은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호텔 데이터 관련 연구와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공개 스키마를 참고해 만든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AI레디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데이터입니다.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서로 다른 데이터 구조의 카탈로그로 설명하고,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맞게 연결해서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조회할 수 있는지를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검증하는 단계입니다.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D4C0B-6E6A-B15E-7753-5EB5687B7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083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기능은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가지입니다.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탐색입니다.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카탈로그를 통해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흩어진 데이터의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의미를 정리하고 찾습니다.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작성하는 대신,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맞는 데이터를 찾아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조회하고 분석합니다.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활용입니다.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결과만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보여주는 것이 아니라,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근거와 함께 제시하고,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결과를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사용할 수 있게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기대하는 효과는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찾는 시간을 줄이고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기준을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일정하게 관리하며,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업무에 판단할 수 있는 자료를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빠르게 제공하는 것입니다.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기능이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내부에서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순서로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연결되는지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질문을 입력하면,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시스템이 바로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그럴듯한 문장을 만들어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답하는 것은 아닙니다.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사용자는 질문합니다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단계는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 규칙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필요한 데이터가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어디에 있는지 찾고,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기준으로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분석해야 하는지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단계는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쿼리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생성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하고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 에이전트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쿼리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후보를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만들더라도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바로 실행하지 않고,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안전한 조회인지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확인하는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단계를 거칩니다.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번째 단계는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조회입니다.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 정보가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시스템에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나뉘어 있다면,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시스템의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연결해서 조회합니다.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 단계는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 정리와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 생성입니다.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수치는 표로 비교하고,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변화와 차이는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차트로 보여줍니다.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 사용한 데이터의 출처와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기준을 근거로 남기고,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리포트로 저장해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업무에 활용합니다.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흐름에서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중요한 점은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질문에 바로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답하는 것이 아니라,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위치와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 기준을 확인하고,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조회문을 검증한 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결과를 제공한다는 것입니다.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답의 생성 과정을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확인하고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신뢰성 있는 리포트를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있도록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개발하고 있습니다.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팀 역할은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박준희는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PM으로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일정과 업무 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결과물 통합을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맡고 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AI 레디 데이터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생성과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조회 환경을 담당합니다.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윤대성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자연어 질문 분석과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조회,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정확도 검증을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맡고 있습니다.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김재홍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백엔드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조회 결과 검증을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담당합니다.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송민지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프론트엔드를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맡고 있으며</a:t>
            </a:r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화면과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표·차트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출처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리포트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화면 구성을 담당하고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담당 영역은 나뉘어 있지만,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최종적으로는 하나의 서비스로 연결 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2A846-8E41-340E-FC5E-A53BD586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8E618-3535-9B9B-9D76-3A528CE9B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29554-771E-2267-22AF-8D31470FA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범위는 P0, P1, P2로 나눴습니다.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P0는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이번 프로젝트에서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반드시 연결해야 하는 핵심 기능입니다.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채팅 화면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 생성과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수동 실행,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이력 확인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연결 상태 확인을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포함합니다.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슬라이드의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체크 표시는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 환경에서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해당 화면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흐름을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확인했다는 의미입니다.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P1은 운영 기능입니다.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정기 보고서 생성,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외부 도구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 관리,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사내 지침 문서 검색이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포함됩니다.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현재는 일부 구현 중입니다.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P2는 추가 범위입니다.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카탈로그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관리 화면과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모델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도구 연동을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계획하고 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기능 수를 늘리는 것보다,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질문부터 근거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보고서 실행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까지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흐름을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안정적으로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연결하는 것을 우선하고 있습니다.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C92F2-3AFD-16F9-3DA0-BFFD0E66EA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00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점수는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내에서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자체적으로 점검한 결과입니다.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기획은 20점 중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12점,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구현은 30점 중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13점,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기술은 30점 중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22점으로,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합계는 80점 중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47점입니다.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확인된 강점은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가지입니다.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기획한 화면과 코드 구조가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방향을 따르고 있다는 점입니다.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둘째,</a:t>
            </a: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AI레디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 개 소스와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종류의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데이터베이스로 구성하고,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만들 수 있도록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시드를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관리했다는 점입니다.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부족한 점도 분명합니다.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경쟁 서비스와의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비교 자료가 충분하지 않고,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차별화 요소를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증명하지 못했습니다.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또한 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현재는 사용자 의사 평가는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진행하지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않았습니다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남은 기간에는 경쟁 비교 근거와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사용자 검증,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흐름의 안정성을 보완해야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마지막으로, 이 프로젝트가 어디까지 확장되는 것을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목표로 하는지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AC3BB-285D-FEA2-8B14-439D9FC36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20BB5-33E8-C82B-E22A-91EAFC65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7A378E-AB1F-B13E-5D9A-0197668B5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워커힐과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복합 리조트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환경을 재현한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AI레디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데이터로 검증하고 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최종 목표는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호텔 전용 서비스를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만드는 것이 아닙니다.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카탈로그와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근거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뒷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받침 하는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공통 엔진을 만들고,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사업 영역의 데이터와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업무 기준을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연결하는것이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목표입니다.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앞으로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정보통신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웰니스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모빌리티와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글로벌 트레이딩 등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 사업 영역에도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적용 가능한 구조인지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검증하려고 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워커힐과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복합 환경에서 시작해,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기업의 질문에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근거 있는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답을 제공하는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공통 분석 시스템으로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발전시키겠습니다.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나아가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 모든 그룹의 데이터를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앤서비스로 답하고 싶습니다.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기업의 질문에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서비스로 답하는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Answervice였습니다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경청해 주셔서 감사합니다. 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 받겠습니다.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B1062-C600-F8A7-593B-A3CFBBA6E0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69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F334F-0574-8CB0-E73D-FDFD1CFB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1505E7-5960-16B9-EC67-1DBF36BAD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2EC0-16C7-E00E-EA3E-F3F20AA48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F2EFB-B249-526F-E17E-060E367724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5139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71743-C666-6249-EFC2-F6AB5A2CD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2E5E6-2AB5-FA27-E1EB-E9BD1E169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C248B-6626-329E-CDE0-7F26CAF9FD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7FE31-BE31-25BE-9198-0F5B13342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6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microsoft.com/office/2007/relationships/hdphoto" Target="../media/hdphoto2.wdp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microsoft.com/office/2007/relationships/hdphoto" Target="../media/hdphoto1.wdp"/><Relationship Id="rId10" Type="http://schemas.openxmlformats.org/officeDocument/2006/relationships/image" Target="../media/image23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그림 67">
            <a:extLst>
              <a:ext uri="{FF2B5EF4-FFF2-40B4-BE49-F238E27FC236}">
                <a16:creationId xmlns:a16="http://schemas.microsoft.com/office/drawing/2014/main" id="{42F902DD-45AF-5B6A-5E19-E550F5B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" y="0"/>
            <a:ext cx="18278283" cy="10287000"/>
          </a:xfrm>
          <a:prstGeom prst="rect">
            <a:avLst/>
          </a:prstGeom>
        </p:spPr>
      </p:pic>
      <p:sp>
        <p:nvSpPr>
          <p:cNvPr id="44" name="Shape 42"/>
          <p:cNvSpPr/>
          <p:nvPr/>
        </p:nvSpPr>
        <p:spPr>
          <a:xfrm>
            <a:off x="0" y="7067145"/>
            <a:ext cx="18287543" cy="0"/>
          </a:xfrm>
          <a:prstGeom prst="line">
            <a:avLst/>
          </a:prstGeom>
          <a:noFill/>
          <a:ln w="63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 sz="2700">
              <a:latin typeface="Pretendard" panose="02000503000000020004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A4E12DC-7B94-0A72-20BC-067611950B3F}"/>
              </a:ext>
            </a:extLst>
          </p:cNvPr>
          <p:cNvSpPr>
            <a:spLocks noGrp="1"/>
          </p:cNvSpPr>
          <p:nvPr/>
        </p:nvSpPr>
        <p:spPr>
          <a:xfrm>
            <a:off x="689958" y="8304656"/>
            <a:ext cx="4953000" cy="31108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BBBBBB"/>
                </a:solidFill>
                <a:latin typeface="Pretendard"/>
                <a:ea typeface="Pretendard"/>
                <a:cs typeface="Pretendard"/>
              </a:defRPr>
            </a:pPr>
            <a:r>
              <a:rPr lang="af-ZA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SK</a:t>
            </a:r>
            <a:r>
              <a:rPr lang="ko-KR" altLang="en-US" sz="1600" b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네트웍스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af-ZA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Family AI 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캠프 </a:t>
            </a:r>
            <a:r>
              <a:rPr lang="en-US" altLang="ko-KR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29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 </a:t>
            </a:r>
            <a:r>
              <a:rPr lang="af-ZA"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FSD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087A230-801C-FCD4-27DF-E93D072EB9CA}"/>
              </a:ext>
            </a:extLst>
          </p:cNvPr>
          <p:cNvSpPr>
            <a:spLocks noGrp="1"/>
          </p:cNvSpPr>
          <p:nvPr/>
        </p:nvSpPr>
        <p:spPr>
          <a:xfrm>
            <a:off x="689958" y="8615743"/>
            <a:ext cx="495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BBBBBB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박준희 </a:t>
            </a:r>
            <a:r>
              <a:rPr lang="en-US" altLang="ko-KR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정승 </a:t>
            </a:r>
            <a:r>
              <a:rPr lang="en-US" altLang="ko-KR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윤대성 </a:t>
            </a:r>
            <a:r>
              <a:rPr lang="en-US" altLang="ko-KR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김재홍 </a:t>
            </a:r>
            <a:r>
              <a:rPr lang="en-US" altLang="ko-KR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송민지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A1263AC7-C150-5C0E-66DB-99A4AD6E5F81}"/>
              </a:ext>
            </a:extLst>
          </p:cNvPr>
          <p:cNvSpPr txBox="1"/>
          <p:nvPr/>
        </p:nvSpPr>
        <p:spPr>
          <a:xfrm>
            <a:off x="796638" y="3064175"/>
            <a:ext cx="7003154" cy="436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ko-KR" altLang="en-US" sz="2400" b="1" kern="0" spc="-84" dirty="0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대화형 데이터 분석 리포팅 플랫폼</a:t>
            </a:r>
            <a:endParaRPr lang="en-US" altLang="ko-KR" sz="2400" b="1" kern="0" spc="-84" dirty="0">
              <a:solidFill>
                <a:srgbClr val="FFFFFF"/>
              </a:solidFill>
              <a:latin typeface="Pretendard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adb015010a6618c98ffc9eaac1dab118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1371600" y="2533802"/>
            <a:ext cx="685800" cy="38405"/>
          </a:xfrm>
          <a:prstGeom prst="rect">
            <a:avLst/>
          </a:prstGeom>
        </p:spPr>
      </p:pic>
      <p:pic>
        <p:nvPicPr>
          <p:cNvPr id="5" name="Image 3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515807"/>
            <a:ext cx="15544800" cy="9144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02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1"/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8" name="Text 2"/>
          <p:cNvSpPr txBox="1"/>
          <p:nvPr/>
        </p:nvSpPr>
        <p:spPr>
          <a:xfrm>
            <a:off x="1371600" y="1676095"/>
            <a:ext cx="15544800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600" b="1" kern="0" spc="-12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Answervice</a:t>
            </a:r>
            <a:r>
              <a:rPr lang="ko-KR" altLang="en-US" sz="3600" b="1" kern="0" spc="-12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의</a:t>
            </a:r>
            <a:r>
              <a:rPr lang="en-US" sz="3600" b="1" kern="0" spc="-12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12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동작 과정</a:t>
            </a:r>
            <a:endParaRPr lang="en-US" sz="3600" b="1" kern="0" spc="-126">
              <a:solidFill>
                <a:srgbClr val="3E8FF0"/>
              </a:solidFill>
              <a:latin typeface="Pretendard" panose="02000503000000020004" pitchFamily="2" charset="-127"/>
              <a:ea typeface="Pretendard"/>
            </a:endParaRPr>
          </a:p>
        </p:txBody>
      </p:sp>
      <p:pic>
        <p:nvPicPr>
          <p:cNvPr id="9" name="Image 4" descr="gen-dedup-f21765b773b4a3fc56b62737bb48308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59503" y="4603530"/>
            <a:ext cx="720000" cy="720000"/>
          </a:xfrm>
          <a:prstGeom prst="rect">
            <a:avLst/>
          </a:prstGeom>
        </p:spPr>
      </p:pic>
      <p:pic>
        <p:nvPicPr>
          <p:cNvPr id="10" name="Image 5" descr="gen-dedup-17c24219e21fda4b5927974610f1c1e3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20621" y="4518644"/>
            <a:ext cx="720000" cy="720000"/>
          </a:xfrm>
          <a:prstGeom prst="rect">
            <a:avLst/>
          </a:prstGeom>
        </p:spPr>
      </p:pic>
      <p:pic>
        <p:nvPicPr>
          <p:cNvPr id="11" name="Image 6" descr="gen-dedup-0907fb624a4c8d904a6fe376f30f19b6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88661" y="4423500"/>
            <a:ext cx="720000" cy="720000"/>
          </a:xfrm>
          <a:prstGeom prst="rect">
            <a:avLst/>
          </a:prstGeom>
        </p:spPr>
      </p:pic>
      <p:pic>
        <p:nvPicPr>
          <p:cNvPr id="12" name="Image 7" descr="gen-dedup-def9157f38155c0803196f2b37361ff6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79339" y="4514849"/>
            <a:ext cx="720000" cy="720000"/>
          </a:xfrm>
          <a:prstGeom prst="rect">
            <a:avLst/>
          </a:prstGeom>
        </p:spPr>
      </p:pic>
      <p:pic>
        <p:nvPicPr>
          <p:cNvPr id="13" name="Image 8" descr="gen-dedup-07bacef7802ee111e567b574badcefd7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2670017" y="4514849"/>
            <a:ext cx="720000" cy="720000"/>
          </a:xfrm>
          <a:prstGeom prst="rect">
            <a:avLst/>
          </a:prstGeom>
        </p:spPr>
      </p:pic>
      <p:pic>
        <p:nvPicPr>
          <p:cNvPr id="14" name="Image 9" descr="gen-dedup-ebbefb457d8b3bdb83f88ad419a0f8a0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5260695" y="4508791"/>
            <a:ext cx="720000" cy="720000"/>
          </a:xfrm>
          <a:prstGeom prst="rect">
            <a:avLst/>
          </a:prstGeom>
        </p:spPr>
      </p:pic>
      <p:sp>
        <p:nvSpPr>
          <p:cNvPr id="15" name="Text 3"/>
          <p:cNvSpPr txBox="1"/>
          <p:nvPr/>
        </p:nvSpPr>
        <p:spPr>
          <a:xfrm>
            <a:off x="1346028" y="5700254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16" name="Text 4"/>
          <p:cNvSpPr txBox="1"/>
          <p:nvPr/>
        </p:nvSpPr>
        <p:spPr>
          <a:xfrm>
            <a:off x="4025661" y="5723709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3600" b="1" kern="0" spc="-6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17" name="Text 5"/>
          <p:cNvSpPr txBox="1"/>
          <p:nvPr/>
        </p:nvSpPr>
        <p:spPr>
          <a:xfrm>
            <a:off x="6753255" y="5700254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18" name="Text 6"/>
          <p:cNvSpPr txBox="1"/>
          <p:nvPr/>
        </p:nvSpPr>
        <p:spPr>
          <a:xfrm>
            <a:off x="9349606" y="5700254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· </a:t>
            </a: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19" name="Text 7"/>
          <p:cNvSpPr txBox="1"/>
          <p:nvPr/>
        </p:nvSpPr>
        <p:spPr>
          <a:xfrm>
            <a:off x="11887017" y="5700254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20" name="Text 8"/>
          <p:cNvSpPr txBox="1"/>
          <p:nvPr/>
        </p:nvSpPr>
        <p:spPr>
          <a:xfrm>
            <a:off x="14477695" y="5700254"/>
            <a:ext cx="2286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65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1346028" y="8853220"/>
            <a:ext cx="15544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자연어로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질문하면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필요한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데이터를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찾고</a:t>
            </a:r>
            <a:r>
              <a:rPr lang="en-US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,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분석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결과와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근거를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보여주고</a:t>
            </a:r>
            <a:r>
              <a:rPr lang="en-US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,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리포트까지</a:t>
            </a:r>
            <a:r>
              <a:rPr lang="en-US" altLang="ko-KR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16" err="1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연결합니다</a:t>
            </a:r>
            <a:r>
              <a:rPr lang="en-US" sz="2400" kern="0" spc="-16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.</a:t>
            </a:r>
            <a:endParaRPr lang="en-US" sz="2400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29" name="Text 17"/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16</a:t>
            </a:r>
            <a:endParaRPr lang="en-US" sz="1050">
              <a:latin typeface="Pretendard" panose="02000503000000020004" pitchFamily="2" charset="-12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7654B1-B757-2766-3D68-200D1F3944F1}"/>
              </a:ext>
            </a:extLst>
          </p:cNvPr>
          <p:cNvCxnSpPr/>
          <p:nvPr/>
        </p:nvCxnSpPr>
        <p:spPr>
          <a:xfrm>
            <a:off x="3322196" y="4866288"/>
            <a:ext cx="861918" cy="492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8DF7D5E-BCF6-DF23-7683-FC0E3988AE1F}"/>
              </a:ext>
            </a:extLst>
          </p:cNvPr>
          <p:cNvCxnSpPr>
            <a:cxnSpLocks/>
          </p:cNvCxnSpPr>
          <p:nvPr/>
        </p:nvCxnSpPr>
        <p:spPr>
          <a:xfrm>
            <a:off x="5965246" y="4866288"/>
            <a:ext cx="861918" cy="492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D10D16-09D2-770D-0465-B6216390A3BC}"/>
              </a:ext>
            </a:extLst>
          </p:cNvPr>
          <p:cNvCxnSpPr>
            <a:cxnSpLocks/>
          </p:cNvCxnSpPr>
          <p:nvPr/>
        </p:nvCxnSpPr>
        <p:spPr>
          <a:xfrm>
            <a:off x="8608296" y="4866288"/>
            <a:ext cx="861918" cy="492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7758EEB-20C0-0B84-40A6-2C58DC334A03}"/>
              </a:ext>
            </a:extLst>
          </p:cNvPr>
          <p:cNvCxnSpPr>
            <a:cxnSpLocks/>
          </p:cNvCxnSpPr>
          <p:nvPr/>
        </p:nvCxnSpPr>
        <p:spPr>
          <a:xfrm>
            <a:off x="11251346" y="4866288"/>
            <a:ext cx="861918" cy="492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1449B0C-860D-074D-59B6-4562CC14A106}"/>
              </a:ext>
            </a:extLst>
          </p:cNvPr>
          <p:cNvCxnSpPr>
            <a:cxnSpLocks/>
          </p:cNvCxnSpPr>
          <p:nvPr/>
        </p:nvCxnSpPr>
        <p:spPr>
          <a:xfrm>
            <a:off x="13894397" y="4866288"/>
            <a:ext cx="861918" cy="492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adb015010a6618c98ffc9eaac1dab118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1371600" y="2343607"/>
            <a:ext cx="685800" cy="38405"/>
          </a:xfrm>
          <a:prstGeom prst="rect">
            <a:avLst/>
          </a:prstGeom>
        </p:spPr>
      </p:pic>
      <p:pic>
        <p:nvPicPr>
          <p:cNvPr id="5" name="Image 3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7981798"/>
            <a:ext cx="15544800" cy="9144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03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1"/>
          <p:cNvSpPr txBox="1"/>
          <p:nvPr/>
        </p:nvSpPr>
        <p:spPr>
          <a:xfrm>
            <a:off x="12154205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되는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것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9" name="Text 3"/>
          <p:cNvSpPr txBox="1"/>
          <p:nvPr/>
        </p:nvSpPr>
        <p:spPr>
          <a:xfrm>
            <a:off x="8305495" y="3143707"/>
            <a:ext cx="861090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4050" b="1" kern="0" spc="-162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데모 시스템은 쉽게 작동</a:t>
            </a:r>
            <a:endParaRPr lang="en-US" sz="4050" b="1" kern="0" spc="-162">
              <a:solidFill>
                <a:srgbClr val="FFFFFF"/>
              </a:solidFill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8305495" y="4800600"/>
            <a:ext cx="8610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294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</a:t>
            </a:r>
            <a:r>
              <a:rPr lang="en-US" sz="2400" b="1" kern="0" spc="294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294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r>
              <a:rPr lang="en-US" sz="2400" b="1" kern="0" spc="294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294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환경에서</a:t>
            </a:r>
            <a:r>
              <a:rPr lang="en-US" sz="2400" b="1" kern="0" spc="294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294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되는</a:t>
            </a:r>
            <a:r>
              <a:rPr lang="en-US" sz="2400" b="1" kern="0" spc="294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것</a:t>
            </a:r>
            <a:endParaRPr lang="en-US" sz="2400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11" name="Shape 5"/>
          <p:cNvSpPr/>
          <p:nvPr/>
        </p:nvSpPr>
        <p:spPr>
          <a:xfrm>
            <a:off x="8305495" y="5219395"/>
            <a:ext cx="2743200" cy="1429207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2" name="Shape 6"/>
          <p:cNvSpPr/>
          <p:nvPr/>
        </p:nvSpPr>
        <p:spPr>
          <a:xfrm>
            <a:off x="8305495" y="5219395"/>
            <a:ext cx="27432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553298" y="5495544"/>
            <a:ext cx="22485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2400" b="1" kern="0" spc="-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8553298" y="5920740"/>
            <a:ext cx="224851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</a:t>
            </a:r>
            <a:r>
              <a:rPr lang="en-US" kern="0" spc="-18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있는지</a:t>
            </a:r>
            <a:endParaRPr lang="en-US">
              <a:solidFill>
                <a:srgbClr val="FFFFFF"/>
              </a:solidFill>
              <a:latin typeface="Pretendard" panose="02000503000000020004" pitchFamily="2" charset="-127"/>
            </a:endParaRPr>
          </a:p>
          <a:p>
            <a:pPr marL="0" indent="0" algn="l">
              <a:lnSpc>
                <a:spcPts val="1800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알아냅니다</a:t>
            </a:r>
            <a:endParaRPr lang="en-US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11239805" y="5219395"/>
            <a:ext cx="2743200" cy="1429207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11239805" y="5219395"/>
            <a:ext cx="27432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11487607" y="5495544"/>
            <a:ext cx="22485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sz="2400" b="1" kern="0" spc="-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11487607" y="5920740"/>
            <a:ext cx="224851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표와</a:t>
            </a:r>
            <a:r>
              <a:rPr lang="en-US" kern="0" spc="-18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차트로</a:t>
            </a:r>
            <a:endParaRPr lang="en-US">
              <a:solidFill>
                <a:srgbClr val="FFFFFF"/>
              </a:solidFill>
              <a:latin typeface="Pretendard" panose="02000503000000020004" pitchFamily="2" charset="-127"/>
            </a:endParaRPr>
          </a:p>
          <a:p>
            <a:pPr marL="0" indent="0" algn="l">
              <a:lnSpc>
                <a:spcPts val="1800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정리합니다</a:t>
            </a:r>
            <a:endParaRPr lang="en-US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14173200" y="5219395"/>
            <a:ext cx="2743200" cy="1429207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14173200" y="5219395"/>
            <a:ext cx="27432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14421002" y="5495544"/>
            <a:ext cx="22485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r>
              <a:rPr lang="en-US" sz="2400" b="1" kern="0" spc="-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표시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14421002" y="5920740"/>
            <a:ext cx="224851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출처를</a:t>
            </a:r>
            <a:endParaRPr lang="en-US">
              <a:solidFill>
                <a:srgbClr val="FFFFFF"/>
              </a:solidFill>
              <a:latin typeface="Pretendard"/>
            </a:endParaRP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kern="0" spc="-18">
                <a:solidFill>
                  <a:srgbClr val="FFFFFF"/>
                </a:solidFill>
                <a:latin typeface="Pretendard"/>
                <a:ea typeface="맑은 고딕"/>
              </a:rPr>
              <a:t>확인합니다</a:t>
            </a:r>
            <a:endParaRPr lang="en-US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1371600" y="8438998"/>
            <a:ext cx="12382805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400" b="1" kern="0" spc="-13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하지만</a:t>
            </a:r>
            <a:r>
              <a:rPr lang="en-US" sz="2400" b="1" kern="0" spc="-13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13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실제</a:t>
            </a:r>
            <a:r>
              <a:rPr lang="en-US" sz="2400" b="1" kern="0" spc="-13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b="1" kern="0" spc="-13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기업</a:t>
            </a:r>
            <a:r>
              <a:rPr lang="en-US" sz="2400" b="1" kern="0" spc="-13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13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환경은</a:t>
            </a:r>
            <a:r>
              <a:rPr lang="en-US" sz="2400" b="1" kern="0" spc="-13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13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다릅니다</a:t>
            </a:r>
            <a:r>
              <a:rPr lang="en-US" sz="2400" b="1" kern="0" spc="-13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.</a:t>
            </a:r>
            <a:endParaRPr lang="en-US" sz="2400">
              <a:latin typeface="Pretendard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16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BA890095-271E-BF84-78F9-3E87CE18E96D}"/>
              </a:ext>
            </a:extLst>
          </p:cNvPr>
          <p:cNvSpPr txBox="1"/>
          <p:nvPr/>
        </p:nvSpPr>
        <p:spPr>
          <a:xfrm>
            <a:off x="1371600" y="1676095"/>
            <a:ext cx="15544800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정리된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환경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기반으로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대화형</a:t>
            </a:r>
            <a:r>
              <a:rPr lang="en-US" altLang="ko-KR" sz="3600" b="1" kern="0" spc="-7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분석</a:t>
            </a:r>
            <a:endParaRPr lang="en-US" altLang="ko-KR" sz="3600" b="1" kern="0" spc="-76" err="1">
              <a:solidFill>
                <a:srgbClr val="FFFFFF"/>
              </a:solidFill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4F126E-6D09-36E5-BBCF-9C947153B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835" y="3143707"/>
            <a:ext cx="6987550" cy="34766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4" name="Image 2" descr="gen-dedup-f38056aeb5fce5f0d0aabb3f4a680338.png"/>
          <p:cNvPicPr>
            <a:picLocks noChangeAspect="1"/>
          </p:cNvPicPr>
          <p:nvPr/>
        </p:nvPicPr>
        <p:blipFill>
          <a:blip r:embed="rId4"/>
          <a:srcRect t="-2083" b="-2083"/>
          <a:stretch/>
        </p:blipFill>
        <p:spPr>
          <a:xfrm>
            <a:off x="7931064" y="2609698"/>
            <a:ext cx="9144" cy="4591202"/>
          </a:xfrm>
          <a:prstGeom prst="rect">
            <a:avLst/>
          </a:prstGeom>
        </p:spPr>
      </p:pic>
      <p:pic>
        <p:nvPicPr>
          <p:cNvPr id="6" name="Image 4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7733995"/>
            <a:ext cx="15544800" cy="9144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04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8" name="Text 1"/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10" name="Text 3"/>
          <p:cNvSpPr txBox="1"/>
          <p:nvPr/>
        </p:nvSpPr>
        <p:spPr>
          <a:xfrm>
            <a:off x="1371600" y="2609698"/>
            <a:ext cx="6286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900" b="1" kern="0" spc="-3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</a:t>
            </a:r>
            <a:endParaRPr lang="en-US" sz="6900">
              <a:latin typeface="Pretendard" panose="02000503000000020004" pitchFamily="2" charset="-127"/>
            </a:endParaRPr>
          </a:p>
        </p:txBody>
      </p:sp>
      <p:sp>
        <p:nvSpPr>
          <p:cNvPr id="12" name="Text 5"/>
          <p:cNvSpPr txBox="1"/>
          <p:nvPr/>
        </p:nvSpPr>
        <p:spPr>
          <a:xfrm>
            <a:off x="7203375" y="4564574"/>
            <a:ext cx="1249371" cy="1150332"/>
          </a:xfrm>
          <a:prstGeom prst="rect">
            <a:avLst/>
          </a:prstGeom>
          <a:solidFill>
            <a:srgbClr val="05070C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400" kern="0" spc="-18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≠</a:t>
            </a:r>
            <a:endParaRPr lang="en-US" sz="4400"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13" name="Text 6"/>
          <p:cNvSpPr txBox="1"/>
          <p:nvPr/>
        </p:nvSpPr>
        <p:spPr>
          <a:xfrm>
            <a:off x="9258300" y="2609698"/>
            <a:ext cx="76581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900" b="1" kern="0" spc="-3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10,000개</a:t>
            </a:r>
            <a:endParaRPr lang="en-US" sz="6900">
              <a:latin typeface="Pretendard" panose="02000503000000020004" pitchFamily="2" charset="-127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371600" y="8153705"/>
            <a:ext cx="15544800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115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Garbage In, Garbage Out</a:t>
            </a:r>
            <a:endParaRPr lang="en-US" sz="2400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371600" y="8858707"/>
            <a:ext cx="1554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기준과 의미가 정리되지</a:t>
            </a:r>
            <a:r>
              <a:rPr lang="en-US" sz="2400" b="1" kern="0" spc="-76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않</a:t>
            </a:r>
            <a:r>
              <a:rPr lang="en-US" sz="2400" b="1" kern="0" spc="-76" err="1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은</a:t>
            </a:r>
            <a:r>
              <a:rPr lang="en-US" sz="2400" b="1" kern="0" spc="-76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데이터에</a:t>
            </a:r>
            <a:r>
              <a:rPr lang="en-US" sz="2400" b="1" kern="0" spc="-76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서는</a:t>
            </a:r>
            <a:r>
              <a:rPr lang="en-US" sz="2400" b="1" kern="0" spc="-76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좋은</a:t>
            </a:r>
            <a:r>
              <a:rPr lang="en-US" sz="2400" b="1" kern="0" spc="-76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AI도</a:t>
            </a:r>
            <a:r>
              <a:rPr lang="en-US" sz="2400" b="1" kern="0" spc="-76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좋은</a:t>
            </a:r>
            <a:r>
              <a:rPr lang="en-US" sz="2400" b="1" kern="0" spc="-76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답을</a:t>
            </a:r>
            <a:r>
              <a:rPr lang="en-US" sz="2400" b="1" kern="0" spc="-76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만들기</a:t>
            </a:r>
            <a:r>
              <a:rPr lang="en-US" sz="2400" b="1" kern="0" spc="-76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6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어렵습니다</a:t>
            </a:r>
            <a:r>
              <a:rPr lang="en-US" sz="2400" b="1" kern="0" spc="-76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.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</p:txBody>
      </p:sp>
      <p:pic>
        <p:nvPicPr>
          <p:cNvPr id="19" name="Image 1" descr="gen-dedup-adb015010a6618c98ffc9eaac1dab118.png">
            <a:extLst>
              <a:ext uri="{FF2B5EF4-FFF2-40B4-BE49-F238E27FC236}">
                <a16:creationId xmlns:a16="http://schemas.microsoft.com/office/drawing/2014/main" id="{322F29F1-EABD-1826-04C9-9E1281A7A7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00" b="-400"/>
          <a:stretch/>
        </p:blipFill>
        <p:spPr>
          <a:xfrm>
            <a:off x="1371600" y="2343607"/>
            <a:ext cx="685800" cy="3840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6340A529-B85D-037B-7829-C022922913D5}"/>
              </a:ext>
            </a:extLst>
          </p:cNvPr>
          <p:cNvSpPr txBox="1"/>
          <p:nvPr/>
        </p:nvSpPr>
        <p:spPr>
          <a:xfrm>
            <a:off x="1371600" y="1676095"/>
            <a:ext cx="15544800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10개 중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하나를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찾는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것과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10,000개 중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하나를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찾는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것의</a:t>
            </a:r>
            <a:r>
              <a:rPr lang="en-US" altLang="ko-KR" sz="36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차이</a:t>
            </a:r>
            <a:endParaRPr lang="en-US" altLang="ko-KR" sz="3600" b="1" kern="0" spc="-72" err="1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31F85-3C97-1A19-3905-4B3CFA4FBFD7}"/>
              </a:ext>
            </a:extLst>
          </p:cNvPr>
          <p:cNvSpPr txBox="1"/>
          <p:nvPr/>
        </p:nvSpPr>
        <p:spPr>
          <a:xfrm>
            <a:off x="9116909" y="7136900"/>
            <a:ext cx="5925252" cy="3398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3EE05-37E7-2769-1ED5-CEA2A5716BEC}"/>
              </a:ext>
            </a:extLst>
          </p:cNvPr>
          <p:cNvSpPr txBox="1"/>
          <p:nvPr/>
        </p:nvSpPr>
        <p:spPr>
          <a:xfrm>
            <a:off x="9117804" y="6974305"/>
            <a:ext cx="7545989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>
                <a:solidFill>
                  <a:srgbClr val="9AA4B2"/>
                </a:solidFill>
                <a:ea typeface="+mn-lt"/>
                <a:cs typeface="+mn-lt"/>
              </a:rPr>
              <a:t>어느</a:t>
            </a:r>
            <a:r>
              <a:rPr lang="ko-KR" sz="2000">
                <a:solidFill>
                  <a:srgbClr val="9AA4B2"/>
                </a:solidFill>
                <a:ea typeface="+mn-lt"/>
                <a:cs typeface="+mn-lt"/>
              </a:rPr>
              <a:t> </a:t>
            </a:r>
            <a:r>
              <a:rPr lang="ko-KR" altLang="en-US" sz="2000">
                <a:solidFill>
                  <a:srgbClr val="9AA4B2"/>
                </a:solidFill>
                <a:ea typeface="+mn-lt"/>
                <a:cs typeface="+mn-lt"/>
              </a:rPr>
              <a:t>시스템</a:t>
            </a:r>
            <a:r>
              <a:rPr lang="ko-KR" sz="2000">
                <a:solidFill>
                  <a:srgbClr val="9AA4B2"/>
                </a:solidFill>
                <a:ea typeface="+mn-lt"/>
                <a:cs typeface="+mn-lt"/>
              </a:rPr>
              <a:t> </a:t>
            </a:r>
            <a:r>
              <a:rPr lang="ko-KR" altLang="en-US" sz="2000">
                <a:solidFill>
                  <a:srgbClr val="9AA4B2"/>
                </a:solidFill>
                <a:ea typeface="+mn-lt"/>
                <a:cs typeface="+mn-lt"/>
              </a:rPr>
              <a:t> 어떤 표  어떤 기준으로 연결해야 하는지</a:t>
            </a:r>
          </a:p>
          <a:p>
            <a:r>
              <a:rPr lang="ko-KR" altLang="en-US" sz="2400">
                <a:solidFill>
                  <a:srgbClr val="3E8FF0"/>
                </a:solidFill>
                <a:ea typeface="+mn-lt"/>
                <a:cs typeface="+mn-lt"/>
              </a:rPr>
              <a:t>AI도 판단하기 어려워집니다.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7B10DA4-CE30-CBFD-5F97-3BCC0BEC19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47" y="3694042"/>
            <a:ext cx="5665305" cy="424069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D322C022-D458-11CC-0230-42579D18F5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349" t="2985" r="-249" b="13916"/>
          <a:stretch>
            <a:fillRect/>
          </a:stretch>
        </p:blipFill>
        <p:spPr>
          <a:xfrm>
            <a:off x="8960103" y="3698106"/>
            <a:ext cx="6241839" cy="3196980"/>
          </a:xfrm>
          <a:prstGeom prst="rect">
            <a:avLst/>
          </a:prstGeom>
        </p:spPr>
      </p:pic>
      <p:sp>
        <p:nvSpPr>
          <p:cNvPr id="5" name="Text 17">
            <a:extLst>
              <a:ext uri="{FF2B5EF4-FFF2-40B4-BE49-F238E27FC236}">
                <a16:creationId xmlns:a16="http://schemas.microsoft.com/office/drawing/2014/main" id="{DC82DABE-85EC-1779-4189-4499266ADE05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04 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4" name="Image 2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7315200"/>
            <a:ext cx="15544800" cy="914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05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6" name="Text 1"/>
          <p:cNvSpPr txBox="1"/>
          <p:nvPr/>
        </p:nvSpPr>
        <p:spPr>
          <a:xfrm>
            <a:off x="12154205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사일로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2"/>
          <p:cNvSpPr txBox="1"/>
          <p:nvPr/>
        </p:nvSpPr>
        <p:spPr>
          <a:xfrm>
            <a:off x="1371601" y="1676096"/>
            <a:ext cx="13335611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600" b="1" kern="0" spc="-77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sz="3600" b="1" kern="0" spc="-77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3600" b="1" kern="0" spc="-77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사일로</a:t>
            </a:r>
            <a:r>
              <a:rPr lang="en-US" sz="3600" b="1" kern="0" spc="-77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7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문제</a:t>
            </a:r>
            <a:endParaRPr lang="en-US" sz="3600"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8" name="Text 3"/>
          <p:cNvSpPr txBox="1"/>
          <p:nvPr/>
        </p:nvSpPr>
        <p:spPr>
          <a:xfrm>
            <a:off x="1371601" y="2266799"/>
            <a:ext cx="13335611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기업</a:t>
            </a:r>
            <a:r>
              <a:rPr 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데이터는</a:t>
            </a:r>
            <a:r>
              <a:rPr 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여러</a:t>
            </a:r>
            <a:r>
              <a:rPr lang="en-US" altLang="ko-KR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부서와</a:t>
            </a:r>
            <a:r>
              <a:rPr 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시스템에 흩어져</a:t>
            </a:r>
            <a:r>
              <a:rPr 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있습니다</a:t>
            </a:r>
            <a:r>
              <a:rPr lang="en-US" sz="24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.</a:t>
            </a:r>
            <a:endParaRPr lang="en-US" sz="2400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5CE40948-C2F9-C021-6AED-DBA3F0EB389E}"/>
              </a:ext>
            </a:extLst>
          </p:cNvPr>
          <p:cNvSpPr txBox="1"/>
          <p:nvPr/>
        </p:nvSpPr>
        <p:spPr>
          <a:xfrm>
            <a:off x="1470187" y="5933543"/>
            <a:ext cx="2286000" cy="705002"/>
          </a:xfrm>
          <a:prstGeom prst="rect">
            <a:avLst/>
          </a:prstGeom>
          <a:solidFill>
            <a:srgbClr val="0A0F16"/>
          </a:solidFill>
          <a:ln w="12700">
            <a:solidFill>
              <a:srgbClr val="243244"/>
            </a:solidFill>
          </a:ln>
        </p:spPr>
        <p:txBody>
          <a:bodyPr wrap="none" lIns="0" tIns="215900" rIns="0" bIns="215900" rtlCol="0" anchor="ctr"/>
          <a:lstStyle/>
          <a:p>
            <a:pPr algn="ctr"/>
            <a:r>
              <a:rPr lang="ko-KR" altLang="ko-KR" sz="2400" b="1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PostgreSQL</a:t>
            </a:r>
            <a:r>
              <a:rPr lang="ko-KR" altLang="ko-KR" sz="2400">
                <a:latin typeface="Pretendard" panose="02000503000000020004" pitchFamily="2" charset="-127"/>
              </a:rPr>
              <a:t> </a:t>
            </a:r>
            <a:endParaRPr lang="en-US" sz="240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71A824BA-2E0B-4E26-3013-08717FCD214A}"/>
              </a:ext>
            </a:extLst>
          </p:cNvPr>
          <p:cNvSpPr txBox="1"/>
          <p:nvPr/>
        </p:nvSpPr>
        <p:spPr>
          <a:xfrm>
            <a:off x="5121999" y="5947717"/>
            <a:ext cx="1772108" cy="705002"/>
          </a:xfrm>
          <a:prstGeom prst="rect">
            <a:avLst/>
          </a:prstGeom>
          <a:solidFill>
            <a:srgbClr val="0A0F16"/>
          </a:solidFill>
          <a:ln w="12700">
            <a:solidFill>
              <a:srgbClr val="243244"/>
            </a:solidFill>
          </a:ln>
        </p:spPr>
        <p:txBody>
          <a:bodyPr wrap="none" lIns="0" tIns="215900" rIns="0" bIns="215900" rtlCol="0" anchor="ctr"/>
          <a:lstStyle/>
          <a:p>
            <a:pPr algn="ctr"/>
            <a:r>
              <a:rPr lang="ko-KR" altLang="ko-KR" sz="2400" b="1" err="1">
                <a:solidFill>
                  <a:schemeClr val="bg1"/>
                </a:solidFill>
                <a:latin typeface="Pretendard" panose="02000503000000020004" pitchFamily="2" charset="-127"/>
              </a:rPr>
              <a:t>MySQL</a:t>
            </a:r>
            <a:r>
              <a:rPr lang="ko-KR" altLang="ko-KR" sz="2400" b="1">
                <a:solidFill>
                  <a:schemeClr val="bg1"/>
                </a:solidFill>
                <a:latin typeface="Pretendard" panose="02000503000000020004" pitchFamily="2" charset="-127"/>
              </a:rPr>
              <a:t> </a:t>
            </a:r>
            <a:endParaRPr lang="en-US" sz="2400" b="1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A6ACDBA5-849B-1CE2-AFC3-DCD0EBD018B4}"/>
              </a:ext>
            </a:extLst>
          </p:cNvPr>
          <p:cNvSpPr txBox="1"/>
          <p:nvPr/>
        </p:nvSpPr>
        <p:spPr>
          <a:xfrm>
            <a:off x="8259919" y="5947717"/>
            <a:ext cx="1772108" cy="705002"/>
          </a:xfrm>
          <a:prstGeom prst="rect">
            <a:avLst/>
          </a:prstGeom>
          <a:solidFill>
            <a:srgbClr val="0A0F16"/>
          </a:solidFill>
          <a:ln w="12700">
            <a:solidFill>
              <a:srgbClr val="243244"/>
            </a:solidFill>
          </a:ln>
        </p:spPr>
        <p:txBody>
          <a:bodyPr wrap="none" lIns="0" tIns="215900" rIns="0" bIns="215900" rtlCol="0" anchor="ctr"/>
          <a:lstStyle/>
          <a:p>
            <a:pPr algn="ctr"/>
            <a:r>
              <a:rPr lang="ko-KR" altLang="ko-KR" sz="2400" b="1">
                <a:solidFill>
                  <a:schemeClr val="bg1"/>
                </a:solidFill>
                <a:latin typeface="Pretendard" panose="02000503000000020004" pitchFamily="2" charset="-127"/>
              </a:rPr>
              <a:t>CRM </a:t>
            </a:r>
            <a:endParaRPr lang="en-US" sz="2400" b="1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C7FC5917-3D94-1B81-B55F-651C10259FBA}"/>
              </a:ext>
            </a:extLst>
          </p:cNvPr>
          <p:cNvSpPr txBox="1"/>
          <p:nvPr/>
        </p:nvSpPr>
        <p:spPr>
          <a:xfrm>
            <a:off x="11397839" y="5933543"/>
            <a:ext cx="1772108" cy="705002"/>
          </a:xfrm>
          <a:prstGeom prst="rect">
            <a:avLst/>
          </a:prstGeom>
          <a:solidFill>
            <a:srgbClr val="0A0F16"/>
          </a:solidFill>
          <a:ln w="12700">
            <a:solidFill>
              <a:srgbClr val="243244"/>
            </a:solidFill>
          </a:ln>
        </p:spPr>
        <p:txBody>
          <a:bodyPr wrap="none" lIns="0" tIns="215900" rIns="0" bIns="215900" rtlCol="0" anchor="ctr"/>
          <a:lstStyle/>
          <a:p>
            <a:pPr algn="ctr"/>
            <a:r>
              <a:rPr lang="ko-KR" altLang="ko-KR" sz="2400" b="1">
                <a:solidFill>
                  <a:schemeClr val="bg1"/>
                </a:solidFill>
                <a:latin typeface="Pretendard" panose="02000503000000020004" pitchFamily="2" charset="-127"/>
              </a:rPr>
              <a:t>Oracle </a:t>
            </a:r>
            <a:endParaRPr lang="en-US" sz="2400" b="1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A2A7EDA1-3C84-D598-6DAF-C25B7E5C1B66}"/>
              </a:ext>
            </a:extLst>
          </p:cNvPr>
          <p:cNvSpPr txBox="1"/>
          <p:nvPr/>
        </p:nvSpPr>
        <p:spPr>
          <a:xfrm>
            <a:off x="14535759" y="5918562"/>
            <a:ext cx="1995967" cy="705002"/>
          </a:xfrm>
          <a:prstGeom prst="rect">
            <a:avLst/>
          </a:prstGeom>
          <a:solidFill>
            <a:srgbClr val="0A0F16"/>
          </a:solidFill>
          <a:ln w="12700">
            <a:solidFill>
              <a:srgbClr val="243244"/>
            </a:solidFill>
          </a:ln>
        </p:spPr>
        <p:txBody>
          <a:bodyPr wrap="none" lIns="0" tIns="215900" rIns="0" bIns="215900" rtlCol="0" anchor="ctr"/>
          <a:lstStyle/>
          <a:p>
            <a:pPr algn="ctr"/>
            <a:r>
              <a:rPr lang="ko-KR" altLang="ko-KR" sz="2400" b="1" err="1">
                <a:solidFill>
                  <a:schemeClr val="bg1"/>
                </a:solidFill>
                <a:latin typeface="Pretendard" panose="02000503000000020004" pitchFamily="2" charset="-127"/>
              </a:rPr>
              <a:t>ClickHouse</a:t>
            </a:r>
            <a:r>
              <a:rPr lang="ko-KR" altLang="ko-KR" sz="2400" b="1">
                <a:solidFill>
                  <a:schemeClr val="bg1"/>
                </a:solidFill>
                <a:latin typeface="Pretendard" panose="02000503000000020004" pitchFamily="2" charset="-127"/>
              </a:rPr>
              <a:t> </a:t>
            </a:r>
            <a:endParaRPr lang="en-US" sz="2400" b="1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3" name="Picture 22" descr="sil_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6408" y="3759720"/>
            <a:ext cx="630936" cy="630936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4" name="TextBox 23"/>
          <p:cNvSpPr txBox="1"/>
          <p:nvPr/>
        </p:nvSpPr>
        <p:spPr>
          <a:xfrm>
            <a:off x="2119335" y="4555248"/>
            <a:ext cx="1005083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ko-KR" altLang="en-US" sz="1500">
                <a:solidFill>
                  <a:srgbClr val="FFFFFF"/>
                </a:solidFill>
                <a:latin typeface="Pretendard"/>
              </a:rPr>
              <a:t>위치가 다름</a:t>
            </a:r>
          </a:p>
        </p:txBody>
      </p:sp>
      <p:pic>
        <p:nvPicPr>
          <p:cNvPr id="25" name="Picture 24" descr="sil_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8121" y="4514100"/>
            <a:ext cx="630936" cy="630936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6" name="TextBox 25"/>
          <p:cNvSpPr txBox="1"/>
          <p:nvPr/>
        </p:nvSpPr>
        <p:spPr>
          <a:xfrm>
            <a:off x="5311048" y="5309628"/>
            <a:ext cx="1005083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ko-KR" altLang="en-US" sz="1500">
                <a:solidFill>
                  <a:srgbClr val="FFFFFF"/>
                </a:solidFill>
                <a:latin typeface="Pretendard"/>
              </a:rPr>
              <a:t>형식이 다름</a:t>
            </a:r>
          </a:p>
        </p:txBody>
      </p:sp>
      <p:pic>
        <p:nvPicPr>
          <p:cNvPr id="27" name="Picture 26" descr="sil_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6518" y="3409616"/>
            <a:ext cx="630936" cy="630936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8" name="TextBox 27"/>
          <p:cNvSpPr txBox="1"/>
          <p:nvPr/>
        </p:nvSpPr>
        <p:spPr>
          <a:xfrm>
            <a:off x="8505505" y="4418088"/>
            <a:ext cx="1005083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ko-KR" altLang="en-US" sz="1500">
                <a:solidFill>
                  <a:srgbClr val="FFFFFF"/>
                </a:solidFill>
                <a:latin typeface="Pretendard"/>
              </a:rPr>
              <a:t>기준이 다름</a:t>
            </a:r>
          </a:p>
        </p:txBody>
      </p:sp>
      <p:pic>
        <p:nvPicPr>
          <p:cNvPr id="29" name="Picture 28" descr="sil_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54274" y="4643887"/>
            <a:ext cx="630936" cy="630936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30" name="TextBox 29"/>
          <p:cNvSpPr txBox="1"/>
          <p:nvPr/>
        </p:nvSpPr>
        <p:spPr>
          <a:xfrm>
            <a:off x="11696739" y="5337357"/>
            <a:ext cx="1005083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ko-KR" altLang="en-US" sz="1500" err="1">
                <a:solidFill>
                  <a:srgbClr val="FFFFFF"/>
                </a:solidFill>
                <a:latin typeface="Pretendard"/>
              </a:rPr>
              <a:t>권한이</a:t>
            </a:r>
            <a:r>
              <a:rPr lang="ko-KR" altLang="en-US" sz="1500">
                <a:solidFill>
                  <a:srgbClr val="FFFFFF"/>
                </a:solidFill>
                <a:latin typeface="Pretendard"/>
              </a:rPr>
              <a:t> </a:t>
            </a:r>
            <a:r>
              <a:rPr lang="ko-KR" altLang="en-US" sz="1500" err="1">
                <a:solidFill>
                  <a:srgbClr val="FFFFFF"/>
                </a:solidFill>
                <a:latin typeface="Pretendard"/>
              </a:rPr>
              <a:t>다름</a:t>
            </a:r>
            <a:endParaRPr lang="ko-KR" altLang="en-US" sz="1500">
              <a:solidFill>
                <a:srgbClr val="FFFFFF"/>
              </a:solidFill>
              <a:latin typeface="Pretendard"/>
            </a:endParaRPr>
          </a:p>
        </p:txBody>
      </p:sp>
      <p:pic>
        <p:nvPicPr>
          <p:cNvPr id="31" name="Picture 30" descr="sil_fol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50102" y="3683767"/>
            <a:ext cx="630936" cy="630936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32" name="TextBox 31"/>
          <p:cNvSpPr txBox="1"/>
          <p:nvPr/>
        </p:nvSpPr>
        <p:spPr>
          <a:xfrm>
            <a:off x="14649026" y="4479295"/>
            <a:ext cx="1433086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ko-KR" altLang="en-US" sz="1500">
                <a:solidFill>
                  <a:srgbClr val="FFFFFF"/>
                </a:solidFill>
                <a:latin typeface="Pretendard"/>
              </a:rPr>
              <a:t>연결 방식이 다름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65222" y="4075188"/>
            <a:ext cx="2520326" cy="808463"/>
          </a:xfrm>
          <a:prstGeom prst="line">
            <a:avLst/>
          </a:prstGeom>
          <a:ln w="57150">
            <a:solidFill>
              <a:srgbClr val="6B7683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129058" y="4460120"/>
            <a:ext cx="1062305" cy="369449"/>
          </a:xfrm>
          <a:prstGeom prst="line">
            <a:avLst/>
          </a:prstGeom>
          <a:ln w="57150">
            <a:solidFill>
              <a:srgbClr val="E227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630274" y="3938028"/>
            <a:ext cx="1062305" cy="369447"/>
          </a:xfrm>
          <a:prstGeom prst="line">
            <a:avLst/>
          </a:prstGeom>
          <a:ln w="57150">
            <a:solidFill>
              <a:srgbClr val="E227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32135" y="4156721"/>
            <a:ext cx="462106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500" b="1">
                <a:solidFill>
                  <a:srgbClr val="E22718"/>
                </a:solidFill>
                <a:latin typeface="Pretendard"/>
              </a:rPr>
              <a:t>?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2485210" y="3999235"/>
            <a:ext cx="2564892" cy="960120"/>
          </a:xfrm>
          <a:prstGeom prst="line">
            <a:avLst/>
          </a:prstGeom>
          <a:ln w="57150">
            <a:solidFill>
              <a:srgbClr val="6B76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 7">
            <a:extLst>
              <a:ext uri="{FF2B5EF4-FFF2-40B4-BE49-F238E27FC236}">
                <a16:creationId xmlns:a16="http://schemas.microsoft.com/office/drawing/2014/main" id="{BB5E17B4-0B42-5AC6-CC1F-B00ACEC3A273}"/>
              </a:ext>
            </a:extLst>
          </p:cNvPr>
          <p:cNvSpPr txBox="1"/>
          <p:nvPr/>
        </p:nvSpPr>
        <p:spPr>
          <a:xfrm>
            <a:off x="1478876" y="5130347"/>
            <a:ext cx="2286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altLang="en-US" sz="2400" b="1" kern="0" spc="-4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43237809-D613-FAB8-64BB-D19F2A283582}"/>
              </a:ext>
            </a:extLst>
          </p:cNvPr>
          <p:cNvSpPr txBox="1"/>
          <p:nvPr/>
        </p:nvSpPr>
        <p:spPr>
          <a:xfrm>
            <a:off x="4662048" y="3969216"/>
            <a:ext cx="2286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altLang="en-US" sz="2400" b="1" kern="0" spc="-4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8DE0F00-87D9-BA51-ABA2-8E2EDDE23B83}"/>
              </a:ext>
            </a:extLst>
          </p:cNvPr>
          <p:cNvSpPr txBox="1"/>
          <p:nvPr/>
        </p:nvSpPr>
        <p:spPr>
          <a:xfrm>
            <a:off x="7862302" y="5130347"/>
            <a:ext cx="2286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altLang="en-US" sz="2400" b="1" kern="0" spc="-4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CC200E96-5089-ADEA-584D-6CF37856908C}"/>
              </a:ext>
            </a:extLst>
          </p:cNvPr>
          <p:cNvSpPr txBox="1"/>
          <p:nvPr/>
        </p:nvSpPr>
        <p:spPr>
          <a:xfrm>
            <a:off x="11026742" y="3969216"/>
            <a:ext cx="2286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altLang="en-US" sz="2400" b="1" kern="0" spc="-4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재무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FFED0386-2E6C-5642-D146-1200EE3BA95C}"/>
              </a:ext>
            </a:extLst>
          </p:cNvPr>
          <p:cNvSpPr txBox="1"/>
          <p:nvPr/>
        </p:nvSpPr>
        <p:spPr>
          <a:xfrm>
            <a:off x="14245728" y="5130347"/>
            <a:ext cx="2286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altLang="en-US" sz="2400" b="1" kern="0" spc="-4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시설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BC2CDA1E-8668-BC92-1A5A-9FD05EF5F0EE}"/>
              </a:ext>
            </a:extLst>
          </p:cNvPr>
          <p:cNvSpPr txBox="1"/>
          <p:nvPr/>
        </p:nvSpPr>
        <p:spPr>
          <a:xfrm>
            <a:off x="1371600" y="8153705"/>
            <a:ext cx="10927080" cy="667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2400" kern="0" spc="-2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</a:t>
            </a:r>
            <a:r>
              <a:rPr lang="en-US" altLang="ko-KR" sz="2400" kern="0" spc="-2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2400" kern="0" spc="-2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</a:t>
            </a:r>
            <a:r>
              <a:rPr lang="en-US" altLang="ko-KR" sz="2400" kern="0" spc="-2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2400" kern="0" spc="-2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것이</a:t>
            </a:r>
            <a:r>
              <a:rPr lang="en-US" altLang="ko-KR" sz="2400" kern="0" spc="-2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2400" kern="0" spc="-2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아니라</a:t>
            </a:r>
            <a:r>
              <a:rPr lang="en-US" altLang="ko-KR" sz="2400" kern="0" spc="-2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  <a:endParaRPr lang="en-US" altLang="ko-KR" sz="24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97EDECB4-73BB-0B76-3853-DBFEDF8CF572}"/>
              </a:ext>
            </a:extLst>
          </p:cNvPr>
          <p:cNvSpPr txBox="1"/>
          <p:nvPr/>
        </p:nvSpPr>
        <p:spPr>
          <a:xfrm>
            <a:off x="1371600" y="8858707"/>
            <a:ext cx="1554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kern="0" spc="-16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연결된</a:t>
            </a:r>
            <a:r>
              <a:rPr lang="en-US" altLang="ko-KR" sz="2400" b="1" kern="0" spc="-16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16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답을</a:t>
            </a:r>
            <a:r>
              <a:rPr lang="en-US" altLang="ko-KR" sz="2400" b="1" kern="0" spc="-16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168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만들</a:t>
            </a:r>
            <a:r>
              <a:rPr lang="ko-KR" altLang="en-US" sz="2400" b="1" kern="0" spc="-168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기</a:t>
            </a:r>
            <a:r>
              <a:rPr lang="ko-KR" altLang="en-US" sz="2400" b="1" kern="0" spc="-168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168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어려운</a:t>
            </a:r>
            <a:r>
              <a:rPr lang="en-US" altLang="ko-KR" sz="2400" b="1" kern="0" spc="-168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168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것</a:t>
            </a:r>
            <a:r>
              <a:rPr lang="en-US" altLang="ko-KR" sz="2400" b="1" kern="0" spc="-168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이</a:t>
            </a:r>
            <a:r>
              <a:rPr lang="en-US" altLang="ko-KR" sz="2400" b="1" kern="0" spc="-168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168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문제입니다</a:t>
            </a:r>
            <a:r>
              <a:rPr lang="en-US" altLang="ko-KR" sz="2400" b="1" kern="0" spc="-168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.</a:t>
            </a:r>
            <a:endParaRPr lang="en-US" altLang="ko-KR" sz="2400"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ECEC92-FE61-ED80-5FE4-434E9482340F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05 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44f5aa65ea0b7577a468c219e19543d6.png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-15" r="-15"/>
          <a:stretch/>
        </p:blipFill>
        <p:spPr>
          <a:xfrm>
            <a:off x="1371600" y="3200400"/>
            <a:ext cx="15544800" cy="1312323"/>
          </a:xfrm>
          <a:prstGeom prst="rect">
            <a:avLst/>
          </a:prstGeom>
          <a:ln>
            <a:noFill/>
          </a:ln>
        </p:spPr>
      </p:pic>
      <p:pic>
        <p:nvPicPr>
          <p:cNvPr id="6" name="Image 4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7905902"/>
            <a:ext cx="15544800" cy="9144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06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8" name="Text 1"/>
          <p:cNvSpPr txBox="1"/>
          <p:nvPr/>
        </p:nvSpPr>
        <p:spPr>
          <a:xfrm>
            <a:off x="12154205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9" name="Text 2"/>
          <p:cNvSpPr txBox="1"/>
          <p:nvPr/>
        </p:nvSpPr>
        <p:spPr>
          <a:xfrm>
            <a:off x="1371600" y="1638605"/>
            <a:ext cx="13335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여러</a:t>
            </a:r>
            <a:r>
              <a:rPr 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부서와 시스템을</a:t>
            </a:r>
            <a:r>
              <a:rPr 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거친</a:t>
            </a:r>
            <a:r>
              <a:rPr lang="ko-KR" altLang="en-US" sz="3600" b="1" kern="0" spc="-76">
                <a:solidFill>
                  <a:srgbClr val="FFFFFF"/>
                </a:solidFill>
                <a:ea typeface="+mn-lt"/>
                <a:cs typeface="+mn-lt"/>
              </a:rPr>
              <a:t> 보고서 작성 과정</a:t>
            </a:r>
            <a:endParaRPr lang="ko-KR" altLang="en-US" sz="3600" b="1" kern="0" spc="-76">
              <a:solidFill>
                <a:srgbClr val="FFFFFF"/>
              </a:solidFill>
              <a:latin typeface="Calibri"/>
              <a:ea typeface="Pretendard"/>
              <a:cs typeface="Calibri"/>
            </a:endParaRPr>
          </a:p>
        </p:txBody>
      </p:sp>
      <p:sp>
        <p:nvSpPr>
          <p:cNvPr id="10" name="Text 3"/>
          <p:cNvSpPr txBox="1"/>
          <p:nvPr/>
        </p:nvSpPr>
        <p:spPr>
          <a:xfrm>
            <a:off x="1371600" y="2495398"/>
            <a:ext cx="1772107" cy="705002"/>
          </a:xfrm>
          <a:prstGeom prst="rect">
            <a:avLst/>
          </a:prstGeom>
          <a:solidFill>
            <a:srgbClr val="0A0F16"/>
          </a:solidFill>
          <a:ln w="12700">
            <a:solidFill>
              <a:schemeClr val="bg1"/>
            </a:solidFill>
          </a:ln>
        </p:spPr>
        <p:txBody>
          <a:bodyPr wrap="none" lIns="0" tIns="215900" rIns="0" bIns="215900" rtlCol="0" anchor="ctr"/>
          <a:lstStyle/>
          <a:p>
            <a:pPr marL="0" indent="0" algn="ctr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1" name="Text 4"/>
          <p:cNvSpPr txBox="1"/>
          <p:nvPr/>
        </p:nvSpPr>
        <p:spPr>
          <a:xfrm>
            <a:off x="3353105" y="2495398"/>
            <a:ext cx="1772107" cy="705002"/>
          </a:xfrm>
          <a:prstGeom prst="rect">
            <a:avLst/>
          </a:prstGeom>
          <a:solidFill>
            <a:srgbClr val="0A0F16"/>
          </a:solidFill>
          <a:ln w="12700">
            <a:solidFill>
              <a:schemeClr val="bg1"/>
            </a:solidFill>
          </a:ln>
        </p:spPr>
        <p:txBody>
          <a:bodyPr wrap="none" lIns="0" tIns="215900" rIns="0" bIns="215900" rtlCol="0" anchor="ctr"/>
          <a:lstStyle/>
          <a:p>
            <a:pPr marL="0" indent="0" algn="ctr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2" name="Text 5"/>
          <p:cNvSpPr txBox="1"/>
          <p:nvPr/>
        </p:nvSpPr>
        <p:spPr>
          <a:xfrm>
            <a:off x="5333695" y="2495398"/>
            <a:ext cx="1772107" cy="705002"/>
          </a:xfrm>
          <a:prstGeom prst="rect">
            <a:avLst/>
          </a:prstGeom>
          <a:solidFill>
            <a:srgbClr val="0A0F16"/>
          </a:solidFill>
          <a:ln w="12700">
            <a:solidFill>
              <a:schemeClr val="bg1"/>
            </a:solidFill>
          </a:ln>
        </p:spPr>
        <p:txBody>
          <a:bodyPr wrap="none" lIns="0" tIns="215900" rIns="0" bIns="215900" rtlCol="0" anchor="ctr"/>
          <a:lstStyle/>
          <a:p>
            <a:pPr marL="0" indent="0" algn="ctr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3" name="Text 6"/>
          <p:cNvSpPr txBox="1"/>
          <p:nvPr/>
        </p:nvSpPr>
        <p:spPr>
          <a:xfrm>
            <a:off x="7315200" y="2495398"/>
            <a:ext cx="1772107" cy="705002"/>
          </a:xfrm>
          <a:prstGeom prst="rect">
            <a:avLst/>
          </a:prstGeom>
          <a:solidFill>
            <a:srgbClr val="0A0F16"/>
          </a:solidFill>
          <a:ln w="12700">
            <a:solidFill>
              <a:schemeClr val="bg1"/>
            </a:solidFill>
          </a:ln>
        </p:spPr>
        <p:txBody>
          <a:bodyPr wrap="none" lIns="0" tIns="215900" rIns="0" bIns="215900" rtlCol="0" anchor="ctr"/>
          <a:lstStyle/>
          <a:p>
            <a:pPr marL="0" indent="0" algn="ctr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재무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21" name="Text 9"/>
          <p:cNvSpPr txBox="1"/>
          <p:nvPr/>
        </p:nvSpPr>
        <p:spPr>
          <a:xfrm>
            <a:off x="11220602" y="1886407"/>
            <a:ext cx="2286000" cy="20016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전표 — ERP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원장 — JPG</a:t>
            </a:r>
            <a:endParaRPr lang="en-US" altLang="ko-KR" sz="2000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예산 — Excel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정산 — CSV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세금계산서 — PDF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2000">
                <a:solidFill>
                  <a:schemeClr val="bg1"/>
                </a:solidFill>
                <a:latin typeface="Pretendard"/>
                <a:ea typeface="Pretendard" panose="02000503000000020004" pitchFamily="2" charset="-127"/>
                <a:cs typeface="Pretendard" panose="02000503000000020004" pitchFamily="2" charset="-127"/>
              </a:rPr>
              <a:t>카드·은행 — API</a:t>
            </a:r>
            <a:endParaRPr lang="en-US" altLang="ko-KR" sz="2000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 12"/>
          <p:cNvSpPr txBox="1"/>
          <p:nvPr/>
        </p:nvSpPr>
        <p:spPr>
          <a:xfrm>
            <a:off x="6240780" y="7279212"/>
            <a:ext cx="5715000" cy="457200"/>
          </a:xfrm>
          <a:prstGeom prst="rect">
            <a:avLst/>
          </a:prstGeom>
          <a:solidFill>
            <a:srgbClr val="05070C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200" b="1" kern="0" spc="-7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r>
              <a:rPr lang="en-US" sz="3200" b="1" kern="0" spc="-7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200" b="1" kern="0" spc="-7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</a:t>
            </a:r>
            <a:endParaRPr lang="en-US" sz="3200">
              <a:latin typeface="Pretendard" panose="02000503000000020004" pitchFamily="2" charset="-127"/>
            </a:endParaRPr>
          </a:p>
        </p:txBody>
      </p:sp>
      <p:sp>
        <p:nvSpPr>
          <p:cNvPr id="25" name="Text 13"/>
          <p:cNvSpPr txBox="1"/>
          <p:nvPr/>
        </p:nvSpPr>
        <p:spPr>
          <a:xfrm>
            <a:off x="1371600" y="8401507"/>
            <a:ext cx="15544800" cy="857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2400" b="1" kern="0" spc="-16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자료를 찾고, 정리하는 </a:t>
            </a:r>
            <a:r>
              <a:rPr lang="en-US" sz="2400" b="1" kern="0" spc="-168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작업이</a:t>
            </a:r>
            <a:r>
              <a:rPr lang="en-US" sz="2400" b="1" kern="0" spc="-168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168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매주</a:t>
            </a:r>
            <a:r>
              <a:rPr lang="en-US" sz="2400" b="1" kern="0" spc="-168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168" err="1">
                <a:solidFill>
                  <a:srgbClr val="3E8FF0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반복</a:t>
            </a:r>
            <a:r>
              <a:rPr lang="en-US" sz="2400" b="1" kern="0" spc="-168" err="1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됩니다</a:t>
            </a:r>
            <a:r>
              <a:rPr lang="en-US" sz="2400" b="1" kern="0" spc="-168">
                <a:solidFill>
                  <a:srgbClr val="FFFFF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.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</p:txBody>
      </p:sp>
      <p:pic>
        <p:nvPicPr>
          <p:cNvPr id="30" name="Image 2" descr="gen-dedup-f38056aeb5fce5f0d0aabb3f4a680338.png">
            <a:extLst>
              <a:ext uri="{FF2B5EF4-FFF2-40B4-BE49-F238E27FC236}">
                <a16:creationId xmlns:a16="http://schemas.microsoft.com/office/drawing/2014/main" id="{98832C78-0A91-4842-A678-FEE55FC0DE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t="-2083" b="-2083"/>
          <a:stretch/>
        </p:blipFill>
        <p:spPr>
          <a:xfrm rot="5400000" flipH="1">
            <a:off x="10131095" y="1846027"/>
            <a:ext cx="45719" cy="1980591"/>
          </a:xfrm>
          <a:prstGeom prst="rect">
            <a:avLst/>
          </a:prstGeom>
        </p:spPr>
      </p:pic>
      <p:grpSp>
        <p:nvGrpSpPr>
          <p:cNvPr id="36" name="그룹 35">
            <a:extLst>
              <a:ext uri="{FF2B5EF4-FFF2-40B4-BE49-F238E27FC236}">
                <a16:creationId xmlns:a16="http://schemas.microsoft.com/office/drawing/2014/main" id="{2DE17BBB-FDE3-7701-87F0-D5B09D405A4B}"/>
              </a:ext>
            </a:extLst>
          </p:cNvPr>
          <p:cNvGrpSpPr/>
          <p:nvPr/>
        </p:nvGrpSpPr>
        <p:grpSpPr>
          <a:xfrm>
            <a:off x="1993310" y="4996827"/>
            <a:ext cx="14301380" cy="1270132"/>
            <a:chOff x="1371600" y="4908339"/>
            <a:chExt cx="14301380" cy="1270132"/>
          </a:xfrm>
        </p:grpSpPr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6CDDDC7B-1D8F-0131-3F11-D58B02DC839E}"/>
                </a:ext>
              </a:extLst>
            </p:cNvPr>
            <p:cNvGrpSpPr/>
            <p:nvPr/>
          </p:nvGrpSpPr>
          <p:grpSpPr>
            <a:xfrm>
              <a:off x="1371600" y="4908339"/>
              <a:ext cx="2286000" cy="1270132"/>
              <a:chOff x="2817906" y="4591201"/>
              <a:chExt cx="2286000" cy="1270132"/>
            </a:xfrm>
          </p:grpSpPr>
          <p:pic>
            <p:nvPicPr>
              <p:cNvPr id="14" name="Image 5" descr="gen-dedup-8842bd88265b06ed4ca0a0a9ef852bde.png"/>
              <p:cNvPicPr>
                <a:picLocks noChangeAspect="1"/>
              </p:cNvPicPr>
              <p:nvPr/>
            </p:nvPicPr>
            <p:blipFill>
              <a:blip r:embed="rId8"/>
              <a:srcRect/>
              <a:stretch/>
            </p:blipFill>
            <p:spPr>
              <a:xfrm>
                <a:off x="3600906" y="4591201"/>
                <a:ext cx="720000" cy="720000"/>
              </a:xfrm>
              <a:prstGeom prst="rect">
                <a:avLst/>
              </a:prstGeom>
            </p:spPr>
          </p:pic>
          <p:sp>
            <p:nvSpPr>
              <p:cNvPr id="19" name="Text 7"/>
              <p:cNvSpPr txBox="1"/>
              <p:nvPr/>
            </p:nvSpPr>
            <p:spPr>
              <a:xfrm>
                <a:off x="2817906" y="5480028"/>
                <a:ext cx="2286000" cy="38130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2400" b="1" kern="0" spc="-47" err="1">
                    <a:solidFill>
                      <a:srgbClr val="FFFFFF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자료</a:t>
                </a:r>
                <a:r>
                  <a:rPr lang="en-US" sz="2400" b="1" kern="0" spc="-47">
                    <a:solidFill>
                      <a:srgbClr val="FFFFFF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 </a:t>
                </a:r>
                <a:r>
                  <a:rPr lang="en-US" sz="2400" b="1" kern="0" spc="-47" err="1">
                    <a:solidFill>
                      <a:srgbClr val="FFFFFF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요청</a:t>
                </a:r>
                <a:endParaRPr lang="en-US" sz="2400">
                  <a:solidFill>
                    <a:srgbClr val="FFFFFF"/>
                  </a:solidFill>
                  <a:latin typeface="Pretendard" panose="02000503000000020004" pitchFamily="2" charset="-127"/>
                </a:endParaRP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B80987C7-E5D1-EFA5-586C-36E656EBEF73}"/>
                </a:ext>
              </a:extLst>
            </p:cNvPr>
            <p:cNvGrpSpPr/>
            <p:nvPr/>
          </p:nvGrpSpPr>
          <p:grpSpPr>
            <a:xfrm>
              <a:off x="4376484" y="4908339"/>
              <a:ext cx="2286000" cy="1226330"/>
              <a:chOff x="5637001" y="4591201"/>
              <a:chExt cx="2286000" cy="1226330"/>
            </a:xfrm>
          </p:grpSpPr>
          <p:pic>
            <p:nvPicPr>
              <p:cNvPr id="15" name="Image 6" descr="gen-dedup-4f29ecef537099eb4c2f4a59ab03ceda.png"/>
              <p:cNvPicPr>
                <a:picLocks noChangeAspect="1"/>
              </p:cNvPicPr>
              <p:nvPr/>
            </p:nvPicPr>
            <p:blipFill>
              <a:blip r:embed="rId9"/>
              <a:srcRect/>
              <a:stretch/>
            </p:blipFill>
            <p:spPr>
              <a:xfrm>
                <a:off x="6420001" y="4591201"/>
                <a:ext cx="720000" cy="720000"/>
              </a:xfrm>
              <a:prstGeom prst="rect">
                <a:avLst/>
              </a:prstGeom>
            </p:spPr>
          </p:pic>
          <p:sp>
            <p:nvSpPr>
              <p:cNvPr id="20" name="Text 8"/>
              <p:cNvSpPr txBox="1"/>
              <p:nvPr/>
            </p:nvSpPr>
            <p:spPr>
              <a:xfrm>
                <a:off x="5637001" y="5436226"/>
                <a:ext cx="2286000" cy="38130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2400" b="1" kern="0" spc="-47" err="1">
                    <a:solidFill>
                      <a:srgbClr val="FFFFFF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취합</a:t>
                </a:r>
                <a:endParaRPr lang="en-US" sz="2400">
                  <a:solidFill>
                    <a:srgbClr val="FFFFFF"/>
                  </a:solidFill>
                  <a:latin typeface="Pretendard" panose="02000503000000020004" pitchFamily="2" charset="-127"/>
                </a:endParaRP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D5D74CB-19AB-6DB5-917A-B70CFDF63609}"/>
                </a:ext>
              </a:extLst>
            </p:cNvPr>
            <p:cNvGrpSpPr/>
            <p:nvPr/>
          </p:nvGrpSpPr>
          <p:grpSpPr>
            <a:xfrm>
              <a:off x="10382097" y="4908339"/>
              <a:ext cx="2286000" cy="1238100"/>
              <a:chOff x="11261361" y="4591200"/>
              <a:chExt cx="2286000" cy="1238100"/>
            </a:xfrm>
          </p:grpSpPr>
          <p:pic>
            <p:nvPicPr>
              <p:cNvPr id="17" name="Image 8" descr="gen-dedup-ae1e88afd3e8911a55f2005b2f762bd4.png"/>
              <p:cNvPicPr>
                <a:picLocks noChangeAspect="1"/>
              </p:cNvPicPr>
              <p:nvPr/>
            </p:nvPicPr>
            <p:blipFill>
              <a:blip r:embed="rId10"/>
              <a:srcRect/>
              <a:stretch/>
            </p:blipFill>
            <p:spPr>
              <a:xfrm>
                <a:off x="12099865" y="4591200"/>
                <a:ext cx="720000" cy="720000"/>
              </a:xfrm>
              <a:prstGeom prst="rect">
                <a:avLst/>
              </a:prstGeom>
            </p:spPr>
          </p:pic>
          <p:sp>
            <p:nvSpPr>
              <p:cNvPr id="22" name="Text 10"/>
              <p:cNvSpPr txBox="1"/>
              <p:nvPr/>
            </p:nvSpPr>
            <p:spPr>
              <a:xfrm>
                <a:off x="11261361" y="5447995"/>
                <a:ext cx="2286000" cy="38130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2400" b="1" kern="0" spc="-47" err="1">
                    <a:solidFill>
                      <a:srgbClr val="FFFFFF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검증</a:t>
                </a:r>
                <a:endParaRPr lang="en-US" sz="2400">
                  <a:solidFill>
                    <a:srgbClr val="FFFFFF"/>
                  </a:solidFill>
                  <a:latin typeface="Pretendard" panose="02000503000000020004" pitchFamily="2" charset="-127"/>
                </a:endParaRP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D37046C-48C0-4673-C1F1-85582DF42C69}"/>
                </a:ext>
              </a:extLst>
            </p:cNvPr>
            <p:cNvGrpSpPr/>
            <p:nvPr/>
          </p:nvGrpSpPr>
          <p:grpSpPr>
            <a:xfrm>
              <a:off x="13386980" y="4908339"/>
              <a:ext cx="2286000" cy="1238100"/>
              <a:chOff x="14094286" y="4591200"/>
              <a:chExt cx="2286000" cy="1238100"/>
            </a:xfrm>
          </p:grpSpPr>
          <p:pic>
            <p:nvPicPr>
              <p:cNvPr id="18" name="Image 9" descr="gen-dedup-77524a03f05908626fe2285fc323a109.png"/>
              <p:cNvPicPr>
                <a:picLocks noChangeAspect="1"/>
              </p:cNvPicPr>
              <p:nvPr/>
            </p:nvPicPr>
            <p:blipFill>
              <a:blip r:embed="rId11"/>
              <a:srcRect/>
              <a:stretch/>
            </p:blipFill>
            <p:spPr>
              <a:xfrm>
                <a:off x="14879115" y="4591200"/>
                <a:ext cx="720000" cy="720000"/>
              </a:xfrm>
              <a:prstGeom prst="rect">
                <a:avLst/>
              </a:prstGeom>
            </p:spPr>
          </p:pic>
          <p:sp>
            <p:nvSpPr>
              <p:cNvPr id="23" name="Text 11"/>
              <p:cNvSpPr txBox="1"/>
              <p:nvPr/>
            </p:nvSpPr>
            <p:spPr>
              <a:xfrm>
                <a:off x="14094286" y="5447995"/>
                <a:ext cx="2286000" cy="38130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2400" b="1" kern="0" spc="-47" err="1">
                    <a:solidFill>
                      <a:srgbClr val="3E8FF0"/>
                    </a:solidFill>
                    <a:latin typeface="Pretendard"/>
                    <a:ea typeface="Pretendard"/>
                    <a:cs typeface="Pretendard" pitchFamily="34" charset="-120"/>
                  </a:rPr>
                  <a:t>보고서</a:t>
                </a:r>
                <a:r>
                  <a:rPr lang="en-US" sz="2400" b="1" kern="0" spc="-47">
                    <a:solidFill>
                      <a:srgbClr val="3E8FF0"/>
                    </a:solidFill>
                    <a:latin typeface="Pretendard"/>
                    <a:ea typeface="Pretendard"/>
                    <a:cs typeface="Pretendard" pitchFamily="34" charset="-120"/>
                  </a:rPr>
                  <a:t> </a:t>
                </a:r>
                <a:r>
                  <a:rPr lang="en-US" sz="2400" b="1" kern="0" spc="-47" err="1">
                    <a:solidFill>
                      <a:srgbClr val="3E8FF0"/>
                    </a:solidFill>
                    <a:latin typeface="Pretendard"/>
                    <a:ea typeface="Pretendard"/>
                    <a:cs typeface="Pretendard" pitchFamily="34" charset="-120"/>
                  </a:rPr>
                  <a:t>작성</a:t>
                </a:r>
                <a:endParaRPr lang="en-US" sz="2400">
                  <a:solidFill>
                    <a:schemeClr val="bg1"/>
                  </a:solidFill>
                  <a:latin typeface="Pretendard"/>
                  <a:ea typeface="Pretendard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47448CF3-9236-3331-0147-2D36823DD079}"/>
                </a:ext>
              </a:extLst>
            </p:cNvPr>
            <p:cNvGrpSpPr/>
            <p:nvPr/>
          </p:nvGrpSpPr>
          <p:grpSpPr>
            <a:xfrm>
              <a:off x="7381368" y="4908339"/>
              <a:ext cx="2286000" cy="1238099"/>
              <a:chOff x="8456096" y="4591201"/>
              <a:chExt cx="2286000" cy="1238099"/>
            </a:xfrm>
          </p:grpSpPr>
          <p:pic>
            <p:nvPicPr>
              <p:cNvPr id="16" name="Image 7" descr="gen-dedup-5e25da79511aa8f83abd1dda5833cdb6.png"/>
              <p:cNvPicPr>
                <a:picLocks noChangeAspect="1"/>
              </p:cNvPicPr>
              <p:nvPr/>
            </p:nvPicPr>
            <p:blipFill>
              <a:blip r:embed="rId12"/>
              <a:srcRect/>
              <a:stretch/>
            </p:blipFill>
            <p:spPr>
              <a:xfrm>
                <a:off x="9239097" y="4591201"/>
                <a:ext cx="720000" cy="720000"/>
              </a:xfrm>
              <a:prstGeom prst="rect">
                <a:avLst/>
              </a:prstGeom>
            </p:spPr>
          </p:pic>
          <p:sp>
            <p:nvSpPr>
              <p:cNvPr id="27" name="Text 8">
                <a:extLst>
                  <a:ext uri="{FF2B5EF4-FFF2-40B4-BE49-F238E27FC236}">
                    <a16:creationId xmlns:a16="http://schemas.microsoft.com/office/drawing/2014/main" id="{84993851-8B11-0102-B1DB-E8849F645963}"/>
                  </a:ext>
                </a:extLst>
              </p:cNvPr>
              <p:cNvSpPr txBox="1"/>
              <p:nvPr/>
            </p:nvSpPr>
            <p:spPr>
              <a:xfrm>
                <a:off x="8456096" y="5447995"/>
                <a:ext cx="2286000" cy="38130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2400" b="1" kern="0" spc="-47">
                    <a:solidFill>
                      <a:srgbClr val="FFFFFF"/>
                    </a:solidFill>
                    <a:latin typeface="Pretendard"/>
                    <a:ea typeface="맑은 고딕"/>
                  </a:rPr>
                  <a:t>분석</a:t>
                </a:r>
                <a:endParaRPr lang="en-US" sz="2400">
                  <a:solidFill>
                    <a:srgbClr val="FFFFFF"/>
                  </a:solidFill>
                  <a:latin typeface="Pretendard" panose="02000503000000020004" pitchFamily="2" charset="-127"/>
                </a:endParaRPr>
              </a:p>
            </p:txBody>
          </p:sp>
        </p:grpSp>
      </p:grpSp>
      <p:sp>
        <p:nvSpPr>
          <p:cNvPr id="40" name="이등변 삼각형 39">
            <a:extLst>
              <a:ext uri="{FF2B5EF4-FFF2-40B4-BE49-F238E27FC236}">
                <a16:creationId xmlns:a16="http://schemas.microsoft.com/office/drawing/2014/main" id="{DE1D1E87-9DF8-FAAE-F5A5-A4605FB11219}"/>
              </a:ext>
            </a:extLst>
          </p:cNvPr>
          <p:cNvSpPr/>
          <p:nvPr/>
        </p:nvSpPr>
        <p:spPr>
          <a:xfrm rot="5400000">
            <a:off x="4476519" y="5211916"/>
            <a:ext cx="324465" cy="32077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latin typeface="Pretendard" panose="02000503000000020004" pitchFamily="2" charset="-127"/>
            </a:endParaRPr>
          </a:p>
        </p:txBody>
      </p:sp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D28AF7EE-DB1C-1326-CB8D-4A8C9B3833BB}"/>
              </a:ext>
            </a:extLst>
          </p:cNvPr>
          <p:cNvSpPr/>
          <p:nvPr/>
        </p:nvSpPr>
        <p:spPr>
          <a:xfrm rot="5400000">
            <a:off x="7546369" y="5211916"/>
            <a:ext cx="324465" cy="32077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latin typeface="Pretendard" panose="02000503000000020004" pitchFamily="2" charset="-127"/>
            </a:endParaRPr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9F68C7D3-F29E-D4CA-9F12-E246B30412F2}"/>
              </a:ext>
            </a:extLst>
          </p:cNvPr>
          <p:cNvSpPr/>
          <p:nvPr/>
        </p:nvSpPr>
        <p:spPr>
          <a:xfrm rot="5400000">
            <a:off x="10616219" y="5196438"/>
            <a:ext cx="324465" cy="32077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latin typeface="Pretendard" panose="02000503000000020004" pitchFamily="2" charset="-127"/>
            </a:endParaRPr>
          </a:p>
        </p:txBody>
      </p: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7FFB96FE-D62A-394E-DFF7-0AFE71A312AE}"/>
              </a:ext>
            </a:extLst>
          </p:cNvPr>
          <p:cNvSpPr/>
          <p:nvPr/>
        </p:nvSpPr>
        <p:spPr>
          <a:xfrm rot="5400000">
            <a:off x="13686069" y="5219569"/>
            <a:ext cx="324465" cy="32077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latin typeface="Pretendard" panose="02000503000000020004" pitchFamily="2" charset="-127"/>
            </a:endParaRP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464D866-3ABA-EAB0-BF69-0DD21EFFA0E9}"/>
              </a:ext>
            </a:extLst>
          </p:cNvPr>
          <p:cNvGrpSpPr/>
          <p:nvPr/>
        </p:nvGrpSpPr>
        <p:grpSpPr>
          <a:xfrm>
            <a:off x="3143707" y="6454139"/>
            <a:ext cx="11997148" cy="1036320"/>
            <a:chOff x="3143707" y="6454139"/>
            <a:chExt cx="11997148" cy="1036320"/>
          </a:xfrm>
        </p:grpSpPr>
        <p:cxnSp>
          <p:nvCxnSpPr>
            <p:cNvPr id="47" name="Connector 23">
              <a:extLst>
                <a:ext uri="{FF2B5EF4-FFF2-40B4-BE49-F238E27FC236}">
                  <a16:creationId xmlns:a16="http://schemas.microsoft.com/office/drawing/2014/main" id="{07CF8232-2A60-9ACF-542A-068508448E0F}"/>
                </a:ext>
              </a:extLst>
            </p:cNvPr>
            <p:cNvCxnSpPr>
              <a:cxnSpLocks/>
            </p:cNvCxnSpPr>
            <p:nvPr/>
          </p:nvCxnSpPr>
          <p:spPr>
            <a:xfrm>
              <a:off x="3143707" y="7490459"/>
              <a:ext cx="5157088" cy="0"/>
            </a:xfrm>
            <a:prstGeom prst="line">
              <a:avLst/>
            </a:prstGeom>
            <a:ln w="57150">
              <a:solidFill>
                <a:srgbClr val="3E8F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 23">
              <a:extLst>
                <a:ext uri="{FF2B5EF4-FFF2-40B4-BE49-F238E27FC236}">
                  <a16:creationId xmlns:a16="http://schemas.microsoft.com/office/drawing/2014/main" id="{B5D3B47D-130B-527C-77BD-45620DB9D26A}"/>
                </a:ext>
              </a:extLst>
            </p:cNvPr>
            <p:cNvCxnSpPr>
              <a:cxnSpLocks/>
            </p:cNvCxnSpPr>
            <p:nvPr/>
          </p:nvCxnSpPr>
          <p:spPr>
            <a:xfrm>
              <a:off x="9983767" y="7467598"/>
              <a:ext cx="5157088" cy="0"/>
            </a:xfrm>
            <a:prstGeom prst="line">
              <a:avLst/>
            </a:prstGeom>
            <a:ln w="57150">
              <a:solidFill>
                <a:srgbClr val="3E8F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23">
              <a:extLst>
                <a:ext uri="{FF2B5EF4-FFF2-40B4-BE49-F238E27FC236}">
                  <a16:creationId xmlns:a16="http://schemas.microsoft.com/office/drawing/2014/main" id="{A608044F-BB33-3E0A-C44B-77C6C12A583C}"/>
                </a:ext>
              </a:extLst>
            </p:cNvPr>
            <p:cNvCxnSpPr>
              <a:cxnSpLocks/>
            </p:cNvCxnSpPr>
            <p:nvPr/>
          </p:nvCxnSpPr>
          <p:spPr>
            <a:xfrm>
              <a:off x="3143707" y="6477000"/>
              <a:ext cx="0" cy="1013459"/>
            </a:xfrm>
            <a:prstGeom prst="line">
              <a:avLst/>
            </a:prstGeom>
            <a:ln w="57150">
              <a:solidFill>
                <a:srgbClr val="3E8F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23">
              <a:extLst>
                <a:ext uri="{FF2B5EF4-FFF2-40B4-BE49-F238E27FC236}">
                  <a16:creationId xmlns:a16="http://schemas.microsoft.com/office/drawing/2014/main" id="{4851BCF7-59F9-83F0-AB81-0BA44029E0CC}"/>
                </a:ext>
              </a:extLst>
            </p:cNvPr>
            <p:cNvCxnSpPr>
              <a:cxnSpLocks/>
            </p:cNvCxnSpPr>
            <p:nvPr/>
          </p:nvCxnSpPr>
          <p:spPr>
            <a:xfrm>
              <a:off x="15140855" y="6454139"/>
              <a:ext cx="0" cy="1013459"/>
            </a:xfrm>
            <a:prstGeom prst="line">
              <a:avLst/>
            </a:prstGeom>
            <a:ln w="57150">
              <a:solidFill>
                <a:srgbClr val="3E8F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17">
            <a:extLst>
              <a:ext uri="{FF2B5EF4-FFF2-40B4-BE49-F238E27FC236}">
                <a16:creationId xmlns:a16="http://schemas.microsoft.com/office/drawing/2014/main" id="{D1D44EEC-5530-5A76-F987-F0D11F563E8C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06 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4640E-3246-EBDF-2992-D8A3EBF77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>
            <a:extLst>
              <a:ext uri="{FF2B5EF4-FFF2-40B4-BE49-F238E27FC236}">
                <a16:creationId xmlns:a16="http://schemas.microsoft.com/office/drawing/2014/main" id="{F33FAD27-9309-DE86-8389-948D3F9F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3DF47418-CC9B-C03B-9BB1-539BB43EB9A0}"/>
              </a:ext>
            </a:extLst>
          </p:cNvPr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07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F6DE8CF-2D5E-2ABA-F579-4E4A0F1D789C}"/>
              </a:ext>
            </a:extLst>
          </p:cNvPr>
          <p:cNvSpPr txBox="1"/>
          <p:nvPr/>
        </p:nvSpPr>
        <p:spPr>
          <a:xfrm>
            <a:off x="12154205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해결의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출발점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6FA2573-5662-33B3-7441-58DB5CAFA7DE}"/>
              </a:ext>
            </a:extLst>
          </p:cNvPr>
          <p:cNvSpPr txBox="1"/>
          <p:nvPr/>
        </p:nvSpPr>
        <p:spPr>
          <a:xfrm>
            <a:off x="1371601" y="1638607"/>
            <a:ext cx="13335611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kern="0" spc="-77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sz="3600" b="1" kern="0" spc="-77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7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카탈로그</a:t>
            </a:r>
            <a:r>
              <a:rPr lang="en-US" sz="3600" b="1" kern="0" spc="-77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7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필요성</a:t>
            </a:r>
            <a:endParaRPr lang="en-US" sz="3600">
              <a:latin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11DCACEC-6FC2-0CE7-5601-9B6043345733}"/>
              </a:ext>
            </a:extLst>
          </p:cNvPr>
          <p:cNvSpPr txBox="1"/>
          <p:nvPr/>
        </p:nvSpPr>
        <p:spPr>
          <a:xfrm>
            <a:off x="1371602" y="8991296"/>
            <a:ext cx="12382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AI가</a:t>
            </a:r>
            <a:r>
              <a:rPr 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데이터를</a:t>
            </a:r>
            <a:r>
              <a:rPr 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정확하게</a:t>
            </a:r>
            <a:r>
              <a:rPr 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 </a:t>
            </a:r>
            <a:r>
              <a:rPr lang="en-US" sz="2400" b="1" kern="0" spc="-72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분석하려면</a:t>
            </a:r>
            <a:r>
              <a:rPr lang="en-US" sz="2400" b="1" kern="0" spc="-72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, </a:t>
            </a:r>
            <a:r>
              <a:rPr lang="en-US" sz="2400" b="1" kern="0" spc="-72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먼저</a:t>
            </a:r>
            <a:r>
              <a:rPr lang="en-US" sz="2400" b="1" kern="0" spc="-72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b="1" kern="0" spc="-72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데이터의 위치, 의미, 기준이 정리</a:t>
            </a:r>
            <a:r>
              <a:rPr lang="ko-KR" altLang="en-US" sz="2400" b="1" kern="0" spc="-72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되어야</a:t>
            </a:r>
            <a:r>
              <a:rPr lang="en-US" sz="2400" b="1" kern="0" spc="-72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72" err="1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합니다</a:t>
            </a:r>
            <a:r>
              <a:rPr lang="en-US" sz="2400" b="1" kern="0" spc="-72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.</a:t>
            </a:r>
            <a:endParaRPr lang="en-US" sz="2400">
              <a:solidFill>
                <a:schemeClr val="bg1"/>
              </a:solidFill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71600" y="2194560"/>
            <a:ext cx="157070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2400" b="0" dirty="0">
                <a:solidFill>
                  <a:schemeClr val="bg1"/>
                </a:solidFill>
                <a:latin typeface="Pretendard"/>
              </a:rPr>
              <a:t>데이터 카탈로그는 회사 곳곳에 흩어진 데이터를 찾고 이해하게 해주는</a:t>
            </a:r>
            <a:r>
              <a:rPr lang="en-US" altLang="ko-KR" sz="2400" b="0" dirty="0">
                <a:solidFill>
                  <a:schemeClr val="bg1"/>
                </a:solidFill>
                <a:latin typeface="Pretendard"/>
              </a:rPr>
              <a:t>, </a:t>
            </a:r>
            <a:r>
              <a:rPr lang="ko-KR" altLang="en-US" sz="2400" b="0" dirty="0">
                <a:solidFill>
                  <a:schemeClr val="bg1"/>
                </a:solidFill>
                <a:latin typeface="Pretendard"/>
              </a:rPr>
              <a:t>회사 데이터의 검색엔진입니다</a:t>
            </a:r>
            <a:r>
              <a:rPr lang="en-US" altLang="ko-KR" sz="2400" b="0" dirty="0">
                <a:solidFill>
                  <a:schemeClr val="bg1"/>
                </a:solidFill>
                <a:latin typeface="Pretendard"/>
              </a:rPr>
              <a:t>.</a:t>
            </a:r>
            <a:endParaRPr lang="ko-KR" altLang="en-US" sz="2400" b="0" dirty="0">
              <a:solidFill>
                <a:schemeClr val="bg1"/>
              </a:solidFill>
              <a:latin typeface="Pretendard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1371600" y="3127247"/>
            <a:ext cx="15540228" cy="0"/>
          </a:xfrm>
          <a:prstGeom prst="line">
            <a:avLst/>
          </a:prstGeom>
          <a:ln w="9525">
            <a:solidFill>
              <a:srgbClr val="232B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cat_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00" y="3939436"/>
            <a:ext cx="720000" cy="720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371600" y="4908700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 err="1">
                <a:solidFill>
                  <a:srgbClr val="FFFFFF"/>
                </a:solidFill>
                <a:latin typeface="Pretendard"/>
              </a:rPr>
              <a:t>영업</a:t>
            </a:r>
            <a:endParaRPr sz="2400" b="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371600" y="5320180"/>
            <a:ext cx="274320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75" b="0">
                <a:solidFill>
                  <a:srgbClr val="9AA4B2"/>
                </a:solidFill>
                <a:latin typeface="Pretendard"/>
              </a:rPr>
              <a:t>위치가 다름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759092"/>
            <a:ext cx="274320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50" b="1">
                <a:solidFill>
                  <a:srgbClr val="3E8FF0"/>
                </a:solidFill>
                <a:latin typeface="Pretendard"/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74470" y="6280300"/>
            <a:ext cx="2537460" cy="1069848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27432" rIns="82296" bIns="27432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데이터의 위치를</a:t>
            </a:r>
          </a:p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알려줍니다</a:t>
            </a:r>
            <a:r>
              <a:rPr lang="en-US" alt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9" name="Picture 38" descr="cat_gr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6732" y="3939436"/>
            <a:ext cx="720000" cy="72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85132" y="4908700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FFFFFF"/>
                </a:solidFill>
                <a:latin typeface="Pretendar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5132" y="5320180"/>
            <a:ext cx="274320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75" b="0">
                <a:solidFill>
                  <a:srgbClr val="9AA4B2"/>
                </a:solidFill>
                <a:latin typeface="Pretendard"/>
              </a:rPr>
              <a:t>형식이 다름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5132" y="5759092"/>
            <a:ext cx="274320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50" b="1">
                <a:solidFill>
                  <a:srgbClr val="3E8FF0"/>
                </a:solidFill>
                <a:latin typeface="Pretendard"/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8002" y="6280300"/>
            <a:ext cx="2537460" cy="1069848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27432" rIns="82296" bIns="27432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데이터 항목 </a:t>
            </a:r>
            <a:r>
              <a:rPr lang="ko-KR" sz="2000">
                <a:solidFill>
                  <a:srgbClr val="FFFFFF"/>
                </a:solidFill>
                <a:latin typeface="Consolas"/>
                <a:ea typeface="Pretendard"/>
                <a:cs typeface="Pretendard" panose="02000503000000020004" pitchFamily="2" charset="-127"/>
              </a:rPr>
              <a:t>구조를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설명합니다</a:t>
            </a:r>
            <a:r>
              <a:rPr lang="en-US" alt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.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</p:txBody>
      </p:sp>
      <p:pic>
        <p:nvPicPr>
          <p:cNvPr id="44" name="Picture 43" descr="cat_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0264" y="3939436"/>
            <a:ext cx="720000" cy="720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598664" y="4908700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FFFFFF"/>
                </a:solidFill>
                <a:latin typeface="Pretendard"/>
              </a:rPr>
              <a:t>고객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98664" y="5320180"/>
            <a:ext cx="274320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75" b="0">
                <a:solidFill>
                  <a:srgbClr val="9AA4B2"/>
                </a:solidFill>
                <a:latin typeface="Pretendard"/>
              </a:rPr>
              <a:t>기준이 다름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98664" y="5759092"/>
            <a:ext cx="274320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50" b="1">
                <a:solidFill>
                  <a:srgbClr val="3E8FF0"/>
                </a:solidFill>
                <a:latin typeface="Pretendard"/>
              </a:rPr>
              <a:t>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1534" y="6280300"/>
            <a:ext cx="2537460" cy="1069848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27432" rIns="82296" bIns="27432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ko-KR" altLang="en-US" sz="200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기준으로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정의합니다</a:t>
            </a:r>
            <a:r>
              <a:rPr lang="en-US" alt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49" name="Picture 48" descr="cat_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23796" y="3939436"/>
            <a:ext cx="720000" cy="720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712196" y="4908700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FFFFFF"/>
                </a:solidFill>
                <a:latin typeface="Pretendard"/>
              </a:rPr>
              <a:t>재무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12196" y="5320180"/>
            <a:ext cx="274320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75" b="0">
                <a:solidFill>
                  <a:srgbClr val="9AA4B2"/>
                </a:solidFill>
                <a:latin typeface="Pretendard"/>
              </a:rPr>
              <a:t>권한이 다름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12196" y="5759092"/>
            <a:ext cx="274320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50" b="1">
                <a:solidFill>
                  <a:srgbClr val="3E8FF0"/>
                </a:solidFill>
                <a:latin typeface="Pretendard"/>
              </a:rPr>
              <a:t>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15066" y="6280300"/>
            <a:ext cx="2537460" cy="1069848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27432" rIns="82296" bIns="27432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볼 수 있는 사람을</a:t>
            </a:r>
          </a:p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표시합니다</a:t>
            </a:r>
            <a:r>
              <a:rPr lang="en-US" alt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54" name="Picture 53" descr="cat_serv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37328" y="3939436"/>
            <a:ext cx="720000" cy="720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3825728" y="4908700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FFFFFF"/>
                </a:solidFill>
                <a:latin typeface="Pretendard"/>
              </a:rPr>
              <a:t>시설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28" y="5320180"/>
            <a:ext cx="274320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75" b="0">
                <a:solidFill>
                  <a:srgbClr val="9AA4B2"/>
                </a:solidFill>
                <a:latin typeface="Pretendard"/>
              </a:rPr>
              <a:t>연결 방식이 다름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825728" y="5759092"/>
            <a:ext cx="274320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50" b="1">
                <a:solidFill>
                  <a:srgbClr val="3E8FF0"/>
                </a:solidFill>
                <a:latin typeface="Pretendard"/>
              </a:rPr>
              <a:t>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928598" y="6280300"/>
            <a:ext cx="2537460" cy="1069848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27432" rIns="82296" bIns="27432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ko-KR" altLang="en-US" sz="200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연결</a:t>
            </a:r>
            <a:r>
              <a:rPr lang="ko-KR" altLang="en-US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방법을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알려줍니다</a:t>
            </a:r>
            <a:r>
              <a:rPr lang="en-US" altLang="ko-KR" sz="200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 17">
            <a:extLst>
              <a:ext uri="{FF2B5EF4-FFF2-40B4-BE49-F238E27FC236}">
                <a16:creationId xmlns:a16="http://schemas.microsoft.com/office/drawing/2014/main" id="{2604F4DC-25FC-2BA5-FA49-3BE17D664413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07 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27470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A7F5-06DC-15FC-1EF8-FDCA9790D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gen-dedup-5a416b7f66483b154eba4578c2772067.png">
            <a:extLst>
              <a:ext uri="{FF2B5EF4-FFF2-40B4-BE49-F238E27FC236}">
                <a16:creationId xmlns:a16="http://schemas.microsoft.com/office/drawing/2014/main" id="{980D7AE5-033B-CBF4-21F0-4320B367D8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3143707"/>
            <a:ext cx="15544800" cy="9144"/>
          </a:xfrm>
          <a:prstGeom prst="rect">
            <a:avLst/>
          </a:prstGeom>
        </p:spPr>
      </p:pic>
      <p:pic>
        <p:nvPicPr>
          <p:cNvPr id="4" name="Image 2" descr="gen-dedup-5a416b7f66483b154eba4578c2772067.png">
            <a:extLst>
              <a:ext uri="{FF2B5EF4-FFF2-40B4-BE49-F238E27FC236}">
                <a16:creationId xmlns:a16="http://schemas.microsoft.com/office/drawing/2014/main" id="{F12E5EFE-3ECB-B88F-68E0-38C070764A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3619195"/>
            <a:ext cx="15544800" cy="9144"/>
          </a:xfrm>
          <a:prstGeom prst="rect">
            <a:avLst/>
          </a:prstGeom>
        </p:spPr>
      </p:pic>
      <p:pic>
        <p:nvPicPr>
          <p:cNvPr id="6" name="Image 4" descr="gen-dedup-5a416b7f66483b154eba4578c2772067.png">
            <a:extLst>
              <a:ext uri="{FF2B5EF4-FFF2-40B4-BE49-F238E27FC236}">
                <a16:creationId xmlns:a16="http://schemas.microsoft.com/office/drawing/2014/main" id="{06CB4C37-0162-1F54-BBC2-7C0E4885E7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4667098"/>
            <a:ext cx="15544800" cy="9144"/>
          </a:xfrm>
          <a:prstGeom prst="rect">
            <a:avLst/>
          </a:prstGeom>
        </p:spPr>
      </p:pic>
      <p:pic>
        <p:nvPicPr>
          <p:cNvPr id="8" name="Image 6" descr="gen-dedup-5a416b7f66483b154eba4578c2772067.png">
            <a:extLst>
              <a:ext uri="{FF2B5EF4-FFF2-40B4-BE49-F238E27FC236}">
                <a16:creationId xmlns:a16="http://schemas.microsoft.com/office/drawing/2014/main" id="{8208DAA6-34A5-6F5D-5D57-BC87597F21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5715000"/>
            <a:ext cx="15544800" cy="9144"/>
          </a:xfrm>
          <a:prstGeom prst="rect">
            <a:avLst/>
          </a:prstGeom>
        </p:spPr>
      </p:pic>
      <p:pic>
        <p:nvPicPr>
          <p:cNvPr id="10" name="Image 8" descr="gen-dedup-5a416b7f66483b154eba4578c2772067.png">
            <a:extLst>
              <a:ext uri="{FF2B5EF4-FFF2-40B4-BE49-F238E27FC236}">
                <a16:creationId xmlns:a16="http://schemas.microsoft.com/office/drawing/2014/main" id="{8D91F988-8734-084A-30E8-A78B8A25C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6762902"/>
            <a:ext cx="15544800" cy="9144"/>
          </a:xfrm>
          <a:prstGeom prst="rect">
            <a:avLst/>
          </a:prstGeom>
        </p:spPr>
      </p:pic>
      <p:pic>
        <p:nvPicPr>
          <p:cNvPr id="12" name="Image 10" descr="gen-dedup-5a416b7f66483b154eba4578c2772067.png">
            <a:extLst>
              <a:ext uri="{FF2B5EF4-FFF2-40B4-BE49-F238E27FC236}">
                <a16:creationId xmlns:a16="http://schemas.microsoft.com/office/drawing/2014/main" id="{7BAED36A-D30F-CC9C-74DF-C6E3708688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7810805"/>
            <a:ext cx="15544800" cy="9144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2C10B404-7065-5BE6-F27E-F6F95EEF9C51}"/>
              </a:ext>
            </a:extLst>
          </p:cNvPr>
          <p:cNvSpPr txBox="1"/>
          <p:nvPr/>
        </p:nvSpPr>
        <p:spPr>
          <a:xfrm>
            <a:off x="14859000" y="724205"/>
            <a:ext cx="2667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50" kern="0" spc="315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A60AB1F3-9ACA-E808-6BF2-359B8D8410DC}"/>
              </a:ext>
            </a:extLst>
          </p:cNvPr>
          <p:cNvSpPr txBox="1"/>
          <p:nvPr/>
        </p:nvSpPr>
        <p:spPr>
          <a:xfrm>
            <a:off x="1828800" y="3308039"/>
            <a:ext cx="2667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5" kern="0" spc="293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</a:t>
            </a:r>
            <a:endParaRPr lang="en-US" sz="975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EB0DF7D1-6865-D4D5-93B2-53FEDB0AB46F}"/>
              </a:ext>
            </a:extLst>
          </p:cNvPr>
          <p:cNvSpPr txBox="1"/>
          <p:nvPr/>
        </p:nvSpPr>
        <p:spPr>
          <a:xfrm>
            <a:off x="8645235" y="3295498"/>
            <a:ext cx="77380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5" kern="0" spc="293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CONFIRMED DIRECTION</a:t>
            </a:r>
            <a:endParaRPr lang="en-US" sz="975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696CDF96-1261-AA1C-CAC3-4D3C3A173A4E}"/>
              </a:ext>
            </a:extLst>
          </p:cNvPr>
          <p:cNvSpPr txBox="1"/>
          <p:nvPr/>
        </p:nvSpPr>
        <p:spPr>
          <a:xfrm>
            <a:off x="1828800" y="3881639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9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우아한형제들</a:t>
            </a:r>
            <a:endParaRPr lang="en-US" sz="3200">
              <a:latin typeface="Pretendard" panose="02000503000000020004" pitchFamily="2" charset="-127"/>
            </a:endParaRPr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C61B333B-582E-C59B-EBEF-EAD7613700C1}"/>
              </a:ext>
            </a:extLst>
          </p:cNvPr>
          <p:cNvSpPr txBox="1"/>
          <p:nvPr/>
        </p:nvSpPr>
        <p:spPr>
          <a:xfrm>
            <a:off x="8645235" y="3887125"/>
            <a:ext cx="8267752" cy="428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DataHub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바탕으로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검색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화면과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연결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정보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관리</a:t>
            </a:r>
            <a:endParaRPr lang="ko-KR" altLang="en-US" sz="2400" kern="0" spc="-8">
              <a:solidFill>
                <a:srgbClr val="E6E6E6"/>
              </a:solidFill>
              <a:latin typeface="Pretendard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8C8A4BC0-1FE9-1386-6C99-6EBDD9548DFA}"/>
              </a:ext>
            </a:extLst>
          </p:cNvPr>
          <p:cNvSpPr txBox="1"/>
          <p:nvPr/>
        </p:nvSpPr>
        <p:spPr>
          <a:xfrm>
            <a:off x="1828800" y="4953305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9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쏘카</a:t>
            </a:r>
            <a:endParaRPr lang="en-US" sz="3200">
              <a:latin typeface="Pretendard" panose="02000503000000020004" pitchFamily="2" charset="-127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1B3C2A25-E783-A6BD-2DD3-5C0F219B20FC}"/>
              </a:ext>
            </a:extLst>
          </p:cNvPr>
          <p:cNvSpPr txBox="1"/>
          <p:nvPr/>
        </p:nvSpPr>
        <p:spPr>
          <a:xfrm>
            <a:off x="8645235" y="5015485"/>
            <a:ext cx="773807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DataHub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· Amundsen </a:t>
            </a:r>
            <a:r>
              <a:rPr 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비교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후 </a:t>
            </a:r>
            <a:r>
              <a:rPr 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검색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 </a:t>
            </a:r>
            <a:r>
              <a:rPr 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플랫폼</a:t>
            </a:r>
            <a:r>
              <a:rPr lang="en-US" sz="2400" kern="0" spc="-8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kern="0" spc="-8" err="1">
                <a:solidFill>
                  <a:srgbClr val="E6E6E6"/>
                </a:solidFill>
                <a:latin typeface="Pretendard"/>
                <a:ea typeface="Pretendard"/>
                <a:cs typeface="Pretendard" pitchFamily="34" charset="-120"/>
              </a:rPr>
              <a:t>구축</a:t>
            </a:r>
            <a:endParaRPr 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C85F8DA-627B-1F48-146B-3314423DFF26}"/>
              </a:ext>
            </a:extLst>
          </p:cNvPr>
          <p:cNvSpPr txBox="1"/>
          <p:nvPr/>
        </p:nvSpPr>
        <p:spPr>
          <a:xfrm>
            <a:off x="1828800" y="6001207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뱅크샐러드</a:t>
            </a:r>
            <a:endParaRPr lang="en-US" sz="3200" dirty="0">
              <a:latin typeface="Pretendard" panose="02000503000000020004" pitchFamily="2" charset="-127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CF85E30E-B39F-1D34-2E51-C021CCD279D1}"/>
              </a:ext>
            </a:extLst>
          </p:cNvPr>
          <p:cNvSpPr txBox="1"/>
          <p:nvPr/>
        </p:nvSpPr>
        <p:spPr>
          <a:xfrm>
            <a:off x="8645235" y="6063844"/>
            <a:ext cx="773807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개발자가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아니어도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쉽게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데이터를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찾을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있는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환경</a:t>
            </a:r>
            <a:r>
              <a:rPr lang="en-US" altLang="ko-KR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400" kern="0" spc="-8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구축</a:t>
            </a:r>
            <a:endParaRPr lang="en-US">
              <a:latin typeface="Pretendard" panose="02000503000000020004" pitchFamily="2" charset="-127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624E2CE8-104F-2CC7-67AA-6EBCA08745C9}"/>
              </a:ext>
            </a:extLst>
          </p:cNvPr>
          <p:cNvSpPr txBox="1"/>
          <p:nvPr/>
        </p:nvSpPr>
        <p:spPr>
          <a:xfrm>
            <a:off x="1828800" y="7048195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indent="0">
              <a:buNone/>
              <a:defRPr sz="3200" b="1" kern="0" spc="-19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r>
              <a:rPr lang="ko-KR" altLang="ko-KR" dirty="0" err="1"/>
              <a:t>IBK기업은행</a:t>
            </a:r>
            <a:endParaRPr lang="en-US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717E61A-8A69-2C6B-FBBF-881CA7DD22D6}"/>
              </a:ext>
            </a:extLst>
          </p:cNvPr>
          <p:cNvSpPr txBox="1"/>
          <p:nvPr/>
        </p:nvSpPr>
        <p:spPr>
          <a:xfrm>
            <a:off x="8645235" y="7071055"/>
            <a:ext cx="7738070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400" kern="0" spc="-8" dirty="0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검색</a:t>
            </a:r>
            <a:r>
              <a:rPr lang="en-US" altLang="ko-KR" sz="2400" kern="0" spc="-8" dirty="0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2400" kern="0" spc="-8" dirty="0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</a:t>
            </a:r>
            <a:r>
              <a:rPr lang="en-US" altLang="ko-KR" sz="2400" kern="0" spc="-8" dirty="0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2400" kern="0" spc="-8" dirty="0">
                <a:solidFill>
                  <a:srgbClr val="E6E6E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재사용이 가능한 전사 데이터 포털 구축</a:t>
            </a:r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4FA2698D-81D3-2401-51B7-65BB5A30D54F}"/>
              </a:ext>
            </a:extLst>
          </p:cNvPr>
          <p:cNvSpPr txBox="1"/>
          <p:nvPr/>
        </p:nvSpPr>
        <p:spPr>
          <a:xfrm>
            <a:off x="1371600" y="1638605"/>
            <a:ext cx="13335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600" b="1" kern="0" spc="-57" err="1">
                <a:solidFill>
                  <a:schemeClr val="bg1"/>
                </a:solidFill>
                <a:ea typeface="+mn-lt"/>
                <a:cs typeface="+mn-lt"/>
              </a:rPr>
              <a:t>국내</a:t>
            </a:r>
            <a:r>
              <a:rPr lang="en-US" sz="3600" b="1" kern="0" spc="-57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3600" b="1" kern="0" spc="-57" err="1">
                <a:solidFill>
                  <a:schemeClr val="bg1"/>
                </a:solidFill>
                <a:ea typeface="+mn-lt"/>
                <a:cs typeface="+mn-lt"/>
              </a:rPr>
              <a:t>기업의</a:t>
            </a:r>
            <a:r>
              <a:rPr lang="en-US" sz="3600" b="1" kern="0" spc="-57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3600" b="1" kern="0" spc="-57" err="1">
                <a:solidFill>
                  <a:srgbClr val="3E8FF0"/>
                </a:solidFill>
                <a:ea typeface="+mn-lt"/>
                <a:cs typeface="+mn-lt"/>
              </a:rPr>
              <a:t>데이터</a:t>
            </a:r>
            <a:r>
              <a:rPr lang="en-US" sz="3600" b="1" kern="0" spc="-57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en-US" sz="3600" b="1" kern="0" spc="-57" err="1">
                <a:solidFill>
                  <a:srgbClr val="3E8FF0"/>
                </a:solidFill>
                <a:ea typeface="+mn-lt"/>
                <a:cs typeface="+mn-lt"/>
              </a:rPr>
              <a:t>카탈로그</a:t>
            </a:r>
            <a:r>
              <a:rPr lang="en-US" sz="3600" b="1" kern="0" spc="-57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3600" b="1" kern="0" spc="-57" err="1">
                <a:solidFill>
                  <a:srgbClr val="FFFFFF"/>
                </a:solidFill>
                <a:ea typeface="+mn-lt"/>
                <a:cs typeface="+mn-lt"/>
              </a:rPr>
              <a:t>구축</a:t>
            </a:r>
            <a:r>
              <a:rPr lang="en-US" sz="3600" b="1" kern="0" spc="-57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3600" b="1" kern="0" spc="-57" err="1">
                <a:solidFill>
                  <a:srgbClr val="FFFFFF"/>
                </a:solidFill>
                <a:ea typeface="+mn-lt"/>
                <a:cs typeface="+mn-lt"/>
              </a:rPr>
              <a:t>사례</a:t>
            </a:r>
            <a:r>
              <a:rPr lang="en-US" sz="3600" b="1" kern="0" spc="-57">
                <a:solidFill>
                  <a:srgbClr val="FFFFFF"/>
                </a:solidFill>
                <a:ea typeface="+mn-lt"/>
                <a:cs typeface="+mn-lt"/>
              </a:rPr>
              <a:t> </a:t>
            </a:r>
            <a:endParaRPr lang="en-US" sz="3600" kern="0" spc="-57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D5A191F0-84D6-59A6-D7CE-119131F55F1F}"/>
              </a:ext>
            </a:extLst>
          </p:cNvPr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08</a:t>
            </a:r>
            <a:endParaRPr lang="en-US" sz="1050">
              <a:latin typeface="Pretendard" panose="02000503000000020004" pitchFamily="2" charset="-127"/>
            </a:endParaRPr>
          </a:p>
        </p:txBody>
      </p:sp>
      <p:pic>
        <p:nvPicPr>
          <p:cNvPr id="43" name="Image 0" descr="gen-dedup-65023606363c572925cd648759e0c0b7.png">
            <a:extLst>
              <a:ext uri="{FF2B5EF4-FFF2-40B4-BE49-F238E27FC236}">
                <a16:creationId xmlns:a16="http://schemas.microsoft.com/office/drawing/2014/main" id="{BDC93A26-5EA5-48C3-10F0-592F99F4E2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cxnSp>
        <p:nvCxnSpPr>
          <p:cNvPr id="2" name="Connector 23">
            <a:extLst>
              <a:ext uri="{FF2B5EF4-FFF2-40B4-BE49-F238E27FC236}">
                <a16:creationId xmlns:a16="http://schemas.microsoft.com/office/drawing/2014/main" id="{F5C92EA0-83B0-CED8-C014-DC05B7305CCC}"/>
              </a:ext>
            </a:extLst>
          </p:cNvPr>
          <p:cNvCxnSpPr>
            <a:cxnSpLocks/>
          </p:cNvCxnSpPr>
          <p:nvPr/>
        </p:nvCxnSpPr>
        <p:spPr>
          <a:xfrm>
            <a:off x="2459781" y="8022860"/>
            <a:ext cx="0" cy="807345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23">
            <a:extLst>
              <a:ext uri="{FF2B5EF4-FFF2-40B4-BE49-F238E27FC236}">
                <a16:creationId xmlns:a16="http://schemas.microsoft.com/office/drawing/2014/main" id="{2B28F1D5-FAF6-A25C-5EB2-9E485BFEBA7E}"/>
              </a:ext>
            </a:extLst>
          </p:cNvPr>
          <p:cNvSpPr txBox="1"/>
          <p:nvPr/>
        </p:nvSpPr>
        <p:spPr>
          <a:xfrm>
            <a:off x="1371602" y="8991296"/>
            <a:ext cx="12382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400" b="1" kern="0" spc="-31">
                <a:solidFill>
                  <a:srgbClr val="FFFFFF"/>
                </a:solidFill>
                <a:ea typeface="+mn-lt"/>
                <a:cs typeface="+mn-lt"/>
              </a:rPr>
              <a:t>핵심은</a:t>
            </a:r>
            <a:r>
              <a:rPr lang="en-US" sz="2400" b="1" kern="0" spc="-31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 kern="0" spc="-31" err="1">
                <a:solidFill>
                  <a:srgbClr val="3E8FF0"/>
                </a:solidFill>
                <a:ea typeface="+mn-lt"/>
                <a:cs typeface="+mn-lt"/>
              </a:rPr>
              <a:t>메타데이터</a:t>
            </a:r>
            <a:r>
              <a:rPr lang="en-US" sz="2400" b="1" kern="0" spc="-31" err="1">
                <a:solidFill>
                  <a:schemeClr val="bg1"/>
                </a:solidFill>
                <a:ea typeface="+mn-lt"/>
                <a:cs typeface="+mn-lt"/>
              </a:rPr>
              <a:t>를</a:t>
            </a:r>
            <a:r>
              <a:rPr lang="en-US" sz="2400" b="1" kern="0" spc="-31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400" b="1" kern="0" spc="-31" err="1">
                <a:solidFill>
                  <a:srgbClr val="3E8FF0"/>
                </a:solidFill>
                <a:ea typeface="+mn-lt"/>
                <a:cs typeface="+mn-lt"/>
              </a:rPr>
              <a:t>실제</a:t>
            </a:r>
            <a:r>
              <a:rPr 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ko-KR" alt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데이터</a:t>
            </a:r>
            <a:r>
              <a:rPr lang="en-US" altLang="ko-KR" sz="2400" b="1" kern="0" spc="-31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ko-KR" alt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검색</a:t>
            </a:r>
            <a:r>
              <a:rPr lang="ko-KR" altLang="en-US" sz="2400" b="1" kern="0" spc="-31">
                <a:solidFill>
                  <a:schemeClr val="bg1"/>
                </a:solidFill>
                <a:ea typeface="+mn-lt"/>
                <a:cs typeface="+mn-lt"/>
              </a:rPr>
              <a:t>과</a:t>
            </a:r>
            <a:r>
              <a:rPr lang="en-US" altLang="ko-KR" sz="2400" b="1" kern="0" spc="-31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ko-KR" alt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활용</a:t>
            </a:r>
            <a:r>
              <a:rPr lang="en-US" altLang="ko-KR" sz="2400" b="1" kern="0" spc="-31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en-US" sz="2400" b="1" kern="0" spc="-31" err="1">
                <a:solidFill>
                  <a:srgbClr val="3E8FF0"/>
                </a:solidFill>
                <a:ea typeface="+mn-lt"/>
                <a:cs typeface="+mn-lt"/>
              </a:rPr>
              <a:t>과정</a:t>
            </a:r>
            <a:r>
              <a:rPr lang="ko-KR" altLang="en-US" sz="2400" b="1" kern="0" spc="-31">
                <a:solidFill>
                  <a:schemeClr val="bg1"/>
                </a:solidFill>
                <a:ea typeface="+mn-lt"/>
                <a:cs typeface="+mn-lt"/>
              </a:rPr>
              <a:t>에</a:t>
            </a:r>
            <a:r>
              <a:rPr 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ko-KR" altLang="en-US" sz="2400" b="1" kern="0" spc="-31">
                <a:solidFill>
                  <a:srgbClr val="3E8FF0"/>
                </a:solidFill>
                <a:ea typeface="+mn-lt"/>
                <a:cs typeface="+mn-lt"/>
              </a:rPr>
              <a:t>연결</a:t>
            </a:r>
            <a:r>
              <a:rPr lang="ko-KR" sz="2400" b="1" kern="0" spc="-31">
                <a:solidFill>
                  <a:schemeClr val="bg1"/>
                </a:solidFill>
                <a:ea typeface="+mn-lt"/>
                <a:cs typeface="+mn-lt"/>
              </a:rPr>
              <a:t>했다는</a:t>
            </a:r>
            <a:r>
              <a:rPr lang="en-US" altLang="ko-KR" sz="2400" b="1" kern="0" spc="-31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400" b="1" kern="0" spc="-31" err="1">
                <a:solidFill>
                  <a:schemeClr val="bg1"/>
                </a:solidFill>
                <a:ea typeface="+mn-lt"/>
                <a:cs typeface="+mn-lt"/>
              </a:rPr>
              <a:t>점입니다</a:t>
            </a:r>
            <a:r>
              <a:rPr lang="en-US" sz="2400" b="1" kern="0" spc="-31">
                <a:solidFill>
                  <a:srgbClr val="FFFFFF"/>
                </a:solidFill>
                <a:ea typeface="+mn-lt"/>
                <a:cs typeface="+mn-lt"/>
              </a:rPr>
              <a:t>.</a:t>
            </a:r>
            <a:endParaRPr lang="en-US" sz="2400" kern="0" spc="-31">
              <a:solidFill>
                <a:srgbClr val="000000"/>
              </a:solidFill>
              <a:ea typeface="+mn-lt"/>
              <a:cs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FDA2B6F-DD6C-0565-4D57-716538506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473721" y="3629260"/>
            <a:ext cx="22483" cy="864278"/>
          </a:xfrm>
          <a:prstGeom prst="rect">
            <a:avLst/>
          </a:prstGeom>
          <a:ln>
            <a:solidFill>
              <a:srgbClr val="91E8D4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9CD910D-558E-3F3A-5D75-9982ABD9C9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7254" y="4682242"/>
            <a:ext cx="37946" cy="8756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C00725-6A38-538F-D0A2-12A89FB3AF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5145" y="5735376"/>
            <a:ext cx="51531" cy="868026"/>
          </a:xfrm>
          <a:prstGeom prst="rect">
            <a:avLst/>
          </a:prstGeom>
        </p:spPr>
      </p:pic>
      <p:sp>
        <p:nvSpPr>
          <p:cNvPr id="7" name="Text 17">
            <a:extLst>
              <a:ext uri="{FF2B5EF4-FFF2-40B4-BE49-F238E27FC236}">
                <a16:creationId xmlns:a16="http://schemas.microsoft.com/office/drawing/2014/main" id="{D23B1932-C02B-7E3E-C671-EEBFD124F28E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08 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79811E-7023-0B64-68F4-CA8F26A2C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1430232" y="6808503"/>
            <a:ext cx="43879" cy="91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04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7CCAE-B38F-A0F0-CF30-90ED8345B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gen-dedup-bdc530d7c48772f1d5bb04c2ccd6f606.png">
            <a:extLst>
              <a:ext uri="{FF2B5EF4-FFF2-40B4-BE49-F238E27FC236}">
                <a16:creationId xmlns:a16="http://schemas.microsoft.com/office/drawing/2014/main" id="{6029E04B-AF20-FFDA-5238-65AC5793D7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50" b="-450"/>
          <a:stretch/>
        </p:blipFill>
        <p:spPr>
          <a:xfrm>
            <a:off x="1371600" y="3258007"/>
            <a:ext cx="304495" cy="19202"/>
          </a:xfrm>
          <a:prstGeom prst="rect">
            <a:avLst/>
          </a:prstGeom>
        </p:spPr>
      </p:pic>
      <p:pic>
        <p:nvPicPr>
          <p:cNvPr id="4" name="Image 2" descr="gen-dedup-27fee0f4851427d8e46bb7312a3e7b11.png">
            <a:extLst>
              <a:ext uri="{FF2B5EF4-FFF2-40B4-BE49-F238E27FC236}">
                <a16:creationId xmlns:a16="http://schemas.microsoft.com/office/drawing/2014/main" id="{D43C524B-D36D-8226-3DD2-656673AC4B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40" b="-40"/>
          <a:stretch/>
        </p:blipFill>
        <p:spPr>
          <a:xfrm>
            <a:off x="5429707" y="4036571"/>
            <a:ext cx="1143000" cy="381305"/>
          </a:xfrm>
          <a:prstGeom prst="rect">
            <a:avLst/>
          </a:prstGeom>
        </p:spPr>
      </p:pic>
      <p:pic>
        <p:nvPicPr>
          <p:cNvPr id="5" name="Image 3" descr="gen-dedup-dbda110d5d8a197225cfc9a0a2730ea2.png">
            <a:extLst>
              <a:ext uri="{FF2B5EF4-FFF2-40B4-BE49-F238E27FC236}">
                <a16:creationId xmlns:a16="http://schemas.microsoft.com/office/drawing/2014/main" id="{73ED0D04-4878-C515-65C9-CBA4677A64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50" b="-450"/>
          <a:stretch/>
        </p:blipFill>
        <p:spPr>
          <a:xfrm>
            <a:off x="6667805" y="3258007"/>
            <a:ext cx="304495" cy="19202"/>
          </a:xfrm>
          <a:prstGeom prst="rect">
            <a:avLst/>
          </a:prstGeom>
        </p:spPr>
      </p:pic>
      <p:pic>
        <p:nvPicPr>
          <p:cNvPr id="6" name="Image 4" descr="gen-dedup-27fee0f4851427d8e46bb7312a3e7b11.png">
            <a:extLst>
              <a:ext uri="{FF2B5EF4-FFF2-40B4-BE49-F238E27FC236}">
                <a16:creationId xmlns:a16="http://schemas.microsoft.com/office/drawing/2014/main" id="{E8900660-4F3A-5358-362B-7EC091D89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40" b="-40"/>
          <a:stretch/>
        </p:blipFill>
        <p:spPr>
          <a:xfrm>
            <a:off x="10668305" y="4036571"/>
            <a:ext cx="1143000" cy="381305"/>
          </a:xfrm>
          <a:prstGeom prst="rect">
            <a:avLst/>
          </a:prstGeom>
        </p:spPr>
      </p:pic>
      <p:pic>
        <p:nvPicPr>
          <p:cNvPr id="7" name="Image 5" descr="gen-dedup-bdc530d7c48772f1d5bb04c2ccd6f606.png">
            <a:extLst>
              <a:ext uri="{FF2B5EF4-FFF2-40B4-BE49-F238E27FC236}">
                <a16:creationId xmlns:a16="http://schemas.microsoft.com/office/drawing/2014/main" id="{B643AD75-775A-4CB0-59B0-C0C8899FD8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50" b="-450"/>
          <a:stretch/>
        </p:blipFill>
        <p:spPr>
          <a:xfrm>
            <a:off x="11906402" y="3258007"/>
            <a:ext cx="304495" cy="19202"/>
          </a:xfrm>
          <a:prstGeom prst="rect">
            <a:avLst/>
          </a:prstGeom>
        </p:spPr>
      </p:pic>
      <p:pic>
        <p:nvPicPr>
          <p:cNvPr id="8" name="Image 6" descr="gen-dedup-5a416b7f66483b154eba4578c2772067.png">
            <a:extLst>
              <a:ext uri="{FF2B5EF4-FFF2-40B4-BE49-F238E27FC236}">
                <a16:creationId xmlns:a16="http://schemas.microsoft.com/office/drawing/2014/main" id="{B24243E9-5843-76D0-DC27-AF5232EA6E2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1371600" y="7905902"/>
            <a:ext cx="15544800" cy="9144"/>
          </a:xfrm>
          <a:prstGeom prst="rect">
            <a:avLst/>
          </a:prstGeom>
        </p:spPr>
      </p:pic>
      <p:sp>
        <p:nvSpPr>
          <p:cNvPr id="10" name="Text 0">
            <a:extLst>
              <a:ext uri="{FF2B5EF4-FFF2-40B4-BE49-F238E27FC236}">
                <a16:creationId xmlns:a16="http://schemas.microsoft.com/office/drawing/2014/main" id="{328C3E46-53AB-07DD-BE8C-1F6DF27E2022}"/>
              </a:ext>
            </a:extLst>
          </p:cNvPr>
          <p:cNvSpPr txBox="1"/>
          <p:nvPr/>
        </p:nvSpPr>
        <p:spPr>
          <a:xfrm>
            <a:off x="13906195" y="724205"/>
            <a:ext cx="36201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50" kern="0" spc="315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LEADING COMPANY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8DF6606-562D-07FD-E143-95E04DC3B85F}"/>
              </a:ext>
            </a:extLst>
          </p:cNvPr>
          <p:cNvSpPr txBox="1"/>
          <p:nvPr/>
        </p:nvSpPr>
        <p:spPr>
          <a:xfrm>
            <a:off x="1371600" y="2952598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27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 NETWORKS BUSINESS</a:t>
            </a:r>
            <a:endParaRPr lang="en-US" sz="2000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989F075-C6A3-2064-246B-8D2C048BB98A}"/>
              </a:ext>
            </a:extLst>
          </p:cNvPr>
          <p:cNvSpPr txBox="1"/>
          <p:nvPr/>
        </p:nvSpPr>
        <p:spPr>
          <a:xfrm>
            <a:off x="1371600" y="3884324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정보통신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C31C45F5-1504-3453-AD0B-4E310F39905C}"/>
              </a:ext>
            </a:extLst>
          </p:cNvPr>
          <p:cNvSpPr txBox="1"/>
          <p:nvPr/>
        </p:nvSpPr>
        <p:spPr>
          <a:xfrm>
            <a:off x="3372307" y="3884324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3E8FF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400" b="1" kern="0" spc="-12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호텔앤리조트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82922775-D51F-FA1B-9B80-254B787D2B8D}"/>
              </a:ext>
            </a:extLst>
          </p:cNvPr>
          <p:cNvSpPr txBox="1"/>
          <p:nvPr/>
        </p:nvSpPr>
        <p:spPr>
          <a:xfrm>
            <a:off x="1371600" y="4646933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웰니스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CE7FB1E-4C23-E1C6-9F95-CBEA8CA363E7}"/>
              </a:ext>
            </a:extLst>
          </p:cNvPr>
          <p:cNvSpPr txBox="1"/>
          <p:nvPr/>
        </p:nvSpPr>
        <p:spPr>
          <a:xfrm>
            <a:off x="3372307" y="4646933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모빌리티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ACB6135D-6A03-525B-C719-BEEBF065A335}"/>
              </a:ext>
            </a:extLst>
          </p:cNvPr>
          <p:cNvSpPr txBox="1"/>
          <p:nvPr/>
        </p:nvSpPr>
        <p:spPr>
          <a:xfrm>
            <a:off x="1371600" y="5408628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</a:t>
            </a:r>
            <a:r>
              <a:rPr lang="en-US" sz="2000" kern="0" spc="-1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트레이딩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9372B5A5-7A6B-583A-08CB-FCC9ABDDE203}"/>
              </a:ext>
            </a:extLst>
          </p:cNvPr>
          <p:cNvSpPr txBox="1"/>
          <p:nvPr/>
        </p:nvSpPr>
        <p:spPr>
          <a:xfrm>
            <a:off x="3372307" y="5408628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50AF5304-EB26-0B9C-4BD2-254AB0C3CC1A}"/>
              </a:ext>
            </a:extLst>
          </p:cNvPr>
          <p:cNvSpPr txBox="1"/>
          <p:nvPr/>
        </p:nvSpPr>
        <p:spPr>
          <a:xfrm>
            <a:off x="1371600" y="6170324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DEAB58D0-7D95-D202-8797-CC94CAEAE86A}"/>
              </a:ext>
            </a:extLst>
          </p:cNvPr>
          <p:cNvSpPr txBox="1"/>
          <p:nvPr/>
        </p:nvSpPr>
        <p:spPr>
          <a:xfrm>
            <a:off x="3372307" y="6170324"/>
            <a:ext cx="1924812" cy="685800"/>
          </a:xfrm>
          <a:prstGeom prst="rect">
            <a:avLst/>
          </a:prstGeom>
          <a:solidFill>
            <a:srgbClr val="0B111F"/>
          </a:solidFill>
          <a:ln w="12700">
            <a:solidFill>
              <a:srgbClr val="232B3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r>
              <a:rPr lang="en-US" sz="2000" kern="0" spc="-12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kern="0" spc="-12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626AE827-B125-68C0-65D6-98893D2741E7}"/>
              </a:ext>
            </a:extLst>
          </p:cNvPr>
          <p:cNvSpPr txBox="1"/>
          <p:nvPr/>
        </p:nvSpPr>
        <p:spPr>
          <a:xfrm>
            <a:off x="6667805" y="2952598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27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WALKERHILL FIRST</a:t>
            </a:r>
            <a:endParaRPr lang="en-US" sz="2000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089FC9F4-DC6B-7A6B-CA14-61DF398F7AAB}"/>
              </a:ext>
            </a:extLst>
          </p:cNvPr>
          <p:cNvSpPr txBox="1"/>
          <p:nvPr/>
        </p:nvSpPr>
        <p:spPr>
          <a:xfrm>
            <a:off x="6705295" y="3981309"/>
            <a:ext cx="39630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-31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</a:t>
            </a:r>
            <a:r>
              <a:rPr lang="en-US" sz="2100" b="1" kern="0" spc="-3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100" b="1" kern="0" spc="-31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리조트</a:t>
            </a:r>
            <a:r>
              <a:rPr lang="en-US" sz="2100">
                <a:latin typeface="Pretendard" panose="02000503000000020004" pitchFamily="2" charset="-127"/>
              </a:rPr>
              <a:t> </a:t>
            </a:r>
            <a:r>
              <a:rPr lang="en-US" sz="2100" b="1" kern="0" spc="-31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r>
              <a:rPr lang="en-US" sz="2100" b="1" kern="0" spc="-3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100" b="1" kern="0" spc="-31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</a:t>
            </a:r>
            <a:endParaRPr lang="en-US" sz="2100">
              <a:latin typeface="Pretendard" panose="02000503000000020004" pitchFamily="2" charset="-127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EFC99A66-55A8-2885-AB88-A445721BBC8A}"/>
              </a:ext>
            </a:extLst>
          </p:cNvPr>
          <p:cNvSpPr txBox="1"/>
          <p:nvPr/>
        </p:nvSpPr>
        <p:spPr>
          <a:xfrm>
            <a:off x="6695683" y="4992108"/>
            <a:ext cx="4571999" cy="213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8"/>
              </a:lnSpc>
              <a:buNone/>
            </a:pP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·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숙박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+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다이닝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+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멤버십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  <a:p>
            <a:pPr marL="0" indent="0" algn="l">
              <a:lnSpc>
                <a:spcPts val="2708"/>
              </a:lnSpc>
              <a:buNone/>
            </a:pP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·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시설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+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연회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  <a:p>
            <a:pPr>
              <a:lnSpc>
                <a:spcPts val="2708"/>
              </a:lnSpc>
            </a:pP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· 5개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업무</a:t>
            </a:r>
            <a:r>
              <a:rPr lang="en-US" altLang="ko-KR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 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시스템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· 4종 DB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엔진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  <a:p>
            <a:pPr marL="0" indent="0" algn="l">
              <a:lnSpc>
                <a:spcPts val="2708"/>
              </a:lnSpc>
              <a:buNone/>
            </a:pP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·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시간별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·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등급별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상태</a:t>
            </a:r>
            <a:r>
              <a:rPr lang="en-US" sz="2400" kern="0" spc="-12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sz="2400" kern="0" spc="-12" err="1">
                <a:solidFill>
                  <a:srgbClr val="C7CCDA"/>
                </a:solidFill>
                <a:latin typeface="Pretendard" pitchFamily="34" charset="0"/>
                <a:ea typeface="Pretendard"/>
                <a:cs typeface="Pretendard" pitchFamily="34" charset="-120"/>
              </a:rPr>
              <a:t>변화</a:t>
            </a:r>
            <a:endParaRPr lang="en-US" sz="2400">
              <a:latin typeface="Pretendard" panose="02000503000000020004" pitchFamily="2" charset="-127"/>
              <a:ea typeface="Pretendard"/>
            </a:endParaRPr>
          </a:p>
          <a:p>
            <a:pPr>
              <a:lnSpc>
                <a:spcPts val="2708"/>
              </a:lnSpc>
            </a:pP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·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시스템</a:t>
            </a: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간</a:t>
            </a: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연결</a:t>
            </a: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기준이</a:t>
            </a: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필요한</a:t>
            </a:r>
            <a:r>
              <a:rPr 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12">
                <a:solidFill>
                  <a:srgbClr val="C7CCDA"/>
                </a:solidFill>
                <a:latin typeface="Pretendard"/>
                <a:ea typeface="Pretendard"/>
                <a:cs typeface="Pretendard" pitchFamily="34" charset="-120"/>
              </a:rPr>
              <a:t>환경</a:t>
            </a:r>
            <a:endParaRPr lang="en-US" sz="2400" kern="0" spc="-12">
              <a:solidFill>
                <a:srgbClr val="C7CCDA"/>
              </a:solidFill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5916D9B-D239-3FDE-20C1-6782F6BA0264}"/>
              </a:ext>
            </a:extLst>
          </p:cNvPr>
          <p:cNvSpPr txBox="1"/>
          <p:nvPr/>
        </p:nvSpPr>
        <p:spPr>
          <a:xfrm>
            <a:off x="11906401" y="2952598"/>
            <a:ext cx="6000293" cy="259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27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SYNTHETIC DATA · 5 SOURCES</a:t>
            </a:r>
            <a:endParaRPr lang="en-US" sz="2000">
              <a:solidFill>
                <a:srgbClr val="FFFFFF"/>
              </a:solidFill>
              <a:latin typeface="Pretendard" panose="02000503000000020004" pitchFamily="2" charset="-127"/>
            </a:endParaRPr>
          </a:p>
        </p:txBody>
      </p:sp>
      <p:graphicFrame>
        <p:nvGraphicFramePr>
          <p:cNvPr id="27" name="Table 0">
            <a:extLst>
              <a:ext uri="{FF2B5EF4-FFF2-40B4-BE49-F238E27FC236}">
                <a16:creationId xmlns:a16="http://schemas.microsoft.com/office/drawing/2014/main" id="{7D244E43-4409-17F2-09D5-6ABC074C8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08525"/>
              </p:ext>
            </p:extLst>
          </p:nvPr>
        </p:nvGraphicFramePr>
        <p:xfrm>
          <a:off x="11906402" y="3884324"/>
          <a:ext cx="5996808" cy="3600902"/>
        </p:xfrm>
        <a:graphic>
          <a:graphicData uri="http://schemas.openxmlformats.org/drawingml/2006/table">
            <a:tbl>
              <a:tblPr/>
              <a:tblGrid>
                <a:gridCol w="1599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6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93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영역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75895" marB="75895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Pretendard"/>
                          <a:ea typeface="Pretendard"/>
                          <a:cs typeface="Pretendard" pitchFamily="34" charset="-120"/>
                        </a:rPr>
                        <a:t>AI </a:t>
                      </a:r>
                      <a:r>
                        <a:rPr lang="ko-KR" altLang="en-US" sz="1600">
                          <a:solidFill>
                            <a:schemeClr val="bg1"/>
                          </a:solidFill>
                          <a:latin typeface="Pretendard"/>
                          <a:ea typeface="Pretendard"/>
                          <a:cs typeface="Pretendard" pitchFamily="34" charset="-120"/>
                        </a:rPr>
                        <a:t>레디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/>
                          <a:ea typeface="Pretendard"/>
                          <a:cs typeface="Pretendard" pitchFamily="34" charset="-120"/>
                        </a:rPr>
                        <a:t> 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데이터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75895" marB="75895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>
                          <a:solidFill>
                            <a:schemeClr val="bg1"/>
                          </a:solidFill>
                          <a:latin typeface="Pretendard" charset="0"/>
                          <a:ea typeface="Pretendard"/>
                          <a:cs typeface="Pretendard" charset="0"/>
                        </a:rPr>
                        <a:t>데이터베이스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75895" marB="75895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객실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예약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예약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객실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투숙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요금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JetBrains Mono"/>
                          <a:ea typeface="JetBrains Mono" pitchFamily="34" charset="-122"/>
                          <a:cs typeface="JetBrains Mono" pitchFamily="34" charset="-120"/>
                        </a:rPr>
                        <a:t>PostgreSQL</a:t>
                      </a:r>
                      <a:endParaRPr lang="en-US" sz="1600">
                        <a:solidFill>
                          <a:schemeClr val="bg1"/>
                        </a:solidFill>
                        <a:latin typeface="JetBrains Mono"/>
                        <a:ea typeface="JetBrains Mono" charset="0"/>
                        <a:cs typeface="JetBrains Mono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2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F&amp;B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매장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주문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상품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결제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JetBrains Mono"/>
                          <a:ea typeface="JetBrains Mono" pitchFamily="34" charset="-122"/>
                          <a:cs typeface="JetBrains Mono" pitchFamily="34" charset="-120"/>
                        </a:rPr>
                        <a:t>MySQL</a:t>
                      </a:r>
                      <a:endParaRPr lang="en-US" sz="1600">
                        <a:solidFill>
                          <a:schemeClr val="bg1"/>
                        </a:solidFill>
                        <a:latin typeface="JetBrains Mono"/>
                        <a:ea typeface="JetBrains Mono" charset="0"/>
                        <a:cs typeface="JetBrains Mono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3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멤버십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고객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고객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등급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이력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포인트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JetBrains Mono"/>
                          <a:ea typeface="JetBrains Mono" pitchFamily="34" charset="-122"/>
                          <a:cs typeface="JetBrains Mono" pitchFamily="34" charset="-120"/>
                        </a:rPr>
                        <a:t>SQL Server</a:t>
                      </a:r>
                      <a:endParaRPr lang="en-US" sz="1600">
                        <a:solidFill>
                          <a:schemeClr val="bg1"/>
                        </a:solidFill>
                        <a:latin typeface="JetBrains Mono"/>
                        <a:ea typeface="JetBrains Mono" charset="0"/>
                        <a:cs typeface="JetBrains Mono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3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시설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운영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이용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점검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장애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이벤트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JetBrains Mono"/>
                          <a:ea typeface="JetBrains Mono" pitchFamily="34" charset="-122"/>
                          <a:cs typeface="JetBrains Mono" pitchFamily="34" charset="-120"/>
                        </a:rPr>
                        <a:t>ClickHouse</a:t>
                      </a:r>
                      <a:endParaRPr lang="en-US" sz="1600">
                        <a:solidFill>
                          <a:schemeClr val="bg1"/>
                        </a:solidFill>
                        <a:latin typeface="JetBrains Mono"/>
                        <a:ea typeface="JetBrains Mono" charset="0"/>
                        <a:cs typeface="JetBrains Mono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3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연회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매출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연회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예약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상품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 · </a:t>
                      </a:r>
                      <a:r>
                        <a:rPr lang="en-US" sz="1600" err="1">
                          <a:solidFill>
                            <a:schemeClr val="bg1"/>
                          </a:solidFill>
                          <a:latin typeface="Pretendard" pitchFamily="34" charset="0"/>
                          <a:ea typeface="Pretendard"/>
                          <a:cs typeface="Pretendard" pitchFamily="34" charset="-120"/>
                        </a:rPr>
                        <a:t>매출</a:t>
                      </a:r>
                      <a:endParaRPr lang="en-US" sz="1600">
                        <a:solidFill>
                          <a:schemeClr val="bg1"/>
                        </a:solidFill>
                        <a:latin typeface="Pretendard" charset="0"/>
                        <a:ea typeface="Pretendard"/>
                        <a:cs typeface="Pretendard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latin typeface="JetBrains Mono"/>
                          <a:ea typeface="JetBrains Mono" pitchFamily="34" charset="-122"/>
                          <a:cs typeface="JetBrains Mono" pitchFamily="34" charset="-120"/>
                        </a:rPr>
                        <a:t>PostgreSQL</a:t>
                      </a:r>
                      <a:endParaRPr lang="en-US" sz="1600">
                        <a:solidFill>
                          <a:schemeClr val="bg1"/>
                        </a:solidFill>
                        <a:latin typeface="JetBrains Mono"/>
                        <a:ea typeface="JetBrains Mono" charset="0"/>
                        <a:cs typeface="JetBrains Mono" charset="0"/>
                      </a:endParaRPr>
                    </a:p>
                  </a:txBody>
                  <a:tcPr marL="95098" marR="95098" marT="114300" marB="114300" anchor="ctr">
                    <a:lnL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232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6" name="Image 0" descr="gen-dedup-65023606363c572925cd648759e0c0b7.png">
            <a:extLst>
              <a:ext uri="{FF2B5EF4-FFF2-40B4-BE49-F238E27FC236}">
                <a16:creationId xmlns:a16="http://schemas.microsoft.com/office/drawing/2014/main" id="{9CD4B39A-EA03-02EC-8204-8490BCD3301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38" name="Text 0">
            <a:extLst>
              <a:ext uri="{FF2B5EF4-FFF2-40B4-BE49-F238E27FC236}">
                <a16:creationId xmlns:a16="http://schemas.microsoft.com/office/drawing/2014/main" id="{AC2D1685-AE15-C608-6841-7632FE2179F7}"/>
              </a:ext>
            </a:extLst>
          </p:cNvPr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09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11" name="Text 18">
            <a:extLst>
              <a:ext uri="{FF2B5EF4-FFF2-40B4-BE49-F238E27FC236}">
                <a16:creationId xmlns:a16="http://schemas.microsoft.com/office/drawing/2014/main" id="{3577B19D-17F1-0CAE-1B4E-F36AB5A44283}"/>
              </a:ext>
            </a:extLst>
          </p:cNvPr>
          <p:cNvSpPr txBox="1"/>
          <p:nvPr/>
        </p:nvSpPr>
        <p:spPr>
          <a:xfrm>
            <a:off x="1617768" y="8577828"/>
            <a:ext cx="15254244" cy="86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sz="2400" b="1" kern="0" spc="-8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복합</a:t>
            </a:r>
            <a:r>
              <a:rPr lang="ko-KR" sz="2400" b="1" kern="0" spc="-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b="1" kern="0" spc="-8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리조트</a:t>
            </a:r>
            <a:r>
              <a:rPr lang="ko-KR" sz="2400" b="1" kern="0" spc="-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b="1" kern="0" spc="-8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운영</a:t>
            </a:r>
            <a:r>
              <a:rPr lang="ko-KR" sz="2400" b="1" kern="0" spc="-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b="1" kern="0" spc="-8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환경을</a:t>
            </a:r>
            <a:r>
              <a:rPr lang="ko-KR" sz="2400" b="1" kern="0" spc="-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b="1" kern="0" spc="-8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재현한</a:t>
            </a:r>
            <a:r>
              <a:rPr lang="ko-KR" sz="2400" b="1" kern="0" spc="-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시나리오이며,</a:t>
            </a:r>
            <a:endParaRPr lang="en-US" sz="2400" b="1"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호텔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데이터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관련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연구와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라쿠텐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공개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스키마를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참고해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AI-Ready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데이터로</a:t>
            </a:r>
            <a:r>
              <a:rPr lang="ko-KR" sz="2400" kern="0" spc="-8">
                <a:solidFill>
                  <a:srgbClr val="9AA4B2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설계했습니다</a:t>
            </a:r>
            <a:r>
              <a:rPr lang="en-US" altLang="ko-KR" sz="2400" kern="0" spc="-8">
                <a:solidFill>
                  <a:srgbClr val="9AA4B2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.</a:t>
            </a:r>
            <a:endParaRPr lang="en-US" sz="2400"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A7D87BD2-5A7D-D7AB-96B3-57A44E32B9C2}"/>
              </a:ext>
            </a:extLst>
          </p:cNvPr>
          <p:cNvSpPr txBox="1"/>
          <p:nvPr/>
        </p:nvSpPr>
        <p:spPr>
          <a:xfrm>
            <a:off x="1371600" y="1638605"/>
            <a:ext cx="13335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600" b="1" kern="0" spc="-57">
                <a:solidFill>
                  <a:srgbClr val="FFFFFF"/>
                </a:solidFill>
                <a:latin typeface="Pretendard"/>
                <a:ea typeface="Pretendard"/>
              </a:rPr>
              <a:t>워커힐과 유사한 </a:t>
            </a:r>
            <a:r>
              <a:rPr lang="ko-KR" altLang="en-US" sz="3600" b="1" kern="0" spc="-57">
                <a:solidFill>
                  <a:srgbClr val="3E8FF0"/>
                </a:solidFill>
                <a:latin typeface="Pretendard"/>
                <a:ea typeface="Pretendard"/>
              </a:rPr>
              <a:t>복합 리조트 환경</a:t>
            </a:r>
            <a:r>
              <a:rPr lang="en-US" sz="3600" b="1" kern="0" spc="-57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lang="en-US" sz="3600" b="1" kern="0" spc="-57" err="1">
                <a:solidFill>
                  <a:srgbClr val="3E8FF0"/>
                </a:solidFill>
                <a:latin typeface="Pretendard"/>
                <a:ea typeface="Pretendard"/>
              </a:rPr>
              <a:t>검증</a:t>
            </a:r>
            <a:endParaRPr lang="en-US" altLang="ko-KR" sz="3600" b="1" kern="0" spc="-57" err="1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5F23EFA-06A1-6DD2-0EBC-A438B2ACA521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09 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568397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515807"/>
            <a:ext cx="15544800" cy="914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 / 10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5" name="Text 1"/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것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1371600" y="1638605"/>
            <a:ext cx="13335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anose="02000503000000020004" pitchFamily="2" charset="-127"/>
              </a:rPr>
              <a:t>Answervice</a:t>
            </a:r>
            <a:r>
              <a:rPr lang="ko-KR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의</a:t>
            </a:r>
            <a:r>
              <a:rPr 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3</a:t>
            </a:r>
            <a:r>
              <a:rPr lang="ko-KR" altLang="en-US" sz="3600" b="1" kern="0" spc="-7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가지</a:t>
            </a:r>
            <a:r>
              <a:rPr lang="en-US" altLang="ko-KR" sz="3600" b="1" kern="0" spc="-7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600" b="1" kern="0" spc="-76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핵심 기능</a:t>
            </a:r>
            <a:endParaRPr lang="ko-KR" altLang="en-US" sz="3600" b="1" kern="0" spc="-76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7" name="Shape 3"/>
          <p:cNvSpPr/>
          <p:nvPr/>
        </p:nvSpPr>
        <p:spPr>
          <a:xfrm>
            <a:off x="1371600" y="2857500"/>
            <a:ext cx="4876495" cy="4953305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8" name="Shape 4"/>
          <p:cNvSpPr/>
          <p:nvPr/>
        </p:nvSpPr>
        <p:spPr>
          <a:xfrm>
            <a:off x="1371600" y="2857500"/>
            <a:ext cx="4876495" cy="38405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1752905" y="3258007"/>
            <a:ext cx="4114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200" b="1" kern="0" spc="-243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01</a:t>
            </a:r>
            <a:r>
              <a:rPr lang="en-US" sz="3200" b="1" kern="0" spc="-243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200" b="1" kern="0" spc="-243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200" b="1" kern="0" spc="-243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탐색</a:t>
            </a:r>
            <a:endParaRPr lang="ko-KR" altLang="en-US" sz="3200" b="1" kern="0" spc="-243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1752905" y="4515307"/>
            <a:ext cx="41148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2700" b="1" kern="0" spc="-81">
                <a:solidFill>
                  <a:srgbClr val="FFFFFF"/>
                </a:solidFill>
                <a:latin typeface="Pretendard"/>
                <a:ea typeface="맑은 고딕"/>
              </a:rPr>
              <a:t>데이터 카탈로그</a:t>
            </a:r>
            <a:endParaRPr lang="en-US" sz="2700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1752905" y="5562295"/>
            <a:ext cx="4114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흩어진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데이터의</a:t>
            </a:r>
            <a:r>
              <a:rPr lang="en-US" altLang="ko-KR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위치와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의미를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정리</a:t>
            </a:r>
            <a:endParaRPr lang="en-US" sz="2000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2" name="Image 2" descr="gen-dedup-d9b7b24ab071276b1cd05140209cefa5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57800" y="3238805"/>
            <a:ext cx="495605" cy="49560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705295" y="2857500"/>
            <a:ext cx="4876495" cy="4953305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705295" y="2857500"/>
            <a:ext cx="4876495" cy="38405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7086600" y="3258007"/>
            <a:ext cx="4114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200" b="1" kern="0" spc="-243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02 </a:t>
            </a:r>
            <a:r>
              <a:rPr lang="en-US" altLang="ko-KR" sz="3200" b="1" kern="0" spc="-243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200" b="1" kern="0" spc="-243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분석</a:t>
            </a:r>
            <a:endParaRPr lang="ko-KR" altLang="en-US" sz="3200" b="1" kern="0" spc="-243">
              <a:solidFill>
                <a:schemeClr val="bg1"/>
              </a:solidFill>
              <a:latin typeface="Pretendard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7086600" y="4529246"/>
            <a:ext cx="41148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2700" b="1" kern="0" spc="-81">
                <a:solidFill>
                  <a:srgbClr val="FFFFFF"/>
                </a:solidFill>
                <a:latin typeface="Pretendard"/>
                <a:ea typeface="맑은 고딕"/>
              </a:rPr>
              <a:t>질문으로 분석하기</a:t>
            </a:r>
            <a:endParaRPr lang="en-US" sz="2700">
              <a:latin typeface="Pretendard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7086600" y="5576234"/>
            <a:ext cx="4114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질문에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맞는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데이터를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찾고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분석</a:t>
            </a:r>
            <a:endParaRPr lang="en-US" sz="200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pic>
        <p:nvPicPr>
          <p:cNvPr id="18" name="Image 3" descr="gen-dedup-608bd9fb5484b41af5e3fb71e2e910b8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91495" y="3238805"/>
            <a:ext cx="495605" cy="49560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12039905" y="2857500"/>
            <a:ext cx="4876495" cy="4953305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12039905" y="2857500"/>
            <a:ext cx="4876495" cy="38405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12420295" y="3258007"/>
            <a:ext cx="4114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200" b="1" kern="0" spc="-243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03 </a:t>
            </a:r>
            <a:r>
              <a:rPr lang="en-US" altLang="ko-KR" sz="3200" b="1" kern="0" spc="-243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3200" b="1" kern="0" spc="-243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활용</a:t>
            </a:r>
            <a:endParaRPr lang="ko-KR" altLang="en-US" sz="3200" b="1" kern="0" spc="-243">
              <a:solidFill>
                <a:schemeClr val="bg1"/>
              </a:solidFill>
              <a:latin typeface="Pretendard"/>
              <a:ea typeface="맑은 고딕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12420295" y="4529246"/>
            <a:ext cx="41148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2700" b="1" kern="0" spc="-81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근거</a:t>
            </a:r>
            <a:r>
              <a:rPr lang="en-US" sz="2700" b="1" kern="0" spc="-8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700" b="1" kern="0" spc="-8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있는 </a:t>
            </a:r>
            <a:r>
              <a:rPr lang="ko-KR" altLang="en-US" sz="2700" b="1" kern="0" spc="-81">
                <a:solidFill>
                  <a:srgbClr val="FFFFFF"/>
                </a:solidFill>
                <a:latin typeface="Pretendard"/>
                <a:ea typeface="맑은 고딕"/>
              </a:rPr>
              <a:t>보고서</a:t>
            </a:r>
            <a:endParaRPr lang="en-US" sz="2700" b="1" kern="0" spc="-8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12420295" y="5576234"/>
            <a:ext cx="4114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분석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결과와 사용한 데이터를 </a:t>
            </a:r>
            <a:r>
              <a:rPr lang="en-US" sz="2000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함께</a:t>
            </a:r>
            <a:r>
              <a:rPr 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제시</a:t>
            </a:r>
            <a:endParaRPr lang="ko-KR" altLang="en-US" sz="2000" kern="0" spc="-18">
              <a:solidFill>
                <a:schemeClr val="bg1"/>
              </a:solidFill>
              <a:latin typeface="Pretendard"/>
              <a:ea typeface="맑은 고딕"/>
            </a:endParaRPr>
          </a:p>
        </p:txBody>
      </p:sp>
      <p:pic>
        <p:nvPicPr>
          <p:cNvPr id="24" name="Image 4" descr="gen-dedup-ae935bbfa37eb38bfc5545bbc032187f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926105" y="3238805"/>
            <a:ext cx="495605" cy="4956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8858707"/>
            <a:ext cx="155448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반복되는 업무를 줄이고, 더 빠르고 정확한 </a:t>
            </a:r>
            <a:r>
              <a:rPr lang="ko-KR" altLang="en-US" sz="2400" b="1" kern="0" spc="-72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의사결정</a:t>
            </a:r>
            <a:r>
              <a:rPr lang="ko-KR" alt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을</a:t>
            </a:r>
            <a:r>
              <a:rPr lang="ko-KR" alt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b="1" kern="0" spc="-72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지원</a:t>
            </a:r>
            <a:r>
              <a:rPr lang="ko-KR" altLang="en-US" sz="2400" b="1" kern="0" spc="-72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합니다.</a:t>
            </a:r>
            <a:endParaRPr lang="en-US" altLang="ko-KR" sz="2400" b="1" kern="0" spc="-72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7308D259-88D3-0FD0-5B87-A5FB7C78F6EA}"/>
              </a:ext>
            </a:extLst>
          </p:cNvPr>
          <p:cNvSpPr/>
          <p:nvPr/>
        </p:nvSpPr>
        <p:spPr>
          <a:xfrm>
            <a:off x="1758023" y="6791093"/>
            <a:ext cx="4103648" cy="1006085"/>
          </a:xfrm>
          <a:prstGeom prst="rect">
            <a:avLst/>
          </a:prstGeom>
          <a:solidFill>
            <a:srgbClr val="0A1626"/>
          </a:solidFill>
          <a:ln w="12700">
            <a:solidFill>
              <a:srgbClr val="1C69D4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>
              <a:latin typeface="Pretendard" panose="02000503000000020004" pitchFamily="2" charset="-127"/>
            </a:endParaRPr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F290F054-87F2-AA03-85F2-884AC11B713B}"/>
              </a:ext>
            </a:extLst>
          </p:cNvPr>
          <p:cNvSpPr txBox="1"/>
          <p:nvPr/>
        </p:nvSpPr>
        <p:spPr>
          <a:xfrm>
            <a:off x="1752905" y="7024331"/>
            <a:ext cx="4114800" cy="56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ko-KR" altLang="en-US" sz="2400" b="1" kern="0" spc="-81">
                <a:solidFill>
                  <a:srgbClr val="3E8FF0"/>
                </a:solidFill>
                <a:latin typeface="Pretendard"/>
                <a:ea typeface="맑은 고딕"/>
              </a:rPr>
              <a:t>필요한 데이터를 빠르게 찾기</a:t>
            </a:r>
            <a:endParaRPr lang="ko-KR" altLang="en-US" sz="2400" b="1" kern="0" spc="-81">
              <a:solidFill>
                <a:srgbClr val="3E8FF0"/>
              </a:solidFill>
              <a:latin typeface="Pretendard"/>
              <a:ea typeface="맑은 고딕"/>
              <a:cs typeface="Pretendard" panose="02000503000000020004" pitchFamily="2" charset="-127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7308D259-88D3-0FD0-5B87-A5FB7C78F6EA}"/>
              </a:ext>
            </a:extLst>
          </p:cNvPr>
          <p:cNvSpPr/>
          <p:nvPr/>
        </p:nvSpPr>
        <p:spPr>
          <a:xfrm>
            <a:off x="7083812" y="6763215"/>
            <a:ext cx="4103648" cy="1006085"/>
          </a:xfrm>
          <a:prstGeom prst="rect">
            <a:avLst/>
          </a:prstGeom>
          <a:solidFill>
            <a:srgbClr val="0A1626"/>
          </a:solidFill>
          <a:ln w="12700">
            <a:solidFill>
              <a:srgbClr val="1C69D4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F290F054-87F2-AA03-85F2-884AC11B713B}"/>
              </a:ext>
            </a:extLst>
          </p:cNvPr>
          <p:cNvSpPr txBox="1"/>
          <p:nvPr/>
        </p:nvSpPr>
        <p:spPr>
          <a:xfrm>
            <a:off x="7077612" y="7080087"/>
            <a:ext cx="4114800" cy="439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2400" b="1" kern="0" spc="-8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분석 기준을 일정하게 유지</a:t>
            </a:r>
          </a:p>
        </p:txBody>
      </p:sp>
      <p:sp>
        <p:nvSpPr>
          <p:cNvPr id="40" name="Shape 34">
            <a:extLst>
              <a:ext uri="{FF2B5EF4-FFF2-40B4-BE49-F238E27FC236}">
                <a16:creationId xmlns:a16="http://schemas.microsoft.com/office/drawing/2014/main" id="{C416D83E-2E91-6937-FB86-57AE2AD3BE5B}"/>
              </a:ext>
            </a:extLst>
          </p:cNvPr>
          <p:cNvSpPr/>
          <p:nvPr/>
        </p:nvSpPr>
        <p:spPr>
          <a:xfrm>
            <a:off x="12422458" y="6763215"/>
            <a:ext cx="4103648" cy="1006085"/>
          </a:xfrm>
          <a:prstGeom prst="rect">
            <a:avLst/>
          </a:prstGeom>
          <a:solidFill>
            <a:srgbClr val="0A1626"/>
          </a:solidFill>
          <a:ln w="12700">
            <a:solidFill>
              <a:srgbClr val="1C69D4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33681C3F-FEB4-2348-BBAA-78AA10A7C3D4}"/>
              </a:ext>
            </a:extLst>
          </p:cNvPr>
          <p:cNvSpPr txBox="1"/>
          <p:nvPr/>
        </p:nvSpPr>
        <p:spPr>
          <a:xfrm>
            <a:off x="12416259" y="7010392"/>
            <a:ext cx="4114800" cy="50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ko-KR" altLang="en-US" sz="2400" b="1" kern="0" spc="-81">
                <a:solidFill>
                  <a:srgbClr val="3E8FF0"/>
                </a:solidFill>
                <a:latin typeface="Pretendard"/>
                <a:ea typeface="맑은 고딕"/>
              </a:rPr>
              <a:t>근거가 포함된 분석 결과 제공</a:t>
            </a: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34C0C178-1A8F-8FB2-DDFE-9E12861BC0A5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10 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00366864c127622f1b959a11a52d6986.png"/>
          <p:cNvPicPr>
            <a:picLocks noChangeAspect="1"/>
          </p:cNvPicPr>
          <p:nvPr/>
        </p:nvPicPr>
        <p:blipFill>
          <a:blip r:embed="rId4"/>
          <a:srcRect l="-3" r="-3"/>
          <a:stretch/>
        </p:blipFill>
        <p:spPr>
          <a:xfrm>
            <a:off x="1371600" y="2667305"/>
            <a:ext cx="15544800" cy="2381098"/>
          </a:xfrm>
          <a:prstGeom prst="rect">
            <a:avLst/>
          </a:prstGeom>
        </p:spPr>
      </p:pic>
      <p:pic>
        <p:nvPicPr>
          <p:cNvPr id="4" name="Image 2" descr="gen-dedup-95bfd8d9494f2e8ccdf2c6c67b16780c.png"/>
          <p:cNvPicPr>
            <a:picLocks noChangeAspect="1"/>
          </p:cNvPicPr>
          <p:nvPr/>
        </p:nvPicPr>
        <p:blipFill>
          <a:blip r:embed="rId5"/>
          <a:srcRect l="1106" t="-50000" r="-1106" b="50000"/>
          <a:stretch>
            <a:fillRect/>
          </a:stretch>
        </p:blipFill>
        <p:spPr>
          <a:xfrm>
            <a:off x="1543507" y="4591202"/>
            <a:ext cx="15544800" cy="1295706"/>
          </a:xfrm>
          <a:prstGeom prst="rect">
            <a:avLst/>
          </a:prstGeom>
        </p:spPr>
      </p:pic>
      <p:pic>
        <p:nvPicPr>
          <p:cNvPr id="5" name="Image 3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991295"/>
            <a:ext cx="15544800" cy="9144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11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1"/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처리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8" name="Text 2"/>
          <p:cNvSpPr txBox="1"/>
          <p:nvPr/>
        </p:nvSpPr>
        <p:spPr>
          <a:xfrm>
            <a:off x="1371600" y="1580998"/>
            <a:ext cx="142875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600" b="1" kern="0" spc="-76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질문</a:t>
            </a:r>
            <a:r>
              <a:rPr lang="en-US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에서</a:t>
            </a:r>
            <a:r>
              <a:rPr 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3600" b="1" kern="0" spc="-76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결과</a:t>
            </a:r>
            <a:r>
              <a:rPr lang="en-US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까지</a:t>
            </a:r>
            <a:r>
              <a:rPr 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, </a:t>
            </a:r>
            <a:r>
              <a:rPr lang="ko-KR" altLang="en-US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세부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동작</a:t>
            </a:r>
            <a:r>
              <a:rPr lang="en-US" altLang="ko-KR" sz="3600" b="1" kern="0" spc="-76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3600" b="1" kern="0" spc="-76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과정</a:t>
            </a:r>
            <a:endParaRPr lang="en-US" sz="3600" b="1" kern="0" spc="-76" err="1">
              <a:solidFill>
                <a:srgbClr val="FFFFFF"/>
              </a:solidFill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9" name="Text 3"/>
          <p:cNvSpPr txBox="1"/>
          <p:nvPr/>
        </p:nvSpPr>
        <p:spPr>
          <a:xfrm>
            <a:off x="1371600" y="2305202"/>
            <a:ext cx="5715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273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75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0" name="Shape 4"/>
          <p:cNvSpPr/>
          <p:nvPr/>
        </p:nvSpPr>
        <p:spPr>
          <a:xfrm>
            <a:off x="1371600" y="2667305"/>
            <a:ext cx="2857500" cy="2381098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1" name="Shape 5"/>
          <p:cNvSpPr/>
          <p:nvPr/>
        </p:nvSpPr>
        <p:spPr>
          <a:xfrm>
            <a:off x="1371600" y="2667305"/>
            <a:ext cx="2857500" cy="28346"/>
          </a:xfrm>
          <a:prstGeom prst="rect">
            <a:avLst/>
          </a:prstGeom>
          <a:solidFill>
            <a:srgbClr val="2E3846"/>
          </a:solidFill>
          <a:ln w="12700">
            <a:solidFill>
              <a:srgbClr val="2E38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1619402" y="3534156"/>
            <a:ext cx="23628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2000" b="1" kern="0" spc="-43">
                <a:solidFill>
                  <a:srgbClr val="FFFFFF"/>
                </a:solidFill>
                <a:latin typeface="Pretendard"/>
                <a:ea typeface="맑은 고딕"/>
              </a:rPr>
              <a:t>질문 입력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1619402" y="4292194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평소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사용하는</a:t>
            </a:r>
            <a:r>
              <a:rPr lang="en-US" altLang="ko-KR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문장으로</a:t>
            </a:r>
            <a:r>
              <a:rPr lang="en-US" altLang="ko-KR" kern="0" spc="-18">
                <a:solidFill>
                  <a:schemeClr val="bg1"/>
                </a:solidFill>
                <a:latin typeface="Pretendard" pitchFamily="34" charset="0"/>
                <a:ea typeface="Pretendard"/>
                <a:cs typeface="Pretendard" pitchFamily="34" charset="-120"/>
              </a:rPr>
              <a:t> </a:t>
            </a:r>
            <a:r>
              <a:rPr lang="en-US" altLang="ko-KR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질문</a:t>
            </a:r>
            <a:endParaRPr lang="en-US" err="1">
              <a:solidFill>
                <a:schemeClr val="bg1"/>
              </a:solidFill>
              <a:latin typeface="Pretendard"/>
            </a:endParaRPr>
          </a:p>
        </p:txBody>
      </p:sp>
      <p:pic>
        <p:nvPicPr>
          <p:cNvPr id="14" name="Image 4" descr="gen-dedup-c574fa8bfa2eb19ba26d67b255eb9867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619402" y="2971800"/>
            <a:ext cx="381305" cy="381305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4496105" y="2667305"/>
            <a:ext cx="2857500" cy="2381098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6" name="Shape 9"/>
          <p:cNvSpPr/>
          <p:nvPr/>
        </p:nvSpPr>
        <p:spPr>
          <a:xfrm>
            <a:off x="4496105" y="2667305"/>
            <a:ext cx="2857500" cy="28346"/>
          </a:xfrm>
          <a:prstGeom prst="rect">
            <a:avLst/>
          </a:prstGeom>
          <a:solidFill>
            <a:srgbClr val="2E3846"/>
          </a:solidFill>
          <a:ln w="12700">
            <a:solidFill>
              <a:srgbClr val="2E38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4791463" y="3534156"/>
            <a:ext cx="2549348" cy="322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000" b="1" kern="0" spc="-43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sz="2000" b="1" kern="0" spc="-43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· </a:t>
            </a:r>
            <a:r>
              <a:rPr lang="en-US" sz="2000" b="1" kern="0" spc="-43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업무</a:t>
            </a:r>
            <a:r>
              <a:rPr lang="en-US" sz="2000" b="1" kern="0" spc="-43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kern="0" spc="-43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규칙</a:t>
            </a:r>
            <a:r>
              <a:rPr lang="en-US" sz="2000" b="1" kern="0" spc="-43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kern="0" spc="-43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확인</a:t>
            </a:r>
            <a:endParaRPr lang="en-US" sz="2000">
              <a:latin typeface="Pretendard"/>
            </a:endParaRPr>
          </a:p>
        </p:txBody>
      </p:sp>
      <p:sp>
        <p:nvSpPr>
          <p:cNvPr id="18" name="Text 11"/>
          <p:cNvSpPr txBox="1"/>
          <p:nvPr/>
        </p:nvSpPr>
        <p:spPr>
          <a:xfrm>
            <a:off x="4799663" y="4254373"/>
            <a:ext cx="2293115" cy="535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필요한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위치 확인</a:t>
            </a:r>
            <a:endParaRPr lang="en-US" altLang="ko-KR" err="1">
              <a:solidFill>
                <a:schemeClr val="bg1"/>
              </a:solidFill>
              <a:latin typeface="Pretendard"/>
              <a:ea typeface="Pretendard"/>
              <a:cs typeface="Pretendard" pitchFamily="34" charset="-120"/>
            </a:endParaRPr>
          </a:p>
          <a:p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분석</a:t>
            </a:r>
            <a:r>
              <a:rPr lang="en-US" altLang="ko-KR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기준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확인</a:t>
            </a:r>
            <a:endParaRPr lang="ko-KR" altLang="en-US" kern="0" spc="-18">
              <a:solidFill>
                <a:schemeClr val="bg1"/>
              </a:solidFill>
              <a:latin typeface="Pretendard"/>
            </a:endParaRPr>
          </a:p>
        </p:txBody>
      </p:sp>
      <p:pic>
        <p:nvPicPr>
          <p:cNvPr id="19" name="Image 5" descr="gen-dedup-518089fbf43e29f96ef8d3e52d29988f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43907" y="2971800"/>
            <a:ext cx="381305" cy="381305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7619695" y="2667305"/>
            <a:ext cx="2857500" cy="2381098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619695" y="2667305"/>
            <a:ext cx="2857500" cy="28346"/>
          </a:xfrm>
          <a:prstGeom prst="rect">
            <a:avLst/>
          </a:prstGeom>
          <a:solidFill>
            <a:srgbClr val="2E3846"/>
          </a:solidFill>
          <a:ln w="12700">
            <a:solidFill>
              <a:srgbClr val="2E38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2" name="Text 14"/>
          <p:cNvSpPr txBox="1"/>
          <p:nvPr/>
        </p:nvSpPr>
        <p:spPr>
          <a:xfrm>
            <a:off x="7871987" y="3534156"/>
            <a:ext cx="23628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000" b="1" kern="0" spc="-43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SQL </a:t>
            </a:r>
            <a:r>
              <a:rPr lang="ko-KR" altLang="en-US" sz="2000" b="1" kern="0" spc="-43" err="1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조회문</a:t>
            </a:r>
            <a:r>
              <a:rPr lang="en-US" altLang="ko-KR" sz="2000" b="1" kern="0" spc="-43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b="1" kern="0" spc="-43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생성</a:t>
            </a:r>
            <a:r>
              <a:rPr lang="en-US" sz="2000" b="1" kern="0" spc="-43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2000" b="1" kern="0" spc="-43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검증</a:t>
            </a:r>
            <a:endParaRPr lang="en-US" sz="2000">
              <a:latin typeface="Pretendard"/>
            </a:endParaRPr>
          </a:p>
        </p:txBody>
      </p:sp>
      <p:sp>
        <p:nvSpPr>
          <p:cNvPr id="23" name="Text 15"/>
          <p:cNvSpPr txBox="1"/>
          <p:nvPr/>
        </p:nvSpPr>
        <p:spPr>
          <a:xfrm>
            <a:off x="7867498" y="4252874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</a:t>
            </a:r>
            <a:r>
              <a:rPr lang="en-US" kern="0" spc="-1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조회문</a:t>
            </a:r>
            <a:r>
              <a:rPr lang="en-US" kern="0" spc="-1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kern="0" spc="-18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kern="0" spc="-18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endParaRPr lang="en-US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pic>
        <p:nvPicPr>
          <p:cNvPr id="24" name="Image 6" descr="gen-dedup-a820fa7180cad80a939f44e223a637b4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867498" y="2971800"/>
            <a:ext cx="381305" cy="381305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10744200" y="2667305"/>
            <a:ext cx="2857500" cy="2381098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10744200" y="2667305"/>
            <a:ext cx="2857500" cy="28346"/>
          </a:xfrm>
          <a:prstGeom prst="rect">
            <a:avLst/>
          </a:prstGeom>
          <a:solidFill>
            <a:srgbClr val="2E3846"/>
          </a:solidFill>
          <a:ln w="12700">
            <a:solidFill>
              <a:srgbClr val="2E38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7" name="Text 18"/>
          <p:cNvSpPr txBox="1"/>
          <p:nvPr/>
        </p:nvSpPr>
        <p:spPr>
          <a:xfrm>
            <a:off x="10992002" y="3534156"/>
            <a:ext cx="23628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-43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</a:t>
            </a:r>
            <a:r>
              <a:rPr lang="en-US" sz="2000" b="1" kern="0" spc="-43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kern="0" spc="-43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</a:t>
            </a:r>
            <a:endParaRPr lang="en-US" sz="2000">
              <a:latin typeface="Pretendard" panose="02000503000000020004" pitchFamily="2" charset="-127"/>
            </a:endParaRPr>
          </a:p>
        </p:txBody>
      </p:sp>
      <p:sp>
        <p:nvSpPr>
          <p:cNvPr id="28" name="Text 19"/>
          <p:cNvSpPr txBox="1"/>
          <p:nvPr/>
        </p:nvSpPr>
        <p:spPr>
          <a:xfrm>
            <a:off x="10992002" y="4252874"/>
            <a:ext cx="2613712" cy="270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여러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시스템</a:t>
            </a:r>
            <a:r>
              <a:rPr lang="en-US" altLang="ko-KR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(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DB)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데이터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조회</a:t>
            </a:r>
            <a:endParaRPr lang="en-US" err="1">
              <a:solidFill>
                <a:schemeClr val="bg1"/>
              </a:solidFill>
              <a:latin typeface="Pretendard"/>
            </a:endParaRPr>
          </a:p>
        </p:txBody>
      </p:sp>
      <p:pic>
        <p:nvPicPr>
          <p:cNvPr id="29" name="Image 7" descr="gen-dedup-1f3deacddcfff77dd6cf2894b6bb575d.png"/>
          <p:cNvPicPr>
            <a:picLocks noChangeAspect="1"/>
          </p:cNvPicPr>
          <p:nvPr/>
        </p:nvPicPr>
        <p:blipFill>
          <a:blip r:embed="rId9"/>
          <a:srcRect t="-7" b="-7"/>
          <a:stretch/>
        </p:blipFill>
        <p:spPr>
          <a:xfrm>
            <a:off x="10992002" y="2933395"/>
            <a:ext cx="1123798" cy="457200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13868705" y="2667305"/>
            <a:ext cx="3047695" cy="2381098"/>
          </a:xfrm>
          <a:prstGeom prst="rect">
            <a:avLst/>
          </a:prstGeom>
          <a:solidFill>
            <a:srgbClr val="0A162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13868705" y="2667305"/>
            <a:ext cx="3047695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2" name="Text 22"/>
          <p:cNvSpPr txBox="1"/>
          <p:nvPr/>
        </p:nvSpPr>
        <p:spPr>
          <a:xfrm>
            <a:off x="14001292" y="3534156"/>
            <a:ext cx="25530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000" b="1" kern="0" spc="-43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결과</a:t>
            </a:r>
            <a:r>
              <a:rPr lang="en-US" sz="2000" b="1" kern="0" spc="-43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000" b="1" kern="0" spc="-43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정리 및 보고서 생성</a:t>
            </a:r>
            <a:endParaRPr lang="ko-KR" altLang="en-US" sz="2000" b="1" kern="0" spc="-43">
              <a:solidFill>
                <a:srgbClr val="3E8FF0"/>
              </a:solidFill>
              <a:latin typeface="Pretendard"/>
            </a:endParaRPr>
          </a:p>
        </p:txBody>
      </p:sp>
      <p:sp>
        <p:nvSpPr>
          <p:cNvPr id="33" name="Text 23"/>
          <p:cNvSpPr txBox="1"/>
          <p:nvPr/>
        </p:nvSpPr>
        <p:spPr>
          <a:xfrm>
            <a:off x="14116507" y="4252874"/>
            <a:ext cx="25530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표 ·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차트와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핵심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설명 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제공</a:t>
            </a:r>
            <a:endParaRPr lang="en-US" err="1">
              <a:solidFill>
                <a:schemeClr val="bg1"/>
              </a:solidFill>
              <a:latin typeface="Pretendard"/>
            </a:endParaRPr>
          </a:p>
        </p:txBody>
      </p:sp>
      <p:pic>
        <p:nvPicPr>
          <p:cNvPr id="34" name="Image 8" descr="gen-dedup-86385deb0e994479766a03d8812f6517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4116507" y="2971800"/>
            <a:ext cx="381305" cy="381305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371600" y="6038698"/>
            <a:ext cx="5715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273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75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1371600" y="6400800"/>
            <a:ext cx="3657600" cy="2190902"/>
          </a:xfrm>
          <a:prstGeom prst="rect">
            <a:avLst/>
          </a:prstGeom>
          <a:solidFill>
            <a:srgbClr val="0A0F16"/>
          </a:solidFill>
          <a:ln w="12700">
            <a:solidFill>
              <a:srgbClr val="1B2431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7" name="Text 26"/>
          <p:cNvSpPr txBox="1"/>
          <p:nvPr/>
        </p:nvSpPr>
        <p:spPr>
          <a:xfrm>
            <a:off x="1609344" y="6620256"/>
            <a:ext cx="3182112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38" name="Text 27"/>
          <p:cNvSpPr txBox="1"/>
          <p:nvPr/>
        </p:nvSpPr>
        <p:spPr>
          <a:xfrm>
            <a:off x="1609344" y="7019849"/>
            <a:ext cx="3182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1600" kern="0" spc="-18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주요</a:t>
            </a:r>
            <a:r>
              <a:rPr lang="en-US" altLang="ko-KR" sz="1600" kern="0" spc="-18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1600" kern="0" spc="-18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수치를 한눈에 </a:t>
            </a:r>
            <a:r>
              <a:rPr lang="en-US" sz="1600" kern="0" spc="-18" err="1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비교</a:t>
            </a:r>
            <a:endParaRPr lang="en-US" altLang="ko-KR" sz="1600" kern="0" spc="-18" err="1">
              <a:solidFill>
                <a:srgbClr val="6B7683"/>
              </a:solidFill>
              <a:latin typeface="Pretendard"/>
            </a:endParaRPr>
          </a:p>
        </p:txBody>
      </p:sp>
      <p:pic>
        <p:nvPicPr>
          <p:cNvPr id="39" name="Image 9" descr="gen-dedup-8504a36ebdd82dd26b4452691ee021d6.png"/>
          <p:cNvPicPr>
            <a:picLocks noChangeAspect="1"/>
          </p:cNvPicPr>
          <p:nvPr/>
        </p:nvPicPr>
        <p:blipFill>
          <a:blip r:embed="rId11"/>
          <a:srcRect t="-7" b="-7"/>
          <a:stretch/>
        </p:blipFill>
        <p:spPr>
          <a:xfrm>
            <a:off x="1600200" y="7334402"/>
            <a:ext cx="3200400" cy="1047902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5333695" y="6400800"/>
            <a:ext cx="3657600" cy="2190902"/>
          </a:xfrm>
          <a:prstGeom prst="rect">
            <a:avLst/>
          </a:prstGeom>
          <a:solidFill>
            <a:srgbClr val="0A0F16"/>
          </a:solidFill>
          <a:ln w="12700">
            <a:solidFill>
              <a:srgbClr val="1B2431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1" name="Text 29"/>
          <p:cNvSpPr txBox="1"/>
          <p:nvPr/>
        </p:nvSpPr>
        <p:spPr>
          <a:xfrm>
            <a:off x="5572354" y="6620256"/>
            <a:ext cx="3182112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42" name="Text 30"/>
          <p:cNvSpPr txBox="1"/>
          <p:nvPr/>
        </p:nvSpPr>
        <p:spPr>
          <a:xfrm>
            <a:off x="5572354" y="7019849"/>
            <a:ext cx="3182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1600" kern="0" spc="-18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변화와 차이를 시각적인 표현으로 확인</a:t>
            </a:r>
            <a:endParaRPr lang="en-US" sz="1600">
              <a:latin typeface="Pretendard"/>
            </a:endParaRPr>
          </a:p>
        </p:txBody>
      </p:sp>
      <p:pic>
        <p:nvPicPr>
          <p:cNvPr id="43" name="Image 10" descr="gen-dedup-f26f823975007befc58b237d1aa9d235.png"/>
          <p:cNvPicPr>
            <a:picLocks noChangeAspect="1"/>
          </p:cNvPicPr>
          <p:nvPr/>
        </p:nvPicPr>
        <p:blipFill>
          <a:blip r:embed="rId12"/>
          <a:srcRect t="-7" b="-7"/>
          <a:stretch/>
        </p:blipFill>
        <p:spPr>
          <a:xfrm>
            <a:off x="5562295" y="7334402"/>
            <a:ext cx="3200400" cy="1047902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9296705" y="6400800"/>
            <a:ext cx="3657600" cy="2190902"/>
          </a:xfrm>
          <a:prstGeom prst="rect">
            <a:avLst/>
          </a:prstGeom>
          <a:solidFill>
            <a:srgbClr val="0A0F16"/>
          </a:solidFill>
          <a:ln w="12700">
            <a:solidFill>
              <a:srgbClr val="1B2431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5" name="Text 32"/>
          <p:cNvSpPr txBox="1"/>
          <p:nvPr/>
        </p:nvSpPr>
        <p:spPr>
          <a:xfrm>
            <a:off x="9534449" y="6620256"/>
            <a:ext cx="3182112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46" name="Text 33"/>
          <p:cNvSpPr txBox="1"/>
          <p:nvPr/>
        </p:nvSpPr>
        <p:spPr>
          <a:xfrm>
            <a:off x="9534449" y="7019849"/>
            <a:ext cx="3182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kern="0" spc="-18" err="1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1600" kern="0" spc="-18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kern="0" spc="-18" err="1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출처와</a:t>
            </a:r>
            <a:r>
              <a:rPr lang="en-US" sz="1600" kern="0" spc="-18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kern="0" spc="-18" err="1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</a:t>
            </a:r>
            <a:r>
              <a:rPr lang="en-US" sz="1600" kern="0" spc="-18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kern="0" spc="-18" err="1">
                <a:solidFill>
                  <a:srgbClr val="6B768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endParaRPr lang="en-US" sz="1600">
              <a:latin typeface="Pretendard" panose="02000503000000020004" pitchFamily="2" charset="-127"/>
            </a:endParaRPr>
          </a:p>
        </p:txBody>
      </p:sp>
      <p:pic>
        <p:nvPicPr>
          <p:cNvPr id="47" name="Image 11" descr="gen-dedup-9c056e5ab3f7febc614505a152b70ebd.png"/>
          <p:cNvPicPr>
            <a:picLocks noChangeAspect="1"/>
          </p:cNvPicPr>
          <p:nvPr/>
        </p:nvPicPr>
        <p:blipFill>
          <a:blip r:embed="rId13"/>
          <a:srcRect t="-7" b="-7"/>
          <a:stretch/>
        </p:blipFill>
        <p:spPr>
          <a:xfrm>
            <a:off x="9525305" y="7334402"/>
            <a:ext cx="3200400" cy="1047902"/>
          </a:xfrm>
          <a:prstGeom prst="rect">
            <a:avLst/>
          </a:prstGeom>
        </p:spPr>
      </p:pic>
      <p:sp>
        <p:nvSpPr>
          <p:cNvPr id="48" name="Shape 34"/>
          <p:cNvSpPr/>
          <p:nvPr/>
        </p:nvSpPr>
        <p:spPr>
          <a:xfrm>
            <a:off x="13258800" y="6400800"/>
            <a:ext cx="3657600" cy="2190902"/>
          </a:xfrm>
          <a:prstGeom prst="rect">
            <a:avLst/>
          </a:prstGeom>
          <a:solidFill>
            <a:srgbClr val="0A1626"/>
          </a:solidFill>
          <a:ln w="12700">
            <a:solidFill>
              <a:srgbClr val="1C69D4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9" name="Text 35"/>
          <p:cNvSpPr txBox="1"/>
          <p:nvPr/>
        </p:nvSpPr>
        <p:spPr>
          <a:xfrm>
            <a:off x="13496544" y="6620256"/>
            <a:ext cx="3182112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5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50" name="Text 36"/>
          <p:cNvSpPr txBox="1"/>
          <p:nvPr/>
        </p:nvSpPr>
        <p:spPr>
          <a:xfrm>
            <a:off x="13468666" y="7019849"/>
            <a:ext cx="3182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결과를</a:t>
            </a:r>
            <a:r>
              <a:rPr lang="en-US" altLang="ko-KR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요약해</a:t>
            </a:r>
            <a:r>
              <a:rPr lang="en-US" altLang="ko-KR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업무에</a:t>
            </a:r>
            <a:r>
              <a:rPr lang="en-US" altLang="ko-KR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600" kern="0" spc="-18">
                <a:solidFill>
                  <a:srgbClr val="7EA6D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활용</a:t>
            </a:r>
            <a:endParaRPr lang="ko-KR" altLang="en-US">
              <a:latin typeface="Pretendard" panose="02000503000000020004" pitchFamily="2" charset="-127"/>
            </a:endParaRPr>
          </a:p>
        </p:txBody>
      </p:sp>
      <p:pic>
        <p:nvPicPr>
          <p:cNvPr id="51" name="Image 12" descr="gen-dedup-127cc649eb72981c247cfc30abaec1d7.png"/>
          <p:cNvPicPr>
            <a:picLocks noChangeAspect="1"/>
          </p:cNvPicPr>
          <p:nvPr/>
        </p:nvPicPr>
        <p:blipFill>
          <a:blip r:embed="rId14"/>
          <a:srcRect t="-7" b="-7"/>
          <a:stretch/>
        </p:blipFill>
        <p:spPr>
          <a:xfrm>
            <a:off x="13487400" y="7334402"/>
            <a:ext cx="3200400" cy="1047902"/>
          </a:xfrm>
          <a:prstGeom prst="rect">
            <a:avLst/>
          </a:prstGeom>
        </p:spPr>
      </p:pic>
      <p:sp>
        <p:nvSpPr>
          <p:cNvPr id="57" name="Text 18">
            <a:extLst>
              <a:ext uri="{FF2B5EF4-FFF2-40B4-BE49-F238E27FC236}">
                <a16:creationId xmlns:a16="http://schemas.microsoft.com/office/drawing/2014/main" id="{12E2B3CF-F65B-0BFC-E2A0-3917DD142F00}"/>
              </a:ext>
            </a:extLst>
          </p:cNvPr>
          <p:cNvSpPr txBox="1"/>
          <p:nvPr/>
        </p:nvSpPr>
        <p:spPr>
          <a:xfrm>
            <a:off x="1371600" y="8858707"/>
            <a:ext cx="155448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질문에</a:t>
            </a:r>
            <a:r>
              <a:rPr lang="en-US" altLang="ko-KR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바로</a:t>
            </a:r>
            <a:r>
              <a:rPr lang="en-US" altLang="ko-KR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답하는</a:t>
            </a:r>
            <a:r>
              <a:rPr lang="en-US" altLang="ko-KR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것이</a:t>
            </a:r>
            <a:r>
              <a:rPr lang="en-US" altLang="ko-KR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아니라</a:t>
            </a:r>
            <a:r>
              <a:rPr lang="en-US" altLang="ko-KR" sz="2400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, </a:t>
            </a:r>
            <a:r>
              <a:rPr lang="ko-KR" altLang="en-US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필요한 데이터와</a:t>
            </a:r>
            <a:r>
              <a:rPr lang="en-US" altLang="ko-KR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기준을</a:t>
            </a:r>
            <a:r>
              <a:rPr lang="en-US" altLang="ko-KR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확인한</a:t>
            </a:r>
            <a:r>
              <a:rPr lang="en-US" altLang="ko-KR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뒤</a:t>
            </a:r>
            <a:r>
              <a:rPr lang="en-US" altLang="ko-KR" sz="2400" b="1" kern="0" spc="-40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40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검증된</a:t>
            </a:r>
            <a:r>
              <a:rPr lang="en-US" altLang="ko-KR" sz="2400" b="1" kern="0" spc="-40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40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결과</a:t>
            </a:r>
            <a:r>
              <a:rPr lang="en-US" altLang="ko-KR" sz="2400" b="1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로</a:t>
            </a:r>
            <a:r>
              <a:rPr lang="en-US" altLang="ko-KR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altLang="ko-KR" sz="2400" b="1" kern="0" spc="-40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제공됩니다</a:t>
            </a:r>
            <a:r>
              <a:rPr lang="en-US" altLang="ko-KR" sz="2400" b="1" kern="0" spc="-40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.</a:t>
            </a:r>
            <a:endParaRPr lang="en-US" altLang="ko-KR" sz="240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A685E25E-92C2-021F-4E88-C4D749B747D4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11 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3" name="Image 1" descr="gen-dedup-3f0d58e4c82483ad194e734aeef34e99.png"/>
          <p:cNvPicPr>
            <a:picLocks noChangeAspect="1"/>
          </p:cNvPicPr>
          <p:nvPr/>
        </p:nvPicPr>
        <p:blipFill>
          <a:blip r:embed="rId4"/>
          <a:srcRect t="-40" b="-40"/>
          <a:stretch/>
        </p:blipFill>
        <p:spPr>
          <a:xfrm>
            <a:off x="1371600" y="2533802"/>
            <a:ext cx="15544800" cy="381305"/>
          </a:xfrm>
          <a:prstGeom prst="rect">
            <a:avLst/>
          </a:prstGeom>
        </p:spPr>
      </p:pic>
      <p:pic>
        <p:nvPicPr>
          <p:cNvPr id="5" name="Image 3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744407"/>
            <a:ext cx="15544800" cy="9144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12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7" name="Text 1"/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9" name="Text 3"/>
          <p:cNvSpPr txBox="1"/>
          <p:nvPr/>
        </p:nvSpPr>
        <p:spPr>
          <a:xfrm>
            <a:off x="1371600" y="2609698"/>
            <a:ext cx="9144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2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2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4457700" y="2609698"/>
            <a:ext cx="9144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2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endParaRPr lang="en-US" sz="12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1" name="Text 5"/>
          <p:cNvSpPr txBox="1"/>
          <p:nvPr/>
        </p:nvSpPr>
        <p:spPr>
          <a:xfrm>
            <a:off x="7543800" y="2609698"/>
            <a:ext cx="9144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2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2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10629900" y="2609698"/>
            <a:ext cx="9144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2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백엔드</a:t>
            </a:r>
            <a:endParaRPr lang="en-US" sz="12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13716000" y="2609698"/>
            <a:ext cx="9144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200" b="1" kern="0" spc="72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프론트</a:t>
            </a:r>
            <a:endParaRPr lang="en-US" sz="1200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14" name="Shape 8"/>
          <p:cNvSpPr/>
          <p:nvPr/>
        </p:nvSpPr>
        <p:spPr>
          <a:xfrm>
            <a:off x="1371600" y="3143707"/>
            <a:ext cx="2857500" cy="3905402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1371600" y="3143707"/>
            <a:ext cx="28575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1619402" y="3438144"/>
            <a:ext cx="514807" cy="514807"/>
          </a:xfrm>
          <a:prstGeom prst="ellipse">
            <a:avLst/>
          </a:prstGeom>
          <a:solidFill>
            <a:srgbClr val="0A1626"/>
          </a:solidFill>
          <a:ln w="12700">
            <a:solidFill>
              <a:srgbClr val="2A5B9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1619402" y="3438144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R1</a:t>
            </a:r>
            <a:endParaRPr lang="en-US" sz="1800">
              <a:latin typeface="Pretendard" panose="02000503000000020004" pitchFamily="2" charset="-127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1619402" y="4162349"/>
            <a:ext cx="23628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박준희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1619402" y="4638751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</a:t>
            </a:r>
            <a:endParaRPr lang="en-US">
              <a:latin typeface="Pretendard" panose="02000503000000020004" pitchFamily="2" charset="-127"/>
            </a:endParaRPr>
          </a:p>
        </p:txBody>
      </p:sp>
      <p:pic>
        <p:nvPicPr>
          <p:cNvPr id="20" name="Image 4" descr="gen-dedup-9dc937caf3a90677e1d8bbdcb2a52b3f.png"/>
          <p:cNvPicPr>
            <a:picLocks noChangeAspect="1"/>
          </p:cNvPicPr>
          <p:nvPr/>
        </p:nvPicPr>
        <p:blipFill>
          <a:blip r:embed="rId5"/>
          <a:srcRect l="-2078" r="-2078"/>
          <a:stretch/>
        </p:blipFill>
        <p:spPr>
          <a:xfrm>
            <a:off x="1619402" y="5076749"/>
            <a:ext cx="2361895" cy="91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19402" y="5229454"/>
            <a:ext cx="2362810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일정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관리</a:t>
            </a:r>
            <a:endParaRPr lang="en-US" err="1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업무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조율</a:t>
            </a:r>
            <a:endParaRPr lang="en-US" err="1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결과물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통합</a:t>
            </a:r>
            <a:endParaRPr lang="en-US" err="1">
              <a:solidFill>
                <a:schemeClr val="bg1"/>
              </a:solidFill>
              <a:latin typeface="Pretendard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4457700" y="3143707"/>
            <a:ext cx="2857500" cy="3905402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4457700" y="3143707"/>
            <a:ext cx="28575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4" name="Shape 17"/>
          <p:cNvSpPr/>
          <p:nvPr/>
        </p:nvSpPr>
        <p:spPr>
          <a:xfrm>
            <a:off x="4705502" y="3438144"/>
            <a:ext cx="514807" cy="514807"/>
          </a:xfrm>
          <a:prstGeom prst="ellipse">
            <a:avLst/>
          </a:prstGeom>
          <a:solidFill>
            <a:srgbClr val="0A1626"/>
          </a:solidFill>
          <a:ln w="12700">
            <a:solidFill>
              <a:srgbClr val="2A5B9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4705502" y="3438144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b="1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R2</a:t>
            </a:r>
            <a:endParaRPr lang="en-US" sz="1800">
              <a:latin typeface="Pretendard" panose="02000503000000020004" pitchFamily="2" charset="-127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705502" y="4162349"/>
            <a:ext cx="23628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정승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4705502" y="4638751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</a:t>
            </a:r>
            <a:endParaRPr lang="en-US">
              <a:latin typeface="Pretendard" panose="02000503000000020004" pitchFamily="2" charset="-127"/>
            </a:endParaRPr>
          </a:p>
        </p:txBody>
      </p:sp>
      <p:pic>
        <p:nvPicPr>
          <p:cNvPr id="28" name="Image 5" descr="gen-dedup-9dc937caf3a90677e1d8bbdcb2a52b3f.png"/>
          <p:cNvPicPr>
            <a:picLocks noChangeAspect="1"/>
          </p:cNvPicPr>
          <p:nvPr/>
        </p:nvPicPr>
        <p:blipFill>
          <a:blip r:embed="rId5"/>
          <a:srcRect l="-2078" r="-2078"/>
          <a:stretch/>
        </p:blipFill>
        <p:spPr>
          <a:xfrm>
            <a:off x="4705502" y="5076749"/>
            <a:ext cx="2361895" cy="914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705502" y="5229454"/>
            <a:ext cx="2362810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합성</a:t>
            </a:r>
            <a:r>
              <a:rPr lang="en-US" kern="0" spc="-18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데이터</a:t>
            </a:r>
            <a:endParaRPr lang="en-US">
              <a:solidFill>
                <a:srgbClr val="FFFFFF"/>
              </a:solidFill>
              <a:latin typeface="Pretendard"/>
            </a:endParaRPr>
          </a:p>
          <a:p>
            <a:pPr>
              <a:lnSpc>
                <a:spcPts val="2363"/>
              </a:lnSpc>
            </a:pPr>
            <a:r>
              <a:rPr lang="ko-KR" altLang="en-US" kern="0" spc="-18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데이터 카탈로그</a:t>
            </a:r>
            <a:r>
              <a:rPr lang="en-US" kern="0" spc="-18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연결</a:t>
            </a:r>
            <a:endParaRPr lang="en-US">
              <a:solidFill>
                <a:srgbClr val="FFFFFF"/>
              </a:solidFill>
              <a:latin typeface="Pretendard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ko-KR" altLang="en-US" kern="0" spc="-18">
                <a:solidFill>
                  <a:srgbClr val="FFFFFF"/>
                </a:solidFill>
                <a:latin typeface="Pretendard"/>
                <a:ea typeface="Pretendard"/>
                <a:cs typeface="Pretendard" pitchFamily="34" charset="-120"/>
              </a:rPr>
              <a:t>통합</a:t>
            </a:r>
            <a:r>
              <a:rPr lang="en-US" kern="0" spc="-18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조회</a:t>
            </a:r>
            <a:r>
              <a:rPr lang="en-US" kern="0" spc="-18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FFFFFF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환경</a:t>
            </a:r>
            <a:endParaRPr lang="en-US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7543800" y="3143707"/>
            <a:ext cx="2857500" cy="3905402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7543800" y="3143707"/>
            <a:ext cx="28575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7791602" y="3438144"/>
            <a:ext cx="514807" cy="514807"/>
          </a:xfrm>
          <a:prstGeom prst="ellipse">
            <a:avLst/>
          </a:prstGeom>
          <a:solidFill>
            <a:srgbClr val="0A1626"/>
          </a:solidFill>
          <a:ln w="12700">
            <a:solidFill>
              <a:srgbClr val="2A5B9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7791602" y="3438144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b="1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R3</a:t>
            </a:r>
            <a:endParaRPr lang="en-US" sz="1800">
              <a:latin typeface="Pretendard" panose="02000503000000020004" pitchFamily="2" charset="-127"/>
            </a:endParaRPr>
          </a:p>
        </p:txBody>
      </p:sp>
      <p:sp>
        <p:nvSpPr>
          <p:cNvPr id="34" name="Text 26"/>
          <p:cNvSpPr txBox="1"/>
          <p:nvPr/>
        </p:nvSpPr>
        <p:spPr>
          <a:xfrm>
            <a:off x="7791602" y="4162349"/>
            <a:ext cx="23628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윤대성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35" name="Text 27"/>
          <p:cNvSpPr txBox="1"/>
          <p:nvPr/>
        </p:nvSpPr>
        <p:spPr>
          <a:xfrm>
            <a:off x="7791602" y="4638751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·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>
              <a:latin typeface="Pretendard" panose="02000503000000020004" pitchFamily="2" charset="-127"/>
            </a:endParaRPr>
          </a:p>
        </p:txBody>
      </p:sp>
      <p:pic>
        <p:nvPicPr>
          <p:cNvPr id="36" name="Image 6" descr="gen-dedup-9dc937caf3a90677e1d8bbdcb2a52b3f.png"/>
          <p:cNvPicPr>
            <a:picLocks noChangeAspect="1"/>
          </p:cNvPicPr>
          <p:nvPr/>
        </p:nvPicPr>
        <p:blipFill>
          <a:blip r:embed="rId5"/>
          <a:srcRect l="-2078" r="-2078"/>
          <a:stretch/>
        </p:blipFill>
        <p:spPr>
          <a:xfrm>
            <a:off x="7791602" y="5076749"/>
            <a:ext cx="2361895" cy="914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791602" y="5229454"/>
            <a:ext cx="2362810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자연어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질문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분석</a:t>
            </a:r>
            <a:endParaRPr lang="en-US">
              <a:solidFill>
                <a:schemeClr val="bg1"/>
              </a:solidFill>
              <a:latin typeface="Pretendard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데이터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조회</a:t>
            </a:r>
            <a:endParaRPr lang="ko-KR" altLang="en-US" kern="0" spc="-18">
              <a:solidFill>
                <a:schemeClr val="bg1"/>
              </a:solidFill>
              <a:latin typeface="Pretendard"/>
              <a:ea typeface="맑은 고딕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정확도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검증</a:t>
            </a:r>
            <a:endParaRPr lang="en-US">
              <a:solidFill>
                <a:schemeClr val="bg1"/>
              </a:solidFill>
              <a:latin typeface="Pretendard"/>
            </a:endParaRPr>
          </a:p>
        </p:txBody>
      </p:sp>
      <p:sp>
        <p:nvSpPr>
          <p:cNvPr id="38" name="Shape 29"/>
          <p:cNvSpPr/>
          <p:nvPr/>
        </p:nvSpPr>
        <p:spPr>
          <a:xfrm>
            <a:off x="10629900" y="3143707"/>
            <a:ext cx="2857500" cy="3905402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39" name="Shape 30"/>
          <p:cNvSpPr/>
          <p:nvPr/>
        </p:nvSpPr>
        <p:spPr>
          <a:xfrm>
            <a:off x="10629900" y="3143707"/>
            <a:ext cx="28575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10877702" y="3438144"/>
            <a:ext cx="514807" cy="514807"/>
          </a:xfrm>
          <a:prstGeom prst="ellipse">
            <a:avLst/>
          </a:prstGeom>
          <a:solidFill>
            <a:srgbClr val="0A1626"/>
          </a:solidFill>
          <a:ln w="12700">
            <a:solidFill>
              <a:srgbClr val="2A5B9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1" name="Text 32"/>
          <p:cNvSpPr/>
          <p:nvPr/>
        </p:nvSpPr>
        <p:spPr>
          <a:xfrm>
            <a:off x="10877702" y="3438144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b="1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R4</a:t>
            </a:r>
            <a:endParaRPr lang="en-US" sz="1800">
              <a:latin typeface="Pretendard" panose="02000503000000020004" pitchFamily="2" charset="-127"/>
            </a:endParaRPr>
          </a:p>
        </p:txBody>
      </p:sp>
      <p:sp>
        <p:nvSpPr>
          <p:cNvPr id="42" name="Text 33"/>
          <p:cNvSpPr txBox="1"/>
          <p:nvPr/>
        </p:nvSpPr>
        <p:spPr>
          <a:xfrm>
            <a:off x="10877702" y="4162349"/>
            <a:ext cx="23628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김재홍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43" name="Text 34"/>
          <p:cNvSpPr txBox="1"/>
          <p:nvPr/>
        </p:nvSpPr>
        <p:spPr>
          <a:xfrm>
            <a:off x="10877702" y="4638751"/>
            <a:ext cx="2362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백엔드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>
              <a:latin typeface="Pretendard" panose="02000503000000020004" pitchFamily="2" charset="-127"/>
            </a:endParaRPr>
          </a:p>
        </p:txBody>
      </p:sp>
      <p:pic>
        <p:nvPicPr>
          <p:cNvPr id="44" name="Image 7" descr="gen-dedup-9dc937caf3a90677e1d8bbdcb2a52b3f.png"/>
          <p:cNvPicPr>
            <a:picLocks noChangeAspect="1"/>
          </p:cNvPicPr>
          <p:nvPr/>
        </p:nvPicPr>
        <p:blipFill>
          <a:blip r:embed="rId5"/>
          <a:srcRect l="-2078" r="-2078"/>
          <a:stretch/>
        </p:blipFill>
        <p:spPr>
          <a:xfrm>
            <a:off x="10877702" y="5076749"/>
            <a:ext cx="2361895" cy="9144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10877702" y="5229454"/>
            <a:ext cx="2362810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API</a:t>
            </a:r>
            <a:endParaRPr lang="en-US">
              <a:solidFill>
                <a:schemeClr val="bg1"/>
              </a:solidFill>
              <a:latin typeface="Pretendard"/>
            </a:endParaRPr>
          </a:p>
          <a:p>
            <a:pPr>
              <a:lnSpc>
                <a:spcPts val="2363"/>
              </a:lnSpc>
            </a:pP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조회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결과</a:t>
            </a:r>
            <a:r>
              <a:rPr lang="en-US" altLang="ko-KR" kern="0" spc="-18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검증</a:t>
            </a:r>
            <a:endParaRPr lang="en-US">
              <a:solidFill>
                <a:schemeClr val="bg1"/>
              </a:solidFill>
              <a:latin typeface="Pretendard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결과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저장</a:t>
            </a:r>
            <a:endParaRPr lang="en-US">
              <a:solidFill>
                <a:schemeClr val="bg1"/>
              </a:solidFill>
              <a:latin typeface="Pretendard"/>
            </a:endParaRPr>
          </a:p>
        </p:txBody>
      </p:sp>
      <p:sp>
        <p:nvSpPr>
          <p:cNvPr id="46" name="Shape 36"/>
          <p:cNvSpPr/>
          <p:nvPr/>
        </p:nvSpPr>
        <p:spPr>
          <a:xfrm>
            <a:off x="13716000" y="3143707"/>
            <a:ext cx="3200400" cy="3905402"/>
          </a:xfrm>
          <a:prstGeom prst="rect">
            <a:avLst/>
          </a:prstGeom>
          <a:solidFill>
            <a:srgbClr val="0A0F16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7" name="Shape 37"/>
          <p:cNvSpPr/>
          <p:nvPr/>
        </p:nvSpPr>
        <p:spPr>
          <a:xfrm>
            <a:off x="13716000" y="3143707"/>
            <a:ext cx="3200400" cy="28346"/>
          </a:xfrm>
          <a:prstGeom prst="rect">
            <a:avLst/>
          </a:prstGeom>
          <a:solidFill>
            <a:srgbClr val="1C69D4"/>
          </a:solidFill>
          <a:ln w="12700">
            <a:solidFill>
              <a:srgbClr val="1C69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8" name="Shape 38"/>
          <p:cNvSpPr/>
          <p:nvPr/>
        </p:nvSpPr>
        <p:spPr>
          <a:xfrm>
            <a:off x="13963802" y="3438144"/>
            <a:ext cx="514807" cy="514807"/>
          </a:xfrm>
          <a:prstGeom prst="ellipse">
            <a:avLst/>
          </a:prstGeom>
          <a:solidFill>
            <a:srgbClr val="0A1626"/>
          </a:solidFill>
          <a:ln w="12700">
            <a:solidFill>
              <a:srgbClr val="2A5B9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2" charset="-127"/>
            </a:endParaRPr>
          </a:p>
        </p:txBody>
      </p:sp>
      <p:sp>
        <p:nvSpPr>
          <p:cNvPr id="49" name="Text 39"/>
          <p:cNvSpPr/>
          <p:nvPr/>
        </p:nvSpPr>
        <p:spPr>
          <a:xfrm>
            <a:off x="13963802" y="3438144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b="1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R5</a:t>
            </a:r>
            <a:endParaRPr lang="en-US" sz="1800">
              <a:latin typeface="Pretendard" panose="02000503000000020004" pitchFamily="2" charset="-127"/>
            </a:endParaRPr>
          </a:p>
        </p:txBody>
      </p:sp>
      <p:sp>
        <p:nvSpPr>
          <p:cNvPr id="50" name="Text 40"/>
          <p:cNvSpPr txBox="1"/>
          <p:nvPr/>
        </p:nvSpPr>
        <p:spPr>
          <a:xfrm>
            <a:off x="13963802" y="4162349"/>
            <a:ext cx="27057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65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송민지</a:t>
            </a:r>
            <a:endParaRPr lang="en-US" sz="2400">
              <a:latin typeface="Pretendard" panose="02000503000000020004" pitchFamily="2" charset="-127"/>
            </a:endParaRPr>
          </a:p>
        </p:txBody>
      </p:sp>
      <p:sp>
        <p:nvSpPr>
          <p:cNvPr id="51" name="Text 41"/>
          <p:cNvSpPr txBox="1"/>
          <p:nvPr/>
        </p:nvSpPr>
        <p:spPr>
          <a:xfrm>
            <a:off x="13963802" y="4638751"/>
            <a:ext cx="27057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프론트엔드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kern="0" spc="-18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rgbClr val="3E8F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</a:t>
            </a:r>
            <a:endParaRPr lang="en-US">
              <a:latin typeface="Pretendard" panose="02000503000000020004" pitchFamily="2" charset="-127"/>
            </a:endParaRPr>
          </a:p>
        </p:txBody>
      </p:sp>
      <p:pic>
        <p:nvPicPr>
          <p:cNvPr id="52" name="Image 8" descr="gen-dedup-2692120ca03018afb726e547b175b0f1.png"/>
          <p:cNvPicPr>
            <a:picLocks noChangeAspect="1"/>
          </p:cNvPicPr>
          <p:nvPr/>
        </p:nvPicPr>
        <p:blipFill>
          <a:blip r:embed="rId6"/>
          <a:srcRect l="-2078" r="-2078"/>
          <a:stretch/>
        </p:blipFill>
        <p:spPr>
          <a:xfrm>
            <a:off x="13963802" y="5076749"/>
            <a:ext cx="2704795" cy="9144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3963802" y="5229454"/>
            <a:ext cx="2705710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화면</a:t>
            </a:r>
            <a:endParaRPr lang="en-US" err="1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표 ·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차트</a:t>
            </a:r>
            <a:endParaRPr lang="en-US" err="1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ts val="2363"/>
              </a:lnSpc>
              <a:buNone/>
            </a:pP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출처와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kern="0" spc="-18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kern="0" spc="-18" err="1">
                <a:solidFill>
                  <a:schemeClr val="bg1"/>
                </a:solidFill>
                <a:latin typeface="Pretendard"/>
                <a:ea typeface="Pretendard" pitchFamily="34" charset="-122"/>
                <a:cs typeface="Pretendard" pitchFamily="34" charset="-120"/>
              </a:rPr>
              <a:t>화면</a:t>
            </a:r>
            <a:endParaRPr lang="en-US" err="1">
              <a:solidFill>
                <a:schemeClr val="bg1"/>
              </a:solidFill>
              <a:latin typeface="Pretendard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44"/>
          <p:cNvSpPr txBox="1"/>
          <p:nvPr/>
        </p:nvSpPr>
        <p:spPr>
          <a:xfrm>
            <a:off x="1371600" y="9048902"/>
            <a:ext cx="155448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각자</a:t>
            </a:r>
            <a:r>
              <a:rPr lang="en-US" sz="2400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맡은</a:t>
            </a:r>
            <a:r>
              <a:rPr lang="en-US" sz="2400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ko-KR" altLang="en-US" sz="2400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역할은</a:t>
            </a:r>
            <a:r>
              <a:rPr lang="en-US" sz="2400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다르지만</a:t>
            </a:r>
            <a:r>
              <a:rPr lang="en-US" sz="2400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, </a:t>
            </a:r>
            <a:r>
              <a:rPr lang="en-US" sz="2400" b="1" kern="0" spc="-39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하나의</a:t>
            </a:r>
            <a:r>
              <a:rPr lang="en-US" sz="2400" b="1" kern="0" spc="-39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39" err="1">
                <a:solidFill>
                  <a:srgbClr val="3E8FF0"/>
                </a:solidFill>
                <a:latin typeface="Pretendard"/>
                <a:ea typeface="Pretendard"/>
                <a:cs typeface="Pretendard" pitchFamily="34" charset="-120"/>
              </a:rPr>
              <a:t>서비스</a:t>
            </a:r>
            <a:r>
              <a:rPr lang="en-US" sz="2400" b="1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로</a:t>
            </a:r>
            <a:r>
              <a:rPr lang="en-US" sz="2400" b="1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연결하고</a:t>
            </a:r>
            <a:r>
              <a:rPr lang="en-US" sz="2400" b="1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 </a:t>
            </a:r>
            <a:r>
              <a:rPr lang="en-US" sz="2400" b="1" kern="0" spc="-39" err="1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있습니다</a:t>
            </a:r>
            <a:r>
              <a:rPr lang="en-US" sz="2400" b="1" kern="0" spc="-39">
                <a:solidFill>
                  <a:schemeClr val="bg1"/>
                </a:solidFill>
                <a:latin typeface="Pretendard"/>
                <a:ea typeface="Pretendard"/>
                <a:cs typeface="Pretendard" pitchFamily="34" charset="-120"/>
              </a:rPr>
              <a:t>.</a:t>
            </a:r>
            <a:endParaRPr lang="en-US" sz="240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D3EB5164-742D-A731-A995-254D8774B757}"/>
              </a:ext>
            </a:extLst>
          </p:cNvPr>
          <p:cNvSpPr txBox="1"/>
          <p:nvPr/>
        </p:nvSpPr>
        <p:spPr>
          <a:xfrm>
            <a:off x="13866289" y="8715147"/>
            <a:ext cx="3050111" cy="46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2400" b="1" kern="0" spc="-81">
              <a:solidFill>
                <a:srgbClr val="FFFFFF"/>
              </a:solidFill>
              <a:latin typeface="PRE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2B3B2DA-9D35-80ED-8FDC-E14C09499956}"/>
              </a:ext>
            </a:extLst>
          </p:cNvPr>
          <p:cNvGrpSpPr/>
          <p:nvPr/>
        </p:nvGrpSpPr>
        <p:grpSpPr>
          <a:xfrm>
            <a:off x="1200149" y="7295998"/>
            <a:ext cx="15716251" cy="1267359"/>
            <a:chOff x="1200149" y="7295998"/>
            <a:chExt cx="15716251" cy="1267359"/>
          </a:xfrm>
        </p:grpSpPr>
        <p:pic>
          <p:nvPicPr>
            <p:cNvPr id="4" name="Image 2" descr="gen-dedup-b2b88b65b85a5d804be078e3721ec440.png"/>
            <p:cNvPicPr>
              <a:picLocks noChangeAspect="1"/>
            </p:cNvPicPr>
            <p:nvPr/>
          </p:nvPicPr>
          <p:blipFill>
            <a:blip r:embed="rId7"/>
            <a:srcRect l="-7" r="-7" b="75651"/>
            <a:stretch>
              <a:fillRect/>
            </a:stretch>
          </p:blipFill>
          <p:spPr>
            <a:xfrm>
              <a:off x="1371600" y="7295998"/>
              <a:ext cx="15544800" cy="273633"/>
            </a:xfrm>
            <a:prstGeom prst="rect">
              <a:avLst/>
            </a:prstGeom>
          </p:spPr>
        </p:pic>
        <p:pic>
          <p:nvPicPr>
            <p:cNvPr id="57" name="Image 2" descr="gen-dedup-b2b88b65b85a5d804be078e3721ec440.png">
              <a:extLst>
                <a:ext uri="{FF2B5EF4-FFF2-40B4-BE49-F238E27FC236}">
                  <a16:creationId xmlns:a16="http://schemas.microsoft.com/office/drawing/2014/main" id="{633D6379-9723-682F-67A6-0C7CBD87B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-7" t="26322" r="-7"/>
            <a:stretch>
              <a:fillRect/>
            </a:stretch>
          </p:blipFill>
          <p:spPr>
            <a:xfrm>
              <a:off x="1200149" y="7545781"/>
              <a:ext cx="15544800" cy="1017576"/>
            </a:xfrm>
            <a:prstGeom prst="rect">
              <a:avLst/>
            </a:prstGeom>
          </p:spPr>
        </p:pic>
      </p:grpSp>
      <p:sp>
        <p:nvSpPr>
          <p:cNvPr id="62" name="Text 28">
            <a:extLst>
              <a:ext uri="{FF2B5EF4-FFF2-40B4-BE49-F238E27FC236}">
                <a16:creationId xmlns:a16="http://schemas.microsoft.com/office/drawing/2014/main" id="{63B41CB9-7F44-595B-60C7-AEDDEB229921}"/>
              </a:ext>
            </a:extLst>
          </p:cNvPr>
          <p:cNvSpPr txBox="1"/>
          <p:nvPr/>
        </p:nvSpPr>
        <p:spPr>
          <a:xfrm>
            <a:off x="7791602" y="8090366"/>
            <a:ext cx="2362810" cy="36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63"/>
              </a:lnSpc>
              <a:buNone/>
            </a:pPr>
            <a:r>
              <a:rPr lang="en-US" sz="2400">
                <a:solidFill>
                  <a:schemeClr val="bg1"/>
                </a:solidFill>
                <a:latin typeface="Pretendard"/>
              </a:rPr>
              <a:t>ANSWERVICE</a:t>
            </a:r>
          </a:p>
        </p:txBody>
      </p:sp>
      <p:sp>
        <p:nvSpPr>
          <p:cNvPr id="61" name="Text 2">
            <a:extLst>
              <a:ext uri="{FF2B5EF4-FFF2-40B4-BE49-F238E27FC236}">
                <a16:creationId xmlns:a16="http://schemas.microsoft.com/office/drawing/2014/main" id="{5856F5D9-87E9-17D3-7C44-0864CF546487}"/>
              </a:ext>
            </a:extLst>
          </p:cNvPr>
          <p:cNvSpPr txBox="1"/>
          <p:nvPr/>
        </p:nvSpPr>
        <p:spPr>
          <a:xfrm>
            <a:off x="1371600" y="1580998"/>
            <a:ext cx="142875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600" b="1" kern="0" spc="-76">
                <a:solidFill>
                  <a:srgbClr val="FFFFFF"/>
                </a:solidFill>
                <a:ea typeface="+mn-lt"/>
                <a:cs typeface="+mn-lt"/>
              </a:rPr>
              <a:t>각자의 전문 영역</a:t>
            </a:r>
            <a:r>
              <a:rPr lang="en-US" altLang="ko-KR" sz="3600" b="1" kern="0" spc="-76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ko-KR" sz="3600" b="1" kern="0" spc="-76">
                <a:solidFill>
                  <a:srgbClr val="FFFFFF"/>
                </a:solidFill>
                <a:ea typeface="+mn-lt"/>
                <a:cs typeface="+mn-lt"/>
              </a:rPr>
              <a:t>중심으로</a:t>
            </a:r>
            <a:r>
              <a:rPr lang="ko-KR" sz="3600" b="1" kern="0" spc="-76">
                <a:solidFill>
                  <a:srgbClr val="3E8FF0"/>
                </a:solidFill>
                <a:ea typeface="+mn-lt"/>
                <a:cs typeface="+mn-lt"/>
              </a:rPr>
              <a:t> </a:t>
            </a:r>
            <a:r>
              <a:rPr lang="ko-KR" altLang="en-US" sz="3600" b="1" kern="0" spc="-76">
                <a:solidFill>
                  <a:srgbClr val="3E8FF0"/>
                </a:solidFill>
                <a:ea typeface="+mn-lt"/>
                <a:cs typeface="+mn-lt"/>
              </a:rPr>
              <a:t>역할 분배</a:t>
            </a:r>
            <a:endParaRPr lang="en-US" sz="3600" kern="0" spc="-76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0CC72461-6E11-829A-A53D-AFAFBBFAFBB1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12 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30DCD-DC1C-5453-6FFA-B1A7556DE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>
            <a:extLst>
              <a:ext uri="{FF2B5EF4-FFF2-40B4-BE49-F238E27FC236}">
                <a16:creationId xmlns:a16="http://schemas.microsoft.com/office/drawing/2014/main" id="{7B691FFC-B1FA-3A01-CD15-AF398D45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86B5165B-7125-5B6B-65F7-50C1CEA111A5}"/>
              </a:ext>
            </a:extLst>
          </p:cNvPr>
          <p:cNvSpPr txBox="1"/>
          <p:nvPr/>
        </p:nvSpPr>
        <p:spPr>
          <a:xfrm>
            <a:off x="1371600" y="724205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57" dirty="0">
                <a:solidFill>
                  <a:srgbClr val="6B7683"/>
                </a:solidFill>
                <a:latin typeface="Pretendard" pitchFamily="34" charset="0"/>
                <a:ea typeface="Pretendard"/>
                <a:cs typeface="Pretendard" pitchFamily="34" charset="-120"/>
              </a:rPr>
              <a:t>ANSWERVICE / 13</a:t>
            </a:r>
            <a:endParaRPr lang="en-US" sz="1050" dirty="0">
              <a:latin typeface="Pretendard" panose="02000503000000020004" pitchFamily="2" charset="-127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872C4DB-0760-B93C-B4BA-46822C0E026C}"/>
              </a:ext>
            </a:extLst>
          </p:cNvPr>
          <p:cNvSpPr txBox="1"/>
          <p:nvPr/>
        </p:nvSpPr>
        <p:spPr>
          <a:xfrm>
            <a:off x="13106095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ko-KR" altLang="en-US" sz="1050" b="1" kern="0" spc="357" dirty="0">
                <a:solidFill>
                  <a:srgbClr val="1C69D4"/>
                </a:solidFill>
                <a:latin typeface="Pretendard" panose="02000503000000020004" pitchFamily="2" charset="-127"/>
                <a:ea typeface="맑은 고딕"/>
              </a:rPr>
              <a:t>계획과 범위</a:t>
            </a:r>
            <a:endParaRPr lang="en-US" sz="1050" dirty="0">
              <a:latin typeface="Pretendard" panose="02000503000000020004" pitchFamily="2" charset="-127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DE01E1E4-37BE-FACF-D329-572A92319906}"/>
              </a:ext>
            </a:extLst>
          </p:cNvPr>
          <p:cNvSpPr txBox="1"/>
          <p:nvPr/>
        </p:nvSpPr>
        <p:spPr>
          <a:xfrm>
            <a:off x="1371600" y="1561795"/>
            <a:ext cx="142875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2250" b="1" kern="0" spc="-67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우선순위에 따라 </a:t>
            </a:r>
            <a:r>
              <a:rPr lang="ko-KR" altLang="en-US" sz="2250" b="1" kern="0" spc="-67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핵심 기능 구현 및 </a:t>
            </a:r>
            <a:r>
              <a:rPr lang="ko-KR" sz="2250" b="1" kern="0" spc="-67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검증</a:t>
            </a:r>
            <a:endParaRPr lang="ko-KR" altLang="en-US" sz="2250" b="1" kern="0" spc="-67">
              <a:solidFill>
                <a:srgbClr val="3E8FF0"/>
              </a:solidFill>
              <a:latin typeface="Pretendard" panose="02000503000000020004" pitchFamily="2" charset="-127"/>
              <a:ea typeface="Pretendard"/>
              <a:cs typeface="Pretendard" panose="02000503000000020004" pitchFamily="2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83242925-B588-6623-38D6-4CE8264E3307}"/>
              </a:ext>
            </a:extLst>
          </p:cNvPr>
          <p:cNvSpPr txBox="1"/>
          <p:nvPr/>
        </p:nvSpPr>
        <p:spPr>
          <a:xfrm>
            <a:off x="16192195" y="9601200"/>
            <a:ext cx="7242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50" kern="0" spc="-18" dirty="0">
                <a:solidFill>
                  <a:srgbClr val="4A53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16</a:t>
            </a:r>
            <a:endParaRPr lang="en-US" sz="1050" dirty="0">
              <a:latin typeface="Pretendard" panose="02000503000000020004" pitchFamily="2" charset="-127"/>
            </a:endParaRPr>
          </a:p>
        </p:txBody>
      </p:sp>
      <p:sp>
        <p:nvSpPr>
          <p:cNvPr id="7" name="Text 18">
            <a:extLst>
              <a:ext uri="{FF2B5EF4-FFF2-40B4-BE49-F238E27FC236}">
                <a16:creationId xmlns:a16="http://schemas.microsoft.com/office/drawing/2014/main" id="{6BD59D4F-D537-0DAC-215A-9370EC816BE1}"/>
              </a:ext>
            </a:extLst>
          </p:cNvPr>
          <p:cNvSpPr txBox="1"/>
          <p:nvPr/>
        </p:nvSpPr>
        <p:spPr>
          <a:xfrm>
            <a:off x="1371600" y="9252145"/>
            <a:ext cx="155448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핵심 분석 기능을 먼저 </a:t>
            </a:r>
            <a:r>
              <a:rPr lang="ko-KR" altLang="en-US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완성하고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, 운영 </a:t>
            </a:r>
            <a:r>
              <a:rPr lang="ko-KR" altLang="en-US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기능과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추가 범위는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ko-KR" sz="2400" b="1" kern="0" spc="-76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안정화 </a:t>
            </a:r>
            <a:r>
              <a:rPr lang="ko-KR" altLang="en-US" sz="2400" b="1" kern="0" spc="-76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정도</a:t>
            </a:r>
            <a:r>
              <a:rPr lang="ko-KR" altLang="en-US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에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따라 </a:t>
            </a:r>
            <a:r>
              <a:rPr lang="ko-KR" altLang="ko-KR" sz="2400" b="1" kern="0" spc="-76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순차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적으로 </a:t>
            </a:r>
            <a:r>
              <a:rPr lang="ko-KR" altLang="ko-KR" sz="2400" b="1" kern="0" spc="-76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구현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합니다.</a:t>
            </a:r>
          </a:p>
          <a:p>
            <a:endParaRPr lang="en-US" altLang="ko-KR" sz="2400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841EDC82-99E2-0DE6-BE07-E084EC48DFB2}"/>
              </a:ext>
            </a:extLst>
          </p:cNvPr>
          <p:cNvSpPr/>
          <p:nvPr/>
        </p:nvSpPr>
        <p:spPr>
          <a:xfrm>
            <a:off x="1502731" y="2400300"/>
            <a:ext cx="9356627" cy="6457950"/>
          </a:xfrm>
          <a:prstGeom prst="rect">
            <a:avLst/>
          </a:prstGeom>
          <a:solidFill>
            <a:srgbClr val="0A0F16"/>
          </a:solidFill>
          <a:ln w="19050">
            <a:solidFill>
              <a:srgbClr val="548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2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443EB2-336E-44D5-D0C7-17E2784B8F14}"/>
              </a:ext>
            </a:extLst>
          </p:cNvPr>
          <p:cNvSpPr txBox="1"/>
          <p:nvPr/>
        </p:nvSpPr>
        <p:spPr>
          <a:xfrm>
            <a:off x="1956386" y="2743201"/>
            <a:ext cx="1984739" cy="8000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6000" b="1">
                <a:solidFill>
                  <a:srgbClr val="3E8FF0"/>
                </a:solidFill>
                <a:latin typeface="Pretendard"/>
              </a:rPr>
              <a:t>P0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8F6161-27B0-B2D8-95E7-860A61CCD3A7}"/>
              </a:ext>
            </a:extLst>
          </p:cNvPr>
          <p:cNvSpPr txBox="1"/>
          <p:nvPr/>
        </p:nvSpPr>
        <p:spPr>
          <a:xfrm>
            <a:off x="3203936" y="2943225"/>
            <a:ext cx="3685944" cy="428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Pretendard"/>
              </a:rPr>
              <a:t>필수 기능</a:t>
            </a:r>
          </a:p>
        </p:txBody>
      </p:sp>
      <p:sp>
        <p:nvSpPr>
          <p:cNvPr id="22" name="Rectangle 33">
            <a:extLst>
              <a:ext uri="{FF2B5EF4-FFF2-40B4-BE49-F238E27FC236}">
                <a16:creationId xmlns:a16="http://schemas.microsoft.com/office/drawing/2014/main" id="{58570392-F123-BFDF-AE5F-C3C9642A9727}"/>
              </a:ext>
            </a:extLst>
          </p:cNvPr>
          <p:cNvSpPr/>
          <p:nvPr/>
        </p:nvSpPr>
        <p:spPr>
          <a:xfrm>
            <a:off x="9299921" y="2886074"/>
            <a:ext cx="1105782" cy="428625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b="1">
                <a:solidFill>
                  <a:srgbClr val="04203D"/>
                </a:solidFill>
                <a:latin typeface="Pretendard"/>
              </a:rPr>
              <a:t>완료</a:t>
            </a:r>
          </a:p>
        </p:txBody>
      </p:sp>
      <p:cxnSp>
        <p:nvCxnSpPr>
          <p:cNvPr id="26" name="Connector 34">
            <a:extLst>
              <a:ext uri="{FF2B5EF4-FFF2-40B4-BE49-F238E27FC236}">
                <a16:creationId xmlns:a16="http://schemas.microsoft.com/office/drawing/2014/main" id="{01CD05FC-810B-28EF-0BC5-4175F22287B4}"/>
              </a:ext>
            </a:extLst>
          </p:cNvPr>
          <p:cNvCxnSpPr/>
          <p:nvPr/>
        </p:nvCxnSpPr>
        <p:spPr>
          <a:xfrm>
            <a:off x="1956386" y="3771900"/>
            <a:ext cx="8449319" cy="0"/>
          </a:xfrm>
          <a:prstGeom prst="line">
            <a:avLst/>
          </a:prstGeom>
          <a:ln w="9525">
            <a:solidFill>
              <a:srgbClr val="1E35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E09534D-D9FC-0FFE-9BA1-2ADF2011EA21}"/>
              </a:ext>
            </a:extLst>
          </p:cNvPr>
          <p:cNvSpPr txBox="1"/>
          <p:nvPr/>
        </p:nvSpPr>
        <p:spPr>
          <a:xfrm>
            <a:off x="1956386" y="4114801"/>
            <a:ext cx="4082892" cy="3714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00" b="1">
                <a:solidFill>
                  <a:srgbClr val="3E8FF0"/>
                </a:solidFill>
                <a:latin typeface="Pretendard"/>
              </a:rPr>
              <a:t>✓  </a:t>
            </a:r>
            <a:r>
              <a:rPr sz="2100" b="1">
                <a:solidFill>
                  <a:srgbClr val="FFFFFF"/>
                </a:solidFill>
                <a:latin typeface="Pretendard"/>
              </a:rPr>
              <a:t>채팅 화면 구성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DFF876-05DA-E282-3F58-7D69C25B7496}"/>
              </a:ext>
            </a:extLst>
          </p:cNvPr>
          <p:cNvSpPr txBox="1"/>
          <p:nvPr/>
        </p:nvSpPr>
        <p:spPr>
          <a:xfrm>
            <a:off x="6181044" y="4114801"/>
            <a:ext cx="4082892" cy="3714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00" b="1">
                <a:solidFill>
                  <a:srgbClr val="3E8FF0"/>
                </a:solidFill>
                <a:latin typeface="Pretendard"/>
              </a:rPr>
              <a:t>✓  </a:t>
            </a:r>
            <a:r>
              <a:rPr sz="2100" b="1">
                <a:solidFill>
                  <a:srgbClr val="FFFFFF"/>
                </a:solidFill>
                <a:latin typeface="Pretendard"/>
              </a:rPr>
              <a:t>보고서 생성 및 수동 실행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F1E423-25BC-0EC0-AF92-2A719F52385A}"/>
              </a:ext>
            </a:extLst>
          </p:cNvPr>
          <p:cNvSpPr txBox="1"/>
          <p:nvPr/>
        </p:nvSpPr>
        <p:spPr>
          <a:xfrm>
            <a:off x="1956386" y="4743451"/>
            <a:ext cx="4082892" cy="3714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00" b="1">
                <a:solidFill>
                  <a:srgbClr val="3E8FF0"/>
                </a:solidFill>
                <a:latin typeface="Pretendard"/>
              </a:rPr>
              <a:t>✓  </a:t>
            </a:r>
            <a:r>
              <a:rPr sz="2100" b="1">
                <a:solidFill>
                  <a:srgbClr val="FFFFFF"/>
                </a:solidFill>
                <a:latin typeface="Pretendard"/>
              </a:rPr>
              <a:t>실행 이력 확인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4A493A-D228-2AE8-373F-BC232545F1C2}"/>
              </a:ext>
            </a:extLst>
          </p:cNvPr>
          <p:cNvSpPr txBox="1"/>
          <p:nvPr/>
        </p:nvSpPr>
        <p:spPr>
          <a:xfrm>
            <a:off x="6181044" y="4743451"/>
            <a:ext cx="4082892" cy="3714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00" b="1">
                <a:solidFill>
                  <a:srgbClr val="3E8FF0"/>
                </a:solidFill>
                <a:latin typeface="Pretendard"/>
              </a:rPr>
              <a:t>✓  </a:t>
            </a:r>
            <a:r>
              <a:rPr sz="2100" b="1">
                <a:solidFill>
                  <a:srgbClr val="FFFFFF"/>
                </a:solidFill>
                <a:latin typeface="Pretendard"/>
              </a:rPr>
              <a:t>데이터 연결 상태 확인</a:t>
            </a:r>
          </a:p>
        </p:txBody>
      </p:sp>
      <p:cxnSp>
        <p:nvCxnSpPr>
          <p:cNvPr id="39" name="Connector 39">
            <a:extLst>
              <a:ext uri="{FF2B5EF4-FFF2-40B4-BE49-F238E27FC236}">
                <a16:creationId xmlns:a16="http://schemas.microsoft.com/office/drawing/2014/main" id="{F7B2D213-B67E-2541-C940-56C1CAB59ABF}"/>
              </a:ext>
            </a:extLst>
          </p:cNvPr>
          <p:cNvCxnSpPr/>
          <p:nvPr/>
        </p:nvCxnSpPr>
        <p:spPr>
          <a:xfrm>
            <a:off x="1956386" y="5714999"/>
            <a:ext cx="2551808" cy="0"/>
          </a:xfrm>
          <a:prstGeom prst="line">
            <a:avLst/>
          </a:prstGeom>
          <a:ln w="9525">
            <a:solidFill>
              <a:srgbClr val="1E35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80275C5-DD79-CBA9-5724-357FC6C6B223}"/>
              </a:ext>
            </a:extLst>
          </p:cNvPr>
          <p:cNvSpPr txBox="1"/>
          <p:nvPr/>
        </p:nvSpPr>
        <p:spPr>
          <a:xfrm>
            <a:off x="1956386" y="5943599"/>
            <a:ext cx="4253012" cy="28574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650" b="1">
                <a:solidFill>
                  <a:srgbClr val="3E8FF0"/>
                </a:solidFill>
                <a:latin typeface="Pretendard"/>
              </a:rPr>
              <a:t>완료 기준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7DD2C7-E04B-C2E4-8C4A-362D7C4BD54D}"/>
              </a:ext>
            </a:extLst>
          </p:cNvPr>
          <p:cNvSpPr txBox="1"/>
          <p:nvPr/>
        </p:nvSpPr>
        <p:spPr>
          <a:xfrm>
            <a:off x="1956386" y="6343651"/>
            <a:ext cx="8449317" cy="11429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900"/>
              </a:spcAft>
            </a:pPr>
            <a:r>
              <a:rPr sz="1950">
                <a:solidFill>
                  <a:srgbClr val="9AA4B2"/>
                </a:solidFill>
                <a:latin typeface="Pretendard"/>
              </a:rPr>
              <a:t>질문부터 근거 · 표 · 차트 확인</a:t>
            </a:r>
          </a:p>
          <a:p>
            <a:pPr>
              <a:spcAft>
                <a:spcPts val="900"/>
              </a:spcAft>
            </a:pPr>
            <a:r>
              <a:rPr sz="1950">
                <a:solidFill>
                  <a:srgbClr val="9AA4B2"/>
                </a:solidFill>
                <a:latin typeface="Pretendard"/>
              </a:rPr>
              <a:t>직접 실행까지 전 과정 확인</a:t>
            </a:r>
          </a:p>
        </p:txBody>
      </p:sp>
      <p:sp>
        <p:nvSpPr>
          <p:cNvPr id="51" name="Right Arrow 42">
            <a:extLst>
              <a:ext uri="{FF2B5EF4-FFF2-40B4-BE49-F238E27FC236}">
                <a16:creationId xmlns:a16="http://schemas.microsoft.com/office/drawing/2014/main" id="{F839C2AF-7884-3FFC-F3A0-6012A1DDF9EA}"/>
              </a:ext>
            </a:extLst>
          </p:cNvPr>
          <p:cNvSpPr/>
          <p:nvPr/>
        </p:nvSpPr>
        <p:spPr>
          <a:xfrm>
            <a:off x="11086186" y="5486400"/>
            <a:ext cx="510362" cy="228600"/>
          </a:xfrm>
          <a:prstGeom prst="rightArrow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54" name="Rectangle 43">
            <a:extLst>
              <a:ext uri="{FF2B5EF4-FFF2-40B4-BE49-F238E27FC236}">
                <a16:creationId xmlns:a16="http://schemas.microsoft.com/office/drawing/2014/main" id="{C93F58BD-FC4E-32A7-C32D-BDC0B20E1E45}"/>
              </a:ext>
            </a:extLst>
          </p:cNvPr>
          <p:cNvSpPr/>
          <p:nvPr/>
        </p:nvSpPr>
        <p:spPr>
          <a:xfrm>
            <a:off x="11709960" y="2400301"/>
            <a:ext cx="5103615" cy="3057524"/>
          </a:xfrm>
          <a:prstGeom prst="rect">
            <a:avLst/>
          </a:prstGeom>
          <a:solidFill>
            <a:srgbClr val="0F0C06"/>
          </a:solidFill>
          <a:ln w="12700">
            <a:solidFill>
              <a:srgbClr val="D7A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27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6C6D47-5007-3AB0-56AC-6BF6B909DCE2}"/>
              </a:ext>
            </a:extLst>
          </p:cNvPr>
          <p:cNvSpPr txBox="1"/>
          <p:nvPr/>
        </p:nvSpPr>
        <p:spPr>
          <a:xfrm>
            <a:off x="12021850" y="2657475"/>
            <a:ext cx="992369" cy="428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000" b="1">
                <a:solidFill>
                  <a:srgbClr val="D7A64F"/>
                </a:solidFill>
                <a:latin typeface="Pretendard"/>
              </a:rPr>
              <a:t>P1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E6DDDB-6C51-5BC1-3FB6-08AE8C41646A}"/>
              </a:ext>
            </a:extLst>
          </p:cNvPr>
          <p:cNvSpPr txBox="1"/>
          <p:nvPr/>
        </p:nvSpPr>
        <p:spPr>
          <a:xfrm>
            <a:off x="12645624" y="2714625"/>
            <a:ext cx="2268273" cy="3143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75" b="1">
                <a:solidFill>
                  <a:srgbClr val="E4E0D6"/>
                </a:solidFill>
                <a:latin typeface="Pretendard"/>
              </a:rPr>
              <a:t>운영 기능</a:t>
            </a:r>
          </a:p>
        </p:txBody>
      </p:sp>
      <p:sp>
        <p:nvSpPr>
          <p:cNvPr id="57" name="Rectangle 46">
            <a:extLst>
              <a:ext uri="{FF2B5EF4-FFF2-40B4-BE49-F238E27FC236}">
                <a16:creationId xmlns:a16="http://schemas.microsoft.com/office/drawing/2014/main" id="{A983727B-E3A6-77F0-2EFA-CCAF81DA9B12}"/>
              </a:ext>
            </a:extLst>
          </p:cNvPr>
          <p:cNvSpPr/>
          <p:nvPr/>
        </p:nvSpPr>
        <p:spPr>
          <a:xfrm>
            <a:off x="15707794" y="2686050"/>
            <a:ext cx="793895" cy="314325"/>
          </a:xfrm>
          <a:prstGeom prst="rect">
            <a:avLst/>
          </a:prstGeom>
          <a:noFill/>
          <a:ln w="9525">
            <a:solidFill>
              <a:srgbClr val="6B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500" b="1">
                <a:solidFill>
                  <a:srgbClr val="8A7A55"/>
                </a:solidFill>
                <a:latin typeface="Pretendard"/>
              </a:rPr>
              <a:t>예정</a:t>
            </a:r>
          </a:p>
        </p:txBody>
      </p:sp>
      <p:cxnSp>
        <p:nvCxnSpPr>
          <p:cNvPr id="58" name="Connector 47">
            <a:extLst>
              <a:ext uri="{FF2B5EF4-FFF2-40B4-BE49-F238E27FC236}">
                <a16:creationId xmlns:a16="http://schemas.microsoft.com/office/drawing/2014/main" id="{A86FF0A9-582E-4719-32B5-C511FCC2139D}"/>
              </a:ext>
            </a:extLst>
          </p:cNvPr>
          <p:cNvCxnSpPr/>
          <p:nvPr/>
        </p:nvCxnSpPr>
        <p:spPr>
          <a:xfrm>
            <a:off x="12021850" y="3228975"/>
            <a:ext cx="4479839" cy="0"/>
          </a:xfrm>
          <a:prstGeom prst="line">
            <a:avLst/>
          </a:prstGeom>
          <a:ln w="9525">
            <a:solidFill>
              <a:srgbClr val="3A2F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5E67D76-45E0-5E40-4023-E5FD34952D52}"/>
              </a:ext>
            </a:extLst>
          </p:cNvPr>
          <p:cNvSpPr txBox="1"/>
          <p:nvPr/>
        </p:nvSpPr>
        <p:spPr>
          <a:xfrm>
            <a:off x="12021850" y="3457574"/>
            <a:ext cx="4479839" cy="185737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1050"/>
              </a:spcAft>
            </a:pPr>
            <a:r>
              <a:rPr>
                <a:solidFill>
                  <a:srgbClr val="BFB5A0"/>
                </a:solidFill>
                <a:latin typeface="Pretendard"/>
              </a:rPr>
              <a:t>◐  정기 보고서 생성</a:t>
            </a:r>
          </a:p>
          <a:p>
            <a:pPr>
              <a:spcAft>
                <a:spcPts val="1050"/>
              </a:spcAft>
            </a:pPr>
            <a:r>
              <a:rPr>
                <a:solidFill>
                  <a:srgbClr val="BFB5A0"/>
                </a:solidFill>
                <a:latin typeface="Pretendard"/>
              </a:rPr>
              <a:t>◐  외부 도구(MCP) 연결 관리</a:t>
            </a:r>
          </a:p>
          <a:p>
            <a:pPr>
              <a:spcAft>
                <a:spcPts val="1050"/>
              </a:spcAft>
            </a:pPr>
            <a:r>
              <a:rPr>
                <a:solidFill>
                  <a:srgbClr val="BFB5A0"/>
                </a:solidFill>
                <a:latin typeface="Pretendard"/>
              </a:rPr>
              <a:t>◐  사내 지침 문서 검색</a:t>
            </a:r>
          </a:p>
        </p:txBody>
      </p:sp>
      <p:sp>
        <p:nvSpPr>
          <p:cNvPr id="60" name="Rectangle 49">
            <a:extLst>
              <a:ext uri="{FF2B5EF4-FFF2-40B4-BE49-F238E27FC236}">
                <a16:creationId xmlns:a16="http://schemas.microsoft.com/office/drawing/2014/main" id="{0E5BA27E-966C-54BB-6936-D2271A8EB57C}"/>
              </a:ext>
            </a:extLst>
          </p:cNvPr>
          <p:cNvSpPr/>
          <p:nvPr/>
        </p:nvSpPr>
        <p:spPr>
          <a:xfrm>
            <a:off x="11709960" y="5800724"/>
            <a:ext cx="5103615" cy="3057524"/>
          </a:xfrm>
          <a:prstGeom prst="rect">
            <a:avLst/>
          </a:prstGeom>
          <a:solidFill>
            <a:srgbClr val="080A0E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27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70BA94-E7E0-2AFF-68CB-F70EC26AAE43}"/>
              </a:ext>
            </a:extLst>
          </p:cNvPr>
          <p:cNvSpPr txBox="1"/>
          <p:nvPr/>
        </p:nvSpPr>
        <p:spPr>
          <a:xfrm>
            <a:off x="12021850" y="6057899"/>
            <a:ext cx="992369" cy="428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000" b="1">
                <a:solidFill>
                  <a:srgbClr val="8A94A3"/>
                </a:solidFill>
                <a:latin typeface="Pretendard"/>
              </a:rPr>
              <a:t>P2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2F4B03-4E2C-663B-67F9-48488D9DD73E}"/>
              </a:ext>
            </a:extLst>
          </p:cNvPr>
          <p:cNvSpPr txBox="1"/>
          <p:nvPr/>
        </p:nvSpPr>
        <p:spPr>
          <a:xfrm>
            <a:off x="12645624" y="6115049"/>
            <a:ext cx="2268273" cy="3143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75" b="1">
                <a:solidFill>
                  <a:srgbClr val="C7CCDA"/>
                </a:solidFill>
                <a:latin typeface="Pretendard"/>
              </a:rPr>
              <a:t>추가 범위</a:t>
            </a:r>
          </a:p>
        </p:txBody>
      </p:sp>
      <p:sp>
        <p:nvSpPr>
          <p:cNvPr id="63" name="Rectangle 52">
            <a:extLst>
              <a:ext uri="{FF2B5EF4-FFF2-40B4-BE49-F238E27FC236}">
                <a16:creationId xmlns:a16="http://schemas.microsoft.com/office/drawing/2014/main" id="{870E31EE-92CD-4F42-4BF9-944F3C77FEC4}"/>
              </a:ext>
            </a:extLst>
          </p:cNvPr>
          <p:cNvSpPr/>
          <p:nvPr/>
        </p:nvSpPr>
        <p:spPr>
          <a:xfrm>
            <a:off x="15707794" y="6086474"/>
            <a:ext cx="793895" cy="314325"/>
          </a:xfrm>
          <a:prstGeom prst="rect">
            <a:avLst/>
          </a:prstGeom>
          <a:noFill/>
          <a:ln w="9525">
            <a:solidFill>
              <a:srgbClr val="45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500" b="1">
                <a:solidFill>
                  <a:srgbClr val="5E6672"/>
                </a:solidFill>
                <a:latin typeface="Pretendard"/>
              </a:rPr>
              <a:t>검토</a:t>
            </a:r>
          </a:p>
        </p:txBody>
      </p:sp>
      <p:cxnSp>
        <p:nvCxnSpPr>
          <p:cNvPr id="64" name="Connector 53">
            <a:extLst>
              <a:ext uri="{FF2B5EF4-FFF2-40B4-BE49-F238E27FC236}">
                <a16:creationId xmlns:a16="http://schemas.microsoft.com/office/drawing/2014/main" id="{DF60D5C5-05F7-9CD7-69E3-C29D861F786D}"/>
              </a:ext>
            </a:extLst>
          </p:cNvPr>
          <p:cNvCxnSpPr/>
          <p:nvPr/>
        </p:nvCxnSpPr>
        <p:spPr>
          <a:xfrm>
            <a:off x="12021850" y="6629400"/>
            <a:ext cx="4479839" cy="0"/>
          </a:xfrm>
          <a:prstGeom prst="line">
            <a:avLst/>
          </a:prstGeom>
          <a:ln w="9525">
            <a:solidFill>
              <a:srgbClr val="232B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7326C5D-08E5-F94E-91A4-AB7D19568644}"/>
              </a:ext>
            </a:extLst>
          </p:cNvPr>
          <p:cNvSpPr txBox="1"/>
          <p:nvPr/>
        </p:nvSpPr>
        <p:spPr>
          <a:xfrm>
            <a:off x="12021850" y="6857999"/>
            <a:ext cx="4479839" cy="185737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1050"/>
              </a:spcAft>
            </a:pPr>
            <a:r>
              <a:rPr>
                <a:solidFill>
                  <a:srgbClr val="8B93A7"/>
                </a:solidFill>
                <a:latin typeface="Pretendard"/>
              </a:rPr>
              <a:t>○  데이터 카탈로그 관리</a:t>
            </a:r>
          </a:p>
          <a:p>
            <a:pPr>
              <a:spcAft>
                <a:spcPts val="1050"/>
              </a:spcAft>
            </a:pPr>
            <a:r>
              <a:rPr>
                <a:solidFill>
                  <a:srgbClr val="8B93A7"/>
                </a:solidFill>
                <a:latin typeface="Pretendard"/>
              </a:rPr>
              <a:t>○  예측 모델 도구 연동</a:t>
            </a:r>
          </a:p>
          <a:p>
            <a:pPr>
              <a:spcAft>
                <a:spcPts val="1050"/>
              </a:spcAft>
            </a:pPr>
            <a:r>
              <a:rPr>
                <a:solidFill>
                  <a:srgbClr val="8B93A7"/>
                </a:solidFill>
                <a:latin typeface="Pretendard"/>
              </a:rPr>
              <a:t>      (ML-as-a-Tool)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AD4CAD-34DE-974E-29B6-46B812F23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794" y="5714999"/>
            <a:ext cx="4698495" cy="264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3586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14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6" name="Text 1"/>
          <p:cNvSpPr txBox="1"/>
          <p:nvPr/>
        </p:nvSpPr>
        <p:spPr>
          <a:xfrm>
            <a:off x="12154205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050" b="1" kern="0" spc="357">
                <a:solidFill>
                  <a:srgbClr val="1C69D4"/>
                </a:solidFill>
                <a:latin typeface="Pretendard"/>
                <a:ea typeface="Pretendard"/>
                <a:cs typeface="Pretendard" pitchFamily="34" charset="-120"/>
              </a:rPr>
              <a:t>자체 평가</a:t>
            </a:r>
            <a:endParaRPr lang="en-US" sz="1050" b="1" kern="0" spc="357">
              <a:solidFill>
                <a:srgbClr val="1C69D4"/>
              </a:solidFill>
              <a:latin typeface="Pretendard"/>
              <a:ea typeface="Pretendar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1600" y="2125980"/>
            <a:ext cx="148544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기획</a:t>
            </a:r>
            <a:r>
              <a:rPr lang="en-US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·</a:t>
            </a:r>
            <a:r>
              <a:rPr lang="ko-KR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구현</a:t>
            </a:r>
            <a:r>
              <a:rPr lang="en-US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·</a:t>
            </a:r>
            <a:r>
              <a:rPr lang="ko-KR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기술 </a:t>
            </a:r>
            <a:r>
              <a:rPr lang="en-US" sz="180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세 </a:t>
            </a:r>
            <a:r>
              <a:rPr lang="ko-KR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영역을 </a:t>
            </a:r>
            <a:r>
              <a:rPr lang="ko-KR" altLang="en-US" sz="180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스프린트 과정에서 문항별로</a:t>
            </a:r>
            <a:r>
              <a:rPr lang="ko-KR" sz="180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 자체 </a:t>
            </a:r>
            <a:r>
              <a:rPr lang="ko-KR" altLang="en-US" sz="180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점검한 결과입니다</a:t>
            </a:r>
            <a:r>
              <a:rPr lang="en-US" sz="1800" b="0">
                <a:solidFill>
                  <a:schemeClr val="bg1"/>
                </a:solidFill>
                <a:latin typeface="Pretendard"/>
                <a:ea typeface="Pretendard"/>
                <a:cs typeface="Pretendard" panose="02000503000000020004" pitchFamily="2" charset="-127"/>
              </a:rPr>
              <a:t>.</a:t>
            </a:r>
            <a:endParaRPr lang="ko-KR" sz="1800">
              <a:solidFill>
                <a:schemeClr val="bg1"/>
              </a:solidFill>
              <a:latin typeface="Pretendard"/>
              <a:ea typeface="맑은 고딕"/>
              <a:cs typeface="Pretendard" panose="02000503000000020004" pitchFamily="2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371600" y="3128688"/>
            <a:ext cx="7132320" cy="4526280"/>
          </a:xfrm>
          <a:prstGeom prst="roundRect">
            <a:avLst>
              <a:gd name="adj" fmla="val 3000"/>
            </a:avLst>
          </a:prstGeom>
          <a:solidFill>
            <a:srgbClr val="0B111F"/>
          </a:solidFill>
          <a:ln w="9525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83080" y="3430440"/>
            <a:ext cx="6309360" cy="2192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425" b="1">
                <a:solidFill>
                  <a:srgbClr val="4A535F"/>
                </a:solidFill>
                <a:latin typeface="Pretendard"/>
              </a:rPr>
              <a:t>영역별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924216"/>
            <a:ext cx="6309360" cy="300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950" b="1">
                <a:solidFill>
                  <a:srgbClr val="FFFFFF"/>
                </a:solidFill>
                <a:latin typeface="Pretendard"/>
              </a:rPr>
              <a:t>기획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924216"/>
            <a:ext cx="63093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1800" b="0">
                <a:solidFill>
                  <a:srgbClr val="9AA4B2"/>
                </a:solidFill>
                <a:latin typeface="Pretendard"/>
              </a:rPr>
              <a:t>12 / 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4335696"/>
            <a:ext cx="6309360" cy="123444"/>
          </a:xfrm>
          <a:prstGeom prst="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83080" y="4335696"/>
            <a:ext cx="3785616" cy="123444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783080" y="4774608"/>
            <a:ext cx="6309360" cy="300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950" b="1">
                <a:solidFill>
                  <a:srgbClr val="FFFFFF"/>
                </a:solidFill>
                <a:latin typeface="Pretendard"/>
              </a:rPr>
              <a:t>구현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774608"/>
            <a:ext cx="63093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1800" b="0">
                <a:solidFill>
                  <a:srgbClr val="9AA4B2"/>
                </a:solidFill>
                <a:latin typeface="Pretendard"/>
              </a:rPr>
              <a:t>13 / 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83080" y="5186088"/>
            <a:ext cx="6309360" cy="123444"/>
          </a:xfrm>
          <a:prstGeom prst="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783080" y="5186088"/>
            <a:ext cx="2734056" cy="123444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783080" y="5625000"/>
            <a:ext cx="6309360" cy="300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950" b="1">
                <a:solidFill>
                  <a:srgbClr val="FFFFFF"/>
                </a:solidFill>
                <a:latin typeface="Pretendard"/>
              </a:rPr>
              <a:t>기술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5625000"/>
            <a:ext cx="63093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1800" b="0">
                <a:solidFill>
                  <a:srgbClr val="9AA4B2"/>
                </a:solidFill>
                <a:latin typeface="Pretendard"/>
              </a:rPr>
              <a:t>22 / 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6036480"/>
            <a:ext cx="6309360" cy="123444"/>
          </a:xfrm>
          <a:prstGeom prst="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783080" y="6036480"/>
            <a:ext cx="4626864" cy="123444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1783080" y="6612552"/>
            <a:ext cx="6309360" cy="0"/>
          </a:xfrm>
          <a:prstGeom prst="line">
            <a:avLst/>
          </a:prstGeom>
          <a:ln w="9525">
            <a:solidFill>
              <a:srgbClr val="232B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783080" y="6910790"/>
            <a:ext cx="630936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50" b="1">
                <a:solidFill>
                  <a:srgbClr val="9AA4B2"/>
                </a:solidFill>
                <a:latin typeface="Pretendard"/>
              </a:rPr>
              <a:t>합계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6770116"/>
            <a:ext cx="6309360" cy="507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3300" b="1">
                <a:solidFill>
                  <a:srgbClr val="FFFFFF"/>
                </a:solidFill>
                <a:latin typeface="Pretendard"/>
              </a:rPr>
              <a:t>47</a:t>
            </a:r>
            <a:r>
              <a:rPr sz="1800" b="1">
                <a:solidFill>
                  <a:srgbClr val="4A535F"/>
                </a:solidFill>
                <a:latin typeface="Pretendard"/>
              </a:rPr>
              <a:t> / 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7968" y="3128688"/>
            <a:ext cx="802386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575" b="1">
                <a:solidFill>
                  <a:srgbClr val="3E8FF0"/>
                </a:solidFill>
                <a:latin typeface="Pretendard"/>
              </a:rPr>
              <a:t>확인된 강점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87968" y="3499020"/>
            <a:ext cx="8023860" cy="795528"/>
          </a:xfrm>
          <a:prstGeom prst="roundRect">
            <a:avLst>
              <a:gd name="adj" fmla="val 6000"/>
            </a:avLst>
          </a:prstGeom>
          <a:solidFill>
            <a:srgbClr val="0B111F"/>
          </a:solidFill>
          <a:ln w="9525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192024" bIns="82296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50" b="1">
                <a:solidFill>
                  <a:schemeClr val="bg1"/>
                </a:solidFill>
                <a:latin typeface="Pretendard"/>
              </a:rPr>
              <a:t>기획-결과물 일치 4/4</a:t>
            </a:r>
            <a:endParaRPr lang="ko-KR" altLang="en-US" sz="1850" b="1">
              <a:solidFill>
                <a:schemeClr val="bg1"/>
              </a:solidFill>
              <a:latin typeface="Pretendard"/>
            </a:endParaRPr>
          </a:p>
          <a:p>
            <a:r>
              <a:rPr sz="1500" err="1">
                <a:solidFill>
                  <a:schemeClr val="bg1"/>
                </a:solidFill>
                <a:latin typeface="Pretendard"/>
              </a:rPr>
              <a:t>UI·코드</a:t>
            </a:r>
            <a:r>
              <a:rPr sz="1500">
                <a:solidFill>
                  <a:schemeClr val="bg1"/>
                </a:solidFill>
                <a:latin typeface="Pretendard"/>
              </a:rPr>
              <a:t> </a:t>
            </a:r>
            <a:r>
              <a:rPr sz="1500" err="1">
                <a:solidFill>
                  <a:schemeClr val="bg1"/>
                </a:solidFill>
                <a:latin typeface="Pretendard"/>
              </a:rPr>
              <a:t>구조가</a:t>
            </a:r>
            <a:r>
              <a:rPr sz="1500">
                <a:solidFill>
                  <a:schemeClr val="bg1"/>
                </a:solidFill>
                <a:latin typeface="Pretendard"/>
              </a:rPr>
              <a:t> </a:t>
            </a:r>
            <a:r>
              <a:rPr lang="ko-KR" sz="1500">
                <a:solidFill>
                  <a:schemeClr val="bg1"/>
                </a:solidFill>
                <a:latin typeface="Pretendard"/>
                <a:ea typeface="맑은 고딕"/>
              </a:rPr>
              <a:t>기획 </a:t>
            </a:r>
            <a:r>
              <a:rPr lang="ko-KR" altLang="en-US" sz="1500">
                <a:solidFill>
                  <a:schemeClr val="bg1"/>
                </a:solidFill>
                <a:latin typeface="맑은 고딕"/>
                <a:ea typeface="맑은 고딕"/>
              </a:rPr>
              <a:t>방향을</a:t>
            </a:r>
            <a:r>
              <a:rPr lang="ko-KR" sz="1500">
                <a:solidFill>
                  <a:schemeClr val="bg1"/>
                </a:solidFill>
                <a:latin typeface="Pretendard"/>
                <a:ea typeface="Pretendard"/>
              </a:rPr>
              <a:t> </a:t>
            </a:r>
            <a:r>
              <a:rPr sz="1500" err="1">
                <a:solidFill>
                  <a:schemeClr val="bg1"/>
                </a:solidFill>
                <a:latin typeface="Pretendard"/>
              </a:rPr>
              <a:t>따릅니다</a:t>
            </a:r>
            <a:r>
              <a:rPr sz="1500">
                <a:solidFill>
                  <a:schemeClr val="bg1"/>
                </a:solidFill>
                <a:latin typeface="Pretendard"/>
              </a:rPr>
              <a:t>.</a:t>
            </a:r>
            <a:endParaRPr sz="150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887968" y="3553885"/>
            <a:ext cx="61722" cy="685799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8887968" y="4459140"/>
            <a:ext cx="8023860" cy="795528"/>
          </a:xfrm>
          <a:prstGeom prst="roundRect">
            <a:avLst>
              <a:gd name="adj" fmla="val 6000"/>
            </a:avLst>
          </a:prstGeom>
          <a:solidFill>
            <a:srgbClr val="0B111F"/>
          </a:solidFill>
          <a:ln w="9525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192024" bIns="82296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50" b="1">
                <a:solidFill>
                  <a:schemeClr val="bg1"/>
                </a:solidFill>
                <a:latin typeface="Pretendard"/>
              </a:rPr>
              <a:t>데이터 처리 8/10</a:t>
            </a:r>
            <a:endParaRPr lang="ko-KR" altLang="en-US" sz="1850" b="1">
              <a:solidFill>
                <a:schemeClr val="bg1"/>
              </a:solidFill>
              <a:latin typeface="Pretendard"/>
            </a:endParaRPr>
          </a:p>
          <a:p>
            <a:r>
              <a:rPr lang="ko-KR" sz="1500">
                <a:solidFill>
                  <a:schemeClr val="bg1"/>
                </a:solidFill>
                <a:latin typeface="Pretendard"/>
                <a:ea typeface="Pretendard"/>
              </a:rPr>
              <a:t>5개의 업무 </a:t>
            </a:r>
            <a:r>
              <a:rPr lang="ko-KR" altLang="en-US" sz="1500">
                <a:solidFill>
                  <a:schemeClr val="bg1"/>
                </a:solidFill>
                <a:latin typeface="Pretendard"/>
                <a:ea typeface="Pretendard"/>
              </a:rPr>
              <a:t>영역</a:t>
            </a:r>
            <a:r>
              <a:rPr sz="1500">
                <a:solidFill>
                  <a:schemeClr val="bg1"/>
                </a:solidFill>
                <a:latin typeface="Pretendard"/>
              </a:rPr>
              <a:t>·4</a:t>
            </a:r>
            <a:r>
              <a:rPr lang="ko-KR" altLang="en-US" sz="1500">
                <a:solidFill>
                  <a:schemeClr val="bg1"/>
                </a:solidFill>
                <a:latin typeface="Pretendard"/>
                <a:ea typeface="Pretendard"/>
              </a:rPr>
              <a:t>종의</a:t>
            </a:r>
            <a:r>
              <a:rPr sz="1500">
                <a:solidFill>
                  <a:schemeClr val="bg1"/>
                </a:solidFill>
                <a:latin typeface="Pretendard"/>
              </a:rPr>
              <a:t> </a:t>
            </a:r>
            <a:r>
              <a:rPr lang="ko-KR" sz="1500">
                <a:solidFill>
                  <a:schemeClr val="bg1"/>
                </a:solidFill>
                <a:latin typeface="Pretendard"/>
                <a:ea typeface="Pretendard"/>
              </a:rPr>
              <a:t>데이터베이스(</a:t>
            </a:r>
            <a:r>
              <a:rPr sz="1500">
                <a:solidFill>
                  <a:schemeClr val="bg1"/>
                </a:solidFill>
                <a:latin typeface="Pretendard"/>
              </a:rPr>
              <a:t>DB</a:t>
            </a:r>
            <a:r>
              <a:rPr lang="en-US" sz="1500">
                <a:solidFill>
                  <a:schemeClr val="bg1"/>
                </a:solidFill>
                <a:latin typeface="Pretendard"/>
              </a:rPr>
              <a:t>) </a:t>
            </a:r>
            <a:r>
              <a:rPr sz="1500">
                <a:solidFill>
                  <a:schemeClr val="bg1"/>
                </a:solidFill>
                <a:latin typeface="Pretendard"/>
              </a:rPr>
              <a:t>엔진·재현 가능한 </a:t>
            </a:r>
            <a:r>
              <a:rPr lang="ko-KR" altLang="en-US" sz="1500">
                <a:solidFill>
                  <a:schemeClr val="bg1"/>
                </a:solidFill>
                <a:latin typeface="Pretendard"/>
                <a:ea typeface="Pretendard"/>
              </a:rPr>
              <a:t>합성데이터</a:t>
            </a:r>
            <a:r>
              <a:rPr lang="ko-KR" altLang="en-US" sz="1500">
                <a:solidFill>
                  <a:schemeClr val="bg1"/>
                </a:solidFill>
                <a:latin typeface="Pretendard"/>
              </a:rPr>
              <a:t>로</a:t>
            </a:r>
            <a:r>
              <a:rPr sz="1500">
                <a:solidFill>
                  <a:schemeClr val="bg1"/>
                </a:solidFill>
                <a:latin typeface="Pretendard"/>
              </a:rPr>
              <a:t> 구성했습니다.</a:t>
            </a:r>
            <a:endParaRPr lang="ko-KR" sz="1500">
              <a:solidFill>
                <a:schemeClr val="bg1"/>
              </a:solidFill>
              <a:latin typeface="Pretendard" panose="02000503000000020004" pitchFamily="2" charset="-127"/>
              <a:ea typeface="Pretendard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8887968" y="4514005"/>
            <a:ext cx="61722" cy="685799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887968" y="5638716"/>
            <a:ext cx="8023860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575" b="1">
                <a:solidFill>
                  <a:srgbClr val="E22718"/>
                </a:solidFill>
                <a:latin typeface="Pretendard"/>
              </a:rPr>
              <a:t>남은 과제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87968" y="6009048"/>
            <a:ext cx="8023860" cy="795528"/>
          </a:xfrm>
          <a:prstGeom prst="roundRect">
            <a:avLst>
              <a:gd name="adj" fmla="val 6000"/>
            </a:avLst>
          </a:prstGeom>
          <a:solidFill>
            <a:srgbClr val="0B111F"/>
          </a:solidFill>
          <a:ln w="9525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192024" bIns="82296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50" b="1" err="1">
                <a:solidFill>
                  <a:schemeClr val="bg1"/>
                </a:solidFill>
                <a:latin typeface="Pretendard"/>
              </a:rPr>
              <a:t>경쟁력</a:t>
            </a:r>
            <a:r>
              <a:rPr sz="1850" b="1">
                <a:solidFill>
                  <a:schemeClr val="bg1"/>
                </a:solidFill>
                <a:latin typeface="Pretendard"/>
              </a:rPr>
              <a:t> </a:t>
            </a:r>
            <a:r>
              <a:rPr sz="1850" b="1" err="1">
                <a:solidFill>
                  <a:schemeClr val="bg1"/>
                </a:solidFill>
                <a:latin typeface="Pretendard"/>
              </a:rPr>
              <a:t>분석</a:t>
            </a:r>
            <a:r>
              <a:rPr sz="1850" b="1">
                <a:solidFill>
                  <a:schemeClr val="bg1"/>
                </a:solidFill>
                <a:latin typeface="Pretendard"/>
              </a:rPr>
              <a:t> 1/4</a:t>
            </a:r>
            <a:endParaRPr lang="ko-KR" altLang="en-US" sz="1850" b="1">
              <a:solidFill>
                <a:schemeClr val="bg1"/>
              </a:solidFill>
              <a:latin typeface="Pretendard"/>
            </a:endParaRPr>
          </a:p>
          <a:p>
            <a:pPr algn="l"/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차별화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요소는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있으나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경쟁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서비스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비교와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실증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자료가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부족합니다</a:t>
            </a:r>
            <a:r>
              <a:rPr lang="en-US" altLang="ko-KR" sz="150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>
              <a:solidFill>
                <a:schemeClr val="bg1"/>
              </a:solidFill>
              <a:latin typeface="Pretendard" panose="02000503000000020004" pitchFamily="2" charset="-12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887968" y="6063913"/>
            <a:ext cx="61722" cy="685799"/>
          </a:xfrm>
          <a:prstGeom prst="rect">
            <a:avLst/>
          </a:prstGeom>
          <a:solidFill>
            <a:srgbClr val="E227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887968" y="6969168"/>
            <a:ext cx="8023860" cy="795528"/>
          </a:xfrm>
          <a:prstGeom prst="roundRect">
            <a:avLst>
              <a:gd name="adj" fmla="val 6000"/>
            </a:avLst>
          </a:prstGeom>
          <a:solidFill>
            <a:srgbClr val="0B111F"/>
          </a:solidFill>
          <a:ln w="9525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192024" bIns="82296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1850" b="1" dirty="0">
                <a:solidFill>
                  <a:schemeClr val="bg1"/>
                </a:solidFill>
                <a:latin typeface="Pretendard"/>
              </a:rPr>
              <a:t>실사용</a:t>
            </a:r>
            <a:r>
              <a:rPr sz="1850" b="1" dirty="0">
                <a:solidFill>
                  <a:schemeClr val="bg1"/>
                </a:solidFill>
                <a:latin typeface="Pretendard"/>
              </a:rPr>
              <a:t> </a:t>
            </a:r>
            <a:r>
              <a:rPr lang="ko-KR" altLang="en-US" sz="1850" b="1" dirty="0">
                <a:solidFill>
                  <a:schemeClr val="bg1"/>
                </a:solidFill>
                <a:latin typeface="Pretendard"/>
              </a:rPr>
              <a:t>의사</a:t>
            </a:r>
            <a:r>
              <a:rPr sz="1850" b="1" dirty="0">
                <a:solidFill>
                  <a:schemeClr val="bg1"/>
                </a:solidFill>
                <a:latin typeface="Pretendard"/>
              </a:rPr>
              <a:t> 4/15</a:t>
            </a:r>
            <a:endParaRPr lang="ko-KR" altLang="en-US" sz="1850" b="1" dirty="0">
              <a:solidFill>
                <a:schemeClr val="bg1"/>
              </a:solidFill>
              <a:latin typeface="Pretendard"/>
            </a:endParaRPr>
          </a:p>
          <a:p>
            <a:r>
              <a:rPr sz="1500" dirty="0" err="1">
                <a:solidFill>
                  <a:schemeClr val="bg1"/>
                </a:solidFill>
                <a:latin typeface="Pretendard"/>
              </a:rPr>
              <a:t>실제</a:t>
            </a:r>
            <a:r>
              <a:rPr sz="1500" dirty="0">
                <a:solidFill>
                  <a:schemeClr val="bg1"/>
                </a:solidFill>
                <a:latin typeface="Pretendard"/>
              </a:rPr>
              <a:t> </a:t>
            </a:r>
            <a:r>
              <a:rPr lang="ko-KR" altLang="en-US" sz="1500" dirty="0">
                <a:solidFill>
                  <a:schemeClr val="bg1"/>
                </a:solidFill>
                <a:latin typeface="Pretendard"/>
                <a:ea typeface="맑은 고딕"/>
              </a:rPr>
              <a:t>사용자 평가는 아직 진행되지 않았습니다</a:t>
            </a:r>
            <a:r>
              <a:rPr lang="en-US" altLang="ko-KR" sz="1500" dirty="0">
                <a:solidFill>
                  <a:schemeClr val="bg1"/>
                </a:solidFill>
                <a:latin typeface="Pretendard"/>
                <a:ea typeface="맑은 고딕"/>
              </a:rPr>
              <a:t>.</a:t>
            </a:r>
            <a:endParaRPr sz="1500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8887968" y="7024033"/>
            <a:ext cx="61722" cy="685799"/>
          </a:xfrm>
          <a:prstGeom prst="rect">
            <a:avLst/>
          </a:prstGeom>
          <a:solidFill>
            <a:srgbClr val="E227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FD560C7B-A011-D9BA-3072-1736AF8DEDE5}"/>
              </a:ext>
            </a:extLst>
          </p:cNvPr>
          <p:cNvSpPr txBox="1"/>
          <p:nvPr/>
        </p:nvSpPr>
        <p:spPr>
          <a:xfrm>
            <a:off x="1371600" y="8858707"/>
            <a:ext cx="155448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현재</a:t>
            </a:r>
            <a:r>
              <a:rPr lang="en-US" altLang="ko-KR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부족한</a:t>
            </a:r>
            <a:r>
              <a:rPr lang="en-US" altLang="ko-KR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점은</a:t>
            </a:r>
            <a:r>
              <a:rPr lang="en-US" altLang="ko-KR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다음</a:t>
            </a:r>
            <a:r>
              <a:rPr lang="en-US" altLang="ko-KR" sz="2400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단계의</a:t>
            </a:r>
            <a:r>
              <a:rPr lang="en-US" altLang="ko-KR" sz="2400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개발</a:t>
            </a:r>
            <a:r>
              <a:rPr lang="en-US" altLang="ko-KR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·</a:t>
            </a:r>
            <a:r>
              <a:rPr lang="ko-KR" altLang="en-US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검증</a:t>
            </a:r>
            <a:r>
              <a:rPr lang="en-US" altLang="ko-KR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 b="1">
                <a:solidFill>
                  <a:srgbClr val="3E8FF0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목표</a:t>
            </a:r>
            <a:r>
              <a:rPr lang="ko-KR" altLang="en-US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로</a:t>
            </a:r>
            <a:r>
              <a:rPr lang="en-US" altLang="ko-KR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 </a:t>
            </a:r>
            <a:r>
              <a:rPr lang="ko-KR" altLang="en-US" sz="2400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전환했습니다</a:t>
            </a:r>
            <a:r>
              <a:rPr lang="ko-KR" altLang="ko-KR" sz="2400" kern="0" spc="-76">
                <a:solidFill>
                  <a:srgbClr val="FFFFFF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.</a:t>
            </a:r>
          </a:p>
          <a:p>
            <a:endParaRPr lang="en-US" altLang="ko-KR" sz="240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E4FC851B-917D-7572-5FC4-3DB1E0690537}"/>
              </a:ext>
            </a:extLst>
          </p:cNvPr>
          <p:cNvSpPr txBox="1"/>
          <p:nvPr/>
        </p:nvSpPr>
        <p:spPr>
          <a:xfrm>
            <a:off x="1371600" y="1580998"/>
            <a:ext cx="142875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600" b="1" kern="0" spc="-76">
                <a:solidFill>
                  <a:srgbClr val="3E8FF0"/>
                </a:solidFill>
                <a:ea typeface="+mn-lt"/>
                <a:cs typeface="+mn-lt"/>
              </a:rPr>
              <a:t>자체 평가</a:t>
            </a:r>
            <a:endParaRPr lang="ko-KR" sz="3600" b="1" kern="0" spc="-76">
              <a:solidFill>
                <a:srgbClr val="3E8FF0"/>
              </a:solidFill>
              <a:ea typeface="+mn-lt"/>
              <a:cs typeface="+mn-lt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AA5019E8-6162-3590-5450-9FEB0D16C32B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14 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943524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9152C-EC1C-11A2-1856-2AFABA639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5023606363c572925cd648759e0c0b7.png">
            <a:extLst>
              <a:ext uri="{FF2B5EF4-FFF2-40B4-BE49-F238E27FC236}">
                <a16:creationId xmlns:a16="http://schemas.microsoft.com/office/drawing/2014/main" id="{89CE1C16-822A-7E3B-2EA0-B127B07664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41C714B4-0C14-787E-6FB1-4831B4037E9B}"/>
              </a:ext>
            </a:extLst>
          </p:cNvPr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15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F1CB290-3103-BC8E-0DC4-EE7FCFF8B85D}"/>
              </a:ext>
            </a:extLst>
          </p:cNvPr>
          <p:cNvSpPr txBox="1"/>
          <p:nvPr/>
        </p:nvSpPr>
        <p:spPr>
          <a:xfrm>
            <a:off x="13106096" y="724205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</a:t>
            </a:r>
            <a:r>
              <a:rPr lang="en-US" sz="1050" b="1" kern="0" spc="357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50" b="1" kern="0" spc="357" err="1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050">
              <a:latin typeface="Pretendard" panose="02000503000000020004" pitchFamily="2" charset="-127"/>
            </a:endParaRP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96EF507-FEC6-B38F-338C-795F4BF31DC7}"/>
              </a:ext>
            </a:extLst>
          </p:cNvPr>
          <p:cNvCxnSpPr/>
          <p:nvPr/>
        </p:nvCxnSpPr>
        <p:spPr>
          <a:xfrm>
            <a:off x="1502731" y="2457449"/>
            <a:ext cx="15310847" cy="0"/>
          </a:xfrm>
          <a:prstGeom prst="line">
            <a:avLst/>
          </a:prstGeom>
          <a:ln w="9525">
            <a:solidFill>
              <a:srgbClr val="232B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FCF8FED6-523F-3E50-E4BD-743B60C16CB4}"/>
              </a:ext>
            </a:extLst>
          </p:cNvPr>
          <p:cNvCxnSpPr/>
          <p:nvPr/>
        </p:nvCxnSpPr>
        <p:spPr>
          <a:xfrm flipV="1">
            <a:off x="9073094" y="3400426"/>
            <a:ext cx="3175583" cy="2200274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805679A4-0FDD-11B9-AD3A-C41DC74E74C3}"/>
              </a:ext>
            </a:extLst>
          </p:cNvPr>
          <p:cNvCxnSpPr/>
          <p:nvPr/>
        </p:nvCxnSpPr>
        <p:spPr>
          <a:xfrm flipV="1">
            <a:off x="9073094" y="4143374"/>
            <a:ext cx="3175583" cy="1457325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924D8DF5-31EB-C5F3-88EB-8A68492CE8FA}"/>
              </a:ext>
            </a:extLst>
          </p:cNvPr>
          <p:cNvCxnSpPr/>
          <p:nvPr/>
        </p:nvCxnSpPr>
        <p:spPr>
          <a:xfrm flipV="1">
            <a:off x="9073094" y="4872037"/>
            <a:ext cx="3175583" cy="728663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F2D272F4-7C72-AE7B-F9F4-DDD87BE914FA}"/>
              </a:ext>
            </a:extLst>
          </p:cNvPr>
          <p:cNvCxnSpPr/>
          <p:nvPr/>
        </p:nvCxnSpPr>
        <p:spPr>
          <a:xfrm>
            <a:off x="9073094" y="5600699"/>
            <a:ext cx="3175583" cy="0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4C2B6E38-B08D-3FC8-DD79-D81A3618AE7A}"/>
              </a:ext>
            </a:extLst>
          </p:cNvPr>
          <p:cNvCxnSpPr/>
          <p:nvPr/>
        </p:nvCxnSpPr>
        <p:spPr>
          <a:xfrm>
            <a:off x="9073094" y="5600699"/>
            <a:ext cx="3175583" cy="728664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>
            <a:extLst>
              <a:ext uri="{FF2B5EF4-FFF2-40B4-BE49-F238E27FC236}">
                <a16:creationId xmlns:a16="http://schemas.microsoft.com/office/drawing/2014/main" id="{204C40C3-6270-B0DA-6429-CAF90801BD3D}"/>
              </a:ext>
            </a:extLst>
          </p:cNvPr>
          <p:cNvCxnSpPr/>
          <p:nvPr/>
        </p:nvCxnSpPr>
        <p:spPr>
          <a:xfrm>
            <a:off x="9073094" y="5600699"/>
            <a:ext cx="3175583" cy="1457327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>
            <a:extLst>
              <a:ext uri="{FF2B5EF4-FFF2-40B4-BE49-F238E27FC236}">
                <a16:creationId xmlns:a16="http://schemas.microsoft.com/office/drawing/2014/main" id="{39277BE3-17A0-4E75-B2F8-025B56FAE669}"/>
              </a:ext>
            </a:extLst>
          </p:cNvPr>
          <p:cNvCxnSpPr/>
          <p:nvPr/>
        </p:nvCxnSpPr>
        <p:spPr>
          <a:xfrm>
            <a:off x="9073094" y="5600699"/>
            <a:ext cx="3175583" cy="2200277"/>
          </a:xfrm>
          <a:prstGeom prst="line">
            <a:avLst/>
          </a:prstGeom>
          <a:ln w="9525">
            <a:solidFill>
              <a:srgbClr val="3E8F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0CD985E-B0E3-2BBE-22AD-19ECB7B3BDD7}"/>
              </a:ext>
            </a:extLst>
          </p:cNvPr>
          <p:cNvSpPr txBox="1"/>
          <p:nvPr/>
        </p:nvSpPr>
        <p:spPr>
          <a:xfrm>
            <a:off x="1502731" y="2853691"/>
            <a:ext cx="4253012" cy="28574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000" b="1">
                <a:solidFill>
                  <a:srgbClr val="FFFFFF"/>
                </a:solidFill>
                <a:latin typeface="Pretendard"/>
              </a:rPr>
              <a:t>01   ENGINE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B55287-817E-A89E-CDB8-DA73BFB741DB}"/>
              </a:ext>
            </a:extLst>
          </p:cNvPr>
          <p:cNvSpPr/>
          <p:nvPr/>
        </p:nvSpPr>
        <p:spPr>
          <a:xfrm>
            <a:off x="1502731" y="4600575"/>
            <a:ext cx="3175583" cy="2000250"/>
          </a:xfrm>
          <a:prstGeom prst="rect">
            <a:avLst/>
          </a:prstGeom>
          <a:solidFill>
            <a:srgbClr val="0B111F"/>
          </a:solidFill>
          <a:ln w="1587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3600" b="1" err="1">
                <a:solidFill>
                  <a:srgbClr val="FFFFFF"/>
                </a:solidFill>
                <a:latin typeface="Pretendard"/>
              </a:rPr>
              <a:t>Answervice</a:t>
            </a:r>
            <a:endParaRPr sz="3600" b="1">
              <a:solidFill>
                <a:srgbClr val="FFFFFF"/>
              </a:solidFill>
              <a:latin typeface="Pretendard"/>
            </a:endParaRPr>
          </a:p>
          <a:p>
            <a:pPr algn="ctr"/>
            <a:r>
              <a:rPr sz="1575" b="0" err="1">
                <a:solidFill>
                  <a:srgbClr val="8B93A7"/>
                </a:solidFill>
                <a:latin typeface="Pretendard"/>
              </a:rPr>
              <a:t>카탈로그</a:t>
            </a:r>
            <a:r>
              <a:rPr sz="1575" b="0">
                <a:solidFill>
                  <a:srgbClr val="8B93A7"/>
                </a:solidFill>
                <a:latin typeface="Pretendard"/>
              </a:rPr>
              <a:t> · </a:t>
            </a:r>
            <a:r>
              <a:rPr sz="1575" b="0" err="1">
                <a:solidFill>
                  <a:srgbClr val="8B93A7"/>
                </a:solidFill>
                <a:latin typeface="Pretendard"/>
              </a:rPr>
              <a:t>분석</a:t>
            </a:r>
            <a:endParaRPr sz="1575" b="0">
              <a:solidFill>
                <a:srgbClr val="8B93A7"/>
              </a:solidFill>
              <a:latin typeface="Pretendard"/>
            </a:endParaRPr>
          </a:p>
          <a:p>
            <a:pPr algn="ctr"/>
            <a:r>
              <a:rPr sz="1575" b="0" err="1">
                <a:solidFill>
                  <a:srgbClr val="8B93A7"/>
                </a:solidFill>
                <a:latin typeface="Pretendard"/>
              </a:rPr>
              <a:t>근거</a:t>
            </a:r>
            <a:r>
              <a:rPr sz="1575" b="0">
                <a:solidFill>
                  <a:srgbClr val="8B93A7"/>
                </a:solidFill>
                <a:latin typeface="Pretendard"/>
              </a:rPr>
              <a:t> · </a:t>
            </a:r>
            <a:r>
              <a:rPr sz="1575" b="0" err="1">
                <a:solidFill>
                  <a:srgbClr val="8B93A7"/>
                </a:solidFill>
                <a:latin typeface="Pretendard"/>
              </a:rPr>
              <a:t>리포트</a:t>
            </a:r>
            <a:endParaRPr sz="1575" b="0">
              <a:solidFill>
                <a:srgbClr val="8B93A7"/>
              </a:solidFill>
              <a:latin typeface="Pretendard"/>
            </a:endParaRP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D56D6F74-B23F-D0B2-66EF-B7FF309620D3}"/>
              </a:ext>
            </a:extLst>
          </p:cNvPr>
          <p:cNvSpPr/>
          <p:nvPr/>
        </p:nvSpPr>
        <p:spPr>
          <a:xfrm>
            <a:off x="4820081" y="5457826"/>
            <a:ext cx="992369" cy="285749"/>
          </a:xfrm>
          <a:prstGeom prst="rightArrow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F2D366-2101-BCA7-6CD4-AA6783646BF6}"/>
              </a:ext>
            </a:extLst>
          </p:cNvPr>
          <p:cNvSpPr txBox="1"/>
          <p:nvPr/>
        </p:nvSpPr>
        <p:spPr>
          <a:xfrm>
            <a:off x="6010925" y="2853691"/>
            <a:ext cx="4253012" cy="28574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000" b="1">
                <a:solidFill>
                  <a:srgbClr val="FFFFFF"/>
                </a:solidFill>
                <a:latin typeface="Pretendard"/>
              </a:rPr>
              <a:t>02   NOW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4D37DC-D041-9464-47F9-CED566053FDB}"/>
              </a:ext>
            </a:extLst>
          </p:cNvPr>
          <p:cNvSpPr/>
          <p:nvPr/>
        </p:nvSpPr>
        <p:spPr>
          <a:xfrm>
            <a:off x="6010925" y="4600575"/>
            <a:ext cx="3062169" cy="2000250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3000" b="1">
                <a:solidFill>
                  <a:srgbClr val="04203D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호텔앤리조트</a:t>
            </a:r>
          </a:p>
          <a:p>
            <a:pPr algn="ctr"/>
            <a:r>
              <a:rPr lang="ko-KR" altLang="en-US" sz="1550" b="1">
                <a:solidFill>
                  <a:srgbClr val="0B3B6E"/>
                </a:solidFill>
                <a:latin typeface="Pretendard" panose="02000503000000020004" pitchFamily="2" charset="-127"/>
                <a:ea typeface="Pretendard"/>
                <a:cs typeface="Pretendard" panose="02000503000000020004" pitchFamily="2" charset="-127"/>
              </a:rPr>
              <a:t>워커힐 합성데이터로 검증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40B3C4-2CC9-7C57-712C-23B4F299A10A}"/>
              </a:ext>
            </a:extLst>
          </p:cNvPr>
          <p:cNvSpPr txBox="1"/>
          <p:nvPr/>
        </p:nvSpPr>
        <p:spPr>
          <a:xfrm>
            <a:off x="12248676" y="2853691"/>
            <a:ext cx="5954217" cy="285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000" b="1">
                <a:solidFill>
                  <a:srgbClr val="3E8FF0"/>
                </a:solidFill>
                <a:latin typeface="Pretendard"/>
              </a:rPr>
              <a:t>03   NEXT · SK NETWORKS BUSINESS</a:t>
            </a:r>
            <a:endParaRPr lang="en-US" sz="2000" b="1">
              <a:solidFill>
                <a:srgbClr val="3E8FF0"/>
              </a:solidFill>
              <a:latin typeface="Pretendard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D89B2F3-113C-3B8D-C63B-6CF5250D8A72}"/>
              </a:ext>
            </a:extLst>
          </p:cNvPr>
          <p:cNvSpPr/>
          <p:nvPr/>
        </p:nvSpPr>
        <p:spPr>
          <a:xfrm>
            <a:off x="12248676" y="3171825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 err="1">
                <a:solidFill>
                  <a:srgbClr val="3E8FF0"/>
                </a:solidFill>
                <a:latin typeface="Pretendard"/>
              </a:rPr>
              <a:t>정보통신</a:t>
            </a:r>
            <a:endParaRPr sz="2400" b="1">
              <a:solidFill>
                <a:srgbClr val="3E8FF0"/>
              </a:solidFill>
              <a:latin typeface="Pretendard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E334F7-65F2-A5A6-9349-B866D34C3B8F}"/>
              </a:ext>
            </a:extLst>
          </p:cNvPr>
          <p:cNvSpPr/>
          <p:nvPr/>
        </p:nvSpPr>
        <p:spPr>
          <a:xfrm>
            <a:off x="12248676" y="3900487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AI 웰니스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E9DAD2-AA33-DC21-72BF-EC99397A1EEB}"/>
              </a:ext>
            </a:extLst>
          </p:cNvPr>
          <p:cNvSpPr/>
          <p:nvPr/>
        </p:nvSpPr>
        <p:spPr>
          <a:xfrm>
            <a:off x="12248676" y="4629150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모빌리티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E07D34-7330-D71E-80F9-781F934306D6}"/>
              </a:ext>
            </a:extLst>
          </p:cNvPr>
          <p:cNvSpPr/>
          <p:nvPr/>
        </p:nvSpPr>
        <p:spPr>
          <a:xfrm>
            <a:off x="12248676" y="5357812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글로벌 트레이딩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D3AE40-43AA-D653-C9A9-018073DC4975}"/>
              </a:ext>
            </a:extLst>
          </p:cNvPr>
          <p:cNvSpPr/>
          <p:nvPr/>
        </p:nvSpPr>
        <p:spPr>
          <a:xfrm>
            <a:off x="12248676" y="6086475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데이터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44321E-AF1F-E05C-8C64-D6089C10CC60}"/>
              </a:ext>
            </a:extLst>
          </p:cNvPr>
          <p:cNvSpPr/>
          <p:nvPr/>
        </p:nvSpPr>
        <p:spPr>
          <a:xfrm>
            <a:off x="12248676" y="6815137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AI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5E7DAA-F1DA-ED07-DB1E-2AB9A4DB5E48}"/>
              </a:ext>
            </a:extLst>
          </p:cNvPr>
          <p:cNvSpPr/>
          <p:nvPr/>
        </p:nvSpPr>
        <p:spPr>
          <a:xfrm>
            <a:off x="12248676" y="7543800"/>
            <a:ext cx="4111245" cy="617215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473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400" b="1">
                <a:solidFill>
                  <a:srgbClr val="3E8FF0"/>
                </a:solidFill>
                <a:latin typeface="Pretendard"/>
              </a:rPr>
              <a:t>디지털 마케팅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03494A2-9622-CB5C-84F7-21B26A9CB70E}"/>
              </a:ext>
            </a:extLst>
          </p:cNvPr>
          <p:cNvSpPr/>
          <p:nvPr/>
        </p:nvSpPr>
        <p:spPr>
          <a:xfrm>
            <a:off x="1502730" y="7143750"/>
            <a:ext cx="184296" cy="185736"/>
          </a:xfrm>
          <a:prstGeom prst="rect">
            <a:avLst/>
          </a:prstGeom>
          <a:solidFill>
            <a:srgbClr val="3E8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1285A6-0278-EBE6-0584-EBEFF791B11A}"/>
              </a:ext>
            </a:extLst>
          </p:cNvPr>
          <p:cNvSpPr txBox="1"/>
          <p:nvPr/>
        </p:nvSpPr>
        <p:spPr>
          <a:xfrm>
            <a:off x="1828795" y="7144020"/>
            <a:ext cx="5180351" cy="264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1700">
                <a:solidFill>
                  <a:srgbClr val="C7CCDA"/>
                </a:solidFill>
                <a:latin typeface="Pretendard"/>
                <a:ea typeface="맑은 고딕"/>
              </a:rPr>
              <a:t>현재</a:t>
            </a:r>
            <a:r>
              <a:rPr lang="ko-KR" sz="1700" b="0">
                <a:solidFill>
                  <a:srgbClr val="C7CCDA"/>
                </a:solidFill>
                <a:latin typeface="Pretendard"/>
                <a:ea typeface="맑은 고딕"/>
              </a:rPr>
              <a:t> </a:t>
            </a:r>
            <a:r>
              <a:rPr lang="en-US" sz="1700" b="0">
                <a:solidFill>
                  <a:srgbClr val="C7CCDA"/>
                </a:solidFill>
                <a:latin typeface="Pretendard"/>
              </a:rPr>
              <a:t>· </a:t>
            </a:r>
            <a:r>
              <a:rPr lang="ko-KR" altLang="en-US" sz="1700">
                <a:solidFill>
                  <a:srgbClr val="C7CCDA"/>
                </a:solidFill>
                <a:latin typeface="Pretendard"/>
                <a:ea typeface="맑은 고딕"/>
              </a:rPr>
              <a:t>워커힐 복합 리조트 합성데이터로</a:t>
            </a:r>
            <a:r>
              <a:rPr lang="ko-KR" sz="1700" b="0">
                <a:solidFill>
                  <a:srgbClr val="C7CCDA"/>
                </a:solidFill>
                <a:latin typeface="Pretendard"/>
                <a:ea typeface="맑은 고딕"/>
              </a:rPr>
              <a:t> 검증</a:t>
            </a:r>
            <a:endParaRPr lang="en-US" sz="1700" b="0">
              <a:solidFill>
                <a:srgbClr val="C7CCDA"/>
              </a:solidFill>
              <a:latin typeface="맑은 고딕"/>
              <a:ea typeface="맑은 고딕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B9969E0-30BB-B667-C146-51C6213A5AB3}"/>
              </a:ext>
            </a:extLst>
          </p:cNvPr>
          <p:cNvSpPr/>
          <p:nvPr/>
        </p:nvSpPr>
        <p:spPr>
          <a:xfrm>
            <a:off x="1502730" y="7529513"/>
            <a:ext cx="184296" cy="185736"/>
          </a:xfrm>
          <a:prstGeom prst="rect">
            <a:avLst/>
          </a:prstGeom>
          <a:noFill/>
          <a:ln w="9525">
            <a:solidFill>
              <a:srgbClr val="3E8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4050">
              <a:latin typeface="Pretendard" panose="02000503000000020004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992B3A4-A81E-D5C3-E715-E5FB59532749}"/>
              </a:ext>
            </a:extLst>
          </p:cNvPr>
          <p:cNvSpPr txBox="1"/>
          <p:nvPr/>
        </p:nvSpPr>
        <p:spPr>
          <a:xfrm>
            <a:off x="1871927" y="7529783"/>
            <a:ext cx="5137219" cy="1994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700" b="0" err="1">
                <a:solidFill>
                  <a:srgbClr val="C7CCDA"/>
                </a:solidFill>
                <a:latin typeface="Pretendard"/>
              </a:rPr>
              <a:t>앞으로</a:t>
            </a:r>
            <a:r>
              <a:rPr sz="1700" b="0">
                <a:solidFill>
                  <a:srgbClr val="C7CCDA"/>
                </a:solidFill>
                <a:latin typeface="Pretendard"/>
              </a:rPr>
              <a:t> ·</a:t>
            </a:r>
            <a:r>
              <a:rPr lang="en-US" sz="1700">
                <a:solidFill>
                  <a:srgbClr val="C7CCDA"/>
                </a:solidFill>
                <a:ea typeface="Pretendard"/>
                <a:cs typeface="+mn-lt"/>
              </a:rPr>
              <a:t> </a:t>
            </a:r>
            <a:r>
              <a:rPr 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SK</a:t>
            </a:r>
            <a:r>
              <a:rPr lang="ko-KR" alt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네트웍스의</a:t>
            </a:r>
            <a:r>
              <a:rPr 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 </a:t>
            </a:r>
            <a:r>
              <a:rPr lang="ko-KR" alt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다양한</a:t>
            </a:r>
            <a:r>
              <a:rPr 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 </a:t>
            </a:r>
            <a:r>
              <a:rPr lang="ko-KR" alt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사업</a:t>
            </a:r>
            <a:r>
              <a:rPr 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 </a:t>
            </a:r>
            <a:r>
              <a:rPr lang="ko-KR" alt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영역으로</a:t>
            </a:r>
            <a:r>
              <a:rPr 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 </a:t>
            </a:r>
            <a:r>
              <a:rPr lang="ko-KR" altLang="en-US" sz="1700">
                <a:solidFill>
                  <a:srgbClr val="C7CCDA"/>
                </a:solidFill>
                <a:latin typeface="Calibri"/>
                <a:ea typeface="Pretendard"/>
                <a:cs typeface="Calibri"/>
              </a:rPr>
              <a:t>확대</a:t>
            </a:r>
            <a:endParaRPr lang="ko-KR" altLang="en-US" sz="1700" b="0">
              <a:solidFill>
                <a:srgbClr val="C7CCDA"/>
              </a:solidFill>
              <a:latin typeface="Calibri"/>
              <a:ea typeface="Pretendard"/>
              <a:cs typeface="Calibri"/>
            </a:endParaRPr>
          </a:p>
        </p:txBody>
      </p:sp>
      <p:cxnSp>
        <p:nvCxnSpPr>
          <p:cNvPr id="45" name="Connector 44">
            <a:extLst>
              <a:ext uri="{FF2B5EF4-FFF2-40B4-BE49-F238E27FC236}">
                <a16:creationId xmlns:a16="http://schemas.microsoft.com/office/drawing/2014/main" id="{C155063C-5D32-9315-3BA9-E8B53773B5C7}"/>
              </a:ext>
            </a:extLst>
          </p:cNvPr>
          <p:cNvCxnSpPr/>
          <p:nvPr/>
        </p:nvCxnSpPr>
        <p:spPr>
          <a:xfrm>
            <a:off x="1502731" y="8686800"/>
            <a:ext cx="15310847" cy="0"/>
          </a:xfrm>
          <a:prstGeom prst="line">
            <a:avLst/>
          </a:prstGeom>
          <a:ln w="9525">
            <a:solidFill>
              <a:srgbClr val="232B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C460A7A-59AC-98B9-9DB1-95DD58ED3828}"/>
              </a:ext>
            </a:extLst>
          </p:cNvPr>
          <p:cNvSpPr txBox="1"/>
          <p:nvPr/>
        </p:nvSpPr>
        <p:spPr>
          <a:xfrm>
            <a:off x="1502730" y="8972549"/>
            <a:ext cx="15310845" cy="4000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b="1">
                <a:solidFill>
                  <a:srgbClr val="FFFFFF"/>
                </a:solidFill>
                <a:latin typeface="Pretendard"/>
                <a:ea typeface="Pretendard"/>
              </a:rPr>
              <a:t>현재는</a:t>
            </a:r>
            <a:r>
              <a:rPr sz="2400" b="1">
                <a:solidFill>
                  <a:srgbClr val="FFFFFF"/>
                </a:solidFill>
                <a:latin typeface="Pretendard"/>
              </a:rPr>
              <a:t> </a:t>
            </a:r>
            <a:r>
              <a:rPr lang="ko-KR" sz="2400" b="1">
                <a:solidFill>
                  <a:srgbClr val="FFFFFF"/>
                </a:solidFill>
                <a:latin typeface="Pretendard"/>
                <a:ea typeface="Pretendard"/>
              </a:rPr>
              <a:t>워커힐과 유사한 환경에서 </a:t>
            </a:r>
            <a:r>
              <a:rPr lang="ko-KR" altLang="en-US" sz="2400" b="1">
                <a:solidFill>
                  <a:srgbClr val="FFFFFF"/>
                </a:solidFill>
                <a:latin typeface="Pretendard"/>
                <a:ea typeface="Pretendard"/>
              </a:rPr>
              <a:t>검증했지만</a:t>
            </a:r>
            <a:r>
              <a:rPr lang="en-US" altLang="ko-KR" sz="2400" b="1">
                <a:solidFill>
                  <a:srgbClr val="FFFFFF"/>
                </a:solidFill>
                <a:latin typeface="Pretendard"/>
                <a:ea typeface="Pretendard"/>
              </a:rPr>
              <a:t>,</a:t>
            </a:r>
            <a:endParaRPr lang="ko-KR" altLang="en-US" sz="2400" b="1">
              <a:solidFill>
                <a:srgbClr val="FFFFFF"/>
              </a:solidFill>
              <a:latin typeface="Calibri" panose="020F0502020204030204"/>
              <a:cs typeface="Calibri"/>
            </a:endParaRPr>
          </a:p>
          <a:p>
            <a:r>
              <a:rPr sz="2400" b="1">
                <a:solidFill>
                  <a:srgbClr val="3E8FF0"/>
                </a:solidFill>
                <a:latin typeface="Pretendard"/>
              </a:rPr>
              <a:t>SK</a:t>
            </a:r>
            <a:r>
              <a:rPr lang="ko-KR" sz="2400" b="1">
                <a:solidFill>
                  <a:srgbClr val="3E8FF0"/>
                </a:solidFill>
                <a:latin typeface="Pretendard"/>
                <a:ea typeface="Pretendard"/>
              </a:rPr>
              <a:t>네트웍스의 다양한 사업에 적용 가능한 </a:t>
            </a:r>
            <a:r>
              <a:rPr lang="ko-KR" altLang="en-US" sz="2400" b="1">
                <a:solidFill>
                  <a:srgbClr val="3E8FF0"/>
                </a:solidFill>
                <a:latin typeface="Pretendard"/>
                <a:ea typeface="Pretendard"/>
              </a:rPr>
              <a:t>시스템</a:t>
            </a:r>
            <a:r>
              <a:rPr lang="ko-KR" altLang="en-US" sz="2400" b="1">
                <a:solidFill>
                  <a:srgbClr val="FFFFFF"/>
                </a:solidFill>
                <a:latin typeface="맑은 고딕"/>
                <a:ea typeface="Pretendard"/>
              </a:rPr>
              <a:t>으로</a:t>
            </a:r>
            <a:r>
              <a:rPr lang="ko-KR" altLang="en-US" sz="2400" b="1">
                <a:solidFill>
                  <a:srgbClr val="FFFFFF"/>
                </a:solidFill>
                <a:latin typeface="Pretendard"/>
                <a:ea typeface="Pretendard"/>
              </a:rPr>
              <a:t> 발전시키겠습니다.</a:t>
            </a:r>
            <a:endParaRPr lang="ko-KR" altLang="en-US" sz="2400" b="1">
              <a:solidFill>
                <a:srgbClr val="FFFFFF"/>
              </a:solidFill>
              <a:ea typeface="Pretendard"/>
              <a:cs typeface="Calibri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C9911F2-739E-57FD-5365-87F61A74ABE5}"/>
              </a:ext>
            </a:extLst>
          </p:cNvPr>
          <p:cNvSpPr txBox="1"/>
          <p:nvPr/>
        </p:nvSpPr>
        <p:spPr>
          <a:xfrm>
            <a:off x="1371600" y="1580998"/>
            <a:ext cx="142875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600" b="1" kern="0" spc="-76">
                <a:solidFill>
                  <a:srgbClr val="FFFFFF"/>
                </a:solidFill>
                <a:ea typeface="Pretendard"/>
                <a:cs typeface="+mn-lt"/>
              </a:rPr>
              <a:t>어떠한 기업에서도</a:t>
            </a:r>
            <a:r>
              <a:rPr lang="en-US" altLang="ko-KR" sz="3600" b="1" kern="0" spc="-76">
                <a:solidFill>
                  <a:srgbClr val="FFFFFF"/>
                </a:solidFill>
                <a:ea typeface="Pretendard"/>
                <a:cs typeface="+mn-lt"/>
              </a:rPr>
              <a:t> </a:t>
            </a:r>
            <a:r>
              <a:rPr lang="ko-KR" altLang="en-US" sz="3600" b="1" kern="0" spc="-76">
                <a:solidFill>
                  <a:srgbClr val="FFFFFF"/>
                </a:solidFill>
                <a:ea typeface="Pretendard"/>
                <a:cs typeface="+mn-lt"/>
              </a:rPr>
              <a:t>활용 가능한 </a:t>
            </a:r>
            <a:r>
              <a:rPr lang="ko-KR" altLang="en-US" sz="3600" b="1" kern="0" spc="-76">
                <a:solidFill>
                  <a:srgbClr val="3E8FF0"/>
                </a:solidFill>
                <a:ea typeface="Pretendard"/>
                <a:cs typeface="+mn-lt"/>
              </a:rPr>
              <a:t>확장성</a:t>
            </a:r>
            <a:endParaRPr lang="ko-KR" sz="3600" b="1" kern="0" spc="-76">
              <a:solidFill>
                <a:srgbClr val="3E8FF0"/>
              </a:solidFill>
              <a:ea typeface="Pretendard"/>
              <a:cs typeface="+mn-lt"/>
            </a:endParaRP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1B68F7F0-798A-11E2-173D-1DDAB6A592D5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15 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054866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34916-6545-0010-C0DB-93F29A059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gen-dedup-5a416b7f66483b154eba4578c2772067.png">
            <a:extLst>
              <a:ext uri="{FF2B5EF4-FFF2-40B4-BE49-F238E27FC236}">
                <a16:creationId xmlns:a16="http://schemas.microsoft.com/office/drawing/2014/main" id="{9BF3B6EE-4C5B-B07D-B50A-7CCDB01B21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CF154A01-B5EA-1382-4A97-DD86181EAA01}"/>
              </a:ext>
            </a:extLst>
          </p:cNvPr>
          <p:cNvSpPr txBox="1"/>
          <p:nvPr/>
        </p:nvSpPr>
        <p:spPr>
          <a:xfrm>
            <a:off x="13106095" y="743407"/>
            <a:ext cx="3810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50" kern="0" spc="315">
                <a:solidFill>
                  <a:srgbClr val="1C69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6E8F2CDD-64A8-1B5A-A371-070DB91B12EF}"/>
              </a:ext>
            </a:extLst>
          </p:cNvPr>
          <p:cNvSpPr txBox="1"/>
          <p:nvPr/>
        </p:nvSpPr>
        <p:spPr>
          <a:xfrm>
            <a:off x="1371600" y="4591202"/>
            <a:ext cx="11430000" cy="2039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600" b="1" kern="0" spc="-567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12600">
              <a:latin typeface="Pretendard" panose="02000503000000020004" pitchFamily="2" charset="-127"/>
            </a:endParaRPr>
          </a:p>
        </p:txBody>
      </p:sp>
      <p:pic>
        <p:nvPicPr>
          <p:cNvPr id="12" name="Image 3" descr="gen-dedup-5a416b7f66483b154eba4578c2772067.png">
            <a:extLst>
              <a:ext uri="{FF2B5EF4-FFF2-40B4-BE49-F238E27FC236}">
                <a16:creationId xmlns:a16="http://schemas.microsoft.com/office/drawing/2014/main" id="{6B58A804-DF99-C43E-36BE-E74D78F7EC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762695"/>
            <a:ext cx="15544800" cy="9144"/>
          </a:xfrm>
          <a:prstGeom prst="rect">
            <a:avLst/>
          </a:prstGeom>
        </p:spPr>
      </p:pic>
      <p:sp>
        <p:nvSpPr>
          <p:cNvPr id="14" name="Text 3">
            <a:extLst>
              <a:ext uri="{FF2B5EF4-FFF2-40B4-BE49-F238E27FC236}">
                <a16:creationId xmlns:a16="http://schemas.microsoft.com/office/drawing/2014/main" id="{39AD6619-6DDD-D58A-A681-3C3EF356DE11}"/>
              </a:ext>
            </a:extLst>
          </p:cNvPr>
          <p:cNvSpPr txBox="1"/>
          <p:nvPr/>
        </p:nvSpPr>
        <p:spPr>
          <a:xfrm>
            <a:off x="1371600" y="9253728"/>
            <a:ext cx="1143000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SK네트웍스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Family AI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캠프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29기 3팀 FSD</a:t>
            </a:r>
            <a:endParaRPr lang="en-US" sz="1350">
              <a:latin typeface="Pretendard" panose="02000503000000020004" pitchFamily="2" charset="-127"/>
            </a:endParaRPr>
          </a:p>
          <a:p>
            <a:pPr marL="0" indent="0" algn="l">
              <a:lnSpc>
                <a:spcPts val="2295"/>
              </a:lnSpc>
              <a:buNone/>
            </a:pP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박준희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정승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윤대성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김재홍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송민지</a:t>
            </a:r>
            <a:endParaRPr lang="en-US" sz="1350">
              <a:latin typeface="Pretendard" panose="02000503000000020004" pitchFamily="2" charset="-127"/>
            </a:endParaRPr>
          </a:p>
        </p:txBody>
      </p:sp>
      <p:pic>
        <p:nvPicPr>
          <p:cNvPr id="5" name="Image 2" descr="gen-dedup-76a7967caad65e370822c131bf559ebf.png">
            <a:extLst>
              <a:ext uri="{FF2B5EF4-FFF2-40B4-BE49-F238E27FC236}">
                <a16:creationId xmlns:a16="http://schemas.microsoft.com/office/drawing/2014/main" id="{8B1E2EE5-59A1-6D2F-2792-90BB9742C5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371600" y="4304995"/>
            <a:ext cx="1371600" cy="47549"/>
          </a:xfrm>
          <a:prstGeom prst="rect">
            <a:avLst/>
          </a:prstGeom>
        </p:spPr>
      </p:pic>
      <p:sp>
        <p:nvSpPr>
          <p:cNvPr id="10" name="Text 0">
            <a:extLst>
              <a:ext uri="{FF2B5EF4-FFF2-40B4-BE49-F238E27FC236}">
                <a16:creationId xmlns:a16="http://schemas.microsoft.com/office/drawing/2014/main" id="{D0FEB7BF-FA59-D969-B80B-84DF9252E64A}"/>
              </a:ext>
            </a:extLst>
          </p:cNvPr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/ 16</a:t>
            </a:r>
            <a:endParaRPr lang="en-US" sz="1050">
              <a:latin typeface="Pretendard" panose="02000503000000020004" pitchFamily="2" charset="-127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EA1F5C5-1E43-6F08-38C8-7FFE54EB55C9}"/>
              </a:ext>
            </a:extLst>
          </p:cNvPr>
          <p:cNvSpPr txBox="1"/>
          <p:nvPr/>
        </p:nvSpPr>
        <p:spPr>
          <a:xfrm>
            <a:off x="16192195" y="956279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50" kern="0" spc="-18">
                <a:solidFill>
                  <a:srgbClr val="4A535F"/>
                </a:solidFill>
                <a:latin typeface="Pretendard"/>
                <a:ea typeface="Pretendard"/>
                <a:cs typeface="Pretendard" pitchFamily="34" charset="-120"/>
              </a:rPr>
              <a:t>16 </a:t>
            </a:r>
            <a:r>
              <a:rPr lang="en-US" sz="1050" kern="0" spc="-18">
                <a:solidFill>
                  <a:srgbClr val="4A535F"/>
                </a:solidFill>
                <a:latin typeface="Pretendard" pitchFamily="34" charset="0"/>
                <a:ea typeface="Pretendard"/>
                <a:cs typeface="Pretendard" pitchFamily="34" charset="-120"/>
              </a:rPr>
              <a:t>/ 16</a:t>
            </a:r>
            <a:endParaRPr lang="en-US" sz="1050">
              <a:latin typeface="Pretendard" panose="02000503000000020004" pitchFamily="2" charset="-127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746910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27C9A-6447-113F-5A2B-F40862D5C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gen-dedup-5a416b7f66483b154eba4578c2772067.png">
            <a:extLst>
              <a:ext uri="{FF2B5EF4-FFF2-40B4-BE49-F238E27FC236}">
                <a16:creationId xmlns:a16="http://schemas.microsoft.com/office/drawing/2014/main" id="{F7ED69E5-2933-41DC-E051-83AC6901C7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1143000"/>
            <a:ext cx="15544800" cy="9144"/>
          </a:xfrm>
          <a:prstGeom prst="rect">
            <a:avLst/>
          </a:prstGeom>
        </p:spPr>
      </p:pic>
      <p:pic>
        <p:nvPicPr>
          <p:cNvPr id="4" name="Image 2" descr="gen-dedup-76a7967caad65e370822c131bf559ebf.png">
            <a:extLst>
              <a:ext uri="{FF2B5EF4-FFF2-40B4-BE49-F238E27FC236}">
                <a16:creationId xmlns:a16="http://schemas.microsoft.com/office/drawing/2014/main" id="{5A404C70-7C17-A5A6-86D5-A993E68F63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371600" y="4304995"/>
            <a:ext cx="1371600" cy="47549"/>
          </a:xfrm>
          <a:prstGeom prst="rect">
            <a:avLst/>
          </a:prstGeom>
        </p:spPr>
      </p:pic>
      <p:pic>
        <p:nvPicPr>
          <p:cNvPr id="5" name="Image 3" descr="gen-dedup-5a416b7f66483b154eba4578c2772067.png">
            <a:extLst>
              <a:ext uri="{FF2B5EF4-FFF2-40B4-BE49-F238E27FC236}">
                <a16:creationId xmlns:a16="http://schemas.microsoft.com/office/drawing/2014/main" id="{FC12EBA0-4E6D-7FD9-1FE3-B5A08B8C76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371600" y="8762695"/>
            <a:ext cx="15544800" cy="9144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719FF845-F439-E03C-9F87-2384F4C1C1BA}"/>
              </a:ext>
            </a:extLst>
          </p:cNvPr>
          <p:cNvSpPr txBox="1"/>
          <p:nvPr/>
        </p:nvSpPr>
        <p:spPr>
          <a:xfrm>
            <a:off x="1371600" y="4743907"/>
            <a:ext cx="11430000" cy="1390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50" b="1" kern="0" spc="-33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8250">
              <a:latin typeface="Pretendard" panose="02000503000000020004" pitchFamily="2" charset="-127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5EFEB597-616F-3A80-E766-C1E329E12304}"/>
              </a:ext>
            </a:extLst>
          </p:cNvPr>
          <p:cNvSpPr txBox="1"/>
          <p:nvPr/>
        </p:nvSpPr>
        <p:spPr>
          <a:xfrm>
            <a:off x="1371600" y="6349594"/>
            <a:ext cx="12382805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2700" kern="0" spc="-67" err="1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</a:t>
            </a:r>
            <a:r>
              <a:rPr lang="en-US" sz="2700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700" kern="0" spc="-67" err="1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</a:t>
            </a:r>
            <a:r>
              <a:rPr lang="en-US" sz="2700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700" kern="0" spc="-67" err="1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서비스로</a:t>
            </a:r>
            <a:r>
              <a:rPr lang="en-US" sz="2700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700" kern="0" spc="-67" err="1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답하는</a:t>
            </a:r>
            <a:r>
              <a:rPr lang="en-US" sz="2700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  <a:endParaRPr lang="en-US" sz="2700">
              <a:latin typeface="Pretendard" panose="02000503000000020004" pitchFamily="2" charset="-127"/>
            </a:endParaRPr>
          </a:p>
          <a:p>
            <a:pPr marL="0" indent="0" algn="l">
              <a:lnSpc>
                <a:spcPts val="4050"/>
              </a:lnSpc>
              <a:buNone/>
            </a:pPr>
            <a:r>
              <a:rPr lang="en-US" sz="2700" b="1" kern="0" spc="-67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Answervice</a:t>
            </a:r>
            <a:r>
              <a:rPr lang="ko-KR" altLang="en-US" sz="2700" b="1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였습니다</a:t>
            </a:r>
            <a:r>
              <a:rPr lang="en-US" altLang="ko-KR" sz="2700" b="1" kern="0" spc="-67">
                <a:solidFill>
                  <a:srgbClr val="E6E6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700">
              <a:latin typeface="Pretendard" panose="02000503000000020004" pitchFamily="2" charset="-127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379C40-C490-BD7A-A7E7-720B59C7BE46}"/>
              </a:ext>
            </a:extLst>
          </p:cNvPr>
          <p:cNvSpPr txBox="1"/>
          <p:nvPr/>
        </p:nvSpPr>
        <p:spPr>
          <a:xfrm>
            <a:off x="1371600" y="9253728"/>
            <a:ext cx="1143000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SK네트웍스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Family AI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캠프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29기 3팀 FSD</a:t>
            </a:r>
            <a:endParaRPr lang="en-US" sz="1350">
              <a:latin typeface="Pretendard" panose="02000503000000020004" pitchFamily="2" charset="-127"/>
            </a:endParaRPr>
          </a:p>
          <a:p>
            <a:pPr marL="0" indent="0" algn="l">
              <a:lnSpc>
                <a:spcPts val="2295"/>
              </a:lnSpc>
              <a:buNone/>
            </a:pP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박준희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정승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윤대성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김재홍</a:t>
            </a:r>
            <a:r>
              <a:rPr lang="en-US" sz="1350" kern="0" spc="14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350" kern="0" spc="14" err="1">
                <a:solidFill>
                  <a:srgbClr val="BBBB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송민지</a:t>
            </a:r>
            <a:endParaRPr lang="en-US" sz="1350">
              <a:latin typeface="Pretendard" panose="02000503000000020004" pitchFamily="2" charset="-127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1F78FFDA-AF3A-26E2-4905-7A3D2F93A860}"/>
              </a:ext>
            </a:extLst>
          </p:cNvPr>
          <p:cNvSpPr txBox="1"/>
          <p:nvPr/>
        </p:nvSpPr>
        <p:spPr>
          <a:xfrm>
            <a:off x="1371601" y="724205"/>
            <a:ext cx="476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ko-KR"/>
            </a:defPPr>
            <a:lvl1pPr marL="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1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kern="0" spc="357">
                <a:solidFill>
                  <a:srgbClr val="6B7683"/>
                </a:solidFill>
                <a:latin typeface="Pretendard"/>
                <a:ea typeface="Pretendard"/>
                <a:cs typeface="Pretendard" pitchFamily="34" charset="-120"/>
              </a:rPr>
              <a:t>ANSWERVICE </a:t>
            </a:r>
            <a:endParaRPr lang="en-US" sz="1050">
              <a:latin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0061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0866c73-d84e-4976-9e76-2b027efee40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863BB446F8D88F43AE941EDE9559C296" ma:contentTypeVersion="5" ma:contentTypeDescription="새 문서를 만듭니다." ma:contentTypeScope="" ma:versionID="0b6626fd114513d19486b2b4e9d15276">
  <xsd:schema xmlns:xsd="http://www.w3.org/2001/XMLSchema" xmlns:xs="http://www.w3.org/2001/XMLSchema" xmlns:p="http://schemas.microsoft.com/office/2006/metadata/properties" xmlns:ns3="20866c73-d84e-4976-9e76-2b027efee40b" targetNamespace="http://schemas.microsoft.com/office/2006/metadata/properties" ma:root="true" ma:fieldsID="8ad03fb58199f88094153fb1c22551d5" ns3:_="">
    <xsd:import namespace="20866c73-d84e-4976-9e76-2b027efee40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866c73-d84e-4976-9e76-2b027efee40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8C37227-BF9C-4EDC-B14A-86BB5029CB9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  <ds:schemaRef ds:uri="20866c73-d84e-4976-9e76-2b027efee40b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547CAC3-B937-4607-B5FB-2A6F84E63B53}">
  <ds:schemaRefs>
    <ds:schemaRef ds:uri="20866c73-d84e-4976-9e76-2b027efee40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DCE25D-8A25-401E-912E-E456CEFF7B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3173</Words>
  <Application>Microsoft Office PowerPoint</Application>
  <PresentationFormat>사용자 지정</PresentationFormat>
  <Paragraphs>662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JetBrains Mono</vt:lpstr>
      <vt:lpstr>PRE</vt:lpstr>
      <vt:lpstr>Pretendard</vt:lpstr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SKN 29기_3</cp:lastModifiedBy>
  <cp:revision>10</cp:revision>
  <dcterms:created xsi:type="dcterms:W3CDTF">2026-08-04T05:55:04Z</dcterms:created>
  <dcterms:modified xsi:type="dcterms:W3CDTF">2026-08-06T05:13:29Z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0x010100863BB446F8D88F43AE941EDE9559C296</vt:lpwstr>
  </property>
</Properties>
</file>