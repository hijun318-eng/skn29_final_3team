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5"/>
  </p:notesMasterIdLst>
  <p:sldIdLst>
    <p:sldId id="264" r:id="rId5"/>
    <p:sldId id="256" r:id="rId6"/>
    <p:sldId id="340" r:id="rId7"/>
    <p:sldId id="347" r:id="rId8"/>
    <p:sldId id="348" r:id="rId9"/>
    <p:sldId id="346" r:id="rId10"/>
    <p:sldId id="258" r:id="rId11"/>
    <p:sldId id="333" r:id="rId12"/>
    <p:sldId id="261" r:id="rId13"/>
    <p:sldId id="360" r:id="rId14"/>
    <p:sldId id="327" r:id="rId15"/>
    <p:sldId id="329" r:id="rId16"/>
    <p:sldId id="374" r:id="rId17"/>
    <p:sldId id="317" r:id="rId18"/>
    <p:sldId id="349" r:id="rId19"/>
    <p:sldId id="324" r:id="rId20"/>
    <p:sldId id="313" r:id="rId21"/>
    <p:sldId id="318" r:id="rId22"/>
    <p:sldId id="265" r:id="rId23"/>
    <p:sldId id="372" r:id="rId24"/>
    <p:sldId id="320" r:id="rId25"/>
    <p:sldId id="332" r:id="rId26"/>
    <p:sldId id="338" r:id="rId27"/>
    <p:sldId id="339" r:id="rId28"/>
    <p:sldId id="342" r:id="rId29"/>
    <p:sldId id="368" r:id="rId30"/>
    <p:sldId id="369" r:id="rId31"/>
    <p:sldId id="344" r:id="rId32"/>
    <p:sldId id="345" r:id="rId33"/>
    <p:sldId id="363" r:id="rId34"/>
    <p:sldId id="350" r:id="rId35"/>
    <p:sldId id="362" r:id="rId36"/>
    <p:sldId id="257" r:id="rId37"/>
    <p:sldId id="351" r:id="rId38"/>
    <p:sldId id="352" r:id="rId39"/>
    <p:sldId id="353" r:id="rId40"/>
    <p:sldId id="354" r:id="rId41"/>
    <p:sldId id="355" r:id="rId42"/>
    <p:sldId id="321" r:id="rId43"/>
    <p:sldId id="300" r:id="rId44"/>
    <p:sldId id="301" r:id="rId45"/>
    <p:sldId id="302" r:id="rId46"/>
    <p:sldId id="303" r:id="rId47"/>
    <p:sldId id="366" r:id="rId48"/>
    <p:sldId id="367" r:id="rId49"/>
    <p:sldId id="323" r:id="rId50"/>
    <p:sldId id="304" r:id="rId51"/>
    <p:sldId id="373" r:id="rId52"/>
    <p:sldId id="336" r:id="rId53"/>
    <p:sldId id="305" r:id="rId5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334F"/>
    <a:srgbClr val="176FE5"/>
    <a:srgbClr val="70A3E5"/>
    <a:srgbClr val="1F73E8"/>
    <a:srgbClr val="ECF3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46" dt="2026-09-02T09:17:47.890"/>
    <p1510:client id="{49634F0D-1DEF-471D-8497-03E12D8598DC}" v="1472" dt="2026-09-02T10:54:05.717"/>
    <p1510:client id="{4BB49655-6A48-D2B6-FE7C-4629DAF77433}" v="125" dt="2026-09-03T02:39:35.394"/>
    <p1510:client id="{8E95818E-CCC3-D3C9-57A8-1D39AE4F4C83}" v="202" dt="2026-09-03T01:53:48.710"/>
    <p1510:client id="{93F098B4-EFDC-A440-2CBF-9362E80C10E8}" v="48" dt="2026-09-02T10:31:50.225"/>
    <p1510:client id="{9EC591FE-5BF9-705F-EE75-56AE8BA34B70}" v="380" dt="2026-09-02T10:56:29.294"/>
    <p1510:client id="{B0816343-9837-1EEB-0CA3-7BB6F4ACC7C6}" v="19" dt="2026-09-02T07:33:53.362"/>
    <p1510:client id="{B18800CA-A113-7316-D772-23C5D397F5D0}" v="4577" dt="2026-09-03T02:44:33.894"/>
    <p1510:client id="{F3FC484F-BC9A-4003-BFCE-2FADC19B508E}" v="4470" dt="2026-09-03T02:56:03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307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안녕하십니까 //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에스케이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네트웍스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SK네트웍스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패밀리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에이아이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캠프(Family AI) / 29기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**3팀**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FSD입니다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//</a:t>
            </a:r>
          </a:p>
          <a:p>
            <a:r>
              <a:rPr lang="ko-KR" altLang="en-US">
                <a:latin typeface="Pretendard" panose="02000503000000020004" pitchFamily="2" charset="-127"/>
              </a:rPr>
              <a:t>저희가 만든 구현한 시스템은</a:t>
            </a:r>
            <a:endParaRPr lang="en-US" altLang="ko-KR">
              <a:latin typeface="Pretendard" panose="02000503000000020004" pitchFamily="2" charset="-127"/>
            </a:endParaRPr>
          </a:p>
          <a:p>
            <a:r>
              <a:rPr lang="en-US" altLang="ko-KR" err="1">
                <a:latin typeface="Pretendard" panose="02000503000000020004" pitchFamily="2" charset="-127"/>
              </a:rPr>
              <a:t>기업의</a:t>
            </a:r>
            <a:r>
              <a:rPr lang="en-US" altLang="ko-KR">
                <a:latin typeface="Pretendard" panose="02000503000000020004" pitchFamily="2" charset="-127"/>
              </a:rPr>
              <a:t> </a:t>
            </a:r>
            <a:r>
              <a:rPr lang="en-US" altLang="ko-KR" err="1">
                <a:latin typeface="Pretendard" panose="02000503000000020004" pitchFamily="2" charset="-127"/>
              </a:rPr>
              <a:t>질문에</a:t>
            </a:r>
            <a:r>
              <a:rPr lang="en-US" altLang="ko-KR">
                <a:latin typeface="Pretendard" panose="02000503000000020004" pitchFamily="2" charset="-127"/>
              </a:rPr>
              <a:t> </a:t>
            </a:r>
            <a:r>
              <a:rPr lang="en-US" altLang="ko-KR" err="1">
                <a:latin typeface="Pretendard" panose="02000503000000020004" pitchFamily="2" charset="-127"/>
              </a:rPr>
              <a:t>서비스로</a:t>
            </a:r>
            <a:r>
              <a:rPr lang="en-US" altLang="ko-KR">
                <a:latin typeface="Pretendard" panose="02000503000000020004" pitchFamily="2" charset="-127"/>
              </a:rPr>
              <a:t> </a:t>
            </a:r>
            <a:r>
              <a:rPr lang="en-US" altLang="ko-KR" err="1">
                <a:latin typeface="Pretendard" panose="02000503000000020004" pitchFamily="2" charset="-127"/>
              </a:rPr>
              <a:t>답하는</a:t>
            </a:r>
            <a:r>
              <a:rPr lang="en-US" altLang="ko-KR">
                <a:latin typeface="Pretendard" panose="02000503000000020004" pitchFamily="2" charset="-127"/>
              </a:rPr>
              <a:t>, 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**앤서비스(</a:t>
            </a:r>
            <a:r>
              <a:rPr lang="ko-KR" altLang="ko-KR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Answervice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 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발표는 크게 / 세 부분으로 준비했습니다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en-US">
              <a:latin typeface="Pretendard" panose="02000503000000020004" pitchFamily="2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문제를 풀었는지 / 어떻게 풀었는지 / 무엇을 확인했는지 순서입니다 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문제부터 말씀드리겠습니다 //</a:t>
            </a:r>
          </a:p>
          <a:p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2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61A7-1CFB-FBD4-7A6A-4759CA3D6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B4335-0A91-A05F-5A3A-BFC904C2F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CAEFC-D244-B896-0D2C-2F93F0AE6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여러분들도 이런 경험 </a:t>
            </a:r>
            <a:r>
              <a:rPr lang="ko-KR" altLang="en-US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있으실겁니다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집에서 물건을 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아무리 찾아도 나오지 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ko-KR" altLang="en-US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않을때가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있습니다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그럴때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우리는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어떻게 할까요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CF6E4-1D1E-08F4-4296-E74D8728AE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3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194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B089-F97D-BCE4-F36C-B5AABE2EA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27A33-99F8-CD9E-A232-F5E04F71A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18431-6CAD-ABE4-178A-5D8DDD7AC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**엄마**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부릅니다 // 그러면 대부분 찾습니다 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회사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에서도 비슷한 경우가 있습니다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4B6E1-D2DB-80A5-3677-4662ABA78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4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4566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FA21-FC4A-E76B-1CEF-D09E02BEE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665948-B402-CE0E-1889-8806CEFD1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D2309-E55A-9A70-6510-9C6427EDF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 찾는 대상이 / 물건이 아니라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**데이터**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 //</a:t>
            </a:r>
          </a:p>
          <a:p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내가 그 자료의 담당자가 아니라면 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정확하게 어떤 데이터가 있는지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알기 어렵습니다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회사에서는</a:t>
            </a:r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DC6A7-68D6-0042-0DDA-3E57DF71BD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5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4146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3CF9A-6887-226E-27B0-1E0C51B18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213B9-E454-59CB-2496-1BE598278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27624C-046D-9F26-1F50-FFF16AB27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/>
              <a:t>회사에서는 엄마를 부를 수 없습니다. </a:t>
            </a:r>
            <a:endParaRPr lang="en-US" altLang="ko-KR"/>
          </a:p>
          <a:p>
            <a:r>
              <a:rPr lang="ko-KR" altLang="ko-KR"/>
              <a:t>데이터를 찾기 어려운 가장 큰 이유는 따로 있습니다.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바로 </a:t>
            </a:r>
            <a:r>
              <a:rPr lang="ko-KR" altLang="ko-KR"/>
              <a:t>데이터 사일로입니다.</a:t>
            </a:r>
            <a:endParaRPr lang="en-US" altLang="ko-KR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A3646-BF0D-1E4C-ED67-349745D68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6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8112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기업의 데이터는 보통 한곳에 모여 있지 않습니다</a:t>
            </a:r>
            <a:br>
              <a:rPr lang="en-US" altLang="ko-KR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en-US" altLang="ko-KR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200" b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예를들면</a:t>
            </a:r>
            <a:br>
              <a:rPr lang="en-US" altLang="ko-KR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en-US" altLang="ko-KR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영업, 재무, 운영, 고객 부서가 / 각자 다른 시스템을 씁니다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문제는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**위치만 다른 게 아니라는 점**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 형식이 다르고 / 접근 권한이 나뉘어 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매출이라도 / 부서마다 정의가 다릅니다(↘)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이것을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**데이터 </a:t>
            </a:r>
            <a:r>
              <a:rPr lang="ko-KR" altLang="ko-KR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사일로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부릅니다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곡식 창고처럼 / 각자 따로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보관 하고 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있다는 뜻입니다 //</a:t>
            </a:r>
            <a:br>
              <a:rPr lang="en-US" altLang="ko-KR">
                <a:latin typeface="Pretendard" panose="02000503000000020004" pitchFamily="2" charset="-127"/>
              </a:rPr>
            </a:br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7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Pretendard" panose="02000503000000020004" pitchFamily="2" charset="-127"/>
              </a:rPr>
              <a:t>우선 주간 보고서 작성 예시를 들어보겠습니다</a:t>
            </a:r>
            <a:r>
              <a:rPr lang="en-US" altLang="ko-KR">
                <a:latin typeface="Pretendard" panose="02000503000000020004" pitchFamily="2" charset="-127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retendard" panose="02000503000000020004" pitchFamily="2" charset="-127"/>
              </a:rPr>
              <a:t>
</a:t>
            </a:r>
            <a:r>
              <a:rPr lang="ko-KR" altLang="en-US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영업과 운영</a:t>
            </a:r>
            <a:r>
              <a:rPr lang="en-US" altLang="ko-KR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/ </a:t>
            </a:r>
            <a:r>
              <a:rPr lang="ko-KR" altLang="en-US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고객관리부와 </a:t>
            </a:r>
            <a:r>
              <a:rPr lang="en-US" altLang="ko-KR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재무 부서에 자료를 취합합니다</a:t>
            </a:r>
            <a:r>
              <a:rPr lang="en-US" altLang="ko-KR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받는 파일도 하나의 형식이 아닙니다</a:t>
            </a:r>
            <a:r>
              <a:rPr lang="en-US" altLang="ko-KR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br>
              <a:rPr lang="en-US" altLang="ko-KR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재무팀만 하더라도 가지고 있는 데이터 형식이 이렇게 다양합니다</a:t>
            </a:r>
            <a:r>
              <a:rPr lang="en-US" altLang="ko-KR" sz="12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latin typeface="Pretendard" panose="02000503000000020004" pitchFamily="2" charset="-127"/>
              </a:rPr>
            </a:b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담당자는 이걸 다시 취합하고 / 분석하고 / 검증합니다 //</a:t>
            </a:r>
          </a:p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그다음에야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보고서를 씁니다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문제는 / 다음 주에 또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**처음부터**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시작한다는 것입니다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데이터가 흩어져 있으니 / 매주 같은 탐색을 반복합니다(↘) ///</a:t>
            </a:r>
          </a:p>
          <a:p>
            <a:endParaRPr lang="en-US">
              <a:latin typeface="Pretendard" panose="02000503000000020004" pitchFamily="2" charset="-127"/>
            </a:endParaRPr>
          </a:p>
          <a:p>
            <a:r>
              <a:rPr lang="ko-KR" altLang="en-US">
                <a:latin typeface="Pretendard" panose="02000503000000020004" pitchFamily="2" charset="-127"/>
              </a:rPr>
              <a:t>이러한 문제는 다양한 회사에서도 관심을 가지고 있습니다</a:t>
            </a:r>
            <a:r>
              <a:rPr lang="en-US" altLang="ko-KR">
                <a:latin typeface="Pretendard" panose="02000503000000020004" pitchFamily="2" charset="-127"/>
              </a:rPr>
              <a:t>.</a:t>
            </a:r>
          </a:p>
          <a:p>
            <a:r>
              <a:rPr lang="ko-KR" altLang="en-US">
                <a:latin typeface="Pretendard" panose="02000503000000020004" pitchFamily="2" charset="-127"/>
              </a:rPr>
              <a:t>그러면 </a:t>
            </a:r>
            <a:r>
              <a:rPr lang="en-US" altLang="ko-KR">
                <a:latin typeface="Pretendard" panose="02000503000000020004" pitchFamily="2" charset="-127"/>
              </a:rPr>
              <a:t>SK </a:t>
            </a:r>
            <a:r>
              <a:rPr lang="ko-KR" altLang="en-US" err="1">
                <a:latin typeface="Pretendard" panose="02000503000000020004" pitchFamily="2" charset="-127"/>
              </a:rPr>
              <a:t>네트웍스는</a:t>
            </a:r>
            <a:r>
              <a:rPr lang="ko-KR" altLang="en-US">
                <a:latin typeface="Pretendard" panose="02000503000000020004" pitchFamily="2" charset="-127"/>
              </a:rPr>
              <a:t> 어떨까요</a:t>
            </a:r>
            <a:r>
              <a:rPr lang="en-US" altLang="ko-KR">
                <a:latin typeface="Pretendard" panose="02000503000000020004" pitchFamily="2" charset="-127"/>
              </a:rPr>
              <a:t>?</a:t>
            </a:r>
          </a:p>
          <a:p>
            <a:endParaRPr lang="en-US">
              <a:latin typeface="Pretendard" panose="02000503000000020004" pitchFamily="2" charset="-127"/>
            </a:endParaRPr>
          </a:p>
          <a:p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8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에스케이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네트웍스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SK네트웍스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)는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**여덟 개 사업 영역**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가지고 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호텔 /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모빌리티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정보통신 / 글로벌 트레이딩까지 / 성격이 모두 다릅니다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사업이 다르면 / 쓰는 지표와 권한 기준도 달라집니다 //</a:t>
            </a:r>
          </a:p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에이아이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(AI)로 분석하려면 / 이 기준부터 하나로 이어야 합니다(↘) ///</a:t>
            </a:r>
          </a:p>
          <a:p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그중 저희가 첫 검증 대상으로 고른 곳이 /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워커힐입니다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//</a:t>
            </a:r>
          </a:p>
          <a:p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9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워커힐을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고른 이유는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**규모가 아닙니다**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공간 안에 / 숙박, 식음, 연회, 고객 관리, 시설 운영이 함께 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업무 데이터는 / 각각 따로 쌓입니다 //</a:t>
            </a:r>
          </a:p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피엠에스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(PMS)는 객실 예약 시스템 / 포스(POS)는 결제 시스템입니다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건물은 하나인데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**데이터 창고는 다섯 개**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셈입니다(↘)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사일로를 재현하기에 / 가장 적합한 환경이었습니다 ///</a:t>
            </a:r>
          </a:p>
          <a:p>
            <a:endParaRPr lang="en-US">
              <a:latin typeface="Pretendard" panose="02000503000000020004" pitchFamily="2" charset="-127"/>
            </a:endParaRPr>
          </a:p>
          <a:p>
            <a:r>
              <a:rPr lang="ko-KR" altLang="en-US">
                <a:latin typeface="Pretendard" panose="02000503000000020004" pitchFamily="2" charset="-127"/>
              </a:rPr>
              <a:t>그래서 저희는 신빙성 있는 </a:t>
            </a:r>
            <a:r>
              <a:rPr lang="ko-KR" altLang="en-US" err="1">
                <a:latin typeface="Pretendard" panose="02000503000000020004" pitchFamily="2" charset="-127"/>
              </a:rPr>
              <a:t>워커힐</a:t>
            </a:r>
            <a:r>
              <a:rPr lang="ko-KR" altLang="en-US">
                <a:latin typeface="Pretendard" panose="02000503000000020004" pitchFamily="2" charset="-127"/>
              </a:rPr>
              <a:t> 데이터를 재현하였습니다</a:t>
            </a:r>
            <a:r>
              <a:rPr lang="en-US" altLang="ko-KR">
                <a:latin typeface="Pretendard" panose="02000503000000020004" pitchFamily="2" charset="-127"/>
              </a:rPr>
              <a:t>.</a:t>
            </a:r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10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만든 </a:t>
            </a:r>
            <a:r>
              <a:rPr lang="en-US" altLang="ko-KR">
                <a:latin typeface="Pretendard" panose="02000503000000020004" pitchFamily="2" charset="-127"/>
              </a:rPr>
              <a:t>AI-Ready </a:t>
            </a:r>
            <a:r>
              <a:rPr lang="en-US" altLang="ko-KR" err="1">
                <a:latin typeface="Pretendard" panose="02000503000000020004" pitchFamily="2" charset="-127"/>
              </a:rPr>
              <a:t>데이터는</a:t>
            </a:r>
            <a:r>
              <a:rPr lang="en-US" altLang="ko-KR">
                <a:latin typeface="Pretendard" panose="02000503000000020004" pitchFamily="2" charset="-127"/>
              </a:rPr>
              <a:t> 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단순한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난수로 만들지는 않았습니다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공개된 실적 자료에서 / 연간 매출 3,006억 원을 확인했습니다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월별 흐름의 기준으로 삼았습니다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공식 객실 가격과 멤버십에서 확인한 할인율을 / 시즌 규칙에 넣었습니다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행사 페이지를 참고해 / 행사 전후의 수요 변화도 반영했습니다 //</a:t>
            </a:r>
          </a:p>
          <a:p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**공개 근거가 있는 규칙만**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데이터에 넣었습니다(↘)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규칙으로 만든 데이터는 / 한 명의 고객 여정으로 이어집니다 //</a:t>
            </a:r>
          </a:p>
          <a:p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11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흐름은 / 예약 / 투숙 / 결제입니다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식음과 연회, 시설은 / 실제로 이용한 고객에게만 생성했습니다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흩어진 기록이 아니라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**같은 고객의 하나의 여정**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묶었습니다(↘) ///</a:t>
            </a:r>
          </a:p>
          <a:p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그럼 이 데이터가 / 어느 정도 규모인지 보시겠습니다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12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66369-D78B-4F50-6A25-FB93DC6CC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49772-CE70-1EA3-0611-79300D749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2AFB3-871A-4A4B-4B8A-C5E886435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계약 기준으로 / 약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**780만 행**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문서로 환산하면 / 책 800권 정도 분량입니다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중요한 건 / 행 수가 아닙니다(↘)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다섯 업무 시스템이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**같은 </a:t>
            </a:r>
            <a:r>
              <a:rPr lang="ko-KR" altLang="ko-KR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시간축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공유합니다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달력 / 같은 공휴일 / 같은 행사 기준을 씁니다 //</a:t>
            </a:r>
          </a:p>
          <a:p>
            <a:endParaRPr lang="en-US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호텔관련 논문에 기재되어 있는 스키마를 참고하여</a:t>
            </a:r>
            <a:b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신빙성 있는 데이터를 적재하였습니다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그럼 흩어진 데이터를 / 어떻게 연결했는지 말씀드리겠습니다 //</a:t>
            </a:r>
          </a:p>
          <a:p>
            <a:r>
              <a:rPr lang="en-US">
                <a:latin typeface="Pretendard" panose="02000503000000020004" pitchFamily="2" charset="-127"/>
              </a:rPr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EFEEC-5648-7520-228B-A164447A68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13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830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93790-A749-FE13-5240-0E55E28E0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0CF15-A643-C04A-A6FB-052948708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20619-C633-9ADE-92F1-A0957B0C6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Pretendard" panose="02000503000000020004" pitchFamily="2" charset="-127"/>
              </a:rPr>
              <a:t>그래서 데이터 사일로의 해결 방안으로 </a:t>
            </a:r>
            <a:br>
              <a:rPr lang="en-US" altLang="ko-KR">
                <a:latin typeface="Pretendard" panose="02000503000000020004" pitchFamily="2" charset="-127"/>
              </a:rPr>
            </a:br>
            <a:r>
              <a:rPr lang="ko-KR" altLang="en-US">
                <a:latin typeface="Pretendard" panose="02000503000000020004" pitchFamily="2" charset="-127"/>
              </a:rPr>
              <a:t>저희는</a:t>
            </a:r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A4E52-6558-9E65-0EA1-FF4962C68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14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70955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373F0-871E-46BC-297F-1585E295B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B7BB5-93D3-5BE5-1CA5-839D8107B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921759-3AF0-4D29-EDAF-95AA1F059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Pretendard" panose="02000503000000020004" pitchFamily="2" charset="-127"/>
              </a:rPr>
              <a:t>데이터 카탈로그를 도입하였습니다</a:t>
            </a:r>
            <a:r>
              <a:rPr lang="en-US" altLang="ko-KR">
                <a:latin typeface="Pretendard" panose="02000503000000020004" pitchFamily="2" charset="-127"/>
              </a:rPr>
              <a:t>.</a:t>
            </a:r>
            <a:br>
              <a:rPr lang="en-US" altLang="ko-KR">
                <a:latin typeface="Pretendard" panose="02000503000000020004" pitchFamily="2" charset="-127"/>
              </a:rPr>
            </a:b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데이터의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카탈로그는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데이터의 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위치와 의미 / 연결 기준을 정리한 / 업무 사전입니다 //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0CF69-1C8E-EDAA-499D-71118684D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15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8995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시스템마다 / 데이터의 위치도 / 형식도 / 업무에서 쓰는 의미도 달랐습니다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/ 어떤 데이터를 써야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하는지부터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막힙니다 //</a:t>
            </a:r>
          </a:p>
          <a:p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ko-KR" altLang="ko-KR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데이터허브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DataHub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)**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도입해 / 위치와 의미 / 연결 기준을 한 기준으로 정리했습니다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질문에 맞는 데이터를 / 같은 기준으로 찾습니다(↘) ///</a:t>
            </a:r>
          </a:p>
          <a:p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찾을 수 있게 됐다면 / 다음은 질문에 답하는 서비스입니다 //</a:t>
            </a:r>
          </a:p>
          <a:p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16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7F157-5BA8-5191-78E5-A3CAD239D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C9BB8-35D4-B1E9-02C7-01E733091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869F1-E955-5188-1027-34F0EAF1E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Pretendard" panose="02000503000000020004" pitchFamily="2" charset="-127"/>
              </a:rPr>
              <a:t>저희가 만든 앤서비스는 </a:t>
            </a:r>
            <a:r>
              <a:rPr lang="en-US" altLang="ko-KR">
                <a:latin typeface="Pretendard" panose="02000503000000020004" pitchFamily="2" charset="-127"/>
              </a:rPr>
              <a:t>4</a:t>
            </a:r>
            <a:r>
              <a:rPr lang="ko-KR" altLang="en-US">
                <a:latin typeface="Pretendard" panose="02000503000000020004" pitchFamily="2" charset="-127"/>
              </a:rPr>
              <a:t>가지 단계로 작동합니다</a:t>
            </a:r>
            <a:r>
              <a:rPr lang="en-US" altLang="ko-KR">
                <a:latin typeface="Pretendard" panose="02000503000000020004" pitchFamily="2" charset="-127"/>
              </a:rPr>
              <a:t>.</a:t>
            </a:r>
            <a:br>
              <a:rPr lang="en-US" altLang="ko-KR">
                <a:latin typeface="Pretendard" panose="02000503000000020004" pitchFamily="2" charset="-127"/>
              </a:rPr>
            </a:br>
            <a:br>
              <a:rPr lang="en-US" altLang="ko-KR">
                <a:latin typeface="Pretendard" panose="02000503000000020004" pitchFamily="2" charset="-127"/>
              </a:rPr>
            </a:b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"8월 시설별 매출 알려줘" / 같은 문장입니다 //</a:t>
            </a:r>
          </a:p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그다음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**통제된 분석**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거칩니다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지표 기준이 맞는지 / 볼 권한이 있는지 / 안전한 조회인지 확인합니다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검증을 통과한 결과만 / 근거와 함께 남습니다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/ 편집 가능한 보고서로 나옵니다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질문에서 시작해 / 근거가 남는 보고서로 끝납니다(↘) ///</a:t>
            </a:r>
          </a:p>
          <a:p>
            <a:endParaRPr lang="en-US">
              <a:latin typeface="Pretendard" panose="02000503000000020004" pitchFamily="2" charset="-127"/>
            </a:endParaRPr>
          </a:p>
          <a:p>
            <a:r>
              <a:rPr lang="ko-KR" altLang="en-US">
                <a:latin typeface="Pretendard" panose="02000503000000020004" pitchFamily="2" charset="-127"/>
              </a:rPr>
              <a:t>그럼 시연 영상 보시겠습니다</a:t>
            </a:r>
            <a:r>
              <a:rPr lang="en-US" altLang="ko-KR">
                <a:latin typeface="Pretendard" panose="02000503000000020004" pitchFamily="2" charset="-127"/>
              </a:rPr>
              <a:t>.</a:t>
            </a:r>
          </a:p>
          <a:p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D1A6E-10F1-BD7E-6772-404E9B1693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17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44241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25E1D-B4FC-334B-93CA-35D24004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674565-F198-E6F5-CD6B-5BD8CD687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4D319-61A8-FDC1-34CE-065237FC5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Pretendard" panose="02000503000000020004" pitchFamily="2" charset="-127"/>
              </a:rPr>
              <a:t>이상으로 Answervice 발표를 마치겠습니다. 기업의 질문에 서비스로 답하는, Answervice였습니다. 감사합니다. 질문받겠습니다.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F30C7-0B96-3020-3947-D0BAAB5263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18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27298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19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/>
              <a:t>질문이 보고서가 되는 과정은 / **다섯 단계**입니다 // </a:t>
            </a:r>
            <a:endParaRPr lang="en-US" altLang="ko-KR"/>
          </a:p>
          <a:p>
            <a:r>
              <a:rPr lang="ko-KR" altLang="ko-KR"/>
              <a:t>자연어로 묻고 / 카탈로그에서 데이터를 찾고 / 분석과 검증을 거칩니다 // </a:t>
            </a:r>
            <a:endParaRPr lang="en-US" altLang="ko-KR"/>
          </a:p>
          <a:p>
            <a:r>
              <a:rPr lang="ko-KR" altLang="ko-KR"/>
              <a:t>결과는 근거와 함께 저장되고 / 그대로 보고서가 됩니다 // </a:t>
            </a:r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부가 기능으로 </a:t>
            </a:r>
            <a:r>
              <a:rPr lang="ko-KR" altLang="ko-KR"/>
              <a:t>내부 문서 검색과 객실 수요 예측</a:t>
            </a:r>
            <a:r>
              <a:rPr lang="en-US" altLang="ko-KR"/>
              <a:t> </a:t>
            </a:r>
            <a:r>
              <a:rPr lang="ko-KR" altLang="en-US"/>
              <a:t>기능까지 </a:t>
            </a:r>
            <a:r>
              <a:rPr lang="en-US" altLang="ko-KR"/>
              <a:t>/ </a:t>
            </a:r>
            <a:r>
              <a:rPr lang="ko-KR" altLang="ko-KR"/>
              <a:t>하나의 서비스 흐름으로 제공합니다(↘) /// </a:t>
            </a:r>
            <a:endParaRPr lang="en-US" altLang="ko-KR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1B6CF-97F8-1122-B572-9AC9D4BBA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96A70-4655-4F99-672D-401CBC4E1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DC967-1EDA-CC95-B869-CF5F9E1D4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그럼 어떻게 저희 서비스의 어떻게 구현 했는지 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기술을 어디에 썼는지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말씀드리겠습니다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7614D-0682-6086-F6B4-9C50727EAA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21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93437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화면과 보고서는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리액트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/ 서버와 실행 통제는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패스트에이피아이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)입니다 //</a:t>
            </a:r>
          </a:p>
          <a:p>
            <a:r>
              <a:rPr lang="ko-KR" altLang="ko-K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AI는</a:t>
            </a:r>
            <a:r>
              <a:rPr lang="ko-KR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사용자의 요청을 받고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에이전트 </a:t>
            </a:r>
            <a:r>
              <a:rPr lang="ko-KR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별로 역할을 나누는 </a:t>
            </a:r>
            <a:r>
              <a:rPr lang="ko-KR" alt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슈퍼바이저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ko-KR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SQL을 생성하는 </a:t>
            </a:r>
            <a:r>
              <a:rPr lang="ko-KR" altLang="ko-K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sLLM으로</a:t>
            </a:r>
            <a:r>
              <a:rPr lang="ko-KR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구성되어 있습니다.</a:t>
            </a:r>
            <a:endParaRPr lang="en-US" altLang="ko-KR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데이터는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데이터허브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DataHub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)와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트리노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Trino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)로 / 여러 데이터베이스를 연결했습니다(↘)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역할들이 어떻게 이어지는지 / 전체 구조로 보시겠습니다 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22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구조입니다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요청은 / 먼저 중앙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백엔드로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들어옵니다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권한과 연결 상태를 확인하고 / 모든 요청을 기록합니다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확인이 끝나면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ko-KR" altLang="ko-KR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슈퍼바이저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Supervisor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넘어갑니다 //</a:t>
            </a:r>
          </a:p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슈퍼바이저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Supervisor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)는 / 요청에 맞는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기능을 고르는 역할입니다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기능은 / 세 갈래입니다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업무 데이터 분석 / 내부 문서 검색 / 객실 수요 예측입니다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분석은 /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데이터허브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DataHub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)에서 쓸 데이터를 먼저 확인합니다 //</a:t>
            </a:r>
          </a:p>
          <a:p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**검증을 통과한 </a:t>
            </a:r>
            <a:r>
              <a:rPr lang="ko-KR" altLang="ko-KR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에스큐엘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(SQL)만**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트리노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Trino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)에서 실행합니다 //</a:t>
            </a:r>
          </a:p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트리노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Trino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)는 / 여러 데이터베이스를 한 번에 조회하는 도구입니다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기능의 결과는 / 근거와 함께 한곳에 저장됩니다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저장된 결과가 / 보고서로 이어집니다(↘) ///</a:t>
            </a:r>
          </a:p>
          <a:p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중에서 / 기능을 고르는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슈퍼바이저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Supervisor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부터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보겠습니다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23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슈퍼바이저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Supervisor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)의 핵심은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**계획과 실행을 분리**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했다는 점입니다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모델은 / 무엇을 해야 하는지 계획만 세웁니다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분석하거나 /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에스큐엘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(SQL)을 실행하지 않습니다(↘)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계획이 나오면 / 서버가 다시 확인합니다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형식이 맞는지 / 지원 범위 안인지 / 실행 준비가 됐는지 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확인을 통과해야 / 실제 기능이 돌아갑니다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지원할 수 없는 요청은 / 우회하지 않고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**차단합니다**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(↘)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그럼 데이터 분석은 / 안에서 어떻게 처리되는지 보겠습니다 //</a:t>
            </a:r>
          </a:p>
          <a:p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24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분석은 / 네 단계로 나눴습니다 //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/ "</a:t>
            </a:r>
            <a:r>
              <a:rPr lang="en-US" altLang="ko-KR" sz="12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“5월과 6월 </a:t>
            </a:r>
            <a:r>
              <a:rPr lang="en-US" altLang="ko-KR" sz="1200" b="1" err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객실과</a:t>
            </a:r>
            <a:r>
              <a:rPr lang="en-US" altLang="ko-KR" sz="12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b="1" err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식음료</a:t>
            </a:r>
            <a:r>
              <a:rPr lang="en-US" altLang="ko-KR" sz="12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b="1" err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매출을</a:t>
            </a:r>
            <a:r>
              <a:rPr lang="en-US" altLang="ko-KR" sz="12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b="1" err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비교해</a:t>
            </a:r>
            <a:r>
              <a:rPr lang="en-US" altLang="ko-KR" sz="12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줘.”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"라는 질문입니다 ///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 / 범위를 정합니다 // 어떤 데이터를 볼 수 있는지 확정합니다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 / 계획을 세웁니다 // 지표와 기간 / 연결 방식을 정하고 /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에스큐엘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(SQL) 후보를 만듭니다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 / 실행합니다 // 검증을 통과한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에스큐엘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(SQL)만 조회합니다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넷째 / 결과를 확인하고 / 근거와 함께 저장합니다 ///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단계마다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**검증 관문**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통과하지 못하면 / 다음으로 넘어가지 않습니다(↘) ///</a:t>
            </a:r>
          </a:p>
          <a:p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단계인 범위를 정하려면 / 먼저 카탈로그가 있어야 합니다 //</a:t>
            </a:r>
          </a:p>
          <a:p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25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업무 시스템은 / 서로 다른 데이터베이스를 씁니다 //</a:t>
            </a:r>
          </a:p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포스트그레스큐엘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/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마이에스큐엘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MySQL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/ </a:t>
            </a:r>
            <a:endParaRPr lang="en-US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에스큐엘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서버(SQL Server)가 섞여 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커넥터로 / 데이터의 위치와 구조를 자동으로 수집합니다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여기에 / 업무 영역과 데이터 책임자 같은 관리 기준을 더합니다 //</a:t>
            </a:r>
          </a:p>
          <a:p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**실제 매출 값은 저장하지 않습니다**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(↘)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어디에 무엇이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있는지만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관리합니다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/ 위치를 안다고 계산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방법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까지 같아지지는 않습니다 //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객실 매출 / 룸 매출 / 룸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레비뉴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Room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Revenue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)는 / 모두 같은 말입니다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계산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방법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다르면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**답도 달라집니다**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(↘)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지표마다 / 동의어와 업무 정의 / 계산식을 하나로 묶었습니다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표현이 달라도 / 같은 기준으로 계산됩니다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분석에는 / 승인된 최신 기준만 사용합니다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기준을 가지고 / 이번 질문의 범위를 정합니다 //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질문을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**바로 </a:t>
            </a:r>
            <a:r>
              <a:rPr lang="ko-KR" altLang="ko-KR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에스큐엘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(SQL)로 바꾸지 않습니다**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(↘)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질문에서 / 지표와 기간 / 고객 조건을 뽑습니다 //</a:t>
            </a:r>
          </a:p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그다음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카탈로그와 사용자 권한을 대조합니다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분석에서 쓸 수 있는 / 데이터와 연결 기준만 남깁니다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개인정보처럼 제한된 항목은 / 여기서 걸러집니다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허용된 범위만 / 다음 단계로 넘어갑니다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이 범위를 /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에스큐엘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(SQL)로 옮깁니다 //</a:t>
            </a:r>
          </a:p>
          <a:p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28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에스큐엘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(SQL)은 / 두 갈래로 만듭니다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저희가 학습시킨 모델이 /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에스큐엘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(SQL) 후보를 만듭니다 //</a:t>
            </a:r>
          </a:p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그다음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안전한지 / 권한 안인지 / 읽기 전용인지 검증합니다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검증에 실패하면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**규칙 기반 </a:t>
            </a:r>
            <a:r>
              <a:rPr lang="ko-KR" altLang="ko-KR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생성기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다시 만듭니다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만든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에스큐엘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(SQL)도 / 똑같은 기준으로 검증합니다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경로 모두 통과하지 못하면 / 실행하지 않습니다(↘)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모델이 먼저 만들고 / 규칙이 안전하게 복구하는 구조입니다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모델이 실제로 쓸 만한지 / 검증한 결과입니다 //</a:t>
            </a:r>
          </a:p>
          <a:p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29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D2EA-E754-4814-2D47-6555C563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F64EC-C492-4324-A6C1-F188A13FE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93654-0EBF-A2CB-3738-22DA7BEEF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에스큐엘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(SQL) 생성 모델은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ko-KR" altLang="ko-KR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에스큐엘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(SQL) 생성에만 집중**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 학습했습니다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스키마와 / 같은 데이터 기준으로 비교했습니다 ///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안전 검증 통과율은 / 튜닝 전 0퍼센트에서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**71.5퍼센트**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올랐습니다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조건에서 /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지피티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(GPT) 계열 모델은 20.1퍼센트였습니다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활성 카탈로그 기준 / 결과 일치율은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**83.3퍼센트**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 ///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모델도 / 역할을 좁히면 / 충분히 쓸 수 있다는 결과입니다(↘)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검증을 통과한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에스큐엘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(SQL)은 / 이제 실제로 실행됩니다 //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8F746-5D91-1A45-E52F-1DBAADC6E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30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73625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검증을 통과한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에스큐엘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(SQL)만 /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트리노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Trino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)에서 실행합니다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조회는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**읽기 전용**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 // 데이터를 바꾸지 않습니다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결과가 나오면 / 범위와 근거 연결을 다시 확인합니다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 확인까지 통과한 결과만 / 저장됩니다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설명과 표 / 차트 / 사용한 데이터와 검증 기록이 / 하나로 남습니다(↘)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나머지 두 기능의 성능도 / 말씀드리겠습니다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31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나머지 두 기능의 성능입니다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문서 검색은 / 내부 문서 41종을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</a:t>
            </a:r>
            <a:r>
              <a:rPr lang="ko-KR" altLang="en-US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을하고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//</a:t>
            </a:r>
            <a:endParaRPr lang="en-US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'의미 </a:t>
            </a:r>
            <a:r>
              <a:rPr lang="ko-KR" altLang="ko-K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검색'과</a:t>
            </a:r>
            <a:r>
              <a:rPr lang="ko-KR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'키워드 </a:t>
            </a:r>
            <a:r>
              <a:rPr lang="ko-KR" altLang="ko-K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검색'을</a:t>
            </a:r>
            <a:r>
              <a:rPr lang="ko-KR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결합하는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//</a:t>
            </a:r>
            <a:r>
              <a:rPr lang="ko-KR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BM25 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하이브리드 방식을 적용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하였고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//</a:t>
            </a:r>
          </a:p>
          <a:p>
            <a:r>
              <a:rPr lang="ko-KR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 정확도는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**95.3퍼센트**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확보했습니다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수요 예측은 / 세 가지 모델을 비교했고 /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성능은 모두 </a:t>
            </a:r>
            <a:r>
              <a:rPr lang="ko-KR" altLang="en-US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비슷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하였지만</a:t>
            </a:r>
            <a:endParaRPr lang="en-US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학습효율이 좋았고 시계열 모델인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ko-KR" altLang="ko-KR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에이치지비알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(HGBR)**</a:t>
            </a:r>
            <a:r>
              <a:rPr lang="ko-KR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선택했습니다</a:t>
            </a:r>
            <a:r>
              <a:rPr lang="en-US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두 기능은 / 질문 성격에 따라 다르게 동작합니다 //</a:t>
            </a:r>
          </a:p>
          <a:p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32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36455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질문 성격이 다르면 / 처리 방식도 달라야 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"분실물 처리 절차를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알려줘"는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문서에서 근거 문단을 찾아 답합니다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"앞으로 7일 객실 수요를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예측해줘"는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시계열 모델로 계산합니다 //</a:t>
            </a:r>
          </a:p>
          <a:p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**같은 창에 물어도**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뒤에서는 다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른 방식으로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해석 </a:t>
            </a:r>
            <a:r>
              <a:rPr lang="ko-KR" altLang="en-US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해야합니다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(↘)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다양한 방식으로 해석을 해도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결과는 같은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곳에 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쌓입니다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33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14550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분석이 끝나면 / 설명과 표 / 차트 / 근거로 저장됩니다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결과를 / 보고서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작성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 </a:t>
            </a:r>
            <a:r>
              <a:rPr lang="ko-KR" altLang="en-US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할수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있습니다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표현만 바꿀 때는 / 저장된 결과를 그대로 씁니다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기간이나 지표가 바뀌면 / 그때만 다시 분석합니다(↘)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화면에서 / 실제로 할 수 있는 일입니다 //</a:t>
            </a:r>
          </a:p>
          <a:p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34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화면은 / 세 가지입니다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 / 블록을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드래그앤 드롭으로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자유롭게 배치합니다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 / </a:t>
            </a:r>
            <a:r>
              <a:rPr lang="ko-KR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</a:t>
            </a:r>
            <a:r>
              <a:rPr lang="ko-KR" altLang="ko-K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어시스턴트가</a:t>
            </a:r>
            <a:r>
              <a:rPr lang="ko-KR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사용자 요청에 맞게 변경안을 제시하고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</a:p>
          <a:p>
            <a:r>
              <a:rPr lang="ko-KR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사용자가 승인한 내용만 반영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됩니다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 / 완성된 보고서를 /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피디에프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(PDF)나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에이치티엠엘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(HTML)로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내려받습니다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///</a:t>
            </a:r>
          </a:p>
          <a:p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지금까지가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사용자 화면이고 / 다음은 관리자 화면입니다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35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관리자 화면입니다 // </a:t>
            </a:r>
            <a:endParaRPr lang="en-US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업무 데이터와 지원 서비스의 연결 상태를 / 한 화면에서 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필요한 연결은 / 직접 켜고 끌 수 있습니다(↘) ///</a:t>
            </a:r>
          </a:p>
          <a:p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모든 동작은 / 기록으로 남습니다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36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누가 / 언제 / 무엇을 했는지 /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기록을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남깁니다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관리자 작업과 분석 실행이 / 모두 기록됩니다(↘) ///</a:t>
            </a:r>
          </a:p>
          <a:p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지금까지 말씀드린 것을 / 한 장으로 정리하겠습니다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37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사용자가 / 평소 쓰는 말로 질문합니다 //</a:t>
            </a:r>
          </a:p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슈퍼바이저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Supervisor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)가 / 필요한 기능을 정하고 / 실행을 조율합니다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분석은 / 세 번의 검증을 거쳐 / 결과와 근거로 저장됩니다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저장된 결과는 / 보고서가 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수행 과정은 / 기록으로 남습니다 ///</a:t>
            </a:r>
          </a:p>
          <a:p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**질문 하나가**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답에서 끝나지 않고 / 보고서와 기록까지 이어집니다(↘)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저희가 이걸 / 어떻게 만들어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왔는지입니다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38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7A8E6-819B-5FC9-87A8-86EBAD71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58AF9-6B30-6435-70EB-3FF46EAD3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47EC1-A415-08EE-C4C7-1BCBD743C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프로젝트를 어떻게 진행했는지 / 짧게 말씀드리겠습니다 //</a:t>
            </a:r>
          </a:p>
          <a:p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/ 역할 분담입니다 //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A6704-FDA8-A4AF-EC94-C96ABA9746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39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2226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박준희는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PM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일정과 통합 품질 / 정승은 데이터와 보고서 에이전트를 맡았습니다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윤대성은 질문 해석과 모델 평가 / 김재홍은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백엔드와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권한을 맡았습니다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송민지는 / 분석 결과와 보고서 화면을 맡았습니다(↘)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진행은 / 세 단계로 나눴습니다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40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**정리 / 구현 / 확인**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세 단계였습니다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문제와 업무 용어 / 데이터 기준을 정리했습니다 //</a:t>
            </a:r>
          </a:p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그다음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데이터와 기능을 연결했습니다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마지막에 / 전체 흐름과 결과 정확성을 따로 확인했습니다(↘)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일정입니다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41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중반에 주제를 변경하여 구현은 늦게 시작하였습니다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7월 중순에 요구사항을 정리하고 / 7월 말부터 본격 구현에 들어갔습니다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구간은 / 약 5주 / 여섯 단계였습니다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공통 기준 / 핵심 흐름 / 범위 확대 / 보고서 통합 순서로 진행했습니다 //</a:t>
            </a:r>
          </a:p>
          <a:p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**어제**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코드와 데이터를 최종 동결했습니다(↘) ///</a:t>
            </a:r>
          </a:p>
          <a:p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과정에서 / 중간발표 피드백을 반영했습니다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42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중간발표에서 받은 의견은 / 네 가지였습니다 ///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 / 전체 흐름이 끊긴다는 지적입니다 // 질문부터 보고서까지 연결했습니다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 / 업무 기준이 없다는 지적입니다 // 업무 용어와 지표 정의를 반영했습니다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 / 에이전트(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역할이 모호하다는 지적입니다 // 계획과 실행 / 검증을 나눴습니다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넷째 / 데이터 통제입니다 // 역할별 권한과 읽기 전용 조회를 적용했습니다(↘)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사용성도 / 두 가지를 고쳤습니다 //</a:t>
            </a:r>
          </a:p>
          <a:p>
            <a:endParaRPr lang="en-US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43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번째는 / 기능 선택입니다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이전에는 사용자가 / 분석인지 / 예측인지 / 문서 검색인지 / 직접 골라야 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질문을 던지기 전에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**판단부터**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해야 했습니다(↘)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지금은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입력창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하나에 / 질문만 넣으면 / 시스템이 알아서 고릅니다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번째는 / 대화 맥락입니다 //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이전에는 후속 질문마다 / 기간과 지표를 / 처음부터 다시 입력해야 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지금은 / "그중 브이아이피(VIP)만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보여줘"처럼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**바뀐 조건만**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짧게 말하면 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 질문의 조건은 / 그대로 이어집니다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반복 입력은 줄이고 / 분석 맥락은 유지했습니다(↘)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2F6AA-6186-6950-7B5D-04D41B168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13786-3351-0DDC-68F5-53FF4DBE3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D38F0-7CBD-859E-338D-4F50C9A8B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향후 과제와 비전을 말씀드리겠습니다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9162F-A404-BCB4-D382-901BD9182D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46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630601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구현한 것은 / 질문에서 분석 / 보고서로 이어지는 핵심 흐름입니다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데이터베이스를 / 한 고객의 여정으로 연결했습니다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결과와 근거도 함께 저장합니다 ///</a:t>
            </a:r>
          </a:p>
          <a:p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**남은 것도 분명합니다**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(↘)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동작은 / 승인된 데이터와 규칙 범위 안에서만 확인했습니다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권한과 개인정보 / 오류 상황은 / 검증을 더 넓혀야 합니다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조직 환경에서의 검증도 / 아직 남아 있습니다(↘)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다음 단계는 / 확장입니다 //</a:t>
            </a:r>
          </a:p>
          <a:p>
            <a:endParaRPr lang="en-US">
              <a:latin typeface="Pretendard" panose="02000503000000020004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47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/>
              <a:t>남은 과제는 / **세 방향**입니다 /// </a:t>
            </a:r>
            <a:endParaRPr lang="en-US" altLang="ko-KR"/>
          </a:p>
          <a:p>
            <a:r>
              <a:rPr lang="ko-KR" altLang="ko-KR"/>
              <a:t>첫째 / **분석 품질**입니다 // 지금 모델은 / 저희 데이터에 맞춰 학습했습니다 // </a:t>
            </a:r>
            <a:endParaRPr lang="en-US" altLang="ko-KR"/>
          </a:p>
          <a:p>
            <a:r>
              <a:rPr lang="ko-KR" altLang="ko-KR"/>
              <a:t>다른 기업과 도메인으로 / 학습을 넓혀야 </a:t>
            </a:r>
            <a:r>
              <a:rPr lang="ko-KR" altLang="en-US"/>
              <a:t>합니다</a:t>
            </a:r>
            <a:r>
              <a:rPr lang="en-US" altLang="ko-KR"/>
              <a:t>.</a:t>
            </a:r>
            <a:r>
              <a:rPr lang="ko-KR" altLang="ko-KR"/>
              <a:t> // </a:t>
            </a:r>
            <a:endParaRPr lang="en-US" altLang="ko-KR"/>
          </a:p>
          <a:p>
            <a:r>
              <a:rPr lang="ko-KR" altLang="ko-KR" err="1"/>
              <a:t>에스큐엘</a:t>
            </a:r>
            <a:r>
              <a:rPr lang="ko-KR" altLang="ko-KR"/>
              <a:t>(SQL) 생성 정확도도 / </a:t>
            </a:r>
            <a:r>
              <a:rPr lang="ko-KR" altLang="en-US"/>
              <a:t>고도화 </a:t>
            </a:r>
            <a:r>
              <a:rPr lang="ko-KR" altLang="en-US" err="1"/>
              <a:t>해야하며</a:t>
            </a:r>
            <a:r>
              <a:rPr lang="ko-KR" altLang="ko-KR"/>
              <a:t>/</a:t>
            </a:r>
            <a:endParaRPr lang="en-US" altLang="ko-KR"/>
          </a:p>
          <a:p>
            <a:r>
              <a:rPr lang="ko-KR" altLang="ko-KR"/>
              <a:t>/ 문서 검색은 / 엑셀(Excel)과 업무 대화까지 넓힐 계획입니다(↘) /// </a:t>
            </a:r>
            <a:endParaRPr lang="en-US" altLang="ko-KR"/>
          </a:p>
          <a:p>
            <a:endParaRPr lang="en-US" altLang="ko-KR"/>
          </a:p>
          <a:p>
            <a:r>
              <a:rPr lang="ko-KR" altLang="ko-KR"/>
              <a:t>둘째 / **지식 운영 자동화**입니다 // 지금은 / 업무 용어를 사람이 정의합니다 //</a:t>
            </a:r>
            <a:endParaRPr lang="en-US" altLang="ko-KR"/>
          </a:p>
          <a:p>
            <a:r>
              <a:rPr lang="ko-KR" altLang="ko-KR"/>
              <a:t> 앞으로는 업무 대화에서 용어 후보를 뽑아 / 관리자에게 제안하려 합니다(↘) /// </a:t>
            </a:r>
            <a:endParaRPr lang="en-US" altLang="ko-KR"/>
          </a:p>
          <a:p>
            <a:endParaRPr lang="en-US" altLang="ko-KR"/>
          </a:p>
          <a:p>
            <a:r>
              <a:rPr lang="ko-KR" altLang="ko-KR"/>
              <a:t>셋째 / **확장**입니다 // 수요 예측을 / </a:t>
            </a:r>
            <a:r>
              <a:rPr lang="ko-KR" altLang="ko-KR" err="1"/>
              <a:t>노쇼와</a:t>
            </a:r>
            <a:r>
              <a:rPr lang="ko-KR" altLang="ko-KR"/>
              <a:t> 매출 이상 탐지까지 넓히려 합니다 /</a:t>
            </a:r>
            <a:endParaRPr lang="en-US" altLang="ko-KR"/>
          </a:p>
          <a:p>
            <a:r>
              <a:rPr lang="ko-KR" altLang="ko-KR"/>
              <a:t>/ 데이터 관계가 커지면 / </a:t>
            </a:r>
            <a:r>
              <a:rPr lang="ko-KR" altLang="ko-KR" err="1"/>
              <a:t>네오포제이</a:t>
            </a:r>
            <a:r>
              <a:rPr lang="ko-KR" altLang="ko-KR"/>
              <a:t>(Neo4j) 같은 그래프 방식도 검토합니다(↘) /// </a:t>
            </a:r>
            <a:endParaRPr lang="en-US" altLang="ko-KR"/>
          </a:p>
          <a:p>
            <a:r>
              <a:rPr lang="ko-KR" altLang="ko-KR"/>
              <a:t>분석 품질을 높이고 / 업무 기능과 데이터 관계까지 넓히는 것이 / 다음 단계입니다 //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워커힐은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**첫 검증 영역**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구조를 /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에스케이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네트웍스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SK네트웍스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여덟 개 사업 영역으로 넓히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 싶고</a:t>
            </a:r>
            <a:endParaRPr lang="en-US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앞으로 나아가 </a:t>
            </a:r>
            <a:r>
              <a:rPr lang="en-US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 </a:t>
            </a:r>
            <a:r>
              <a:rPr lang="ko-KR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그룹사의 </a:t>
            </a: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데이터와 업무 기준을 / 같은 방식으로 연결하는 것이 목표입니다(↘) ///</a:t>
            </a:r>
          </a:p>
          <a:p>
            <a:b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이상으로 / 발표를 마치겠습니다 //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49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기업의 질문에 서비스로 답하는 / 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**앤서비스(</a:t>
            </a:r>
            <a:r>
              <a:rPr lang="ko-KR" altLang="ko-KR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Answervice</a:t>
            </a:r>
            <a:r>
              <a:rPr lang="ko-KR" altLang="ko-KR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)**</a:t>
            </a:r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였습니다(↘) //</a:t>
            </a:r>
          </a:p>
          <a:p>
            <a:r>
              <a:rPr lang="ko-KR" altLang="ko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감사합니다 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Pretendard" panose="02000503000000020004" pitchFamily="2" charset="-127"/>
              </a:rPr>
              <a:t>50</a:t>
            </a:fld>
            <a:endParaRPr lang="en-US">
              <a:latin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9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" y="576072"/>
            <a:ext cx="16527780" cy="0"/>
          </a:xfrm>
          <a:prstGeom prst="line">
            <a:avLst/>
          </a:prstGeom>
          <a:noFill/>
          <a:ln w="12700">
            <a:solidFill>
              <a:srgbClr val="DCE7F7"/>
            </a:solidFill>
            <a:prstDash val="solid"/>
          </a:ln>
        </p:spPr>
        <p:txBody>
          <a:bodyPr/>
          <a:lstStyle/>
          <a:p>
            <a:endParaRPr lang="ko-KR" altLang="en-US" sz="2700">
              <a:ea typeface="Pretendard" panose="02000503000000020004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676120" y="9765792"/>
            <a:ext cx="2674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10">
                <a:solidFill>
                  <a:srgbClr val="7B8DA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ANSWERVICE · FINAL PRESENTATION</a:t>
            </a:r>
            <a:endParaRPr lang="en-US" sz="81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733520" y="576072"/>
            <a:ext cx="1200000" cy="45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DA7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3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18" Type="http://schemas.openxmlformats.org/officeDocument/2006/relationships/image" Target="../media/image37.svg"/><Relationship Id="rId3" Type="http://schemas.openxmlformats.org/officeDocument/2006/relationships/image" Target="../media/image22.sv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17" Type="http://schemas.openxmlformats.org/officeDocument/2006/relationships/image" Target="../media/image36.sv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3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5" Type="http://schemas.openxmlformats.org/officeDocument/2006/relationships/image" Target="../media/image34.sv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svg"/><Relationship Id="rId14" Type="http://schemas.openxmlformats.org/officeDocument/2006/relationships/image" Target="../media/image33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직선 연결선 122">
            <a:extLst>
              <a:ext uri="{FF2B5EF4-FFF2-40B4-BE49-F238E27FC236}">
                <a16:creationId xmlns:a16="http://schemas.microsoft.com/office/drawing/2014/main" id="{B559B613-ACF2-4132-8225-DF6ACD3A5889}"/>
              </a:ext>
            </a:extLst>
          </p:cNvPr>
          <p:cNvSpPr>
            <a:spLocks noGrp="1"/>
          </p:cNvSpPr>
          <p:nvPr/>
        </p:nvSpPr>
        <p:spPr>
          <a:xfrm>
            <a:off x="0" y="771525"/>
            <a:ext cx="6143625" cy="0"/>
          </a:xfrm>
          <a:prstGeom prst="line">
            <a:avLst/>
          </a:prstGeom>
          <a:noFill/>
          <a:ln w="14288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1C2450DC-509A-4581-B9D5-7946654A1817}"/>
              </a:ext>
            </a:extLst>
          </p:cNvPr>
          <p:cNvSpPr>
            <a:spLocks noGrp="1"/>
          </p:cNvSpPr>
          <p:nvPr/>
        </p:nvSpPr>
        <p:spPr>
          <a:xfrm>
            <a:off x="6143625" y="0"/>
            <a:ext cx="0" cy="771525"/>
          </a:xfrm>
          <a:prstGeom prst="line">
            <a:avLst/>
          </a:prstGeom>
          <a:noFill/>
          <a:ln w="14288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7214BAE4-D3B6-4A05-9044-1EAF66300DA4}"/>
              </a:ext>
            </a:extLst>
          </p:cNvPr>
          <p:cNvSpPr>
            <a:spLocks noGrp="1"/>
          </p:cNvSpPr>
          <p:nvPr/>
        </p:nvSpPr>
        <p:spPr>
          <a:xfrm>
            <a:off x="0" y="1914525"/>
            <a:ext cx="6143625" cy="0"/>
          </a:xfrm>
          <a:prstGeom prst="line">
            <a:avLst/>
          </a:prstGeom>
          <a:noFill/>
          <a:ln w="14288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0AC6B5A0-95D9-4AA8-AE64-75C582A51EC8}"/>
              </a:ext>
            </a:extLst>
          </p:cNvPr>
          <p:cNvSpPr>
            <a:spLocks noGrp="1"/>
          </p:cNvSpPr>
          <p:nvPr/>
        </p:nvSpPr>
        <p:spPr>
          <a:xfrm>
            <a:off x="6143625" y="771525"/>
            <a:ext cx="0" cy="1143000"/>
          </a:xfrm>
          <a:prstGeom prst="line">
            <a:avLst/>
          </a:prstGeom>
          <a:noFill/>
          <a:ln w="14288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6FE490E6-C6D7-473E-ADD2-D8AEFD4E917E}"/>
              </a:ext>
            </a:extLst>
          </p:cNvPr>
          <p:cNvSpPr>
            <a:spLocks noGrp="1"/>
          </p:cNvSpPr>
          <p:nvPr/>
        </p:nvSpPr>
        <p:spPr>
          <a:xfrm>
            <a:off x="0" y="8343900"/>
            <a:ext cx="4086225" cy="0"/>
          </a:xfrm>
          <a:prstGeom prst="line">
            <a:avLst/>
          </a:prstGeom>
          <a:noFill/>
          <a:ln w="14288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6D8D0552-CC08-4751-998B-D1AC767668F3}"/>
              </a:ext>
            </a:extLst>
          </p:cNvPr>
          <p:cNvSpPr>
            <a:spLocks noGrp="1"/>
          </p:cNvSpPr>
          <p:nvPr/>
        </p:nvSpPr>
        <p:spPr>
          <a:xfrm>
            <a:off x="4086225" y="8343900"/>
            <a:ext cx="0" cy="828675"/>
          </a:xfrm>
          <a:prstGeom prst="line">
            <a:avLst/>
          </a:prstGeom>
          <a:noFill/>
          <a:ln w="14288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AC419F7B-4206-4CAB-8AC5-A74F1AAEE873}"/>
              </a:ext>
            </a:extLst>
          </p:cNvPr>
          <p:cNvSpPr>
            <a:spLocks noGrp="1"/>
          </p:cNvSpPr>
          <p:nvPr/>
        </p:nvSpPr>
        <p:spPr>
          <a:xfrm>
            <a:off x="0" y="9172575"/>
            <a:ext cx="8429625" cy="0"/>
          </a:xfrm>
          <a:prstGeom prst="line">
            <a:avLst/>
          </a:prstGeom>
          <a:noFill/>
          <a:ln w="14288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5E6DAECA-A98B-403C-8616-F4CC1CED7788}"/>
              </a:ext>
            </a:extLst>
          </p:cNvPr>
          <p:cNvSpPr>
            <a:spLocks noGrp="1"/>
          </p:cNvSpPr>
          <p:nvPr/>
        </p:nvSpPr>
        <p:spPr>
          <a:xfrm>
            <a:off x="8429625" y="9172575"/>
            <a:ext cx="0" cy="1114425"/>
          </a:xfrm>
          <a:prstGeom prst="line">
            <a:avLst/>
          </a:prstGeom>
          <a:noFill/>
          <a:ln w="14288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6093D3F0-D45E-4DD9-9839-0958F7788BB8}"/>
              </a:ext>
            </a:extLst>
          </p:cNvPr>
          <p:cNvSpPr>
            <a:spLocks noGrp="1"/>
          </p:cNvSpPr>
          <p:nvPr/>
        </p:nvSpPr>
        <p:spPr>
          <a:xfrm>
            <a:off x="0" y="7086600"/>
            <a:ext cx="18288000" cy="0"/>
          </a:xfrm>
          <a:prstGeom prst="line">
            <a:avLst/>
          </a:prstGeom>
          <a:noFill/>
          <a:ln w="14288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D56CB1AC-A31A-4313-84B4-B8B492FD8DFB}"/>
              </a:ext>
            </a:extLst>
          </p:cNvPr>
          <p:cNvSpPr>
            <a:spLocks noGrp="1"/>
          </p:cNvSpPr>
          <p:nvPr/>
        </p:nvSpPr>
        <p:spPr>
          <a:xfrm>
            <a:off x="9629775" y="2257425"/>
            <a:ext cx="1057275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7EB5C655-CED5-4AC5-8276-F3D0F88A977B}"/>
              </a:ext>
            </a:extLst>
          </p:cNvPr>
          <p:cNvSpPr>
            <a:spLocks noGrp="1"/>
          </p:cNvSpPr>
          <p:nvPr/>
        </p:nvSpPr>
        <p:spPr>
          <a:xfrm>
            <a:off x="10687050" y="2257425"/>
            <a:ext cx="0" cy="1343025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FB5FB9F4-75E4-41BE-BF80-31473770304F}"/>
              </a:ext>
            </a:extLst>
          </p:cNvPr>
          <p:cNvSpPr>
            <a:spLocks noGrp="1"/>
          </p:cNvSpPr>
          <p:nvPr/>
        </p:nvSpPr>
        <p:spPr>
          <a:xfrm>
            <a:off x="10687050" y="3600450"/>
            <a:ext cx="1200150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152FD9-1D38-40A4-B07F-6B0E7CDCE1E7}"/>
              </a:ext>
            </a:extLst>
          </p:cNvPr>
          <p:cNvSpPr>
            <a:spLocks noGrp="1"/>
          </p:cNvSpPr>
          <p:nvPr/>
        </p:nvSpPr>
        <p:spPr>
          <a:xfrm>
            <a:off x="9586913" y="2214563"/>
            <a:ext cx="85725" cy="85725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9D6591B-A8C6-4699-96B9-37BBCB80A085}"/>
              </a:ext>
            </a:extLst>
          </p:cNvPr>
          <p:cNvSpPr>
            <a:spLocks noGrp="1"/>
          </p:cNvSpPr>
          <p:nvPr/>
        </p:nvSpPr>
        <p:spPr>
          <a:xfrm>
            <a:off x="11844338" y="3557588"/>
            <a:ext cx="85725" cy="85725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27B64BE3-4D71-4973-BC3D-57F2EAA77372}"/>
              </a:ext>
            </a:extLst>
          </p:cNvPr>
          <p:cNvSpPr>
            <a:spLocks noGrp="1"/>
          </p:cNvSpPr>
          <p:nvPr/>
        </p:nvSpPr>
        <p:spPr>
          <a:xfrm>
            <a:off x="9629775" y="3171825"/>
            <a:ext cx="1428750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D608F7DB-571E-4D15-9701-8733FB618DF5}"/>
              </a:ext>
            </a:extLst>
          </p:cNvPr>
          <p:cNvSpPr>
            <a:spLocks noGrp="1"/>
          </p:cNvSpPr>
          <p:nvPr/>
        </p:nvSpPr>
        <p:spPr>
          <a:xfrm>
            <a:off x="11058525" y="3171825"/>
            <a:ext cx="0" cy="642938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388C74FE-FA9A-4EE0-B7B5-B3E981995F9F}"/>
              </a:ext>
            </a:extLst>
          </p:cNvPr>
          <p:cNvSpPr>
            <a:spLocks noGrp="1"/>
          </p:cNvSpPr>
          <p:nvPr/>
        </p:nvSpPr>
        <p:spPr>
          <a:xfrm>
            <a:off x="11058525" y="3814763"/>
            <a:ext cx="828675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EC95AC1-0D32-48F7-AF2B-8B1061E08FF5}"/>
              </a:ext>
            </a:extLst>
          </p:cNvPr>
          <p:cNvSpPr>
            <a:spLocks noGrp="1"/>
          </p:cNvSpPr>
          <p:nvPr/>
        </p:nvSpPr>
        <p:spPr>
          <a:xfrm>
            <a:off x="9586913" y="3128963"/>
            <a:ext cx="85725" cy="85725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F288598-99B8-4DAF-9822-AEEF466B7EC2}"/>
              </a:ext>
            </a:extLst>
          </p:cNvPr>
          <p:cNvSpPr>
            <a:spLocks noGrp="1"/>
          </p:cNvSpPr>
          <p:nvPr/>
        </p:nvSpPr>
        <p:spPr>
          <a:xfrm>
            <a:off x="11844338" y="3771900"/>
            <a:ext cx="85725" cy="85725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EF0F8398-8BB1-4D29-88A4-DE589EEC914A}"/>
              </a:ext>
            </a:extLst>
          </p:cNvPr>
          <p:cNvSpPr>
            <a:spLocks noGrp="1"/>
          </p:cNvSpPr>
          <p:nvPr/>
        </p:nvSpPr>
        <p:spPr>
          <a:xfrm>
            <a:off x="9629775" y="4086225"/>
            <a:ext cx="1057275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66AF2CD8-AF1F-46FA-8E50-EBD0704875EC}"/>
              </a:ext>
            </a:extLst>
          </p:cNvPr>
          <p:cNvSpPr>
            <a:spLocks noGrp="1"/>
          </p:cNvSpPr>
          <p:nvPr/>
        </p:nvSpPr>
        <p:spPr>
          <a:xfrm>
            <a:off x="10687050" y="4029075"/>
            <a:ext cx="0" cy="5715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543B8AAD-EF6C-4FBA-902D-364EE4306823}"/>
              </a:ext>
            </a:extLst>
          </p:cNvPr>
          <p:cNvSpPr>
            <a:spLocks noGrp="1"/>
          </p:cNvSpPr>
          <p:nvPr/>
        </p:nvSpPr>
        <p:spPr>
          <a:xfrm>
            <a:off x="10687050" y="4029075"/>
            <a:ext cx="1200150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5834443-2D6D-49BC-816C-CCDC58DE3C79}"/>
              </a:ext>
            </a:extLst>
          </p:cNvPr>
          <p:cNvSpPr>
            <a:spLocks noGrp="1"/>
          </p:cNvSpPr>
          <p:nvPr/>
        </p:nvSpPr>
        <p:spPr>
          <a:xfrm>
            <a:off x="9586913" y="4043363"/>
            <a:ext cx="85725" cy="85725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069B0AA-36BF-4482-A395-9A7FDFF16B25}"/>
              </a:ext>
            </a:extLst>
          </p:cNvPr>
          <p:cNvSpPr>
            <a:spLocks noGrp="1"/>
          </p:cNvSpPr>
          <p:nvPr/>
        </p:nvSpPr>
        <p:spPr>
          <a:xfrm>
            <a:off x="11844338" y="3986213"/>
            <a:ext cx="85725" cy="85725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B628AC5E-C33E-4D76-9E55-F455800A668B}"/>
              </a:ext>
            </a:extLst>
          </p:cNvPr>
          <p:cNvSpPr>
            <a:spLocks noGrp="1"/>
          </p:cNvSpPr>
          <p:nvPr/>
        </p:nvSpPr>
        <p:spPr>
          <a:xfrm>
            <a:off x="9629775" y="5000625"/>
            <a:ext cx="1428750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5467BC39-6D37-44A5-B4ED-8AE517081E4B}"/>
              </a:ext>
            </a:extLst>
          </p:cNvPr>
          <p:cNvSpPr>
            <a:spLocks noGrp="1"/>
          </p:cNvSpPr>
          <p:nvPr/>
        </p:nvSpPr>
        <p:spPr>
          <a:xfrm>
            <a:off x="11058525" y="4243388"/>
            <a:ext cx="0" cy="757238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77E11887-6098-47C0-999D-15267C22F5DF}"/>
              </a:ext>
            </a:extLst>
          </p:cNvPr>
          <p:cNvSpPr>
            <a:spLocks noGrp="1"/>
          </p:cNvSpPr>
          <p:nvPr/>
        </p:nvSpPr>
        <p:spPr>
          <a:xfrm>
            <a:off x="11058525" y="4243388"/>
            <a:ext cx="828675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7DB1D1F-7854-4F8B-8121-185D69CC1309}"/>
              </a:ext>
            </a:extLst>
          </p:cNvPr>
          <p:cNvSpPr>
            <a:spLocks noGrp="1"/>
          </p:cNvSpPr>
          <p:nvPr/>
        </p:nvSpPr>
        <p:spPr>
          <a:xfrm>
            <a:off x="9586913" y="4957763"/>
            <a:ext cx="85725" cy="85725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E50592A-DBEE-4772-9F4B-2D0AD7785F28}"/>
              </a:ext>
            </a:extLst>
          </p:cNvPr>
          <p:cNvSpPr>
            <a:spLocks noGrp="1"/>
          </p:cNvSpPr>
          <p:nvPr/>
        </p:nvSpPr>
        <p:spPr>
          <a:xfrm>
            <a:off x="11844338" y="4200525"/>
            <a:ext cx="85725" cy="85725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6A561235-9A3C-401B-9AD7-71B65ECB5776}"/>
              </a:ext>
            </a:extLst>
          </p:cNvPr>
          <p:cNvSpPr>
            <a:spLocks noGrp="1"/>
          </p:cNvSpPr>
          <p:nvPr/>
        </p:nvSpPr>
        <p:spPr>
          <a:xfrm>
            <a:off x="9629775" y="5915025"/>
            <a:ext cx="1057275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01B09F9A-40B2-46E2-AA57-0346802105F1}"/>
              </a:ext>
            </a:extLst>
          </p:cNvPr>
          <p:cNvSpPr>
            <a:spLocks noGrp="1"/>
          </p:cNvSpPr>
          <p:nvPr/>
        </p:nvSpPr>
        <p:spPr>
          <a:xfrm>
            <a:off x="10687050" y="4457700"/>
            <a:ext cx="0" cy="1457325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C3E73D67-C051-47D8-A71D-8BCEB6498030}"/>
              </a:ext>
            </a:extLst>
          </p:cNvPr>
          <p:cNvSpPr>
            <a:spLocks noGrp="1"/>
          </p:cNvSpPr>
          <p:nvPr/>
        </p:nvSpPr>
        <p:spPr>
          <a:xfrm>
            <a:off x="10687050" y="4457700"/>
            <a:ext cx="1200150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6EE158B-AD7B-4FCA-95BF-F29F3A52744A}"/>
              </a:ext>
            </a:extLst>
          </p:cNvPr>
          <p:cNvSpPr>
            <a:spLocks noGrp="1"/>
          </p:cNvSpPr>
          <p:nvPr/>
        </p:nvSpPr>
        <p:spPr>
          <a:xfrm>
            <a:off x="9586913" y="5872163"/>
            <a:ext cx="85725" cy="85725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F4F6FF4-A160-4EE9-85EE-7177CA45D915}"/>
              </a:ext>
            </a:extLst>
          </p:cNvPr>
          <p:cNvSpPr>
            <a:spLocks noGrp="1"/>
          </p:cNvSpPr>
          <p:nvPr/>
        </p:nvSpPr>
        <p:spPr>
          <a:xfrm>
            <a:off x="11844338" y="4414838"/>
            <a:ext cx="85725" cy="85725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329DA24F-20F7-47D3-B79F-1C9436D1CF7F}"/>
              </a:ext>
            </a:extLst>
          </p:cNvPr>
          <p:cNvSpPr>
            <a:spLocks noGrp="1"/>
          </p:cNvSpPr>
          <p:nvPr/>
        </p:nvSpPr>
        <p:spPr>
          <a:xfrm>
            <a:off x="13115925" y="4029075"/>
            <a:ext cx="885825" cy="0"/>
          </a:xfrm>
          <a:prstGeom prst="line">
            <a:avLst/>
          </a:prstGeom>
          <a:noFill/>
          <a:ln w="28575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DFF6EE4C-F8DF-4914-A468-DBF50FE467A3}"/>
              </a:ext>
            </a:extLst>
          </p:cNvPr>
          <p:cNvSpPr>
            <a:spLocks noGrp="1"/>
          </p:cNvSpPr>
          <p:nvPr/>
        </p:nvSpPr>
        <p:spPr>
          <a:xfrm>
            <a:off x="15144750" y="4029075"/>
            <a:ext cx="928688" cy="0"/>
          </a:xfrm>
          <a:prstGeom prst="line">
            <a:avLst/>
          </a:prstGeom>
          <a:noFill/>
          <a:ln w="28575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A0A081A0-0EE8-44E7-9C87-79B211C76C3A}"/>
              </a:ext>
            </a:extLst>
          </p:cNvPr>
          <p:cNvSpPr>
            <a:spLocks noGrp="1"/>
          </p:cNvSpPr>
          <p:nvPr/>
        </p:nvSpPr>
        <p:spPr>
          <a:xfrm>
            <a:off x="13373100" y="3986213"/>
            <a:ext cx="71438" cy="71438"/>
          </a:xfrm>
          <a:prstGeom prst="ellipse">
            <a:avLst/>
          </a:prstGeom>
          <a:solidFill>
            <a:srgbClr val="3E8F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E9FEB92-8B79-4E43-B3C0-B07AF33D8569}"/>
              </a:ext>
            </a:extLst>
          </p:cNvPr>
          <p:cNvSpPr>
            <a:spLocks noGrp="1"/>
          </p:cNvSpPr>
          <p:nvPr/>
        </p:nvSpPr>
        <p:spPr>
          <a:xfrm>
            <a:off x="13587413" y="3986213"/>
            <a:ext cx="71438" cy="71438"/>
          </a:xfrm>
          <a:prstGeom prst="ellipse">
            <a:avLst/>
          </a:prstGeom>
          <a:solidFill>
            <a:srgbClr val="3E8F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85FE209-FDA8-4F78-853A-3FD4148528C1}"/>
              </a:ext>
            </a:extLst>
          </p:cNvPr>
          <p:cNvSpPr>
            <a:spLocks noGrp="1"/>
          </p:cNvSpPr>
          <p:nvPr/>
        </p:nvSpPr>
        <p:spPr>
          <a:xfrm>
            <a:off x="13801725" y="3986213"/>
            <a:ext cx="71438" cy="71438"/>
          </a:xfrm>
          <a:prstGeom prst="ellipse">
            <a:avLst/>
          </a:prstGeom>
          <a:solidFill>
            <a:srgbClr val="3E8F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527A776-B4E9-4835-A09E-62215675F829}"/>
              </a:ext>
            </a:extLst>
          </p:cNvPr>
          <p:cNvSpPr>
            <a:spLocks noGrp="1"/>
          </p:cNvSpPr>
          <p:nvPr/>
        </p:nvSpPr>
        <p:spPr>
          <a:xfrm>
            <a:off x="14016038" y="3986213"/>
            <a:ext cx="71438" cy="71438"/>
          </a:xfrm>
          <a:prstGeom prst="ellipse">
            <a:avLst/>
          </a:prstGeom>
          <a:solidFill>
            <a:srgbClr val="3E8FF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83F0D707-B734-4D7D-8584-1724FC85D51F}"/>
              </a:ext>
            </a:extLst>
          </p:cNvPr>
          <p:cNvSpPr>
            <a:spLocks noGrp="1"/>
          </p:cNvSpPr>
          <p:nvPr/>
        </p:nvSpPr>
        <p:spPr>
          <a:xfrm>
            <a:off x="14230350" y="3986213"/>
            <a:ext cx="71438" cy="71438"/>
          </a:xfrm>
          <a:prstGeom prst="ellipse">
            <a:avLst/>
          </a:prstGeom>
          <a:solidFill>
            <a:srgbClr val="AFC7E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3BDC529A-7438-499D-8775-924CF8290022}"/>
              </a:ext>
            </a:extLst>
          </p:cNvPr>
          <p:cNvSpPr>
            <a:spLocks noGrp="1"/>
          </p:cNvSpPr>
          <p:nvPr/>
        </p:nvSpPr>
        <p:spPr>
          <a:xfrm>
            <a:off x="14444663" y="3986213"/>
            <a:ext cx="71438" cy="71438"/>
          </a:xfrm>
          <a:prstGeom prst="ellipse">
            <a:avLst/>
          </a:prstGeom>
          <a:solidFill>
            <a:srgbClr val="AFC7E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B70C314B-553D-4469-B78C-FF487EE6D24D}"/>
              </a:ext>
            </a:extLst>
          </p:cNvPr>
          <p:cNvSpPr>
            <a:spLocks noGrp="1"/>
          </p:cNvSpPr>
          <p:nvPr/>
        </p:nvSpPr>
        <p:spPr>
          <a:xfrm>
            <a:off x="14658975" y="3986213"/>
            <a:ext cx="71438" cy="71438"/>
          </a:xfrm>
          <a:prstGeom prst="ellipse">
            <a:avLst/>
          </a:prstGeom>
          <a:solidFill>
            <a:srgbClr val="AFC7E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5571E35B-7B35-405B-81B7-FFD857C552D4}"/>
              </a:ext>
            </a:extLst>
          </p:cNvPr>
          <p:cNvSpPr>
            <a:spLocks noGrp="1"/>
          </p:cNvSpPr>
          <p:nvPr/>
        </p:nvSpPr>
        <p:spPr>
          <a:xfrm>
            <a:off x="14873288" y="3986213"/>
            <a:ext cx="71438" cy="71438"/>
          </a:xfrm>
          <a:prstGeom prst="ellipse">
            <a:avLst/>
          </a:prstGeom>
          <a:solidFill>
            <a:srgbClr val="AFC7E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9" name="cover-subtitle">
            <a:extLst>
              <a:ext uri="{FF2B5EF4-FFF2-40B4-BE49-F238E27FC236}">
                <a16:creationId xmlns:a16="http://schemas.microsoft.com/office/drawing/2014/main" id="{2FC74615-2BC7-4AC5-B2BC-362240906E0B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7072313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defRPr sz="1913" b="1">
                <a:solidFill>
                  <a:srgbClr val="153451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err="1">
                <a:latin typeface="Pretendard" panose="02000503000000020004" pitchFamily="2" charset="-127"/>
              </a:rPr>
              <a:t>기업의</a:t>
            </a:r>
            <a:r>
              <a:rPr lang="en-US" altLang="ko-KR">
                <a:latin typeface="Pretendard" panose="02000503000000020004" pitchFamily="2" charset="-127"/>
              </a:rPr>
              <a:t> </a:t>
            </a:r>
            <a:r>
              <a:rPr lang="en-US" altLang="ko-KR" err="1">
                <a:latin typeface="Pretendard" panose="02000503000000020004" pitchFamily="2" charset="-127"/>
              </a:rPr>
              <a:t>질문에</a:t>
            </a:r>
            <a:r>
              <a:rPr lang="en-US" altLang="ko-KR">
                <a:latin typeface="Pretendard" panose="02000503000000020004" pitchFamily="2" charset="-127"/>
              </a:rPr>
              <a:t> </a:t>
            </a:r>
            <a:r>
              <a:rPr lang="en-US" altLang="ko-KR" err="1">
                <a:latin typeface="Pretendard" panose="02000503000000020004" pitchFamily="2" charset="-127"/>
              </a:rPr>
              <a:t>서비스로</a:t>
            </a:r>
            <a:r>
              <a:rPr lang="en-US" altLang="ko-KR">
                <a:latin typeface="Pretendard" panose="02000503000000020004" pitchFamily="2" charset="-127"/>
              </a:rPr>
              <a:t> </a:t>
            </a:r>
            <a:r>
              <a:rPr lang="en-US" altLang="ko-KR" err="1">
                <a:latin typeface="Pretendard" panose="02000503000000020004" pitchFamily="2" charset="-127"/>
              </a:rPr>
              <a:t>답하는</a:t>
            </a:r>
            <a:endParaRPr lang="en-US" sz="1913" b="1">
              <a:solidFill>
                <a:srgbClr val="15345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cover-wordmark">
            <a:extLst>
              <a:ext uri="{FF2B5EF4-FFF2-40B4-BE49-F238E27FC236}">
                <a16:creationId xmlns:a16="http://schemas.microsoft.com/office/drawing/2014/main" id="{ADBC182F-3A9F-446C-85EC-1030353F5C5D}"/>
              </a:ext>
            </a:extLst>
          </p:cNvPr>
          <p:cNvSpPr>
            <a:spLocks noGrp="1"/>
          </p:cNvSpPr>
          <p:nvPr/>
        </p:nvSpPr>
        <p:spPr>
          <a:xfrm>
            <a:off x="628650" y="3400425"/>
            <a:ext cx="7500938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775" b="1">
                <a:solidFill>
                  <a:srgbClr val="153451"/>
                </a:solidFill>
                <a:latin typeface="Pretendard"/>
                <a:ea typeface="Pretendard"/>
                <a:cs typeface="Pretendard"/>
              </a:defRPr>
            </a:pPr>
            <a:r>
              <a:rPr sz="8775" b="1">
                <a:solidFill>
                  <a:srgbClr val="153451"/>
                </a:solidFill>
                <a:latin typeface="Pretendard"/>
                <a:ea typeface="Pretendard"/>
                <a:cs typeface="Pretendard"/>
              </a:rPr>
              <a:t>ANSWERVICE</a:t>
            </a:r>
          </a:p>
        </p:txBody>
      </p:sp>
      <p:sp>
        <p:nvSpPr>
          <p:cNvPr id="51" name="cover-tagline">
            <a:extLst>
              <a:ext uri="{FF2B5EF4-FFF2-40B4-BE49-F238E27FC236}">
                <a16:creationId xmlns:a16="http://schemas.microsoft.com/office/drawing/2014/main" id="{F887EA5A-1BDE-4D3D-9DBE-94F412A3536D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6572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4B5F73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4B5F73"/>
                </a:solidFill>
                <a:latin typeface="Pretendard"/>
                <a:ea typeface="Pretendard"/>
                <a:cs typeface="Pretendard"/>
              </a:rPr>
              <a:t>ASK. VERIFY. PRESERVE.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1354548-9D72-4FA8-AD20-D5726A8BD29E}"/>
              </a:ext>
            </a:extLst>
          </p:cNvPr>
          <p:cNvSpPr>
            <a:spLocks noGrp="1"/>
          </p:cNvSpPr>
          <p:nvPr/>
        </p:nvSpPr>
        <p:spPr>
          <a:xfrm>
            <a:off x="685800" y="6257925"/>
            <a:ext cx="785813" cy="85725"/>
          </a:xfrm>
          <a:prstGeom prst="rect">
            <a:avLst/>
          </a:prstGeom>
          <a:solidFill>
            <a:srgbClr val="176FE5"/>
          </a:solidFill>
          <a:ln w="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362D823-BBAB-4ECD-880E-1435262CAC5A}"/>
              </a:ext>
            </a:extLst>
          </p:cNvPr>
          <p:cNvSpPr>
            <a:spLocks noGrp="1"/>
          </p:cNvSpPr>
          <p:nvPr/>
        </p:nvSpPr>
        <p:spPr>
          <a:xfrm>
            <a:off x="1600200" y="6257925"/>
            <a:ext cx="785813" cy="85725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7083A1C-BA4B-48E1-A974-3E41E175ABA1}"/>
              </a:ext>
            </a:extLst>
          </p:cNvPr>
          <p:cNvSpPr>
            <a:spLocks noGrp="1"/>
          </p:cNvSpPr>
          <p:nvPr/>
        </p:nvSpPr>
        <p:spPr>
          <a:xfrm>
            <a:off x="2514600" y="6257925"/>
            <a:ext cx="785813" cy="85725"/>
          </a:xfrm>
          <a:prstGeom prst="rect">
            <a:avLst/>
          </a:prstGeom>
          <a:solidFill>
            <a:srgbClr val="153451"/>
          </a:solidFill>
          <a:ln w="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5" name="cover-team-label">
            <a:extLst>
              <a:ext uri="{FF2B5EF4-FFF2-40B4-BE49-F238E27FC236}">
                <a16:creationId xmlns:a16="http://schemas.microsoft.com/office/drawing/2014/main" id="{C5A68F20-7E33-457B-BE46-D3F56E41DB1F}"/>
              </a:ext>
            </a:extLst>
          </p:cNvPr>
          <p:cNvSpPr>
            <a:spLocks noGrp="1"/>
          </p:cNvSpPr>
          <p:nvPr/>
        </p:nvSpPr>
        <p:spPr>
          <a:xfrm>
            <a:off x="685800" y="8401050"/>
            <a:ext cx="5572125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5345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53451"/>
                </a:solidFill>
                <a:latin typeface="Pretendard"/>
                <a:ea typeface="Pretendard"/>
                <a:cs typeface="Pretendard"/>
              </a:rPr>
              <a:t>SK네트웍스 Family AI 캠프 29기 3팀</a:t>
            </a:r>
          </a:p>
        </p:txBody>
      </p:sp>
      <p:sp>
        <p:nvSpPr>
          <p:cNvPr id="56" name="cover-team-members">
            <a:extLst>
              <a:ext uri="{FF2B5EF4-FFF2-40B4-BE49-F238E27FC236}">
                <a16:creationId xmlns:a16="http://schemas.microsoft.com/office/drawing/2014/main" id="{86FCA2B2-3C09-4E69-9FB9-50CBFD05F673}"/>
              </a:ext>
            </a:extLst>
          </p:cNvPr>
          <p:cNvSpPr>
            <a:spLocks noGrp="1"/>
          </p:cNvSpPr>
          <p:nvPr/>
        </p:nvSpPr>
        <p:spPr>
          <a:xfrm>
            <a:off x="685800" y="8786813"/>
            <a:ext cx="5572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4B5F73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4B5F73"/>
                </a:solidFill>
                <a:latin typeface="Pretendard"/>
                <a:ea typeface="Pretendard"/>
                <a:cs typeface="Pretendard"/>
              </a:rPr>
              <a:t>박준희 · 정승 · 윤대성 · 김재홍 · 송민지</a:t>
            </a:r>
          </a:p>
        </p:txBody>
      </p:sp>
      <p:sp>
        <p:nvSpPr>
          <p:cNvPr id="57" name="cover-source-1">
            <a:extLst>
              <a:ext uri="{FF2B5EF4-FFF2-40B4-BE49-F238E27FC236}">
                <a16:creationId xmlns:a16="http://schemas.microsoft.com/office/drawing/2014/main" id="{41145206-1A64-4D11-A2D1-97C16FCF1658}"/>
              </a:ext>
            </a:extLst>
          </p:cNvPr>
          <p:cNvSpPr>
            <a:spLocks noGrp="1"/>
          </p:cNvSpPr>
          <p:nvPr/>
        </p:nvSpPr>
        <p:spPr>
          <a:xfrm>
            <a:off x="8601075" y="1885950"/>
            <a:ext cx="1028700" cy="742950"/>
          </a:xfrm>
          <a:prstGeom prst="rect">
            <a:avLst/>
          </a:prstGeom>
          <a:solidFill>
            <a:srgbClr val="FFFFFF"/>
          </a:solidFill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8E119A9E-6084-4734-945A-91AB33FF19B1}"/>
              </a:ext>
            </a:extLst>
          </p:cNvPr>
          <p:cNvSpPr>
            <a:spLocks noGrp="1"/>
          </p:cNvSpPr>
          <p:nvPr/>
        </p:nvSpPr>
        <p:spPr>
          <a:xfrm>
            <a:off x="8786813" y="2057400"/>
            <a:ext cx="57150" cy="57150"/>
          </a:xfrm>
          <a:prstGeom prst="ellipse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EB9770A6-5550-4E29-BDB4-49BF54F37E94}"/>
              </a:ext>
            </a:extLst>
          </p:cNvPr>
          <p:cNvSpPr>
            <a:spLocks noGrp="1"/>
          </p:cNvSpPr>
          <p:nvPr/>
        </p:nvSpPr>
        <p:spPr>
          <a:xfrm>
            <a:off x="8986838" y="2057400"/>
            <a:ext cx="57150" cy="57150"/>
          </a:xfrm>
          <a:prstGeom prst="ellipse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B493A1E4-FEB0-4B08-92B9-C2D8F1F24355}"/>
              </a:ext>
            </a:extLst>
          </p:cNvPr>
          <p:cNvSpPr>
            <a:spLocks noGrp="1"/>
          </p:cNvSpPr>
          <p:nvPr/>
        </p:nvSpPr>
        <p:spPr>
          <a:xfrm>
            <a:off x="9186863" y="2057400"/>
            <a:ext cx="57150" cy="57150"/>
          </a:xfrm>
          <a:prstGeom prst="ellipse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3F9F5C36-597E-4DDB-B933-07CA09D85775}"/>
              </a:ext>
            </a:extLst>
          </p:cNvPr>
          <p:cNvSpPr>
            <a:spLocks noGrp="1"/>
          </p:cNvSpPr>
          <p:nvPr/>
        </p:nvSpPr>
        <p:spPr>
          <a:xfrm>
            <a:off x="9386888" y="2057400"/>
            <a:ext cx="57150" cy="57150"/>
          </a:xfrm>
          <a:prstGeom prst="ellipse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0CF45CE2-4581-47AF-B4C6-5FD6513C8A0B}"/>
              </a:ext>
            </a:extLst>
          </p:cNvPr>
          <p:cNvSpPr>
            <a:spLocks noGrp="1"/>
          </p:cNvSpPr>
          <p:nvPr/>
        </p:nvSpPr>
        <p:spPr>
          <a:xfrm>
            <a:off x="8786813" y="2243138"/>
            <a:ext cx="57150" cy="57150"/>
          </a:xfrm>
          <a:prstGeom prst="ellipse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65E8ED9C-8C17-4A4A-8669-39F4B7035B5F}"/>
              </a:ext>
            </a:extLst>
          </p:cNvPr>
          <p:cNvSpPr>
            <a:spLocks noGrp="1"/>
          </p:cNvSpPr>
          <p:nvPr/>
        </p:nvSpPr>
        <p:spPr>
          <a:xfrm>
            <a:off x="8986838" y="2243138"/>
            <a:ext cx="57150" cy="57150"/>
          </a:xfrm>
          <a:prstGeom prst="ellipse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30059204-1274-4418-977E-AC107CBC1A92}"/>
              </a:ext>
            </a:extLst>
          </p:cNvPr>
          <p:cNvSpPr>
            <a:spLocks noGrp="1"/>
          </p:cNvSpPr>
          <p:nvPr/>
        </p:nvSpPr>
        <p:spPr>
          <a:xfrm>
            <a:off x="9186863" y="2243138"/>
            <a:ext cx="57150" cy="57150"/>
          </a:xfrm>
          <a:prstGeom prst="ellipse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1E7E6977-9E9B-4287-9547-FAE1C14B93B5}"/>
              </a:ext>
            </a:extLst>
          </p:cNvPr>
          <p:cNvSpPr>
            <a:spLocks noGrp="1"/>
          </p:cNvSpPr>
          <p:nvPr/>
        </p:nvSpPr>
        <p:spPr>
          <a:xfrm>
            <a:off x="9386888" y="2243138"/>
            <a:ext cx="57150" cy="57150"/>
          </a:xfrm>
          <a:prstGeom prst="ellipse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22620EFA-48F2-4778-90A7-3F686EC9DDB2}"/>
              </a:ext>
            </a:extLst>
          </p:cNvPr>
          <p:cNvSpPr>
            <a:spLocks noGrp="1"/>
          </p:cNvSpPr>
          <p:nvPr/>
        </p:nvSpPr>
        <p:spPr>
          <a:xfrm>
            <a:off x="8786813" y="2428875"/>
            <a:ext cx="57150" cy="57150"/>
          </a:xfrm>
          <a:prstGeom prst="ellipse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F76339B9-9D71-4FD1-AE69-6EBC94AE7553}"/>
              </a:ext>
            </a:extLst>
          </p:cNvPr>
          <p:cNvSpPr>
            <a:spLocks noGrp="1"/>
          </p:cNvSpPr>
          <p:nvPr/>
        </p:nvSpPr>
        <p:spPr>
          <a:xfrm>
            <a:off x="8986838" y="2428875"/>
            <a:ext cx="57150" cy="57150"/>
          </a:xfrm>
          <a:prstGeom prst="ellipse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C1C3141B-A800-4F08-9B22-269EC42ED7CE}"/>
              </a:ext>
            </a:extLst>
          </p:cNvPr>
          <p:cNvSpPr>
            <a:spLocks noGrp="1"/>
          </p:cNvSpPr>
          <p:nvPr/>
        </p:nvSpPr>
        <p:spPr>
          <a:xfrm>
            <a:off x="9186863" y="2428875"/>
            <a:ext cx="57150" cy="57150"/>
          </a:xfrm>
          <a:prstGeom prst="ellipse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E010272D-3CEA-4BF5-8863-3043E9613D0B}"/>
              </a:ext>
            </a:extLst>
          </p:cNvPr>
          <p:cNvSpPr>
            <a:spLocks noGrp="1"/>
          </p:cNvSpPr>
          <p:nvPr/>
        </p:nvSpPr>
        <p:spPr>
          <a:xfrm>
            <a:off x="9386888" y="2428875"/>
            <a:ext cx="57150" cy="57150"/>
          </a:xfrm>
          <a:prstGeom prst="ellipse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0" name="cover-source-2">
            <a:extLst>
              <a:ext uri="{FF2B5EF4-FFF2-40B4-BE49-F238E27FC236}">
                <a16:creationId xmlns:a16="http://schemas.microsoft.com/office/drawing/2014/main" id="{BF4DF0CF-790E-4A7B-8120-606AC95B8A67}"/>
              </a:ext>
            </a:extLst>
          </p:cNvPr>
          <p:cNvSpPr>
            <a:spLocks noGrp="1"/>
          </p:cNvSpPr>
          <p:nvPr/>
        </p:nvSpPr>
        <p:spPr>
          <a:xfrm>
            <a:off x="8601075" y="2800350"/>
            <a:ext cx="1028700" cy="742950"/>
          </a:xfrm>
          <a:prstGeom prst="rect">
            <a:avLst/>
          </a:prstGeom>
          <a:solidFill>
            <a:srgbClr val="FFFFFF"/>
          </a:solidFill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1" name="직선 연결선 70">
            <a:extLst>
              <a:ext uri="{FF2B5EF4-FFF2-40B4-BE49-F238E27FC236}">
                <a16:creationId xmlns:a16="http://schemas.microsoft.com/office/drawing/2014/main" id="{63A8EF70-81A7-4959-8074-ABA01B6C8FF8}"/>
              </a:ext>
            </a:extLst>
          </p:cNvPr>
          <p:cNvSpPr>
            <a:spLocks noGrp="1"/>
          </p:cNvSpPr>
          <p:nvPr/>
        </p:nvSpPr>
        <p:spPr>
          <a:xfrm>
            <a:off x="8786813" y="2971800"/>
            <a:ext cx="642938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2" name="직선 연결선 71">
            <a:extLst>
              <a:ext uri="{FF2B5EF4-FFF2-40B4-BE49-F238E27FC236}">
                <a16:creationId xmlns:a16="http://schemas.microsoft.com/office/drawing/2014/main" id="{585567DD-134D-4B9E-ABD6-1FE8DDF33C3B}"/>
              </a:ext>
            </a:extLst>
          </p:cNvPr>
          <p:cNvSpPr>
            <a:spLocks noGrp="1"/>
          </p:cNvSpPr>
          <p:nvPr/>
        </p:nvSpPr>
        <p:spPr>
          <a:xfrm>
            <a:off x="8786813" y="3100388"/>
            <a:ext cx="585788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3" name="직선 연결선 72">
            <a:extLst>
              <a:ext uri="{FF2B5EF4-FFF2-40B4-BE49-F238E27FC236}">
                <a16:creationId xmlns:a16="http://schemas.microsoft.com/office/drawing/2014/main" id="{0329E74C-456E-435C-BC92-9BE66617E7F1}"/>
              </a:ext>
            </a:extLst>
          </p:cNvPr>
          <p:cNvSpPr>
            <a:spLocks noGrp="1"/>
          </p:cNvSpPr>
          <p:nvPr/>
        </p:nvSpPr>
        <p:spPr>
          <a:xfrm>
            <a:off x="8786813" y="3228975"/>
            <a:ext cx="528638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4" name="직선 연결선 73">
            <a:extLst>
              <a:ext uri="{FF2B5EF4-FFF2-40B4-BE49-F238E27FC236}">
                <a16:creationId xmlns:a16="http://schemas.microsoft.com/office/drawing/2014/main" id="{5B244B15-A869-454D-82EE-0D27D466E2A5}"/>
              </a:ext>
            </a:extLst>
          </p:cNvPr>
          <p:cNvSpPr>
            <a:spLocks noGrp="1"/>
          </p:cNvSpPr>
          <p:nvPr/>
        </p:nvSpPr>
        <p:spPr>
          <a:xfrm>
            <a:off x="8786813" y="3357563"/>
            <a:ext cx="471488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5" name="cover-source-3">
            <a:extLst>
              <a:ext uri="{FF2B5EF4-FFF2-40B4-BE49-F238E27FC236}">
                <a16:creationId xmlns:a16="http://schemas.microsoft.com/office/drawing/2014/main" id="{21623A0A-F940-4F5F-BD22-78E0D2C2AF66}"/>
              </a:ext>
            </a:extLst>
          </p:cNvPr>
          <p:cNvSpPr>
            <a:spLocks noGrp="1"/>
          </p:cNvSpPr>
          <p:nvPr/>
        </p:nvSpPr>
        <p:spPr>
          <a:xfrm>
            <a:off x="8601075" y="3714750"/>
            <a:ext cx="1028700" cy="742950"/>
          </a:xfrm>
          <a:prstGeom prst="rect">
            <a:avLst/>
          </a:prstGeom>
          <a:solidFill>
            <a:srgbClr val="FFFFFF"/>
          </a:solidFill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3D1100A-9C35-4345-950C-DF0CB98B7ECB}"/>
              </a:ext>
            </a:extLst>
          </p:cNvPr>
          <p:cNvSpPr>
            <a:spLocks noGrp="1"/>
          </p:cNvSpPr>
          <p:nvPr/>
        </p:nvSpPr>
        <p:spPr>
          <a:xfrm>
            <a:off x="8772525" y="3886200"/>
            <a:ext cx="171450" cy="142875"/>
          </a:xfrm>
          <a:prstGeom prst="rect">
            <a:avLst/>
          </a:prstGeom>
          <a:solidFill>
            <a:srgbClr val="FFFFFF"/>
          </a:solidFill>
          <a:ln w="17145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3AB8911-F542-4758-9357-4981CF46B96E}"/>
              </a:ext>
            </a:extLst>
          </p:cNvPr>
          <p:cNvSpPr>
            <a:spLocks noGrp="1"/>
          </p:cNvSpPr>
          <p:nvPr/>
        </p:nvSpPr>
        <p:spPr>
          <a:xfrm>
            <a:off x="9015413" y="3886200"/>
            <a:ext cx="171450" cy="142875"/>
          </a:xfrm>
          <a:prstGeom prst="rect">
            <a:avLst/>
          </a:prstGeom>
          <a:solidFill>
            <a:srgbClr val="FFFFFF"/>
          </a:solidFill>
          <a:ln w="17145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2F82D02-2A49-469D-83BC-F7739B48C8C6}"/>
              </a:ext>
            </a:extLst>
          </p:cNvPr>
          <p:cNvSpPr>
            <a:spLocks noGrp="1"/>
          </p:cNvSpPr>
          <p:nvPr/>
        </p:nvSpPr>
        <p:spPr>
          <a:xfrm>
            <a:off x="9258300" y="3886200"/>
            <a:ext cx="171450" cy="142875"/>
          </a:xfrm>
          <a:prstGeom prst="rect">
            <a:avLst/>
          </a:prstGeom>
          <a:solidFill>
            <a:srgbClr val="FFFFFF"/>
          </a:solidFill>
          <a:ln w="17145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8BF6CEF-F75A-48B5-B732-DF4C682A9F1B}"/>
              </a:ext>
            </a:extLst>
          </p:cNvPr>
          <p:cNvSpPr>
            <a:spLocks noGrp="1"/>
          </p:cNvSpPr>
          <p:nvPr/>
        </p:nvSpPr>
        <p:spPr>
          <a:xfrm>
            <a:off x="8772525" y="4114800"/>
            <a:ext cx="171450" cy="142875"/>
          </a:xfrm>
          <a:prstGeom prst="rect">
            <a:avLst/>
          </a:prstGeom>
          <a:solidFill>
            <a:srgbClr val="FFFFFF"/>
          </a:solidFill>
          <a:ln w="17145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06BA13D-A1CC-4C40-A69F-0A361F89EE0A}"/>
              </a:ext>
            </a:extLst>
          </p:cNvPr>
          <p:cNvSpPr>
            <a:spLocks noGrp="1"/>
          </p:cNvSpPr>
          <p:nvPr/>
        </p:nvSpPr>
        <p:spPr>
          <a:xfrm>
            <a:off x="9015413" y="4114800"/>
            <a:ext cx="171450" cy="142875"/>
          </a:xfrm>
          <a:prstGeom prst="rect">
            <a:avLst/>
          </a:prstGeom>
          <a:solidFill>
            <a:srgbClr val="FFFFFF"/>
          </a:solidFill>
          <a:ln w="17145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498E04C3-F161-4FD4-93B4-B1FE87C77FFA}"/>
              </a:ext>
            </a:extLst>
          </p:cNvPr>
          <p:cNvSpPr>
            <a:spLocks noGrp="1"/>
          </p:cNvSpPr>
          <p:nvPr/>
        </p:nvSpPr>
        <p:spPr>
          <a:xfrm>
            <a:off x="9258300" y="4114800"/>
            <a:ext cx="171450" cy="142875"/>
          </a:xfrm>
          <a:prstGeom prst="rect">
            <a:avLst/>
          </a:prstGeom>
          <a:solidFill>
            <a:srgbClr val="EAF3FF"/>
          </a:solidFill>
          <a:ln w="17145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2" name="cover-source-4">
            <a:extLst>
              <a:ext uri="{FF2B5EF4-FFF2-40B4-BE49-F238E27FC236}">
                <a16:creationId xmlns:a16="http://schemas.microsoft.com/office/drawing/2014/main" id="{FF459481-9BF2-4F98-AEE0-9C6AB27B86A3}"/>
              </a:ext>
            </a:extLst>
          </p:cNvPr>
          <p:cNvSpPr>
            <a:spLocks noGrp="1"/>
          </p:cNvSpPr>
          <p:nvPr/>
        </p:nvSpPr>
        <p:spPr>
          <a:xfrm>
            <a:off x="8601075" y="4629150"/>
            <a:ext cx="1028700" cy="742950"/>
          </a:xfrm>
          <a:prstGeom prst="rect">
            <a:avLst/>
          </a:prstGeom>
          <a:solidFill>
            <a:srgbClr val="FFFFFF"/>
          </a:solidFill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B85D3C6-2A0D-42B3-9868-71A688A1D329}"/>
              </a:ext>
            </a:extLst>
          </p:cNvPr>
          <p:cNvSpPr>
            <a:spLocks noGrp="1"/>
          </p:cNvSpPr>
          <p:nvPr/>
        </p:nvSpPr>
        <p:spPr>
          <a:xfrm>
            <a:off x="8801100" y="4814888"/>
            <a:ext cx="71438" cy="71438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0E5C7878-57F3-442B-8065-3D222172FF7F}"/>
              </a:ext>
            </a:extLst>
          </p:cNvPr>
          <p:cNvSpPr>
            <a:spLocks noGrp="1"/>
          </p:cNvSpPr>
          <p:nvPr/>
        </p:nvSpPr>
        <p:spPr>
          <a:xfrm>
            <a:off x="9043988" y="4786313"/>
            <a:ext cx="71438" cy="71438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35E89DDC-955D-4461-9992-5C0B45A64026}"/>
              </a:ext>
            </a:extLst>
          </p:cNvPr>
          <p:cNvSpPr>
            <a:spLocks noGrp="1"/>
          </p:cNvSpPr>
          <p:nvPr/>
        </p:nvSpPr>
        <p:spPr>
          <a:xfrm>
            <a:off x="9272588" y="4886325"/>
            <a:ext cx="71438" cy="71438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F70D9EE7-C1F5-4B31-94D4-1C86537A3081}"/>
              </a:ext>
            </a:extLst>
          </p:cNvPr>
          <p:cNvSpPr>
            <a:spLocks noGrp="1"/>
          </p:cNvSpPr>
          <p:nvPr/>
        </p:nvSpPr>
        <p:spPr>
          <a:xfrm>
            <a:off x="8915400" y="5014913"/>
            <a:ext cx="71438" cy="71438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9D21D088-C5E6-4B60-9D47-245C4C74054A}"/>
              </a:ext>
            </a:extLst>
          </p:cNvPr>
          <p:cNvSpPr>
            <a:spLocks noGrp="1"/>
          </p:cNvSpPr>
          <p:nvPr/>
        </p:nvSpPr>
        <p:spPr>
          <a:xfrm>
            <a:off x="9201150" y="5100638"/>
            <a:ext cx="71438" cy="71438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54AD048E-4EE2-41DA-AF8D-B5E4C4AF27CC}"/>
              </a:ext>
            </a:extLst>
          </p:cNvPr>
          <p:cNvSpPr>
            <a:spLocks noGrp="1"/>
          </p:cNvSpPr>
          <p:nvPr/>
        </p:nvSpPr>
        <p:spPr>
          <a:xfrm>
            <a:off x="9401175" y="5043488"/>
            <a:ext cx="71438" cy="71438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A88E172D-4CD3-478A-B956-83FD56DA18A1}"/>
              </a:ext>
            </a:extLst>
          </p:cNvPr>
          <p:cNvSpPr>
            <a:spLocks noGrp="1"/>
          </p:cNvSpPr>
          <p:nvPr/>
        </p:nvSpPr>
        <p:spPr>
          <a:xfrm>
            <a:off x="9043988" y="5186363"/>
            <a:ext cx="71438" cy="71438"/>
          </a:xfrm>
          <a:prstGeom prst="rect">
            <a:avLst/>
          </a:prstGeom>
          <a:solidFill>
            <a:srgbClr val="3E8FF0"/>
          </a:solidFill>
          <a:ln w="0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0" name="cover-source-5">
            <a:extLst>
              <a:ext uri="{FF2B5EF4-FFF2-40B4-BE49-F238E27FC236}">
                <a16:creationId xmlns:a16="http://schemas.microsoft.com/office/drawing/2014/main" id="{169FA98C-96DF-40D2-B2BD-0561606AB7E1}"/>
              </a:ext>
            </a:extLst>
          </p:cNvPr>
          <p:cNvSpPr>
            <a:spLocks noGrp="1"/>
          </p:cNvSpPr>
          <p:nvPr/>
        </p:nvSpPr>
        <p:spPr>
          <a:xfrm>
            <a:off x="8601075" y="5543550"/>
            <a:ext cx="1028700" cy="742950"/>
          </a:xfrm>
          <a:prstGeom prst="rect">
            <a:avLst/>
          </a:prstGeom>
          <a:solidFill>
            <a:srgbClr val="FFFFFF"/>
          </a:solidFill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1" name="직선 연결선 90">
            <a:extLst>
              <a:ext uri="{FF2B5EF4-FFF2-40B4-BE49-F238E27FC236}">
                <a16:creationId xmlns:a16="http://schemas.microsoft.com/office/drawing/2014/main" id="{D981E20D-75C3-473B-A443-BDAC76BC42E0}"/>
              </a:ext>
            </a:extLst>
          </p:cNvPr>
          <p:cNvSpPr>
            <a:spLocks noGrp="1"/>
          </p:cNvSpPr>
          <p:nvPr/>
        </p:nvSpPr>
        <p:spPr>
          <a:xfrm>
            <a:off x="8786813" y="5757863"/>
            <a:ext cx="628650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2" name="직선 연결선 91">
            <a:extLst>
              <a:ext uri="{FF2B5EF4-FFF2-40B4-BE49-F238E27FC236}">
                <a16:creationId xmlns:a16="http://schemas.microsoft.com/office/drawing/2014/main" id="{7BBC4E9A-144E-4E97-8FBB-7D24C3E61084}"/>
              </a:ext>
            </a:extLst>
          </p:cNvPr>
          <p:cNvSpPr>
            <a:spLocks noGrp="1"/>
          </p:cNvSpPr>
          <p:nvPr/>
        </p:nvSpPr>
        <p:spPr>
          <a:xfrm>
            <a:off x="8786813" y="5900738"/>
            <a:ext cx="500063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3" name="직선 연결선 92">
            <a:extLst>
              <a:ext uri="{FF2B5EF4-FFF2-40B4-BE49-F238E27FC236}">
                <a16:creationId xmlns:a16="http://schemas.microsoft.com/office/drawing/2014/main" id="{AF80D029-4EC0-4837-AC37-2FEFADDE82AB}"/>
              </a:ext>
            </a:extLst>
          </p:cNvPr>
          <p:cNvSpPr>
            <a:spLocks noGrp="1"/>
          </p:cNvSpPr>
          <p:nvPr/>
        </p:nvSpPr>
        <p:spPr>
          <a:xfrm>
            <a:off x="8786813" y="6043613"/>
            <a:ext cx="685800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4" name="cover-verified-node">
            <a:extLst>
              <a:ext uri="{FF2B5EF4-FFF2-40B4-BE49-F238E27FC236}">
                <a16:creationId xmlns:a16="http://schemas.microsoft.com/office/drawing/2014/main" id="{33715BDE-0D6E-408F-B20D-EF2A622586F8}"/>
              </a:ext>
            </a:extLst>
          </p:cNvPr>
          <p:cNvSpPr>
            <a:spLocks noGrp="1"/>
          </p:cNvSpPr>
          <p:nvPr/>
        </p:nvSpPr>
        <p:spPr>
          <a:xfrm>
            <a:off x="11887200" y="3271838"/>
            <a:ext cx="1228725" cy="1514475"/>
          </a:xfrm>
          <a:prstGeom prst="rect">
            <a:avLst/>
          </a:prstGeom>
          <a:solidFill>
            <a:srgbClr val="176FE5"/>
          </a:solidFill>
          <a:ln w="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5" name="cover-check">
            <a:extLst>
              <a:ext uri="{FF2B5EF4-FFF2-40B4-BE49-F238E27FC236}">
                <a16:creationId xmlns:a16="http://schemas.microsoft.com/office/drawing/2014/main" id="{E16CF41F-112B-487B-B45F-5501F55BE243}"/>
              </a:ext>
            </a:extLst>
          </p:cNvPr>
          <p:cNvSpPr>
            <a:spLocks noGrp="1"/>
          </p:cNvSpPr>
          <p:nvPr/>
        </p:nvSpPr>
        <p:spPr>
          <a:xfrm>
            <a:off x="12087225" y="3514725"/>
            <a:ext cx="8286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5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96" name="cover-artifact-node">
            <a:extLst>
              <a:ext uri="{FF2B5EF4-FFF2-40B4-BE49-F238E27FC236}">
                <a16:creationId xmlns:a16="http://schemas.microsoft.com/office/drawing/2014/main" id="{8845D41B-75C3-4A16-AE77-34437F04C89E}"/>
              </a:ext>
            </a:extLst>
          </p:cNvPr>
          <p:cNvSpPr>
            <a:spLocks noGrp="1"/>
          </p:cNvSpPr>
          <p:nvPr/>
        </p:nvSpPr>
        <p:spPr>
          <a:xfrm>
            <a:off x="14001750" y="3414713"/>
            <a:ext cx="1143000" cy="1228725"/>
          </a:xfrm>
          <a:prstGeom prst="rect">
            <a:avLst/>
          </a:prstGeom>
          <a:solidFill>
            <a:srgbClr val="FFFFFF"/>
          </a:solidFill>
          <a:ln w="28575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9E2E4327-15C0-4F39-BED2-7AD3DAB37ABF}"/>
              </a:ext>
            </a:extLst>
          </p:cNvPr>
          <p:cNvSpPr>
            <a:spLocks noGrp="1"/>
          </p:cNvSpPr>
          <p:nvPr/>
        </p:nvSpPr>
        <p:spPr>
          <a:xfrm>
            <a:off x="14201775" y="3600450"/>
            <a:ext cx="285750" cy="257175"/>
          </a:xfrm>
          <a:prstGeom prst="rect">
            <a:avLst/>
          </a:prstGeom>
          <a:solidFill>
            <a:srgbClr val="EAF3FF"/>
          </a:solidFill>
          <a:ln w="14288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22FFF64E-2866-4BEE-A865-E1F821CD511C}"/>
              </a:ext>
            </a:extLst>
          </p:cNvPr>
          <p:cNvSpPr>
            <a:spLocks noGrp="1"/>
          </p:cNvSpPr>
          <p:nvPr/>
        </p:nvSpPr>
        <p:spPr>
          <a:xfrm>
            <a:off x="14601825" y="3600450"/>
            <a:ext cx="285750" cy="257175"/>
          </a:xfrm>
          <a:prstGeom prst="rect">
            <a:avLst/>
          </a:prstGeom>
          <a:solidFill>
            <a:srgbClr val="176FE5"/>
          </a:solidFill>
          <a:ln w="14288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A17DD8E9-3DA6-4573-82ED-FFF14DDF7C97}"/>
              </a:ext>
            </a:extLst>
          </p:cNvPr>
          <p:cNvSpPr>
            <a:spLocks noGrp="1"/>
          </p:cNvSpPr>
          <p:nvPr/>
        </p:nvSpPr>
        <p:spPr>
          <a:xfrm>
            <a:off x="14201775" y="3971925"/>
            <a:ext cx="285750" cy="257175"/>
          </a:xfrm>
          <a:prstGeom prst="rect">
            <a:avLst/>
          </a:prstGeom>
          <a:solidFill>
            <a:srgbClr val="EAF3FF"/>
          </a:solidFill>
          <a:ln w="14288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95414281-0F77-4D2D-AC87-A94CD5A87968}"/>
              </a:ext>
            </a:extLst>
          </p:cNvPr>
          <p:cNvSpPr>
            <a:spLocks noGrp="1"/>
          </p:cNvSpPr>
          <p:nvPr/>
        </p:nvSpPr>
        <p:spPr>
          <a:xfrm>
            <a:off x="14601825" y="3971925"/>
            <a:ext cx="285750" cy="257175"/>
          </a:xfrm>
          <a:prstGeom prst="rect">
            <a:avLst/>
          </a:prstGeom>
          <a:solidFill>
            <a:srgbClr val="EAF3FF"/>
          </a:solidFill>
          <a:ln w="14288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1" name="직선 연결선 100">
            <a:extLst>
              <a:ext uri="{FF2B5EF4-FFF2-40B4-BE49-F238E27FC236}">
                <a16:creationId xmlns:a16="http://schemas.microsoft.com/office/drawing/2014/main" id="{0B292D71-191E-40A4-ABCA-933148961362}"/>
              </a:ext>
            </a:extLst>
          </p:cNvPr>
          <p:cNvSpPr>
            <a:spLocks noGrp="1"/>
          </p:cNvSpPr>
          <p:nvPr/>
        </p:nvSpPr>
        <p:spPr>
          <a:xfrm>
            <a:off x="14201775" y="4414838"/>
            <a:ext cx="714375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2" name="cover-report-node">
            <a:extLst>
              <a:ext uri="{FF2B5EF4-FFF2-40B4-BE49-F238E27FC236}">
                <a16:creationId xmlns:a16="http://schemas.microsoft.com/office/drawing/2014/main" id="{6F45C37B-3E39-4407-9D61-C3110110D511}"/>
              </a:ext>
            </a:extLst>
          </p:cNvPr>
          <p:cNvSpPr>
            <a:spLocks noGrp="1"/>
          </p:cNvSpPr>
          <p:nvPr/>
        </p:nvSpPr>
        <p:spPr>
          <a:xfrm>
            <a:off x="16073438" y="3057525"/>
            <a:ext cx="1457325" cy="1943100"/>
          </a:xfrm>
          <a:prstGeom prst="rect">
            <a:avLst/>
          </a:prstGeom>
          <a:solidFill>
            <a:srgbClr val="FFFFFF"/>
          </a:solidFill>
          <a:ln w="28575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3" name="직선 연결선 102">
            <a:extLst>
              <a:ext uri="{FF2B5EF4-FFF2-40B4-BE49-F238E27FC236}">
                <a16:creationId xmlns:a16="http://schemas.microsoft.com/office/drawing/2014/main" id="{DFD94D69-F7DD-4CF6-AFF0-EE8B2A28FE3A}"/>
              </a:ext>
            </a:extLst>
          </p:cNvPr>
          <p:cNvSpPr>
            <a:spLocks noGrp="1"/>
          </p:cNvSpPr>
          <p:nvPr/>
        </p:nvSpPr>
        <p:spPr>
          <a:xfrm>
            <a:off x="16316325" y="3471863"/>
            <a:ext cx="400050" cy="0"/>
          </a:xfrm>
          <a:prstGeom prst="line">
            <a:avLst/>
          </a:prstGeom>
          <a:noFill/>
          <a:ln w="28575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4" name="직선 연결선 103">
            <a:extLst>
              <a:ext uri="{FF2B5EF4-FFF2-40B4-BE49-F238E27FC236}">
                <a16:creationId xmlns:a16="http://schemas.microsoft.com/office/drawing/2014/main" id="{0916523E-D9E1-4913-A6E0-4F4B9F11C2EC}"/>
              </a:ext>
            </a:extLst>
          </p:cNvPr>
          <p:cNvSpPr>
            <a:spLocks noGrp="1"/>
          </p:cNvSpPr>
          <p:nvPr/>
        </p:nvSpPr>
        <p:spPr>
          <a:xfrm>
            <a:off x="16316325" y="3643313"/>
            <a:ext cx="785813" cy="0"/>
          </a:xfrm>
          <a:prstGeom prst="line">
            <a:avLst/>
          </a:prstGeom>
          <a:noFill/>
          <a:ln w="28575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5" name="직선 연결선 104">
            <a:extLst>
              <a:ext uri="{FF2B5EF4-FFF2-40B4-BE49-F238E27FC236}">
                <a16:creationId xmlns:a16="http://schemas.microsoft.com/office/drawing/2014/main" id="{62927B2E-0E18-4381-8CB9-8B5A54A07813}"/>
              </a:ext>
            </a:extLst>
          </p:cNvPr>
          <p:cNvSpPr>
            <a:spLocks noGrp="1"/>
          </p:cNvSpPr>
          <p:nvPr/>
        </p:nvSpPr>
        <p:spPr>
          <a:xfrm>
            <a:off x="16316325" y="3814763"/>
            <a:ext cx="785813" cy="0"/>
          </a:xfrm>
          <a:prstGeom prst="line">
            <a:avLst/>
          </a:prstGeom>
          <a:noFill/>
          <a:ln w="28575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BC19A67-DCD2-429B-AF88-41215A9A1DF9}"/>
              </a:ext>
            </a:extLst>
          </p:cNvPr>
          <p:cNvSpPr>
            <a:spLocks noGrp="1"/>
          </p:cNvSpPr>
          <p:nvPr/>
        </p:nvSpPr>
        <p:spPr>
          <a:xfrm>
            <a:off x="16344900" y="4429125"/>
            <a:ext cx="100013" cy="257175"/>
          </a:xfrm>
          <a:prstGeom prst="rect">
            <a:avLst/>
          </a:prstGeom>
          <a:solidFill>
            <a:srgbClr val="AFC7E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F15C62A0-F684-4BB7-A847-115774F4E8A3}"/>
              </a:ext>
            </a:extLst>
          </p:cNvPr>
          <p:cNvSpPr>
            <a:spLocks noGrp="1"/>
          </p:cNvSpPr>
          <p:nvPr/>
        </p:nvSpPr>
        <p:spPr>
          <a:xfrm>
            <a:off x="16502063" y="4257675"/>
            <a:ext cx="100013" cy="428625"/>
          </a:xfrm>
          <a:prstGeom prst="rect">
            <a:avLst/>
          </a:prstGeom>
          <a:solidFill>
            <a:srgbClr val="AFC7E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AB706D0-AC9E-4A24-B8F6-4233FFD6B745}"/>
              </a:ext>
            </a:extLst>
          </p:cNvPr>
          <p:cNvSpPr>
            <a:spLocks noGrp="1"/>
          </p:cNvSpPr>
          <p:nvPr/>
        </p:nvSpPr>
        <p:spPr>
          <a:xfrm>
            <a:off x="16659225" y="4371975"/>
            <a:ext cx="100013" cy="314325"/>
          </a:xfrm>
          <a:prstGeom prst="rect">
            <a:avLst/>
          </a:prstGeom>
          <a:solidFill>
            <a:srgbClr val="AFC7E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06A820D1-D026-47DD-84AF-A94081507B0D}"/>
              </a:ext>
            </a:extLst>
          </p:cNvPr>
          <p:cNvSpPr>
            <a:spLocks noGrp="1"/>
          </p:cNvSpPr>
          <p:nvPr/>
        </p:nvSpPr>
        <p:spPr>
          <a:xfrm>
            <a:off x="16816388" y="4057650"/>
            <a:ext cx="100013" cy="628650"/>
          </a:xfrm>
          <a:prstGeom prst="rect">
            <a:avLst/>
          </a:prstGeom>
          <a:solidFill>
            <a:srgbClr val="AFC7E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4DB78AB0-5D08-484C-A93B-2E98E51E42CA}"/>
              </a:ext>
            </a:extLst>
          </p:cNvPr>
          <p:cNvSpPr>
            <a:spLocks noGrp="1"/>
          </p:cNvSpPr>
          <p:nvPr/>
        </p:nvSpPr>
        <p:spPr>
          <a:xfrm>
            <a:off x="16973550" y="3871913"/>
            <a:ext cx="100013" cy="814388"/>
          </a:xfrm>
          <a:prstGeom prst="rect">
            <a:avLst/>
          </a:prstGeom>
          <a:solidFill>
            <a:srgbClr val="176FE5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1" name="직선 연결선 110">
            <a:extLst>
              <a:ext uri="{FF2B5EF4-FFF2-40B4-BE49-F238E27FC236}">
                <a16:creationId xmlns:a16="http://schemas.microsoft.com/office/drawing/2014/main" id="{F82D9F08-085C-44FA-82B8-4E6F77AA26D9}"/>
              </a:ext>
            </a:extLst>
          </p:cNvPr>
          <p:cNvSpPr>
            <a:spLocks noGrp="1"/>
          </p:cNvSpPr>
          <p:nvPr/>
        </p:nvSpPr>
        <p:spPr>
          <a:xfrm>
            <a:off x="16287750" y="4700588"/>
            <a:ext cx="871538" cy="0"/>
          </a:xfrm>
          <a:prstGeom prst="line">
            <a:avLst/>
          </a:prstGeom>
          <a:noFill/>
          <a:ln w="21431">
            <a:solidFill>
              <a:srgbClr val="3E8F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2" name="직선 연결선 111">
            <a:extLst>
              <a:ext uri="{FF2B5EF4-FFF2-40B4-BE49-F238E27FC236}">
                <a16:creationId xmlns:a16="http://schemas.microsoft.com/office/drawing/2014/main" id="{42A8B6EA-70B6-4A55-A8B9-EC883132627E}"/>
              </a:ext>
            </a:extLst>
          </p:cNvPr>
          <p:cNvSpPr>
            <a:spLocks noGrp="1"/>
          </p:cNvSpPr>
          <p:nvPr/>
        </p:nvSpPr>
        <p:spPr>
          <a:xfrm>
            <a:off x="8943975" y="7400925"/>
            <a:ext cx="8086725" cy="0"/>
          </a:xfrm>
          <a:prstGeom prst="line">
            <a:avLst/>
          </a:prstGeom>
          <a:noFill/>
          <a:ln w="21431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B177231D-4239-4F3E-BD5F-90817A3F299D}"/>
              </a:ext>
            </a:extLst>
          </p:cNvPr>
          <p:cNvSpPr>
            <a:spLocks noGrp="1"/>
          </p:cNvSpPr>
          <p:nvPr/>
        </p:nvSpPr>
        <p:spPr>
          <a:xfrm>
            <a:off x="8886825" y="7343775"/>
            <a:ext cx="114300" cy="114300"/>
          </a:xfrm>
          <a:prstGeom prst="rect">
            <a:avLst/>
          </a:prstGeom>
          <a:solidFill>
            <a:srgbClr val="176FE5"/>
          </a:solidFill>
          <a:ln w="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A9DAF4BC-56E1-43C7-9E24-1F548B7C3D24}"/>
              </a:ext>
            </a:extLst>
          </p:cNvPr>
          <p:cNvSpPr>
            <a:spLocks noGrp="1"/>
          </p:cNvSpPr>
          <p:nvPr/>
        </p:nvSpPr>
        <p:spPr>
          <a:xfrm>
            <a:off x="16973550" y="7343775"/>
            <a:ext cx="114300" cy="114300"/>
          </a:xfrm>
          <a:prstGeom prst="rect">
            <a:avLst/>
          </a:prstGeom>
          <a:solidFill>
            <a:srgbClr val="176FE5"/>
          </a:solidFill>
          <a:ln w="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AF68C8BD-C580-48BC-AFFD-FB0D0C47EE66}"/>
              </a:ext>
            </a:extLst>
          </p:cNvPr>
          <p:cNvSpPr>
            <a:spLocks noGrp="1"/>
          </p:cNvSpPr>
          <p:nvPr/>
        </p:nvSpPr>
        <p:spPr>
          <a:xfrm>
            <a:off x="8886825" y="7658100"/>
            <a:ext cx="1643063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63" b="1">
                <a:solidFill>
                  <a:srgbClr val="153451"/>
                </a:solidFill>
                <a:latin typeface="Pretendard"/>
                <a:ea typeface="Pretendard"/>
                <a:cs typeface="Pretendard"/>
              </a:defRPr>
            </a:pPr>
            <a:r>
              <a:rPr sz="1463" b="1">
                <a:solidFill>
                  <a:srgbClr val="153451"/>
                </a:solidFill>
                <a:latin typeface="Pretendard"/>
                <a:ea typeface="Pretendard"/>
                <a:cs typeface="Pretendard"/>
              </a:rPr>
              <a:t>QUESTION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3D71370-228E-4B97-AE0D-6433B8BFD0F1}"/>
              </a:ext>
            </a:extLst>
          </p:cNvPr>
          <p:cNvSpPr>
            <a:spLocks noGrp="1"/>
          </p:cNvSpPr>
          <p:nvPr/>
        </p:nvSpPr>
        <p:spPr>
          <a:xfrm>
            <a:off x="10497684" y="7658100"/>
            <a:ext cx="485775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0">
                <a:solidFill>
                  <a:srgbClr val="176FE5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176FE5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C4AD0852-E152-4231-8EBF-77E8367D1597}"/>
              </a:ext>
            </a:extLst>
          </p:cNvPr>
          <p:cNvSpPr>
            <a:spLocks noGrp="1"/>
          </p:cNvSpPr>
          <p:nvPr/>
        </p:nvSpPr>
        <p:spPr>
          <a:xfrm>
            <a:off x="11144250" y="7658100"/>
            <a:ext cx="2343150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63" b="1">
                <a:solidFill>
                  <a:srgbClr val="153451"/>
                </a:solidFill>
                <a:latin typeface="Pretendard"/>
                <a:ea typeface="Pretendard"/>
                <a:cs typeface="Pretendard"/>
              </a:defRPr>
            </a:pPr>
            <a:r>
              <a:rPr sz="1463" b="1">
                <a:solidFill>
                  <a:srgbClr val="153451"/>
                </a:solidFill>
                <a:latin typeface="Pretendard"/>
                <a:ea typeface="Pretendard"/>
                <a:cs typeface="Pretendard"/>
              </a:rPr>
              <a:t>GOVERNED ANALYSIS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4851898-2EFB-4F1A-9FDF-5DA855B012F0}"/>
              </a:ext>
            </a:extLst>
          </p:cNvPr>
          <p:cNvSpPr>
            <a:spLocks noGrp="1"/>
          </p:cNvSpPr>
          <p:nvPr/>
        </p:nvSpPr>
        <p:spPr>
          <a:xfrm>
            <a:off x="13544550" y="7658100"/>
            <a:ext cx="485775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0">
                <a:solidFill>
                  <a:srgbClr val="176FE5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176FE5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F667AF4D-1F1D-42A7-843D-410B9B82561A}"/>
              </a:ext>
            </a:extLst>
          </p:cNvPr>
          <p:cNvSpPr>
            <a:spLocks noGrp="1"/>
          </p:cNvSpPr>
          <p:nvPr/>
        </p:nvSpPr>
        <p:spPr>
          <a:xfrm>
            <a:off x="14087475" y="7658100"/>
            <a:ext cx="1314450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63" b="1">
                <a:solidFill>
                  <a:srgbClr val="153451"/>
                </a:solidFill>
                <a:latin typeface="Pretendard"/>
                <a:ea typeface="Pretendard"/>
                <a:cs typeface="Pretendard"/>
              </a:defRPr>
            </a:pPr>
            <a:r>
              <a:rPr sz="1463" b="1">
                <a:solidFill>
                  <a:srgbClr val="153451"/>
                </a:solidFill>
                <a:latin typeface="Pretendard"/>
                <a:ea typeface="Pretendard"/>
                <a:cs typeface="Pretendard"/>
              </a:rPr>
              <a:t>EVIDENCE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2649CF09-ED01-439E-9F3F-8B4F021296E1}"/>
              </a:ext>
            </a:extLst>
          </p:cNvPr>
          <p:cNvSpPr>
            <a:spLocks noGrp="1"/>
          </p:cNvSpPr>
          <p:nvPr/>
        </p:nvSpPr>
        <p:spPr>
          <a:xfrm>
            <a:off x="15490145" y="7658100"/>
            <a:ext cx="485775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0">
                <a:solidFill>
                  <a:srgbClr val="176FE5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176FE5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02BC2B9-A0C2-4DB7-9E02-2E18D516FE29}"/>
              </a:ext>
            </a:extLst>
          </p:cNvPr>
          <p:cNvSpPr>
            <a:spLocks noGrp="1"/>
          </p:cNvSpPr>
          <p:nvPr/>
        </p:nvSpPr>
        <p:spPr>
          <a:xfrm>
            <a:off x="15987713" y="7658100"/>
            <a:ext cx="1114425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463" b="1">
                <a:solidFill>
                  <a:srgbClr val="153451"/>
                </a:solidFill>
                <a:latin typeface="Pretendard"/>
                <a:ea typeface="Pretendard"/>
                <a:cs typeface="Pretendard"/>
              </a:defRPr>
            </a:pPr>
            <a:r>
              <a:rPr sz="1463" b="1">
                <a:solidFill>
                  <a:srgbClr val="153451"/>
                </a:solidFill>
                <a:latin typeface="Pretendard"/>
                <a:ea typeface="Pretendard"/>
                <a:cs typeface="Pretendard"/>
              </a:rPr>
              <a:t>REPORT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07B93038-76BB-433C-B423-CF9038A7431A}"/>
              </a:ext>
            </a:extLst>
          </p:cNvPr>
          <p:cNvSpPr>
            <a:spLocks noGrp="1"/>
          </p:cNvSpPr>
          <p:nvPr/>
        </p:nvSpPr>
        <p:spPr>
          <a:xfrm>
            <a:off x="15087600" y="9429750"/>
            <a:ext cx="2428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38" b="1">
                <a:solidFill>
                  <a:srgbClr val="AFC7E2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AFC7E2"/>
                </a:solidFill>
                <a:latin typeface="Pretendard"/>
                <a:ea typeface="Pretendard"/>
                <a:cs typeface="Pretendard"/>
              </a:rPr>
              <a:t>FINAL PROJECT · 2026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DF802FE7-3FC8-C4C1-C9E6-AB680C154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9265" y="382698"/>
            <a:ext cx="41814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4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ANSWERVICE / 02 · CONTENTS</a:t>
            </a:r>
            <a:endParaRPr lang="en-US" sz="110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3600" b="1">
                <a:solidFill>
                  <a:srgbClr val="153451"/>
                </a:solidFill>
                <a:latin typeface="Pretendard"/>
                <a:ea typeface="Pretendard" panose="02000503000000020004" pitchFamily="2" charset="-127"/>
              </a:rPr>
              <a:t>목차</a:t>
            </a:r>
            <a:endParaRPr lang="en-US" sz="3600" b="1">
              <a:solidFill>
                <a:srgbClr val="153451"/>
              </a:solidFill>
              <a:latin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05840" y="3814877"/>
            <a:ext cx="16267176" cy="0"/>
          </a:xfrm>
          <a:prstGeom prst="line">
            <a:avLst/>
          </a:prstGeom>
          <a:noFill/>
          <a:ln w="1270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05840" y="8405165"/>
            <a:ext cx="16267176" cy="0"/>
          </a:xfrm>
          <a:prstGeom prst="line">
            <a:avLst/>
          </a:prstGeom>
          <a:noFill/>
          <a:ln w="1270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80883" y="3814877"/>
            <a:ext cx="0" cy="4590288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26464" y="418795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5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UNDERSTAND</a:t>
            </a:r>
            <a:endParaRPr lang="en-US" sz="1300">
              <a:latin typeface="Pretendard"/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426464" y="4754880"/>
            <a:ext cx="594360" cy="108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01</a:t>
            </a:r>
            <a:endParaRPr lang="en-US" sz="2400">
              <a:latin typeface="Pretendard"/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2157984" y="4754880"/>
            <a:ext cx="5402275" cy="108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문제 정의</a:t>
            </a:r>
            <a:endParaRPr lang="en-US" sz="2400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426464" y="5837530"/>
            <a:ext cx="6133795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426464" y="5837530"/>
            <a:ext cx="594360" cy="109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02</a:t>
            </a:r>
            <a:endParaRPr lang="en-US" sz="2400">
              <a:ea typeface="Pretendard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2157984" y="5837530"/>
            <a:ext cx="5402275" cy="109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400" b="1">
                <a:solidFill>
                  <a:srgbClr val="153451"/>
                </a:solidFill>
                <a:latin typeface="Pretendard"/>
                <a:ea typeface="Pretendard"/>
              </a:rPr>
              <a:t>해결 방안</a:t>
            </a:r>
          </a:p>
        </p:txBody>
      </p:sp>
      <p:sp>
        <p:nvSpPr>
          <p:cNvPr id="20" name="Shape 18"/>
          <p:cNvSpPr/>
          <p:nvPr/>
        </p:nvSpPr>
        <p:spPr>
          <a:xfrm>
            <a:off x="1426464" y="6933895"/>
            <a:ext cx="6133795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426464" y="6933895"/>
            <a:ext cx="594360" cy="109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03</a:t>
            </a:r>
            <a:endParaRPr lang="en-US" sz="2400">
              <a:ea typeface="Pretendard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2157984" y="6933895"/>
            <a:ext cx="5402275" cy="109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400" b="1">
                <a:solidFill>
                  <a:srgbClr val="153451"/>
                </a:solidFill>
                <a:ea typeface="+mn-lt"/>
                <a:cs typeface="+mn-lt"/>
              </a:rPr>
              <a:t>서비스</a:t>
            </a:r>
            <a:r>
              <a:rPr lang="en-US" altLang="ko-KR" sz="2400" b="1">
                <a:solidFill>
                  <a:srgbClr val="153451"/>
                </a:solidFill>
                <a:ea typeface="+mn-lt"/>
                <a:cs typeface="+mn-lt"/>
              </a:rPr>
              <a:t> </a:t>
            </a:r>
            <a:r>
              <a:rPr lang="ko-KR" altLang="en-US" sz="2400" b="1">
                <a:solidFill>
                  <a:srgbClr val="153451"/>
                </a:solidFill>
                <a:ea typeface="+mn-lt"/>
                <a:cs typeface="+mn-lt"/>
              </a:rPr>
              <a:t>시연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631522" y="3814877"/>
            <a:ext cx="0" cy="4590288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401507" y="4067251"/>
            <a:ext cx="1599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5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SYSTEM</a:t>
            </a:r>
            <a:endParaRPr lang="en-US" sz="1300">
              <a:latin typeface="Pretendard"/>
              <a:ea typeface="Pretendard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401507" y="4476703"/>
            <a:ext cx="594360" cy="130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04</a:t>
            </a:r>
            <a:endParaRPr lang="en-US" sz="2400">
              <a:latin typeface="Pretendard"/>
              <a:ea typeface="Pretendard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9133027" y="4476703"/>
            <a:ext cx="3077870" cy="130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아키텍처 </a:t>
            </a:r>
            <a:r>
              <a:rPr lang="ko-KR" alt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및</a:t>
            </a:r>
            <a:r>
              <a:rPr 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기술</a:t>
            </a:r>
            <a:r>
              <a:rPr 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설명</a:t>
            </a:r>
            <a:endParaRPr lang="en-US" sz="2400" b="1">
              <a:solidFill>
                <a:srgbClr val="153451"/>
              </a:solidFill>
              <a:latin typeface="Pretendard"/>
              <a:ea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401507" y="5787528"/>
            <a:ext cx="380939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8401507" y="5787528"/>
            <a:ext cx="594360" cy="112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05</a:t>
            </a:r>
            <a:endParaRPr lang="en-US" sz="2400">
              <a:latin typeface="Pretendard"/>
              <a:ea typeface="Pretendard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9133027" y="5787528"/>
            <a:ext cx="3077870" cy="112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err="1">
                <a:solidFill>
                  <a:srgbClr val="153451"/>
                </a:solidFill>
                <a:ea typeface="+mn-lt"/>
                <a:cs typeface="+mn-lt"/>
              </a:rPr>
              <a:t>데이터</a:t>
            </a:r>
            <a:r>
              <a:rPr lang="en-US" sz="2400" b="1">
                <a:solidFill>
                  <a:srgbClr val="153451"/>
                </a:solidFill>
                <a:ea typeface="+mn-lt"/>
                <a:cs typeface="+mn-lt"/>
              </a:rPr>
              <a:t> </a:t>
            </a:r>
            <a:r>
              <a:rPr lang="en-US" sz="2400" b="1" err="1">
                <a:solidFill>
                  <a:srgbClr val="153451"/>
                </a:solidFill>
                <a:ea typeface="+mn-lt"/>
                <a:cs typeface="+mn-lt"/>
              </a:rPr>
              <a:t>확장성</a:t>
            </a:r>
            <a:endParaRPr lang="en-US" sz="2400" err="1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13052146" y="4067251"/>
            <a:ext cx="1599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5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PROVE</a:t>
            </a:r>
            <a:endParaRPr lang="en-US" sz="1300">
              <a:latin typeface="Pretendard"/>
              <a:ea typeface="Pretendard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3052146" y="4476703"/>
            <a:ext cx="594360" cy="1744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76FE5"/>
                </a:solidFill>
                <a:latin typeface="Pretendard"/>
                <a:ea typeface="Pretendard"/>
              </a:rPr>
              <a:t>07</a:t>
            </a:r>
            <a:endParaRPr lang="en-US" sz="2400">
              <a:latin typeface="Pretendard"/>
              <a:ea typeface="Pretendard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13783666" y="4476703"/>
            <a:ext cx="3077870" cy="1744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400" b="1">
                <a:solidFill>
                  <a:srgbClr val="153451"/>
                </a:solidFill>
                <a:ea typeface="+mn-lt"/>
                <a:cs typeface="+mn-lt"/>
              </a:rPr>
              <a:t>향후 과제 및 비전</a:t>
            </a:r>
            <a:endParaRPr lang="en-US" altLang="ko-KR"/>
          </a:p>
        </p:txBody>
      </p:sp>
      <p:sp>
        <p:nvSpPr>
          <p:cNvPr id="35" name="Shape 33"/>
          <p:cNvSpPr/>
          <p:nvPr/>
        </p:nvSpPr>
        <p:spPr>
          <a:xfrm>
            <a:off x="13052146" y="6395314"/>
            <a:ext cx="380939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13052146" y="6395314"/>
            <a:ext cx="5943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76FE5"/>
                </a:solidFill>
                <a:latin typeface="Pretendard"/>
                <a:ea typeface="Pretendard"/>
              </a:rPr>
              <a:t>08</a:t>
            </a:r>
            <a:endParaRPr lang="en-US" sz="2400">
              <a:latin typeface="Pretendard"/>
              <a:ea typeface="Pretendard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3783666" y="6395314"/>
            <a:ext cx="307787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400" b="1">
                <a:solidFill>
                  <a:srgbClr val="153451"/>
                </a:solidFill>
                <a:latin typeface="Calibri"/>
                <a:ea typeface="Pretendard"/>
                <a:cs typeface="Calibri"/>
              </a:rPr>
              <a:t>확장성</a:t>
            </a:r>
            <a:endParaRPr lang="ko-KR" sz="24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4" name="Shape 26">
            <a:extLst>
              <a:ext uri="{FF2B5EF4-FFF2-40B4-BE49-F238E27FC236}">
                <a16:creationId xmlns:a16="http://schemas.microsoft.com/office/drawing/2014/main" id="{F1B02815-E4AE-9597-45B6-630BED7460FD}"/>
              </a:ext>
            </a:extLst>
          </p:cNvPr>
          <p:cNvSpPr/>
          <p:nvPr/>
        </p:nvSpPr>
        <p:spPr>
          <a:xfrm>
            <a:off x="8401506" y="6939599"/>
            <a:ext cx="380939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1B080D1D-C27E-9166-2042-991DD37E9D7F}"/>
              </a:ext>
            </a:extLst>
          </p:cNvPr>
          <p:cNvSpPr txBox="1"/>
          <p:nvPr/>
        </p:nvSpPr>
        <p:spPr>
          <a:xfrm>
            <a:off x="8401506" y="6939599"/>
            <a:ext cx="594360" cy="112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76FE5"/>
                </a:solidFill>
                <a:latin typeface="Pretendard"/>
                <a:ea typeface="Pretendard"/>
              </a:rPr>
              <a:t>06</a:t>
            </a:r>
            <a:endParaRPr lang="en-US" sz="2400">
              <a:latin typeface="Pretendard"/>
              <a:ea typeface="Pretendard"/>
            </a:endParaRPr>
          </a:p>
        </p:txBody>
      </p:sp>
      <p:sp>
        <p:nvSpPr>
          <p:cNvPr id="8" name="Text 28">
            <a:extLst>
              <a:ext uri="{FF2B5EF4-FFF2-40B4-BE49-F238E27FC236}">
                <a16:creationId xmlns:a16="http://schemas.microsoft.com/office/drawing/2014/main" id="{3853B694-1B6D-882E-2AC9-991D0A783F98}"/>
              </a:ext>
            </a:extLst>
          </p:cNvPr>
          <p:cNvSpPr txBox="1"/>
          <p:nvPr/>
        </p:nvSpPr>
        <p:spPr>
          <a:xfrm>
            <a:off x="9133026" y="6939599"/>
            <a:ext cx="3077870" cy="112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400" b="1">
                <a:solidFill>
                  <a:srgbClr val="153451"/>
                </a:solidFill>
                <a:ea typeface="Calibri"/>
                <a:cs typeface="Calibri"/>
              </a:rPr>
              <a:t>SQL</a:t>
            </a:r>
            <a:endParaRPr lang="en-US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6FD09-6F54-3BA6-B368-73400F489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DBEE40A-A594-37B3-9D0F-C3F69D4EC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" y="9986"/>
            <a:ext cx="18272329" cy="102854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537E03-5F9B-FE90-9D58-0E1F931EAF18}"/>
              </a:ext>
            </a:extLst>
          </p:cNvPr>
          <p:cNvSpPr txBox="1"/>
          <p:nvPr/>
        </p:nvSpPr>
        <p:spPr>
          <a:xfrm>
            <a:off x="720437" y="2216727"/>
            <a:ext cx="9573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spc="600">
                <a:latin typeface="궁서" panose="02030600000101010101" pitchFamily="18" charset="-127"/>
                <a:ea typeface="궁서" panose="02030600000101010101" pitchFamily="18" charset="-127"/>
                <a:cs typeface="Pretendard" panose="02000503000000020004" pitchFamily="2" charset="-127"/>
              </a:rPr>
              <a:t>“</a:t>
            </a:r>
            <a:r>
              <a:rPr lang="ko-KR" altLang="en-US" sz="5400" spc="600">
                <a:latin typeface="궁서" panose="02030600000101010101" pitchFamily="18" charset="-127"/>
                <a:ea typeface="궁서" panose="02030600000101010101" pitchFamily="18" charset="-127"/>
                <a:cs typeface="Pretendard" panose="02000503000000020004" pitchFamily="2" charset="-127"/>
              </a:rPr>
              <a:t>물건이 </a:t>
            </a:r>
            <a:r>
              <a:rPr lang="ko-KR" altLang="en-US" sz="5400" spc="600" err="1">
                <a:latin typeface="궁서" panose="02030600000101010101" pitchFamily="18" charset="-127"/>
                <a:ea typeface="궁서" panose="02030600000101010101" pitchFamily="18" charset="-127"/>
                <a:cs typeface="Pretendard" panose="02000503000000020004" pitchFamily="2" charset="-127"/>
              </a:rPr>
              <a:t>어디있지</a:t>
            </a:r>
            <a:r>
              <a:rPr lang="en-US" altLang="ko-KR" sz="5400" spc="600">
                <a:latin typeface="궁서" panose="02030600000101010101" pitchFamily="18" charset="-127"/>
                <a:ea typeface="궁서" panose="02030600000101010101" pitchFamily="18" charset="-127"/>
                <a:cs typeface="Pretendard" panose="02000503000000020004" pitchFamily="2" charset="-127"/>
              </a:rPr>
              <a:t>?”</a:t>
            </a:r>
            <a:endParaRPr lang="ko-KR" altLang="en-US" sz="5400" spc="600">
              <a:latin typeface="궁서" panose="02030600000101010101" pitchFamily="18" charset="-127"/>
              <a:ea typeface="궁서" panose="02030600000101010101" pitchFamily="18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5043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AE04D-9E19-0532-EA5C-07EBF0640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8663E7-A933-644D-963E-E95A8BDB1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114" y="3527"/>
            <a:ext cx="18254882" cy="102502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11D56F-A369-E8E8-2C10-AB4ABB3F612D}"/>
              </a:ext>
            </a:extLst>
          </p:cNvPr>
          <p:cNvSpPr txBox="1"/>
          <p:nvPr/>
        </p:nvSpPr>
        <p:spPr>
          <a:xfrm>
            <a:off x="498764" y="1454727"/>
            <a:ext cx="65947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spc="600">
                <a:latin typeface="궁서" panose="02030600000101010101" pitchFamily="18" charset="-127"/>
                <a:ea typeface="궁서" panose="02030600000101010101" pitchFamily="18" charset="-127"/>
                <a:cs typeface="Pretendard" panose="02000503000000020004" pitchFamily="2" charset="-127"/>
              </a:rPr>
              <a:t>엄마를 부르면</a:t>
            </a:r>
            <a:endParaRPr lang="en-US" altLang="ko-KR" sz="5400" spc="600">
              <a:latin typeface="궁서" panose="02030600000101010101" pitchFamily="18" charset="-127"/>
              <a:ea typeface="궁서" panose="02030600000101010101" pitchFamily="18" charset="-127"/>
              <a:cs typeface="Pretendard" panose="02000503000000020004" pitchFamily="2" charset="-127"/>
            </a:endParaRPr>
          </a:p>
          <a:p>
            <a:r>
              <a:rPr lang="ko-KR" altLang="en-US" sz="5400" spc="600">
                <a:latin typeface="궁서" panose="02030600000101010101" pitchFamily="18" charset="-127"/>
                <a:ea typeface="궁서" panose="02030600000101010101" pitchFamily="18" charset="-127"/>
                <a:cs typeface="Pretendard" panose="02000503000000020004" pitchFamily="2" charset="-127"/>
              </a:rPr>
              <a:t>찾을 수 있습니다</a:t>
            </a:r>
            <a:r>
              <a:rPr lang="en-US" altLang="ko-KR" sz="5400" spc="600">
                <a:latin typeface="궁서" panose="02030600000101010101" pitchFamily="18" charset="-127"/>
                <a:ea typeface="궁서" panose="02030600000101010101" pitchFamily="18" charset="-127"/>
                <a:cs typeface="Pretendard" panose="020005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0727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14355-3DAC-6DFC-F70D-FAE2C2B36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7D173E9-7F8D-C952-EC4B-C7217BBCB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595" y="-8904"/>
            <a:ext cx="18311190" cy="102923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BEE30A-55EF-FC35-B0E0-BAD9A2DD6130}"/>
              </a:ext>
            </a:extLst>
          </p:cNvPr>
          <p:cNvSpPr txBox="1"/>
          <p:nvPr/>
        </p:nvSpPr>
        <p:spPr>
          <a:xfrm>
            <a:off x="360218" y="1343891"/>
            <a:ext cx="4876800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5400" spc="600">
                <a:latin typeface="궁서"/>
                <a:ea typeface="궁서"/>
                <a:cs typeface="Pretendard" panose="02000503000000020004" pitchFamily="2" charset="-127"/>
              </a:rPr>
              <a:t>집에서는 </a:t>
            </a:r>
            <a:br>
              <a:rPr lang="ko-KR" altLang="en-US" sz="5400" spc="600">
                <a:latin typeface="궁서"/>
                <a:ea typeface="궁서"/>
                <a:cs typeface="Pretendard" panose="02000503000000020004" pitchFamily="2" charset="-127"/>
              </a:rPr>
            </a:br>
            <a:r>
              <a:rPr lang="ko-KR" altLang="en-US" sz="5400" spc="600">
                <a:latin typeface="궁서"/>
                <a:ea typeface="궁서"/>
                <a:cs typeface="Pretendard" panose="02000503000000020004" pitchFamily="2" charset="-127"/>
              </a:rPr>
              <a:t>물건을</a:t>
            </a:r>
            <a:endParaRPr lang="en-US" altLang="ko-KR" sz="5400" spc="600">
              <a:latin typeface="궁서"/>
              <a:ea typeface="궁서"/>
              <a:cs typeface="Pretendard" panose="02000503000000020004" pitchFamily="2" charset="-127"/>
            </a:endParaRPr>
          </a:p>
          <a:p>
            <a:endParaRPr lang="en-US" altLang="ko-KR" sz="5400" spc="600">
              <a:latin typeface="궁서" panose="02030600000101010101" pitchFamily="18" charset="-127"/>
              <a:ea typeface="궁서" panose="02030600000101010101" pitchFamily="18" charset="-127"/>
              <a:cs typeface="Pretendard" panose="02000503000000020004" pitchFamily="2" charset="-127"/>
            </a:endParaRPr>
          </a:p>
          <a:p>
            <a:r>
              <a:rPr lang="ko-KR" altLang="en-US" sz="5400" spc="600">
                <a:latin typeface="궁서"/>
                <a:ea typeface="궁서"/>
                <a:cs typeface="Pretendard" panose="02000503000000020004" pitchFamily="2" charset="-127"/>
              </a:rPr>
              <a:t>회사에서는 데이터를</a:t>
            </a:r>
            <a:endParaRPr lang="en-US" altLang="ko-KR" sz="5400" spc="600">
              <a:latin typeface="궁서"/>
              <a:ea typeface="궁서"/>
              <a:cs typeface="Pretendard" panose="02000503000000020004" pitchFamily="2" charset="-127"/>
            </a:endParaRPr>
          </a:p>
          <a:p>
            <a:r>
              <a:rPr lang="ko-KR" altLang="en-US" sz="5400" spc="600">
                <a:latin typeface="궁서"/>
                <a:ea typeface="궁서"/>
                <a:cs typeface="Pretendard" panose="02000503000000020004" pitchFamily="2" charset="-127"/>
              </a:rPr>
              <a:t>찾기 어렵고</a:t>
            </a:r>
            <a:endParaRPr lang="en-US" altLang="ko-KR" sz="5400" spc="600">
              <a:latin typeface="궁서"/>
              <a:ea typeface="궁서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8696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5C281-4B17-F56D-E42E-172457653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8B89D9D-99E0-D833-2C66-8D1B0DBA8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" y="3520"/>
            <a:ext cx="18323614" cy="103048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87F656-768F-EA9C-D05A-F81DF5AECFCD}"/>
              </a:ext>
            </a:extLst>
          </p:cNvPr>
          <p:cNvSpPr txBox="1"/>
          <p:nvPr/>
        </p:nvSpPr>
        <p:spPr>
          <a:xfrm>
            <a:off x="720437" y="2216727"/>
            <a:ext cx="65947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spc="600">
                <a:latin typeface="궁서" panose="02030600000101010101" pitchFamily="18" charset="-127"/>
                <a:ea typeface="궁서" panose="02030600000101010101" pitchFamily="18" charset="-127"/>
                <a:cs typeface="Pretendard" panose="02000503000000020004" pitchFamily="2" charset="-127"/>
              </a:rPr>
              <a:t>회사에서는 </a:t>
            </a:r>
            <a:endParaRPr lang="en-US" altLang="ko-KR" sz="5400" spc="600">
              <a:latin typeface="궁서" panose="02030600000101010101" pitchFamily="18" charset="-127"/>
              <a:ea typeface="궁서" panose="02030600000101010101" pitchFamily="18" charset="-127"/>
              <a:cs typeface="Pretendard" panose="02000503000000020004" pitchFamily="2" charset="-127"/>
            </a:endParaRPr>
          </a:p>
          <a:p>
            <a:r>
              <a:rPr lang="ko-KR" altLang="en-US" sz="7200" b="1" spc="600">
                <a:latin typeface="궁서" panose="02030600000101010101" pitchFamily="18" charset="-127"/>
                <a:ea typeface="궁서" panose="02030600000101010101" pitchFamily="18" charset="-127"/>
                <a:cs typeface="Pretendard" panose="02000503000000020004" pitchFamily="2" charset="-127"/>
              </a:rPr>
              <a:t>엄마</a:t>
            </a:r>
            <a:r>
              <a:rPr lang="ko-KR" altLang="en-US" sz="5400" spc="600">
                <a:latin typeface="궁서" panose="02030600000101010101" pitchFamily="18" charset="-127"/>
                <a:ea typeface="궁서" panose="02030600000101010101" pitchFamily="18" charset="-127"/>
                <a:cs typeface="Pretendard" panose="02000503000000020004" pitchFamily="2" charset="-127"/>
              </a:rPr>
              <a:t>를 </a:t>
            </a:r>
            <a:endParaRPr lang="en-US" altLang="ko-KR" sz="5400" spc="600">
              <a:latin typeface="궁서" panose="02030600000101010101" pitchFamily="18" charset="-127"/>
              <a:ea typeface="궁서" panose="02030600000101010101" pitchFamily="18" charset="-127"/>
              <a:cs typeface="Pretendard" panose="02000503000000020004" pitchFamily="2" charset="-127"/>
            </a:endParaRPr>
          </a:p>
          <a:p>
            <a:r>
              <a:rPr lang="ko-KR" altLang="en-US" sz="5400" spc="600">
                <a:latin typeface="궁서" panose="02030600000101010101" pitchFamily="18" charset="-127"/>
                <a:ea typeface="궁서" panose="02030600000101010101" pitchFamily="18" charset="-127"/>
                <a:cs typeface="Pretendard" panose="02000503000000020004" pitchFamily="2" charset="-127"/>
              </a:rPr>
              <a:t>부를 수 없습니다</a:t>
            </a:r>
            <a:r>
              <a:rPr lang="en-US" altLang="ko-KR" sz="5400" spc="600">
                <a:latin typeface="궁서" panose="02030600000101010101" pitchFamily="18" charset="-127"/>
                <a:ea typeface="궁서" panose="02030600000101010101" pitchFamily="18" charset="-127"/>
                <a:cs typeface="Pretendard" panose="020005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4122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15478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07 · PROBLEM</a:t>
            </a:r>
            <a:endParaRPr lang="ko-KR" altLang="en-US" sz="1100" b="1" kern="0" spc="100">
              <a:solidFill>
                <a:srgbClr val="176FE5"/>
              </a:solidFill>
              <a:latin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600" b="1" err="1">
                <a:latin typeface="Pretendard"/>
                <a:ea typeface="Pretendard"/>
                <a:cs typeface="Pretendard" pitchFamily="34" charset="-120"/>
              </a:rPr>
              <a:t>데이터</a:t>
            </a:r>
            <a:r>
              <a:rPr lang="en-US" sz="3600" b="1"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3600" b="1" err="1">
                <a:latin typeface="Pretendard"/>
                <a:ea typeface="Pretendard"/>
                <a:cs typeface="Pretendard" pitchFamily="34" charset="-120"/>
              </a:rPr>
              <a:t>사일로</a:t>
            </a:r>
            <a:endParaRPr lang="ko-KR" altLang="en-US" sz="3600" b="1">
              <a:latin typeface="Calibri"/>
              <a:ea typeface="Pretendard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05840" y="9015984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DATA SILO</a:t>
            </a:r>
            <a:endParaRPr lang="en-US" sz="110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244229" y="8951976"/>
            <a:ext cx="14804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분산된</a:t>
            </a:r>
            <a:r>
              <a:rPr lang="en-US" altLang="ko-KR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기업</a:t>
            </a:r>
            <a:r>
              <a:rPr lang="en-US" altLang="ko-KR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데이터로</a:t>
            </a:r>
            <a:r>
              <a:rPr 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40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연결된</a:t>
            </a:r>
            <a:r>
              <a:rPr lang="en-US" sz="24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40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답을</a:t>
            </a:r>
            <a:r>
              <a:rPr lang="en-US" sz="24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40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만들기</a:t>
            </a:r>
            <a:r>
              <a:rPr lang="en-US" sz="24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4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어려움</a:t>
            </a:r>
            <a:endParaRPr lang="ko-KR" altLang="en-US" sz="2400" b="1">
              <a:solidFill>
                <a:srgbClr val="176FE5"/>
              </a:solidFill>
              <a:latin typeface="Pretendard"/>
              <a:ea typeface="Pretendard" panose="02000503000000020004" pitchFamily="2" charset="-127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BCB51019-B9CA-4304-1D48-DD6C7B6C3CEB}"/>
              </a:ext>
            </a:extLst>
          </p:cNvPr>
          <p:cNvGrpSpPr/>
          <p:nvPr/>
        </p:nvGrpSpPr>
        <p:grpSpPr>
          <a:xfrm>
            <a:off x="1143000" y="3249549"/>
            <a:ext cx="16093440" cy="3787902"/>
            <a:chOff x="1143000" y="3491865"/>
            <a:chExt cx="16093440" cy="3787902"/>
          </a:xfrm>
        </p:grpSpPr>
        <p:sp>
          <p:nvSpPr>
            <p:cNvPr id="12" name="Shape 10"/>
            <p:cNvSpPr/>
            <p:nvPr/>
          </p:nvSpPr>
          <p:spPr>
            <a:xfrm>
              <a:off x="3566160" y="4971652"/>
              <a:ext cx="914400" cy="275573"/>
            </a:xfrm>
            <a:prstGeom prst="line">
              <a:avLst/>
            </a:prstGeom>
            <a:noFill/>
            <a:ln w="38100">
              <a:solidFill>
                <a:srgbClr val="AFC7E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/>
                <a:ea typeface="Pretendard" panose="02000503000000020004" pitchFamily="2" charset="-127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 flipV="1">
              <a:off x="6903720" y="4984291"/>
              <a:ext cx="358590" cy="143436"/>
            </a:xfrm>
            <a:prstGeom prst="line">
              <a:avLst/>
            </a:prstGeom>
            <a:noFill/>
            <a:ln w="44450">
              <a:solidFill>
                <a:srgbClr val="176FE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/>
                <a:ea typeface="Pretendard" panose="02000503000000020004" pitchFamily="2" charset="-127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 flipV="1">
              <a:off x="7550970" y="4725391"/>
              <a:ext cx="358590" cy="143436"/>
            </a:xfrm>
            <a:prstGeom prst="line">
              <a:avLst/>
            </a:prstGeom>
            <a:noFill/>
            <a:ln w="44450">
              <a:solidFill>
                <a:srgbClr val="176FE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7312068" y="4786141"/>
              <a:ext cx="128016" cy="128016"/>
            </a:xfrm>
            <a:prstGeom prst="line">
              <a:avLst/>
            </a:prstGeom>
            <a:noFill/>
            <a:ln w="25400">
              <a:solidFill>
                <a:srgbClr val="176FE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7373196" y="4938961"/>
              <a:ext cx="128016" cy="128016"/>
            </a:xfrm>
            <a:prstGeom prst="line">
              <a:avLst/>
            </a:prstGeom>
            <a:noFill/>
            <a:ln w="25400">
              <a:solidFill>
                <a:srgbClr val="176FE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10332720" y="4700050"/>
              <a:ext cx="1005840" cy="381299"/>
            </a:xfrm>
            <a:prstGeom prst="line">
              <a:avLst/>
            </a:prstGeom>
            <a:noFill/>
            <a:ln w="38100">
              <a:solidFill>
                <a:srgbClr val="AFC7E2"/>
              </a:solidFill>
              <a:prstDash val="dash"/>
            </a:ln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 flipV="1">
              <a:off x="13898880" y="5104872"/>
              <a:ext cx="262560" cy="78589"/>
            </a:xfrm>
            <a:prstGeom prst="line">
              <a:avLst/>
            </a:prstGeom>
            <a:noFill/>
            <a:ln w="38100">
              <a:solidFill>
                <a:srgbClr val="AFC7E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 flipV="1">
              <a:off x="14459280" y="4937133"/>
              <a:ext cx="262560" cy="78589"/>
            </a:xfrm>
            <a:prstGeom prst="line">
              <a:avLst/>
            </a:prstGeom>
            <a:noFill/>
            <a:ln w="38100">
              <a:solidFill>
                <a:srgbClr val="AFC7E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14222754" y="4917449"/>
              <a:ext cx="128016" cy="128016"/>
            </a:xfrm>
            <a:prstGeom prst="line">
              <a:avLst/>
            </a:prstGeom>
            <a:noFill/>
            <a:ln w="25400">
              <a:solidFill>
                <a:srgbClr val="176FE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14269950" y="5075129"/>
              <a:ext cx="128016" cy="128016"/>
            </a:xfrm>
            <a:prstGeom prst="line">
              <a:avLst/>
            </a:prstGeom>
            <a:noFill/>
            <a:ln w="25400">
              <a:solidFill>
                <a:srgbClr val="176FE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1143000" y="3857625"/>
              <a:ext cx="242316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153451"/>
                  </a:solidFill>
                  <a:latin typeface="Pretendard" pitchFamily="34" charset="0"/>
                  <a:ea typeface="Pretendard"/>
                  <a:cs typeface="Pretendard" pitchFamily="34" charset="-120"/>
                </a:rPr>
                <a:t>영업</a:t>
              </a:r>
              <a:endParaRPr lang="en-US" sz="2400">
                <a:ea typeface="Pretendard"/>
              </a:endParaRPr>
            </a:p>
          </p:txBody>
        </p:sp>
        <p:pic>
          <p:nvPicPr>
            <p:cNvPr id="2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7964" y="4286479"/>
              <a:ext cx="713232" cy="713232"/>
            </a:xfrm>
            <a:prstGeom prst="rect">
              <a:avLst/>
            </a:prstGeom>
          </p:spPr>
        </p:pic>
        <p:sp>
          <p:nvSpPr>
            <p:cNvPr id="24" name="Text 21"/>
            <p:cNvSpPr txBox="1"/>
            <p:nvPr/>
          </p:nvSpPr>
          <p:spPr>
            <a:xfrm>
              <a:off x="1143000" y="4974107"/>
              <a:ext cx="2423160" cy="285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>
                  <a:solidFill>
                    <a:srgbClr val="4B5F73"/>
                  </a:solidFill>
                  <a:latin typeface="Pretendard"/>
                  <a:ea typeface="Pretendard" pitchFamily="34" charset="-122"/>
                  <a:cs typeface="Pretendard" pitchFamily="34" charset="-120"/>
                </a:rPr>
                <a:t>저장 위치 분리</a:t>
              </a:r>
              <a:endParaRPr lang="en-US" sz="1800">
                <a:latin typeface="Pretendard"/>
              </a:endParaRPr>
            </a:p>
          </p:txBody>
        </p:sp>
        <p:sp>
          <p:nvSpPr>
            <p:cNvPr id="25" name="Shape 22"/>
            <p:cNvSpPr/>
            <p:nvPr/>
          </p:nvSpPr>
          <p:spPr>
            <a:xfrm>
              <a:off x="1143000" y="5383301"/>
              <a:ext cx="2423160" cy="566928"/>
            </a:xfrm>
            <a:prstGeom prst="rect">
              <a:avLst/>
            </a:prstGeom>
            <a:solidFill>
              <a:srgbClr val="F7FAFF"/>
            </a:solidFill>
            <a:ln w="9525">
              <a:solidFill>
                <a:srgbClr val="DCE7F4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 panose="02000503000000020004" pitchFamily="2" charset="-127"/>
              </a:endParaRPr>
            </a:p>
          </p:txBody>
        </p:sp>
        <p:sp>
          <p:nvSpPr>
            <p:cNvPr id="26" name="Shape 23"/>
            <p:cNvSpPr/>
            <p:nvPr/>
          </p:nvSpPr>
          <p:spPr>
            <a:xfrm>
              <a:off x="1143000" y="5383301"/>
              <a:ext cx="2423160" cy="32004"/>
            </a:xfrm>
            <a:prstGeom prst="rect">
              <a:avLst/>
            </a:prstGeom>
            <a:solidFill>
              <a:srgbClr val="176FE5"/>
            </a:solidFill>
            <a:ln/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27" name="Text 24"/>
            <p:cNvSpPr txBox="1"/>
            <p:nvPr/>
          </p:nvSpPr>
          <p:spPr>
            <a:xfrm>
              <a:off x="1216152" y="5383301"/>
              <a:ext cx="227685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153451"/>
                  </a:solidFill>
                  <a:latin typeface="Pretendard" pitchFamily="34" charset="0"/>
                  <a:ea typeface="Pretendard"/>
                  <a:cs typeface="Pretendard" pitchFamily="34" charset="-120"/>
                </a:rPr>
                <a:t>CRM</a:t>
              </a:r>
              <a:endParaRPr lang="en-US" sz="2400">
                <a:ea typeface="Pretendard"/>
              </a:endParaRPr>
            </a:p>
          </p:txBody>
        </p:sp>
        <p:sp>
          <p:nvSpPr>
            <p:cNvPr id="28" name="Text 25"/>
            <p:cNvSpPr txBox="1"/>
            <p:nvPr/>
          </p:nvSpPr>
          <p:spPr>
            <a:xfrm>
              <a:off x="1143000" y="6036183"/>
              <a:ext cx="2423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50">
                  <a:solidFill>
                    <a:srgbClr val="71869B"/>
                  </a:solidFill>
                  <a:latin typeface="Pretendard"/>
                  <a:ea typeface="Pretendard"/>
                  <a:cs typeface="Pretendard" pitchFamily="34" charset="-120"/>
                </a:rPr>
                <a:t>고객·기회 데이터</a:t>
              </a:r>
              <a:endParaRPr lang="en-US" sz="1650">
                <a:latin typeface="Pretendard"/>
                <a:ea typeface="Pretendard"/>
              </a:endParaRPr>
            </a:p>
          </p:txBody>
        </p:sp>
        <p:sp>
          <p:nvSpPr>
            <p:cNvPr id="29" name="Text 26"/>
            <p:cNvSpPr txBox="1"/>
            <p:nvPr/>
          </p:nvSpPr>
          <p:spPr>
            <a:xfrm>
              <a:off x="4480560" y="4863465"/>
              <a:ext cx="242316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운영</a:t>
              </a:r>
              <a:endParaRPr lang="en-US" sz="2400">
                <a:latin typeface="Pretendard"/>
                <a:ea typeface="Pretendard"/>
              </a:endParaRPr>
            </a:p>
          </p:txBody>
        </p:sp>
        <p:pic>
          <p:nvPicPr>
            <p:cNvPr id="30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5524" y="5292319"/>
              <a:ext cx="713232" cy="713232"/>
            </a:xfrm>
            <a:prstGeom prst="rect">
              <a:avLst/>
            </a:prstGeom>
          </p:spPr>
        </p:pic>
        <p:sp>
          <p:nvSpPr>
            <p:cNvPr id="31" name="Text 27"/>
            <p:cNvSpPr txBox="1"/>
            <p:nvPr/>
          </p:nvSpPr>
          <p:spPr>
            <a:xfrm>
              <a:off x="4480560" y="5979947"/>
              <a:ext cx="2423160" cy="285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>
                  <a:solidFill>
                    <a:srgbClr val="4B5F73"/>
                  </a:solidFill>
                  <a:latin typeface="Pretendard"/>
                  <a:ea typeface="Pretendard"/>
                  <a:cs typeface="Pretendard" pitchFamily="34" charset="-120"/>
                </a:rPr>
                <a:t>데이터 형식 상이</a:t>
              </a:r>
              <a:endParaRPr lang="en-US" sz="1800">
                <a:latin typeface="Pretendard"/>
                <a:ea typeface="Pretendard"/>
              </a:endParaRPr>
            </a:p>
          </p:txBody>
        </p:sp>
        <p:sp>
          <p:nvSpPr>
            <p:cNvPr id="32" name="Shape 28"/>
            <p:cNvSpPr/>
            <p:nvPr/>
          </p:nvSpPr>
          <p:spPr>
            <a:xfrm>
              <a:off x="4480560" y="6389141"/>
              <a:ext cx="2423160" cy="566928"/>
            </a:xfrm>
            <a:prstGeom prst="rect">
              <a:avLst/>
            </a:prstGeom>
            <a:solidFill>
              <a:srgbClr val="F7FAFF"/>
            </a:solidFill>
            <a:ln w="9525">
              <a:solidFill>
                <a:srgbClr val="DCE7F4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/>
                <a:ea typeface="Pretendard"/>
              </a:endParaRPr>
            </a:p>
          </p:txBody>
        </p:sp>
        <p:sp>
          <p:nvSpPr>
            <p:cNvPr id="33" name="Shape 29"/>
            <p:cNvSpPr/>
            <p:nvPr/>
          </p:nvSpPr>
          <p:spPr>
            <a:xfrm>
              <a:off x="4480560" y="6389141"/>
              <a:ext cx="2423160" cy="32004"/>
            </a:xfrm>
            <a:prstGeom prst="rect">
              <a:avLst/>
            </a:prstGeom>
            <a:solidFill>
              <a:srgbClr val="176FE5"/>
            </a:solidFill>
            <a:ln/>
          </p:spPr>
          <p:txBody>
            <a:bodyPr/>
            <a:lstStyle/>
            <a:p>
              <a:endParaRPr lang="ko-KR" altLang="en-US">
                <a:latin typeface="Pretendard"/>
                <a:ea typeface="Pretendard"/>
              </a:endParaRPr>
            </a:p>
          </p:txBody>
        </p:sp>
        <p:sp>
          <p:nvSpPr>
            <p:cNvPr id="34" name="Text 30"/>
            <p:cNvSpPr txBox="1"/>
            <p:nvPr/>
          </p:nvSpPr>
          <p:spPr>
            <a:xfrm>
              <a:off x="4553712" y="6389141"/>
              <a:ext cx="227685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ERP</a:t>
              </a:r>
              <a:endParaRPr lang="en-US" sz="2400">
                <a:latin typeface="Pretendard"/>
                <a:ea typeface="Pretendard"/>
              </a:endParaRPr>
            </a:p>
          </p:txBody>
        </p:sp>
        <p:sp>
          <p:nvSpPr>
            <p:cNvPr id="35" name="Text 31"/>
            <p:cNvSpPr txBox="1"/>
            <p:nvPr/>
          </p:nvSpPr>
          <p:spPr>
            <a:xfrm>
              <a:off x="4480560" y="7042023"/>
              <a:ext cx="2423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50">
                  <a:solidFill>
                    <a:srgbClr val="71869B"/>
                  </a:solidFill>
                  <a:latin typeface="Pretendard"/>
                  <a:ea typeface="Pretendard"/>
                  <a:cs typeface="Pretendard" pitchFamily="34" charset="-120"/>
                </a:rPr>
                <a:t>주문·재고 데이터</a:t>
              </a:r>
              <a:endParaRPr lang="en-US" sz="1650">
                <a:latin typeface="Pretendard"/>
                <a:ea typeface="Pretendard"/>
              </a:endParaRPr>
            </a:p>
          </p:txBody>
        </p:sp>
        <p:sp>
          <p:nvSpPr>
            <p:cNvPr id="36" name="Text 32"/>
            <p:cNvSpPr txBox="1"/>
            <p:nvPr/>
          </p:nvSpPr>
          <p:spPr>
            <a:xfrm>
              <a:off x="7909560" y="3491865"/>
              <a:ext cx="242316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153451"/>
                  </a:solidFill>
                  <a:latin typeface="Pretendard" pitchFamily="34" charset="0"/>
                  <a:ea typeface="Pretendard"/>
                  <a:cs typeface="Pretendard" pitchFamily="34" charset="-120"/>
                </a:rPr>
                <a:t>고객</a:t>
              </a:r>
              <a:endParaRPr lang="en-US" sz="2400">
                <a:ea typeface="Pretendard"/>
              </a:endParaRPr>
            </a:p>
          </p:txBody>
        </p:sp>
        <p:pic>
          <p:nvPicPr>
            <p:cNvPr id="37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64524" y="3920719"/>
              <a:ext cx="713232" cy="713232"/>
            </a:xfrm>
            <a:prstGeom prst="rect">
              <a:avLst/>
            </a:prstGeom>
          </p:spPr>
        </p:pic>
        <p:sp>
          <p:nvSpPr>
            <p:cNvPr id="38" name="Text 33"/>
            <p:cNvSpPr txBox="1"/>
            <p:nvPr/>
          </p:nvSpPr>
          <p:spPr>
            <a:xfrm>
              <a:off x="7909560" y="4608347"/>
              <a:ext cx="2423160" cy="285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>
                  <a:solidFill>
                    <a:srgbClr val="4B5F73"/>
                  </a:solidFill>
                  <a:latin typeface="Pretendard"/>
                  <a:ea typeface="Pretendard" pitchFamily="34" charset="-122"/>
                  <a:cs typeface="Pretendard" pitchFamily="34" charset="-120"/>
                </a:rPr>
                <a:t>업무 정의 상이</a:t>
              </a:r>
              <a:endParaRPr lang="en-US" sz="1800">
                <a:latin typeface="Pretendard"/>
              </a:endParaRPr>
            </a:p>
          </p:txBody>
        </p:sp>
        <p:sp>
          <p:nvSpPr>
            <p:cNvPr id="39" name="Shape 34"/>
            <p:cNvSpPr/>
            <p:nvPr/>
          </p:nvSpPr>
          <p:spPr>
            <a:xfrm>
              <a:off x="7909560" y="5017541"/>
              <a:ext cx="2423160" cy="566928"/>
            </a:xfrm>
            <a:prstGeom prst="rect">
              <a:avLst/>
            </a:prstGeom>
            <a:solidFill>
              <a:srgbClr val="F7FAFF"/>
            </a:solidFill>
            <a:ln w="9525">
              <a:solidFill>
                <a:srgbClr val="DCE7F4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 panose="02000503000000020004" pitchFamily="2" charset="-127"/>
              </a:endParaRPr>
            </a:p>
          </p:txBody>
        </p:sp>
        <p:sp>
          <p:nvSpPr>
            <p:cNvPr id="40" name="Shape 35"/>
            <p:cNvSpPr/>
            <p:nvPr/>
          </p:nvSpPr>
          <p:spPr>
            <a:xfrm>
              <a:off x="7909560" y="5017541"/>
              <a:ext cx="2423160" cy="32004"/>
            </a:xfrm>
            <a:prstGeom prst="rect">
              <a:avLst/>
            </a:prstGeom>
            <a:solidFill>
              <a:srgbClr val="176FE5"/>
            </a:solidFill>
            <a:ln/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41" name="Text 36"/>
            <p:cNvSpPr txBox="1"/>
            <p:nvPr/>
          </p:nvSpPr>
          <p:spPr>
            <a:xfrm>
              <a:off x="7982712" y="5017541"/>
              <a:ext cx="227685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153451"/>
                  </a:solidFill>
                  <a:latin typeface="Pretendard" pitchFamily="34" charset="0"/>
                  <a:ea typeface="Pretendard"/>
                  <a:cs typeface="Pretendard" pitchFamily="34" charset="-120"/>
                </a:rPr>
                <a:t>VOC</a:t>
              </a:r>
              <a:endParaRPr lang="en-US" sz="2400">
                <a:ea typeface="Pretendard"/>
              </a:endParaRPr>
            </a:p>
          </p:txBody>
        </p:sp>
        <p:sp>
          <p:nvSpPr>
            <p:cNvPr id="42" name="Text 37"/>
            <p:cNvSpPr txBox="1"/>
            <p:nvPr/>
          </p:nvSpPr>
          <p:spPr>
            <a:xfrm>
              <a:off x="7909560" y="5670423"/>
              <a:ext cx="2423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50">
                  <a:solidFill>
                    <a:srgbClr val="71869B"/>
                  </a:solidFill>
                  <a:latin typeface="Pretendard"/>
                  <a:ea typeface="Pretendard"/>
                  <a:cs typeface="Pretendard" pitchFamily="34" charset="-120"/>
                </a:rPr>
                <a:t>문의·평가 데이터</a:t>
              </a:r>
              <a:endParaRPr lang="en-US" sz="1650">
                <a:latin typeface="Pretendard"/>
                <a:ea typeface="Pretendard"/>
              </a:endParaRPr>
            </a:p>
          </p:txBody>
        </p:sp>
        <p:sp>
          <p:nvSpPr>
            <p:cNvPr id="43" name="Text 38"/>
            <p:cNvSpPr txBox="1"/>
            <p:nvPr/>
          </p:nvSpPr>
          <p:spPr>
            <a:xfrm>
              <a:off x="11338560" y="4817745"/>
              <a:ext cx="256032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재무</a:t>
              </a:r>
              <a:endParaRPr lang="en-US" sz="2400">
                <a:latin typeface="Pretendard"/>
                <a:ea typeface="Pretendard"/>
              </a:endParaRPr>
            </a:p>
          </p:txBody>
        </p:sp>
        <p:pic>
          <p:nvPicPr>
            <p:cNvPr id="44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262104" y="5246599"/>
              <a:ext cx="713232" cy="713232"/>
            </a:xfrm>
            <a:prstGeom prst="rect">
              <a:avLst/>
            </a:prstGeom>
          </p:spPr>
        </p:pic>
        <p:sp>
          <p:nvSpPr>
            <p:cNvPr id="45" name="Text 39"/>
            <p:cNvSpPr txBox="1"/>
            <p:nvPr/>
          </p:nvSpPr>
          <p:spPr>
            <a:xfrm>
              <a:off x="11338560" y="5934227"/>
              <a:ext cx="2560320" cy="285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>
                  <a:solidFill>
                    <a:srgbClr val="4B5F73"/>
                  </a:solidFill>
                  <a:latin typeface="Pretendard"/>
                  <a:ea typeface="Pretendard"/>
                  <a:cs typeface="Pretendard" pitchFamily="34" charset="-120"/>
                </a:rPr>
                <a:t>접근 권한 분리</a:t>
              </a:r>
              <a:endParaRPr lang="en-US" sz="1800">
                <a:latin typeface="Pretendard"/>
                <a:ea typeface="Pretendard"/>
              </a:endParaRPr>
            </a:p>
          </p:txBody>
        </p:sp>
        <p:sp>
          <p:nvSpPr>
            <p:cNvPr id="46" name="Shape 40"/>
            <p:cNvSpPr/>
            <p:nvPr/>
          </p:nvSpPr>
          <p:spPr>
            <a:xfrm>
              <a:off x="11338560" y="6343421"/>
              <a:ext cx="2560320" cy="566928"/>
            </a:xfrm>
            <a:prstGeom prst="rect">
              <a:avLst/>
            </a:prstGeom>
            <a:solidFill>
              <a:srgbClr val="F7FAFF"/>
            </a:solidFill>
            <a:ln w="9525">
              <a:solidFill>
                <a:srgbClr val="DCE7F4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/>
                <a:ea typeface="Pretendard"/>
              </a:endParaRPr>
            </a:p>
          </p:txBody>
        </p:sp>
        <p:sp>
          <p:nvSpPr>
            <p:cNvPr id="47" name="Shape 41"/>
            <p:cNvSpPr/>
            <p:nvPr/>
          </p:nvSpPr>
          <p:spPr>
            <a:xfrm>
              <a:off x="11338560" y="6343421"/>
              <a:ext cx="2560320" cy="32004"/>
            </a:xfrm>
            <a:prstGeom prst="rect">
              <a:avLst/>
            </a:prstGeom>
            <a:solidFill>
              <a:srgbClr val="176FE5"/>
            </a:solidFill>
            <a:ln/>
          </p:spPr>
          <p:txBody>
            <a:bodyPr/>
            <a:lstStyle/>
            <a:p>
              <a:endParaRPr lang="ko-KR" altLang="en-US">
                <a:latin typeface="Pretendard"/>
                <a:ea typeface="Pretendard"/>
              </a:endParaRPr>
            </a:p>
          </p:txBody>
        </p:sp>
        <p:sp>
          <p:nvSpPr>
            <p:cNvPr id="48" name="Text 42"/>
            <p:cNvSpPr txBox="1"/>
            <p:nvPr/>
          </p:nvSpPr>
          <p:spPr>
            <a:xfrm>
              <a:off x="11411712" y="6343421"/>
              <a:ext cx="241401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회계·DW</a:t>
              </a:r>
              <a:endParaRPr lang="en-US" sz="2400">
                <a:latin typeface="Pretendard"/>
                <a:ea typeface="Pretendard"/>
              </a:endParaRPr>
            </a:p>
          </p:txBody>
        </p:sp>
        <p:sp>
          <p:nvSpPr>
            <p:cNvPr id="49" name="Text 43"/>
            <p:cNvSpPr txBox="1"/>
            <p:nvPr/>
          </p:nvSpPr>
          <p:spPr>
            <a:xfrm>
              <a:off x="11338560" y="6996303"/>
              <a:ext cx="25603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50">
                  <a:solidFill>
                    <a:srgbClr val="71869B"/>
                  </a:solidFill>
                  <a:latin typeface="Pretendard"/>
                  <a:ea typeface="Pretendard"/>
                  <a:cs typeface="Pretendard" pitchFamily="34" charset="-120"/>
                </a:rPr>
                <a:t>매출·원가 데이터</a:t>
              </a:r>
              <a:endParaRPr lang="en-US" sz="1650">
                <a:latin typeface="Pretendard"/>
                <a:ea typeface="Pretendard"/>
              </a:endParaRPr>
            </a:p>
          </p:txBody>
        </p:sp>
        <p:sp>
          <p:nvSpPr>
            <p:cNvPr id="50" name="Text 44"/>
            <p:cNvSpPr txBox="1"/>
            <p:nvPr/>
          </p:nvSpPr>
          <p:spPr>
            <a:xfrm>
              <a:off x="14721840" y="3811905"/>
              <a:ext cx="25146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2400" b="1">
                  <a:solidFill>
                    <a:srgbClr val="153451"/>
                  </a:solidFill>
                  <a:latin typeface="Pretendard"/>
                  <a:ea typeface="Pretendard" panose="02000503000000020004" pitchFamily="2" charset="-127"/>
                </a:rPr>
                <a:t>로컬</a:t>
              </a:r>
              <a:endParaRPr lang="en-US" sz="2400" b="1">
                <a:solidFill>
                  <a:srgbClr val="153451"/>
                </a:solidFill>
                <a:latin typeface="Pretendard"/>
              </a:endParaRPr>
            </a:p>
          </p:txBody>
        </p:sp>
        <p:pic>
          <p:nvPicPr>
            <p:cNvPr id="51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622524" y="4240759"/>
              <a:ext cx="713232" cy="713232"/>
            </a:xfrm>
            <a:prstGeom prst="rect">
              <a:avLst/>
            </a:prstGeom>
          </p:spPr>
        </p:pic>
        <p:sp>
          <p:nvSpPr>
            <p:cNvPr id="52" name="Text 45"/>
            <p:cNvSpPr txBox="1"/>
            <p:nvPr/>
          </p:nvSpPr>
          <p:spPr>
            <a:xfrm>
              <a:off x="14721840" y="4928387"/>
              <a:ext cx="2514600" cy="285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>
                  <a:solidFill>
                    <a:srgbClr val="4B5F73"/>
                  </a:solidFill>
                  <a:latin typeface="Pretendard"/>
                  <a:ea typeface="Pretendard"/>
                  <a:cs typeface="Pretendard" pitchFamily="34" charset="-120"/>
                </a:rPr>
                <a:t>연동 규격 상이</a:t>
              </a:r>
              <a:endParaRPr lang="en-US" sz="1800">
                <a:latin typeface="Pretendard"/>
                <a:ea typeface="Pretendard"/>
              </a:endParaRPr>
            </a:p>
          </p:txBody>
        </p:sp>
        <p:sp>
          <p:nvSpPr>
            <p:cNvPr id="53" name="Shape 46"/>
            <p:cNvSpPr/>
            <p:nvPr/>
          </p:nvSpPr>
          <p:spPr>
            <a:xfrm>
              <a:off x="14721840" y="5337581"/>
              <a:ext cx="2514600" cy="566928"/>
            </a:xfrm>
            <a:prstGeom prst="rect">
              <a:avLst/>
            </a:prstGeom>
            <a:solidFill>
              <a:srgbClr val="F7FAFF"/>
            </a:solidFill>
            <a:ln w="9525">
              <a:solidFill>
                <a:srgbClr val="DCE7F4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/>
                <a:ea typeface="Pretendard"/>
              </a:endParaRPr>
            </a:p>
          </p:txBody>
        </p:sp>
        <p:sp>
          <p:nvSpPr>
            <p:cNvPr id="54" name="Shape 47"/>
            <p:cNvSpPr/>
            <p:nvPr/>
          </p:nvSpPr>
          <p:spPr>
            <a:xfrm>
              <a:off x="14721840" y="5337581"/>
              <a:ext cx="2514600" cy="32004"/>
            </a:xfrm>
            <a:prstGeom prst="rect">
              <a:avLst/>
            </a:prstGeom>
            <a:solidFill>
              <a:srgbClr val="176FE5"/>
            </a:solidFill>
            <a:ln/>
          </p:spPr>
          <p:txBody>
            <a:bodyPr/>
            <a:lstStyle/>
            <a:p>
              <a:endParaRPr lang="ko-KR" altLang="en-US">
                <a:latin typeface="Pretendard"/>
                <a:ea typeface="Pretendard"/>
              </a:endParaRPr>
            </a:p>
          </p:txBody>
        </p:sp>
        <p:sp>
          <p:nvSpPr>
            <p:cNvPr id="55" name="Text 48"/>
            <p:cNvSpPr txBox="1"/>
            <p:nvPr/>
          </p:nvSpPr>
          <p:spPr>
            <a:xfrm>
              <a:off x="14794992" y="5337581"/>
              <a:ext cx="236829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문서 저장소</a:t>
              </a:r>
              <a:endParaRPr lang="en-US" sz="2400">
                <a:latin typeface="Pretendard"/>
                <a:ea typeface="Pretendard"/>
              </a:endParaRPr>
            </a:p>
          </p:txBody>
        </p:sp>
        <p:sp>
          <p:nvSpPr>
            <p:cNvPr id="56" name="Text 49"/>
            <p:cNvSpPr txBox="1"/>
            <p:nvPr/>
          </p:nvSpPr>
          <p:spPr>
            <a:xfrm>
              <a:off x="14721840" y="5990463"/>
              <a:ext cx="25146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50">
                  <a:solidFill>
                    <a:srgbClr val="71869B"/>
                  </a:solidFill>
                  <a:latin typeface="Pretendard"/>
                  <a:ea typeface="Pretendard"/>
                  <a:cs typeface="Pretendard" pitchFamily="34" charset="-120"/>
                </a:rPr>
                <a:t>계약·보고서</a:t>
              </a:r>
              <a:endParaRPr lang="en-US" sz="1650">
                <a:latin typeface="Pretendard"/>
                <a:ea typeface="Pretendar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08</a:t>
            </a: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· REPEAT WORK</a:t>
            </a:r>
            <a:endParaRPr lang="en-US" sz="1100">
              <a:latin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반복되는 보고서 작성</a:t>
            </a:r>
            <a:endParaRPr lang="en-US" sz="3600">
              <a:ea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05840" y="9015984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REPEAT WORK</a:t>
            </a:r>
            <a:endParaRPr lang="en-US" sz="110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478024" y="8951976"/>
            <a:ext cx="14804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자료 탐색과 정리가 </a:t>
            </a:r>
            <a:r>
              <a:rPr lang="en-US" sz="24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매주 다시 반복</a:t>
            </a:r>
            <a:endParaRPr lang="en-US" sz="2400">
              <a:latin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09650" y="2571750"/>
            <a:ext cx="23812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2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여러 부서</a:t>
            </a:r>
            <a:endParaRPr lang="en-US">
              <a:ea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09650" y="3009900"/>
            <a:ext cx="17145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7780">
            <a:solidFill>
              <a:srgbClr val="8FA7BA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09650" y="3057525"/>
            <a:ext cx="171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영업</a:t>
            </a:r>
            <a:endParaRPr lang="en-US" sz="2100">
              <a:ea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14650" y="3009900"/>
            <a:ext cx="17145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7780">
            <a:solidFill>
              <a:srgbClr val="8FA7BA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914650" y="3057525"/>
            <a:ext cx="171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운영</a:t>
            </a:r>
            <a:endParaRPr lang="en-US" sz="2100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19650" y="3009900"/>
            <a:ext cx="17145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7780">
            <a:solidFill>
              <a:srgbClr val="8FA7BA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819650" y="3057525"/>
            <a:ext cx="171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고객</a:t>
            </a:r>
            <a:endParaRPr lang="en-US" sz="2100">
              <a:latin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724650" y="3009900"/>
            <a:ext cx="1714500" cy="723900"/>
          </a:xfrm>
          <a:prstGeom prst="roundRect">
            <a:avLst>
              <a:gd name="adj" fmla="val 13158"/>
            </a:avLst>
          </a:prstGeom>
          <a:solidFill>
            <a:srgbClr val="EAF3FF"/>
          </a:solidFill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724650" y="3057525"/>
            <a:ext cx="171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재무</a:t>
            </a:r>
            <a:endParaRPr lang="en-US" sz="2100">
              <a:ea typeface="Pretendard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906000" y="2571750"/>
            <a:ext cx="3429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2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서로 다른 파일 형식</a:t>
            </a:r>
            <a:endParaRPr lang="en-US">
              <a:latin typeface="Pretendard"/>
              <a:ea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906000" y="3009900"/>
            <a:ext cx="7372350" cy="1790700"/>
          </a:xfrm>
          <a:prstGeom prst="roundRect">
            <a:avLst>
              <a:gd name="adj" fmla="val 8511"/>
            </a:avLst>
          </a:prstGeom>
          <a:solidFill>
            <a:srgbClr val="F7FAFF"/>
          </a:solidFill>
          <a:ln w="1524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534400" y="3371850"/>
            <a:ext cx="1276350" cy="0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3487400" y="3257550"/>
            <a:ext cx="95" cy="1295400"/>
          </a:xfrm>
          <a:prstGeom prst="line">
            <a:avLst/>
          </a:prstGeom>
          <a:noFill/>
          <a:ln w="12700">
            <a:solidFill>
              <a:srgbClr val="D2DE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0344150" y="3219450"/>
            <a:ext cx="123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전표</a:t>
            </a:r>
            <a:endParaRPr lang="en-US" sz="1850">
              <a:latin typeface="Pretendard"/>
              <a:ea typeface="Pretendard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1715750" y="3219450"/>
            <a:ext cx="123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ERP</a:t>
            </a:r>
            <a:endParaRPr lang="en-US" sz="1850">
              <a:latin typeface="Pretendard"/>
              <a:ea typeface="Pretendard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0344150" y="3714750"/>
            <a:ext cx="123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원장</a:t>
            </a:r>
            <a:endParaRPr lang="en-US" sz="1850">
              <a:latin typeface="Pretendard"/>
              <a:ea typeface="Pretendard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1715750" y="3714750"/>
            <a:ext cx="123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JPG</a:t>
            </a:r>
            <a:endParaRPr lang="en-US" sz="1850">
              <a:latin typeface="Pretendard"/>
              <a:ea typeface="Pretendard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10344150" y="4210050"/>
            <a:ext cx="123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예산</a:t>
            </a:r>
            <a:endParaRPr lang="en-US" sz="1850">
              <a:latin typeface="Pretendard"/>
              <a:ea typeface="Pretendard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1715750" y="4210050"/>
            <a:ext cx="1238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Excel</a:t>
            </a:r>
            <a:endParaRPr lang="en-US" sz="1850">
              <a:latin typeface="Pretendard"/>
              <a:ea typeface="Pretendard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3906500" y="3219450"/>
            <a:ext cx="1714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정산</a:t>
            </a:r>
            <a:endParaRPr lang="en-US" sz="1850">
              <a:latin typeface="Pretendard"/>
              <a:ea typeface="Pretendard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5792450" y="3219450"/>
            <a:ext cx="1047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CSV</a:t>
            </a:r>
            <a:endParaRPr lang="en-US" sz="1850">
              <a:latin typeface="Pretendard"/>
              <a:ea typeface="Pretendard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3906500" y="3714750"/>
            <a:ext cx="1714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세금계산서</a:t>
            </a:r>
            <a:endParaRPr lang="en-US" sz="1850">
              <a:latin typeface="Pretendard"/>
              <a:ea typeface="Pretendard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15792450" y="3714750"/>
            <a:ext cx="1047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PDF</a:t>
            </a:r>
            <a:endParaRPr lang="en-US" sz="1850">
              <a:latin typeface="Pretendard"/>
              <a:ea typeface="Pretendard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3906500" y="4210050"/>
            <a:ext cx="1714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카드·은행</a:t>
            </a:r>
            <a:endParaRPr lang="en-US" sz="1850">
              <a:latin typeface="Pretendard"/>
              <a:ea typeface="Pretendard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5792450" y="4210050"/>
            <a:ext cx="1047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API</a:t>
            </a:r>
            <a:endParaRPr lang="en-US" sz="1850">
              <a:latin typeface="Pretendard"/>
              <a:ea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866900" y="3829050"/>
            <a:ext cx="95" cy="219075"/>
          </a:xfrm>
          <a:prstGeom prst="line">
            <a:avLst/>
          </a:prstGeom>
          <a:noFill/>
          <a:ln w="15875">
            <a:solidFill>
              <a:srgbClr val="8FA7B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866900" y="4048125"/>
            <a:ext cx="3810000" cy="904875"/>
          </a:xfrm>
          <a:prstGeom prst="line">
            <a:avLst/>
          </a:prstGeom>
          <a:noFill/>
          <a:ln w="15875">
            <a:solidFill>
              <a:srgbClr val="8FA7B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771900" y="3829050"/>
            <a:ext cx="95" cy="219075"/>
          </a:xfrm>
          <a:prstGeom prst="line">
            <a:avLst/>
          </a:prstGeom>
          <a:noFill/>
          <a:ln w="15875">
            <a:solidFill>
              <a:srgbClr val="8FA7B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771900" y="4048125"/>
            <a:ext cx="1905000" cy="904875"/>
          </a:xfrm>
          <a:prstGeom prst="line">
            <a:avLst/>
          </a:prstGeom>
          <a:noFill/>
          <a:ln w="15875">
            <a:solidFill>
              <a:srgbClr val="8FA7B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581900" y="3829050"/>
            <a:ext cx="95" cy="219075"/>
          </a:xfrm>
          <a:prstGeom prst="line">
            <a:avLst/>
          </a:prstGeom>
          <a:noFill/>
          <a:ln w="15875">
            <a:solidFill>
              <a:srgbClr val="8FA7B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9" name="Shape 37"/>
          <p:cNvSpPr/>
          <p:nvPr/>
        </p:nvSpPr>
        <p:spPr>
          <a:xfrm flipH="1">
            <a:off x="5676900" y="4048125"/>
            <a:ext cx="1905000" cy="904875"/>
          </a:xfrm>
          <a:prstGeom prst="line">
            <a:avLst/>
          </a:prstGeom>
          <a:noFill/>
          <a:ln w="15875">
            <a:solidFill>
              <a:srgbClr val="8FA7B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676900" y="3829050"/>
            <a:ext cx="95" cy="1123950"/>
          </a:xfrm>
          <a:prstGeom prst="line">
            <a:avLst/>
          </a:prstGeom>
          <a:noFill/>
          <a:ln w="15875">
            <a:solidFill>
              <a:srgbClr val="8FA7B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619750" y="4895850"/>
            <a:ext cx="114300" cy="1143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676900" y="5029200"/>
            <a:ext cx="0" cy="285750"/>
          </a:xfrm>
          <a:prstGeom prst="line">
            <a:avLst/>
          </a:prstGeom>
          <a:noFill/>
          <a:ln w="17780">
            <a:solidFill>
              <a:srgbClr val="8FA7BA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390650" y="5410200"/>
            <a:ext cx="838200" cy="762000"/>
          </a:xfrm>
          <a:prstGeom prst="roundRect">
            <a:avLst>
              <a:gd name="adj" fmla="val 17500"/>
            </a:avLst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514475" y="5591175"/>
            <a:ext cx="590550" cy="409575"/>
          </a:xfrm>
          <a:prstGeom prst="rect">
            <a:avLst/>
          </a:prstGeom>
          <a:solidFill>
            <a:srgbClr val="FFFFFF">
              <a:alpha val="0"/>
            </a:srgbClr>
          </a:solidFill>
          <a:ln w="2667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514475" y="5591175"/>
            <a:ext cx="295275" cy="228600"/>
          </a:xfrm>
          <a:prstGeom prst="line">
            <a:avLst/>
          </a:prstGeom>
          <a:noFill/>
          <a:ln w="24130">
            <a:solidFill>
              <a:srgbClr val="15345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6" name="Shape 44"/>
          <p:cNvSpPr/>
          <p:nvPr/>
        </p:nvSpPr>
        <p:spPr>
          <a:xfrm flipH="1">
            <a:off x="1809750" y="5591175"/>
            <a:ext cx="295275" cy="228600"/>
          </a:xfrm>
          <a:prstGeom prst="line">
            <a:avLst/>
          </a:prstGeom>
          <a:noFill/>
          <a:ln w="24130">
            <a:solidFill>
              <a:srgbClr val="15345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809625" y="6343650"/>
            <a:ext cx="2000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자료 요청</a:t>
            </a:r>
            <a:endParaRPr lang="en-US" sz="2250">
              <a:latin typeface="Pretendard"/>
              <a:ea typeface="Pretendard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257800" y="5410200"/>
            <a:ext cx="838200" cy="762000"/>
          </a:xfrm>
          <a:prstGeom prst="roundRect">
            <a:avLst>
              <a:gd name="adj" fmla="val 17500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381625" y="5562600"/>
            <a:ext cx="219075" cy="95"/>
          </a:xfrm>
          <a:prstGeom prst="line">
            <a:avLst/>
          </a:prstGeom>
          <a:noFill/>
          <a:ln w="26670">
            <a:solidFill>
              <a:srgbClr val="15345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600700" y="5562600"/>
            <a:ext cx="95250" cy="95250"/>
          </a:xfrm>
          <a:prstGeom prst="line">
            <a:avLst/>
          </a:prstGeom>
          <a:noFill/>
          <a:ln w="26670">
            <a:solidFill>
              <a:srgbClr val="15345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695950" y="5657850"/>
            <a:ext cx="285750" cy="95"/>
          </a:xfrm>
          <a:prstGeom prst="line">
            <a:avLst/>
          </a:prstGeom>
          <a:noFill/>
          <a:ln w="26670">
            <a:solidFill>
              <a:srgbClr val="15345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981700" y="5657850"/>
            <a:ext cx="95" cy="371475"/>
          </a:xfrm>
          <a:prstGeom prst="line">
            <a:avLst/>
          </a:prstGeom>
          <a:noFill/>
          <a:ln w="26670">
            <a:solidFill>
              <a:srgbClr val="15345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3" name="Shape 51"/>
          <p:cNvSpPr/>
          <p:nvPr/>
        </p:nvSpPr>
        <p:spPr>
          <a:xfrm flipH="1">
            <a:off x="5381625" y="6013705"/>
            <a:ext cx="598636" cy="9620"/>
          </a:xfrm>
          <a:prstGeom prst="line">
            <a:avLst/>
          </a:prstGeom>
          <a:noFill/>
          <a:ln w="26670">
            <a:solidFill>
              <a:srgbClr val="15345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4" name="Shape 52"/>
          <p:cNvSpPr/>
          <p:nvPr/>
        </p:nvSpPr>
        <p:spPr>
          <a:xfrm flipV="1">
            <a:off x="5381625" y="5562600"/>
            <a:ext cx="95" cy="466725"/>
          </a:xfrm>
          <a:prstGeom prst="line">
            <a:avLst/>
          </a:prstGeom>
          <a:noFill/>
          <a:ln w="26670">
            <a:solidFill>
              <a:srgbClr val="15345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7" name="Text 55"/>
          <p:cNvSpPr txBox="1"/>
          <p:nvPr/>
        </p:nvSpPr>
        <p:spPr>
          <a:xfrm>
            <a:off x="4676775" y="6343650"/>
            <a:ext cx="2000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취합</a:t>
            </a:r>
            <a:endParaRPr lang="en-US" sz="2250">
              <a:latin typeface="Pretendard"/>
              <a:ea typeface="Pretendard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9105900" y="5410200"/>
            <a:ext cx="838200" cy="762000"/>
          </a:xfrm>
          <a:prstGeom prst="roundRect">
            <a:avLst>
              <a:gd name="adj" fmla="val 17500"/>
            </a:avLst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9267825" y="5610225"/>
            <a:ext cx="514350" cy="95"/>
          </a:xfrm>
          <a:prstGeom prst="line">
            <a:avLst/>
          </a:prstGeom>
          <a:noFill/>
          <a:ln w="25400">
            <a:solidFill>
              <a:srgbClr val="15345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9344025" y="5791200"/>
            <a:ext cx="361950" cy="95"/>
          </a:xfrm>
          <a:prstGeom prst="line">
            <a:avLst/>
          </a:prstGeom>
          <a:noFill/>
          <a:ln w="25400">
            <a:solidFill>
              <a:srgbClr val="15345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429750" y="5972175"/>
            <a:ext cx="190500" cy="95"/>
          </a:xfrm>
          <a:prstGeom prst="line">
            <a:avLst/>
          </a:prstGeom>
          <a:noFill/>
          <a:ln w="25400">
            <a:solidFill>
              <a:srgbClr val="15345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2" name="Text 60"/>
          <p:cNvSpPr txBox="1"/>
          <p:nvPr/>
        </p:nvSpPr>
        <p:spPr>
          <a:xfrm>
            <a:off x="8524875" y="6343650"/>
            <a:ext cx="2000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분석</a:t>
            </a:r>
            <a:endParaRPr lang="en-US" sz="2250">
              <a:latin typeface="Pretendard"/>
              <a:ea typeface="Pretendard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2915900" y="5410200"/>
            <a:ext cx="838200" cy="762000"/>
          </a:xfrm>
          <a:prstGeom prst="roundRect">
            <a:avLst>
              <a:gd name="adj" fmla="val 17500"/>
            </a:avLst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3068300" y="5791200"/>
            <a:ext cx="171450" cy="171450"/>
          </a:xfrm>
          <a:prstGeom prst="line">
            <a:avLst/>
          </a:prstGeom>
          <a:noFill/>
          <a:ln w="29210">
            <a:solidFill>
              <a:srgbClr val="15345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5" name="Shape 63"/>
          <p:cNvSpPr/>
          <p:nvPr/>
        </p:nvSpPr>
        <p:spPr>
          <a:xfrm flipV="1">
            <a:off x="13239750" y="5581650"/>
            <a:ext cx="381000" cy="381000"/>
          </a:xfrm>
          <a:prstGeom prst="line">
            <a:avLst/>
          </a:prstGeom>
          <a:noFill/>
          <a:ln w="29210">
            <a:solidFill>
              <a:srgbClr val="15345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6" name="Text 64"/>
          <p:cNvSpPr txBox="1"/>
          <p:nvPr/>
        </p:nvSpPr>
        <p:spPr>
          <a:xfrm>
            <a:off x="12334875" y="6343650"/>
            <a:ext cx="2000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검증</a:t>
            </a:r>
            <a:endParaRPr lang="en-US" sz="2250">
              <a:latin typeface="Pretendard"/>
              <a:ea typeface="Pretendard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6059150" y="5410200"/>
            <a:ext cx="838200" cy="762000"/>
          </a:xfrm>
          <a:prstGeom prst="roundRect">
            <a:avLst>
              <a:gd name="adj" fmla="val 17500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6268700" y="5495925"/>
            <a:ext cx="419100" cy="5905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16544925" y="5495925"/>
            <a:ext cx="142875" cy="142875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6544925" y="5495925"/>
            <a:ext cx="95" cy="142875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6544925" y="5638800"/>
            <a:ext cx="142875" cy="95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16363950" y="5772150"/>
            <a:ext cx="238125" cy="95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16363950" y="5895975"/>
            <a:ext cx="238125" cy="95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16363950" y="6019800"/>
            <a:ext cx="152400" cy="95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5" name="Text 73"/>
          <p:cNvSpPr txBox="1"/>
          <p:nvPr/>
        </p:nvSpPr>
        <p:spPr>
          <a:xfrm>
            <a:off x="15478125" y="6343650"/>
            <a:ext cx="2000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보고서 작성</a:t>
            </a:r>
            <a:endParaRPr lang="en-US" sz="2250">
              <a:latin typeface="Pretendard"/>
              <a:ea typeface="Pretendard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2324100" y="5791200"/>
            <a:ext cx="2838450" cy="0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6191250" y="5791200"/>
            <a:ext cx="2819400" cy="0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10039350" y="5791200"/>
            <a:ext cx="2781300" cy="0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13849350" y="5791200"/>
            <a:ext cx="2114550" cy="0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6464915" y="7143750"/>
            <a:ext cx="26670" cy="142875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16464915" y="7391400"/>
            <a:ext cx="26670" cy="142875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16464915" y="7639050"/>
            <a:ext cx="26670" cy="142875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16464915" y="7886700"/>
            <a:ext cx="26670" cy="1905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102870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105346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107823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110299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112776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115252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117729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120205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22682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125158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127635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130111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132588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135064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137541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140017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142494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144970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147447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149923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152400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154876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157353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159829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162306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18097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20574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23050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25527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28003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30480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5" name="Shape 113"/>
          <p:cNvSpPr/>
          <p:nvPr/>
        </p:nvSpPr>
        <p:spPr>
          <a:xfrm>
            <a:off x="32956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6" name="Shape 114"/>
          <p:cNvSpPr/>
          <p:nvPr/>
        </p:nvSpPr>
        <p:spPr>
          <a:xfrm>
            <a:off x="35433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37909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40386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9" name="Shape 117"/>
          <p:cNvSpPr/>
          <p:nvPr/>
        </p:nvSpPr>
        <p:spPr>
          <a:xfrm>
            <a:off x="42862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45339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1" name="Shape 119"/>
          <p:cNvSpPr/>
          <p:nvPr/>
        </p:nvSpPr>
        <p:spPr>
          <a:xfrm>
            <a:off x="47815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50292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3" name="Shape 121"/>
          <p:cNvSpPr/>
          <p:nvPr/>
        </p:nvSpPr>
        <p:spPr>
          <a:xfrm>
            <a:off x="52768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4" name="Shape 122"/>
          <p:cNvSpPr/>
          <p:nvPr/>
        </p:nvSpPr>
        <p:spPr>
          <a:xfrm>
            <a:off x="55245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5" name="Shape 123"/>
          <p:cNvSpPr/>
          <p:nvPr/>
        </p:nvSpPr>
        <p:spPr>
          <a:xfrm>
            <a:off x="57721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60198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7" name="Shape 125"/>
          <p:cNvSpPr/>
          <p:nvPr/>
        </p:nvSpPr>
        <p:spPr>
          <a:xfrm>
            <a:off x="62674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8" name="Shape 126"/>
          <p:cNvSpPr/>
          <p:nvPr/>
        </p:nvSpPr>
        <p:spPr>
          <a:xfrm>
            <a:off x="65151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9" name="Shape 127"/>
          <p:cNvSpPr/>
          <p:nvPr/>
        </p:nvSpPr>
        <p:spPr>
          <a:xfrm>
            <a:off x="67627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70104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1" name="Shape 129"/>
          <p:cNvSpPr/>
          <p:nvPr/>
        </p:nvSpPr>
        <p:spPr>
          <a:xfrm>
            <a:off x="72580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2" name="Shape 130"/>
          <p:cNvSpPr/>
          <p:nvPr/>
        </p:nvSpPr>
        <p:spPr>
          <a:xfrm>
            <a:off x="750570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3" name="Shape 131"/>
          <p:cNvSpPr/>
          <p:nvPr/>
        </p:nvSpPr>
        <p:spPr>
          <a:xfrm>
            <a:off x="7753350" y="7892415"/>
            <a:ext cx="142875" cy="26670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1796415" y="7286625"/>
            <a:ext cx="26670" cy="142875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5" name="Shape 133"/>
          <p:cNvSpPr/>
          <p:nvPr/>
        </p:nvSpPr>
        <p:spPr>
          <a:xfrm>
            <a:off x="1796415" y="7534275"/>
            <a:ext cx="26670" cy="142875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6" name="Shape 134"/>
          <p:cNvSpPr/>
          <p:nvPr/>
        </p:nvSpPr>
        <p:spPr>
          <a:xfrm>
            <a:off x="1796415" y="7781925"/>
            <a:ext cx="26670" cy="123825"/>
          </a:xfrm>
          <a:prstGeom prst="rect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7" name="Shape 135"/>
          <p:cNvSpPr/>
          <p:nvPr/>
        </p:nvSpPr>
        <p:spPr>
          <a:xfrm>
            <a:off x="1809750" y="7143750"/>
            <a:ext cx="0" cy="142875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8" name="Shape 136"/>
          <p:cNvSpPr/>
          <p:nvPr/>
        </p:nvSpPr>
        <p:spPr>
          <a:xfrm>
            <a:off x="8001000" y="7572375"/>
            <a:ext cx="2286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9" name="Text 137"/>
          <p:cNvSpPr txBox="1"/>
          <p:nvPr/>
        </p:nvSpPr>
        <p:spPr>
          <a:xfrm>
            <a:off x="8001000" y="76200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매주 반복</a:t>
            </a:r>
            <a:endParaRPr lang="en-US" sz="240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020023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09</a:t>
            </a: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· BUSINESS CONTEXT</a:t>
            </a:r>
            <a:endParaRPr lang="en-US" sz="1100">
              <a:latin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6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SK </a:t>
            </a:r>
            <a:r>
              <a:rPr lang="ko-KR" altLang="en-US" sz="36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네트웍스</a:t>
            </a:r>
            <a:r>
              <a:rPr lang="en-US" sz="36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36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데이터</a:t>
            </a:r>
            <a:r>
              <a:rPr lang="en-US" sz="36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36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연결의</a:t>
            </a:r>
            <a:r>
              <a:rPr lang="en-US" sz="36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36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필요성</a:t>
            </a:r>
            <a:endParaRPr lang="en-US" sz="3600" b="1">
              <a:solidFill>
                <a:srgbClr val="153451"/>
              </a:solidFill>
              <a:latin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05840" y="9015984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BUSINESS CONTEXT</a:t>
            </a:r>
            <a:endParaRPr lang="en-US" sz="110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529979" y="8951976"/>
            <a:ext cx="14804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AI </a:t>
            </a:r>
            <a:r>
              <a:rPr lang="ko-KR" alt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분석을</a:t>
            </a:r>
            <a:r>
              <a:rPr 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위한</a:t>
            </a:r>
            <a:r>
              <a:rPr 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40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지표·권한</a:t>
            </a:r>
            <a:r>
              <a:rPr lang="en-US" sz="24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·</a:t>
            </a:r>
            <a:r>
              <a:rPr lang="ko-KR" altLang="en-US" sz="24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의미</a:t>
            </a:r>
            <a:r>
              <a:rPr 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통합 필요</a:t>
            </a:r>
            <a:endParaRPr lang="ko-KR" altLang="en-US" sz="2400" b="1">
              <a:solidFill>
                <a:srgbClr val="153451"/>
              </a:solidFill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768035" y="3636569"/>
            <a:ext cx="2065165" cy="671389"/>
          </a:xfrm>
          <a:prstGeom prst="line">
            <a:avLst/>
          </a:prstGeom>
          <a:noFill/>
          <a:ln w="38100">
            <a:solidFill>
              <a:srgbClr val="B9D2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 flipV="1">
            <a:off x="10442167" y="3636569"/>
            <a:ext cx="2069568" cy="671908"/>
          </a:xfrm>
          <a:prstGeom prst="line">
            <a:avLst/>
          </a:prstGeom>
          <a:noFill/>
          <a:ln w="38100">
            <a:solidFill>
              <a:srgbClr val="B9D2EF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 flipV="1">
            <a:off x="5768035" y="5544239"/>
            <a:ext cx="2264310" cy="1663976"/>
          </a:xfrm>
          <a:prstGeom prst="line">
            <a:avLst/>
          </a:prstGeom>
          <a:noFill/>
          <a:ln w="38100">
            <a:solidFill>
              <a:srgbClr val="B9D2EF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243378" y="5543524"/>
            <a:ext cx="2268357" cy="1664691"/>
          </a:xfrm>
          <a:prstGeom prst="line">
            <a:avLst/>
          </a:prstGeom>
          <a:noFill/>
          <a:ln w="38100">
            <a:solidFill>
              <a:srgbClr val="B9D2EF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64620" y="4239377"/>
            <a:ext cx="137160" cy="1371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373587" y="4239897"/>
            <a:ext cx="137160" cy="1371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963765" y="5475659"/>
            <a:ext cx="137160" cy="1371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174798" y="5474944"/>
            <a:ext cx="137160" cy="1371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05840" y="2642616"/>
            <a:ext cx="4764024" cy="2002536"/>
          </a:xfrm>
          <a:prstGeom prst="roundRect">
            <a:avLst>
              <a:gd name="adj" fmla="val 4566"/>
            </a:avLst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234440" y="2871216"/>
            <a:ext cx="552298" cy="552298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538" y="2966314"/>
            <a:ext cx="362102" cy="36210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948586" y="2885846"/>
            <a:ext cx="359267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0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CUSTOMER TOUCHPOINT DATA</a:t>
            </a:r>
            <a:endParaRPr lang="en-US" sz="1050">
              <a:ea typeface="Pretendard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1948586" y="3085186"/>
            <a:ext cx="359267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고객 접점</a:t>
            </a:r>
            <a:endParaRPr lang="en-US" sz="2000">
              <a:latin typeface="Pretendard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005840" y="3547872"/>
            <a:ext cx="4764024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239926" y="3782416"/>
            <a:ext cx="54864" cy="54864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1377086" y="3547872"/>
            <a:ext cx="200025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ICT</a:t>
            </a:r>
            <a:endParaRPr lang="en-US" sz="1800">
              <a:ea typeface="Pretendard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3377794" y="3547872"/>
            <a:ext cx="216255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상품 · 주문 · 재고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1005840" y="4071823"/>
            <a:ext cx="4764024" cy="0"/>
          </a:xfrm>
          <a:prstGeom prst="line">
            <a:avLst/>
          </a:prstGeom>
          <a:noFill/>
          <a:ln w="635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239926" y="4306367"/>
            <a:ext cx="54864" cy="54864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1377086" y="4071823"/>
            <a:ext cx="200025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Digital Marketing</a:t>
            </a:r>
            <a:endParaRPr lang="en-US" sz="1650">
              <a:latin typeface="Pretendard"/>
              <a:ea typeface="Pretendard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3377794" y="4071823"/>
            <a:ext cx="216255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캠페인 · 노출 · 전환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12508992" y="2642616"/>
            <a:ext cx="4764024" cy="2002536"/>
          </a:xfrm>
          <a:prstGeom prst="roundRect">
            <a:avLst>
              <a:gd name="adj" fmla="val 4566"/>
            </a:avLst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12737592" y="2871216"/>
            <a:ext cx="552298" cy="552298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2690" y="2966314"/>
            <a:ext cx="362102" cy="362102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13451738" y="2885846"/>
            <a:ext cx="359267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FIELD OPERATION DATA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39" name="Text 35"/>
          <p:cNvSpPr txBox="1"/>
          <p:nvPr/>
        </p:nvSpPr>
        <p:spPr>
          <a:xfrm>
            <a:off x="13451738" y="3085186"/>
            <a:ext cx="359267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현장 운영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40" name="Shape 36"/>
          <p:cNvSpPr/>
          <p:nvPr/>
        </p:nvSpPr>
        <p:spPr>
          <a:xfrm>
            <a:off x="12508992" y="3547872"/>
            <a:ext cx="4764024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12743078" y="3782416"/>
            <a:ext cx="54864" cy="54864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2" name="Text 38"/>
          <p:cNvSpPr txBox="1"/>
          <p:nvPr/>
        </p:nvSpPr>
        <p:spPr>
          <a:xfrm>
            <a:off x="12880238" y="3547872"/>
            <a:ext cx="200025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Hotels &amp; Resorts</a:t>
            </a:r>
            <a:endParaRPr lang="en-US" sz="1650">
              <a:latin typeface="Pretendard"/>
              <a:ea typeface="Pretendard"/>
            </a:endParaRPr>
          </a:p>
        </p:txBody>
      </p:sp>
      <p:sp>
        <p:nvSpPr>
          <p:cNvPr id="43" name="Text 39"/>
          <p:cNvSpPr txBox="1"/>
          <p:nvPr/>
        </p:nvSpPr>
        <p:spPr>
          <a:xfrm>
            <a:off x="14880946" y="3547872"/>
            <a:ext cx="216255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예약 · 투숙 · VOC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44" name="Shape 40"/>
          <p:cNvSpPr/>
          <p:nvPr/>
        </p:nvSpPr>
        <p:spPr>
          <a:xfrm>
            <a:off x="12508992" y="4071823"/>
            <a:ext cx="4764024" cy="0"/>
          </a:xfrm>
          <a:prstGeom prst="line">
            <a:avLst/>
          </a:prstGeom>
          <a:noFill/>
          <a:ln w="635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12743078" y="4306367"/>
            <a:ext cx="54864" cy="54864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6" name="Text 42"/>
          <p:cNvSpPr txBox="1"/>
          <p:nvPr/>
        </p:nvSpPr>
        <p:spPr>
          <a:xfrm>
            <a:off x="12880238" y="4071823"/>
            <a:ext cx="200025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Mobility</a:t>
            </a:r>
            <a:endParaRPr lang="en-US" sz="1800">
              <a:latin typeface="Pretendard"/>
              <a:ea typeface="Pretendard"/>
            </a:endParaRPr>
          </a:p>
        </p:txBody>
      </p:sp>
      <p:sp>
        <p:nvSpPr>
          <p:cNvPr id="47" name="Text 43"/>
          <p:cNvSpPr txBox="1"/>
          <p:nvPr/>
        </p:nvSpPr>
        <p:spPr>
          <a:xfrm>
            <a:off x="14880946" y="4071823"/>
            <a:ext cx="216255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차량 · 정비 · 부품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48" name="Shape 44"/>
          <p:cNvSpPr/>
          <p:nvPr/>
        </p:nvSpPr>
        <p:spPr>
          <a:xfrm>
            <a:off x="1005840" y="6208776"/>
            <a:ext cx="4764024" cy="2002536"/>
          </a:xfrm>
          <a:prstGeom prst="roundRect">
            <a:avLst>
              <a:gd name="adj" fmla="val 4566"/>
            </a:avLst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0" name="Shape 46"/>
          <p:cNvSpPr/>
          <p:nvPr/>
        </p:nvSpPr>
        <p:spPr>
          <a:xfrm>
            <a:off x="1234440" y="6437376"/>
            <a:ext cx="552298" cy="552298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9538" y="6532474"/>
            <a:ext cx="362102" cy="362102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1948586" y="6452006"/>
            <a:ext cx="359267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TRANSACTION &amp; ASSET DATA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53" name="Text 48"/>
          <p:cNvSpPr txBox="1"/>
          <p:nvPr/>
        </p:nvSpPr>
        <p:spPr>
          <a:xfrm>
            <a:off x="1948586" y="6651346"/>
            <a:ext cx="359267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거래·자산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54" name="Shape 49"/>
          <p:cNvSpPr/>
          <p:nvPr/>
        </p:nvSpPr>
        <p:spPr>
          <a:xfrm>
            <a:off x="1005840" y="7114032"/>
            <a:ext cx="4764024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5" name="Shape 50"/>
          <p:cNvSpPr/>
          <p:nvPr/>
        </p:nvSpPr>
        <p:spPr>
          <a:xfrm>
            <a:off x="1239926" y="7348576"/>
            <a:ext cx="54864" cy="54864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6" name="Text 51"/>
          <p:cNvSpPr txBox="1"/>
          <p:nvPr/>
        </p:nvSpPr>
        <p:spPr>
          <a:xfrm>
            <a:off x="1377086" y="7114032"/>
            <a:ext cx="200025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Global Trading</a:t>
            </a:r>
            <a:endParaRPr lang="en-US" sz="1650">
              <a:latin typeface="Pretendard"/>
              <a:ea typeface="Pretendard"/>
            </a:endParaRPr>
          </a:p>
        </p:txBody>
      </p:sp>
      <p:sp>
        <p:nvSpPr>
          <p:cNvPr id="57" name="Text 52"/>
          <p:cNvSpPr txBox="1"/>
          <p:nvPr/>
        </p:nvSpPr>
        <p:spPr>
          <a:xfrm>
            <a:off x="3377794" y="7114032"/>
            <a:ext cx="216255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계약 · 물류 · 가격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58" name="Shape 53"/>
          <p:cNvSpPr/>
          <p:nvPr/>
        </p:nvSpPr>
        <p:spPr>
          <a:xfrm>
            <a:off x="1005840" y="7637983"/>
            <a:ext cx="4764024" cy="0"/>
          </a:xfrm>
          <a:prstGeom prst="line">
            <a:avLst/>
          </a:prstGeom>
          <a:noFill/>
          <a:ln w="635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9" name="Shape 54"/>
          <p:cNvSpPr/>
          <p:nvPr/>
        </p:nvSpPr>
        <p:spPr>
          <a:xfrm>
            <a:off x="1239926" y="7872527"/>
            <a:ext cx="54864" cy="54864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0" name="Text 55"/>
          <p:cNvSpPr txBox="1"/>
          <p:nvPr/>
        </p:nvSpPr>
        <p:spPr>
          <a:xfrm>
            <a:off x="1377086" y="7637983"/>
            <a:ext cx="200025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Global Investment</a:t>
            </a:r>
            <a:endParaRPr lang="en-US" sz="1650">
              <a:latin typeface="Pretendard"/>
              <a:ea typeface="Pretendard"/>
            </a:endParaRPr>
          </a:p>
        </p:txBody>
      </p:sp>
      <p:sp>
        <p:nvSpPr>
          <p:cNvPr id="61" name="Text 56"/>
          <p:cNvSpPr txBox="1"/>
          <p:nvPr/>
        </p:nvSpPr>
        <p:spPr>
          <a:xfrm>
            <a:off x="3377794" y="7637983"/>
            <a:ext cx="216255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투자 · 성과 · 위험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62" name="Shape 57"/>
          <p:cNvSpPr/>
          <p:nvPr/>
        </p:nvSpPr>
        <p:spPr>
          <a:xfrm>
            <a:off x="12508992" y="6208776"/>
            <a:ext cx="4764024" cy="2002536"/>
          </a:xfrm>
          <a:prstGeom prst="roundRect">
            <a:avLst>
              <a:gd name="adj" fmla="val 4566"/>
            </a:avLst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4" name="Shape 59"/>
          <p:cNvSpPr/>
          <p:nvPr/>
        </p:nvSpPr>
        <p:spPr>
          <a:xfrm>
            <a:off x="12737592" y="6437376"/>
            <a:ext cx="552298" cy="552298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pic>
        <p:nvPicPr>
          <p:cNvPr id="6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2690" y="6532474"/>
            <a:ext cx="362102" cy="362102"/>
          </a:xfrm>
          <a:prstGeom prst="rect">
            <a:avLst/>
          </a:prstGeom>
        </p:spPr>
      </p:pic>
      <p:sp>
        <p:nvSpPr>
          <p:cNvPr id="66" name="Text 60"/>
          <p:cNvSpPr txBox="1"/>
          <p:nvPr/>
        </p:nvSpPr>
        <p:spPr>
          <a:xfrm>
            <a:off x="13451738" y="6452006"/>
            <a:ext cx="359267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AI &amp; SERVICE DATA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67" name="Text 61"/>
          <p:cNvSpPr txBox="1"/>
          <p:nvPr/>
        </p:nvSpPr>
        <p:spPr>
          <a:xfrm>
            <a:off x="13451738" y="6651346"/>
            <a:ext cx="359267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AI·서비스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68" name="Shape 62"/>
          <p:cNvSpPr/>
          <p:nvPr/>
        </p:nvSpPr>
        <p:spPr>
          <a:xfrm>
            <a:off x="12508992" y="7114032"/>
            <a:ext cx="4764024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9" name="Shape 63"/>
          <p:cNvSpPr/>
          <p:nvPr/>
        </p:nvSpPr>
        <p:spPr>
          <a:xfrm>
            <a:off x="12743078" y="7348576"/>
            <a:ext cx="54864" cy="54864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0" name="Text 64"/>
          <p:cNvSpPr txBox="1"/>
          <p:nvPr/>
        </p:nvSpPr>
        <p:spPr>
          <a:xfrm>
            <a:off x="12880238" y="7114032"/>
            <a:ext cx="200025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AI Wellness Platform</a:t>
            </a:r>
            <a:endParaRPr lang="en-US" sz="1650">
              <a:latin typeface="Pretendard"/>
              <a:ea typeface="Pretendard"/>
            </a:endParaRPr>
          </a:p>
        </p:txBody>
      </p:sp>
      <p:sp>
        <p:nvSpPr>
          <p:cNvPr id="71" name="Text 65"/>
          <p:cNvSpPr txBox="1"/>
          <p:nvPr/>
        </p:nvSpPr>
        <p:spPr>
          <a:xfrm>
            <a:off x="14880946" y="7114032"/>
            <a:ext cx="216255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디바이스 · 신호 · 서비스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72" name="Shape 66"/>
          <p:cNvSpPr/>
          <p:nvPr/>
        </p:nvSpPr>
        <p:spPr>
          <a:xfrm>
            <a:off x="12508992" y="7637983"/>
            <a:ext cx="4764024" cy="0"/>
          </a:xfrm>
          <a:prstGeom prst="line">
            <a:avLst/>
          </a:prstGeom>
          <a:noFill/>
          <a:ln w="635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3" name="Shape 67"/>
          <p:cNvSpPr/>
          <p:nvPr/>
        </p:nvSpPr>
        <p:spPr>
          <a:xfrm>
            <a:off x="12743078" y="7872527"/>
            <a:ext cx="54864" cy="54864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4" name="Text 68"/>
          <p:cNvSpPr txBox="1"/>
          <p:nvPr/>
        </p:nvSpPr>
        <p:spPr>
          <a:xfrm>
            <a:off x="12880238" y="7637983"/>
            <a:ext cx="200025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AI</a:t>
            </a:r>
            <a:endParaRPr lang="en-US" sz="1800">
              <a:latin typeface="Pretendard"/>
              <a:ea typeface="Pretendard"/>
            </a:endParaRPr>
          </a:p>
        </p:txBody>
      </p:sp>
      <p:sp>
        <p:nvSpPr>
          <p:cNvPr id="75" name="Text 69"/>
          <p:cNvSpPr txBox="1"/>
          <p:nvPr/>
        </p:nvSpPr>
        <p:spPr>
          <a:xfrm>
            <a:off x="14880946" y="7637983"/>
            <a:ext cx="216255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모델 · 지식 · 데이터 자산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76" name="Shape 70"/>
          <p:cNvSpPr/>
          <p:nvPr/>
        </p:nvSpPr>
        <p:spPr>
          <a:xfrm>
            <a:off x="7575347" y="3169768"/>
            <a:ext cx="3124505" cy="3124505"/>
          </a:xfrm>
          <a:prstGeom prst="ellipse">
            <a:avLst/>
          </a:prstGeom>
          <a:ln w="12700">
            <a:solidFill>
              <a:srgbClr val="DCE9F7"/>
            </a:solidFill>
            <a:prstDash val="dash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7" name="Shape 71"/>
          <p:cNvSpPr/>
          <p:nvPr/>
        </p:nvSpPr>
        <p:spPr>
          <a:xfrm>
            <a:off x="7765999" y="3360420"/>
            <a:ext cx="2743200" cy="2743200"/>
          </a:xfrm>
          <a:prstGeom prst="ellipse">
            <a:avLst/>
          </a:prstGeom>
          <a:ln w="12700">
            <a:solidFill>
              <a:srgbClr val="D7E7F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8" name="Shape 72"/>
          <p:cNvSpPr/>
          <p:nvPr/>
        </p:nvSpPr>
        <p:spPr>
          <a:xfrm>
            <a:off x="7947050" y="3541471"/>
            <a:ext cx="2381098" cy="2381098"/>
          </a:xfrm>
          <a:prstGeom prst="ellipse">
            <a:avLst/>
          </a:prstGeom>
          <a:solidFill>
            <a:srgbClr val="EAF3FF"/>
          </a:solidFill>
          <a:ln w="19050">
            <a:solidFill>
              <a:srgbClr val="A8C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9" name="Text 73"/>
          <p:cNvSpPr txBox="1"/>
          <p:nvPr/>
        </p:nvSpPr>
        <p:spPr>
          <a:xfrm>
            <a:off x="7947050" y="4330406"/>
            <a:ext cx="238109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4B5F73"/>
                </a:solidFill>
                <a:latin typeface="Pretendard"/>
                <a:ea typeface="Pretendard"/>
                <a:cs typeface="Pretendard" pitchFamily="34" charset="-120"/>
              </a:rPr>
              <a:t>SK networks</a:t>
            </a:r>
            <a:endParaRPr lang="en-US" sz="1500">
              <a:latin typeface="Pretendard"/>
              <a:ea typeface="Pretendard"/>
            </a:endParaRPr>
          </a:p>
        </p:txBody>
      </p:sp>
      <p:sp>
        <p:nvSpPr>
          <p:cNvPr id="80" name="Text 74"/>
          <p:cNvSpPr txBox="1"/>
          <p:nvPr/>
        </p:nvSpPr>
        <p:spPr>
          <a:xfrm>
            <a:off x="7947050" y="4672608"/>
            <a:ext cx="238109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AI COMPANY</a:t>
            </a:r>
            <a:endParaRPr lang="en-US" sz="2700">
              <a:latin typeface="Pretendard"/>
              <a:ea typeface="Pretendard"/>
            </a:endParaRPr>
          </a:p>
        </p:txBody>
      </p:sp>
      <p:sp>
        <p:nvSpPr>
          <p:cNvPr id="82" name="Text 76"/>
          <p:cNvSpPr txBox="1"/>
          <p:nvPr/>
        </p:nvSpPr>
        <p:spPr>
          <a:xfrm>
            <a:off x="7232904" y="6398971"/>
            <a:ext cx="3813048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사업을 잇는 데이터 연결 기준</a:t>
            </a:r>
            <a:endParaRPr lang="en-US" sz="1800">
              <a:latin typeface="Pretendard"/>
              <a:ea typeface="Pretendard"/>
            </a:endParaRPr>
          </a:p>
        </p:txBody>
      </p:sp>
      <p:sp>
        <p:nvSpPr>
          <p:cNvPr id="83" name="Shape 77"/>
          <p:cNvSpPr/>
          <p:nvPr/>
        </p:nvSpPr>
        <p:spPr>
          <a:xfrm>
            <a:off x="7366406" y="6866230"/>
            <a:ext cx="112471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8D2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4" name="Text 78"/>
          <p:cNvSpPr txBox="1"/>
          <p:nvPr/>
        </p:nvSpPr>
        <p:spPr>
          <a:xfrm>
            <a:off x="7366406" y="6866230"/>
            <a:ext cx="1124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지표 정의</a:t>
            </a:r>
            <a:endParaRPr lang="en-US" sz="1450">
              <a:latin typeface="Pretendard"/>
              <a:ea typeface="Pretendard"/>
            </a:endParaRPr>
          </a:p>
        </p:txBody>
      </p:sp>
      <p:sp>
        <p:nvSpPr>
          <p:cNvPr id="85" name="Shape 79"/>
          <p:cNvSpPr/>
          <p:nvPr/>
        </p:nvSpPr>
        <p:spPr>
          <a:xfrm>
            <a:off x="8577072" y="6866230"/>
            <a:ext cx="112471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8D2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6" name="Text 80"/>
          <p:cNvSpPr txBox="1"/>
          <p:nvPr/>
        </p:nvSpPr>
        <p:spPr>
          <a:xfrm>
            <a:off x="8577072" y="6866230"/>
            <a:ext cx="1124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접근 권한</a:t>
            </a:r>
            <a:endParaRPr lang="en-US" sz="1450">
              <a:latin typeface="Pretendard"/>
              <a:ea typeface="Pretendard"/>
            </a:endParaRPr>
          </a:p>
        </p:txBody>
      </p:sp>
      <p:sp>
        <p:nvSpPr>
          <p:cNvPr id="87" name="Shape 81"/>
          <p:cNvSpPr/>
          <p:nvPr/>
        </p:nvSpPr>
        <p:spPr>
          <a:xfrm>
            <a:off x="9787738" y="6866230"/>
            <a:ext cx="112471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8D2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8" name="Text 82"/>
          <p:cNvSpPr txBox="1"/>
          <p:nvPr/>
        </p:nvSpPr>
        <p:spPr>
          <a:xfrm>
            <a:off x="9787738" y="6866230"/>
            <a:ext cx="1124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연결 기준</a:t>
            </a:r>
            <a:endParaRPr lang="en-US" sz="1450">
              <a:latin typeface="Pretendard"/>
              <a:ea typeface="Pretendar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9650" y="752475"/>
            <a:ext cx="162687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09650" y="1247322"/>
            <a:ext cx="723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워커힐 데이터의 적합성</a:t>
            </a:r>
            <a:endParaRPr lang="en-US" sz="3600"/>
          </a:p>
        </p:txBody>
      </p:sp>
      <p:pic>
        <p:nvPicPr>
          <p:cNvPr id="7" name="Image 0" descr="C:/Users/Playdata/Documents/파이널 프젝젝젝/Answervice_최종발표_HTML_프로토타입/slide08_map_crop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2090238"/>
            <a:ext cx="16268700" cy="79649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47775" y="2309586"/>
            <a:ext cx="3571875" cy="400050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466850" y="2366736"/>
            <a:ext cx="8858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>
                <a:solidFill>
                  <a:srgbClr val="17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SILO</a:t>
            </a:r>
            <a:endParaRPr lang="en-US" sz="1125"/>
          </a:p>
        </p:txBody>
      </p:sp>
      <p:sp>
        <p:nvSpPr>
          <p:cNvPr id="10" name="Text 7"/>
          <p:cNvSpPr txBox="1"/>
          <p:nvPr/>
        </p:nvSpPr>
        <p:spPr>
          <a:xfrm>
            <a:off x="2333625" y="2366736"/>
            <a:ext cx="2266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공간 · 서로 다른 데이터 저장소</a:t>
            </a:r>
            <a:endParaRPr lang="en-US" sz="1125"/>
          </a:p>
        </p:txBody>
      </p:sp>
      <p:sp>
        <p:nvSpPr>
          <p:cNvPr id="11" name="Shape 8"/>
          <p:cNvSpPr/>
          <p:nvPr/>
        </p:nvSpPr>
        <p:spPr>
          <a:xfrm>
            <a:off x="2943225" y="3985986"/>
            <a:ext cx="0" cy="38100"/>
          </a:xfrm>
          <a:prstGeom prst="line">
            <a:avLst/>
          </a:prstGeom>
          <a:noFill/>
          <a:ln w="1460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914650" y="3995511"/>
            <a:ext cx="57150" cy="57150"/>
          </a:xfrm>
          <a:prstGeom prst="ellipse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3" name="Shape 10"/>
          <p:cNvSpPr>
            <a:spLocks/>
          </p:cNvSpPr>
          <p:nvPr/>
        </p:nvSpPr>
        <p:spPr>
          <a:xfrm>
            <a:off x="6962775" y="4509861"/>
            <a:ext cx="0" cy="190500"/>
          </a:xfrm>
          <a:prstGeom prst="line">
            <a:avLst/>
          </a:prstGeom>
          <a:noFill/>
          <a:ln w="1460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4" name="Shape 11"/>
          <p:cNvSpPr>
            <a:spLocks/>
          </p:cNvSpPr>
          <p:nvPr/>
        </p:nvSpPr>
        <p:spPr>
          <a:xfrm>
            <a:off x="6934200" y="4671786"/>
            <a:ext cx="57150" cy="57150"/>
          </a:xfrm>
          <a:prstGeom prst="ellipse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5" name="Shape 12"/>
          <p:cNvSpPr>
            <a:spLocks/>
          </p:cNvSpPr>
          <p:nvPr/>
        </p:nvSpPr>
        <p:spPr>
          <a:xfrm>
            <a:off x="9658350" y="2928711"/>
            <a:ext cx="514350" cy="0"/>
          </a:xfrm>
          <a:prstGeom prst="line">
            <a:avLst/>
          </a:prstGeom>
          <a:noFill/>
          <a:ln w="1460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0144125" y="2900136"/>
            <a:ext cx="57150" cy="57150"/>
          </a:xfrm>
          <a:prstGeom prst="ellipse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1391900" y="6710136"/>
            <a:ext cx="180975" cy="0"/>
          </a:xfrm>
          <a:prstGeom prst="line">
            <a:avLst/>
          </a:prstGeom>
          <a:noFill/>
          <a:ln w="1460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8" name="Shape 15"/>
          <p:cNvSpPr>
            <a:spLocks/>
          </p:cNvSpPr>
          <p:nvPr/>
        </p:nvSpPr>
        <p:spPr>
          <a:xfrm>
            <a:off x="11544300" y="6681561"/>
            <a:ext cx="57150" cy="57150"/>
          </a:xfrm>
          <a:prstGeom prst="ellipse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9" name="Shape 16"/>
          <p:cNvSpPr>
            <a:spLocks/>
          </p:cNvSpPr>
          <p:nvPr/>
        </p:nvSpPr>
        <p:spPr>
          <a:xfrm>
            <a:off x="14706600" y="5033736"/>
            <a:ext cx="0" cy="285750"/>
          </a:xfrm>
          <a:prstGeom prst="line">
            <a:avLst/>
          </a:prstGeom>
          <a:noFill/>
          <a:ln w="1460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0" name="Shape 17"/>
          <p:cNvSpPr>
            <a:spLocks/>
          </p:cNvSpPr>
          <p:nvPr/>
        </p:nvSpPr>
        <p:spPr>
          <a:xfrm>
            <a:off x="14678025" y="5290911"/>
            <a:ext cx="57150" cy="57150"/>
          </a:xfrm>
          <a:prstGeom prst="ellipse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190625" y="3243036"/>
            <a:ext cx="2266950" cy="74295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1428750" y="3319236"/>
            <a:ext cx="10763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식음·결제</a:t>
            </a:r>
            <a:endParaRPr lang="en-US" sz="1650"/>
          </a:p>
        </p:txBody>
      </p:sp>
      <p:sp>
        <p:nvSpPr>
          <p:cNvPr id="24" name="Text 21"/>
          <p:cNvSpPr txBox="1"/>
          <p:nvPr/>
        </p:nvSpPr>
        <p:spPr>
          <a:xfrm>
            <a:off x="1428750" y="3633561"/>
            <a:ext cx="10763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 kern="0" spc="120">
                <a:solidFill>
                  <a:srgbClr val="17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</a:t>
            </a:r>
            <a:endParaRPr lang="en-US" sz="1125"/>
          </a:p>
        </p:txBody>
      </p:sp>
      <p:sp>
        <p:nvSpPr>
          <p:cNvPr id="25" name="Text 22"/>
          <p:cNvSpPr txBox="1"/>
          <p:nvPr/>
        </p:nvSpPr>
        <p:spPr>
          <a:xfrm>
            <a:off x="2619375" y="3595461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 저장</a:t>
            </a:r>
            <a:endParaRPr lang="en-US" sz="950"/>
          </a:p>
        </p:txBody>
      </p:sp>
      <p:sp>
        <p:nvSpPr>
          <p:cNvPr id="26" name="Shape 23"/>
          <p:cNvSpPr/>
          <p:nvPr/>
        </p:nvSpPr>
        <p:spPr>
          <a:xfrm>
            <a:off x="6191250" y="3766911"/>
            <a:ext cx="2266950" cy="74295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6429375" y="3843111"/>
            <a:ext cx="10763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숙박·예약</a:t>
            </a:r>
            <a:endParaRPr lang="en-US" sz="1650"/>
          </a:p>
        </p:txBody>
      </p:sp>
      <p:sp>
        <p:nvSpPr>
          <p:cNvPr id="29" name="Text 26"/>
          <p:cNvSpPr txBox="1"/>
          <p:nvPr/>
        </p:nvSpPr>
        <p:spPr>
          <a:xfrm>
            <a:off x="6429375" y="4157436"/>
            <a:ext cx="10763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 kern="0" spc="120">
                <a:solidFill>
                  <a:srgbClr val="17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</a:t>
            </a:r>
            <a:endParaRPr lang="en-US" sz="1125"/>
          </a:p>
        </p:txBody>
      </p:sp>
      <p:sp>
        <p:nvSpPr>
          <p:cNvPr id="30" name="Text 27"/>
          <p:cNvSpPr txBox="1"/>
          <p:nvPr/>
        </p:nvSpPr>
        <p:spPr>
          <a:xfrm>
            <a:off x="7620000" y="4119336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 저장</a:t>
            </a:r>
            <a:endParaRPr lang="en-US" sz="950"/>
          </a:p>
        </p:txBody>
      </p:sp>
      <p:sp>
        <p:nvSpPr>
          <p:cNvPr id="31" name="Shape 28"/>
          <p:cNvSpPr/>
          <p:nvPr/>
        </p:nvSpPr>
        <p:spPr>
          <a:xfrm>
            <a:off x="10172700" y="2557236"/>
            <a:ext cx="2466975" cy="74295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10410825" y="2633436"/>
            <a:ext cx="127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고객·피드백</a:t>
            </a:r>
            <a:endParaRPr lang="en-US" sz="1650"/>
          </a:p>
        </p:txBody>
      </p:sp>
      <p:sp>
        <p:nvSpPr>
          <p:cNvPr id="34" name="Text 31"/>
          <p:cNvSpPr txBox="1"/>
          <p:nvPr/>
        </p:nvSpPr>
        <p:spPr>
          <a:xfrm>
            <a:off x="10410825" y="2947761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 kern="0" spc="120">
                <a:solidFill>
                  <a:srgbClr val="17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CRM·VOC</a:t>
            </a:r>
            <a:endParaRPr lang="en-US" sz="1125"/>
          </a:p>
        </p:txBody>
      </p:sp>
      <p:sp>
        <p:nvSpPr>
          <p:cNvPr id="35" name="Text 32"/>
          <p:cNvSpPr txBox="1"/>
          <p:nvPr/>
        </p:nvSpPr>
        <p:spPr>
          <a:xfrm>
            <a:off x="11801475" y="2909661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 저장</a:t>
            </a:r>
            <a:endParaRPr lang="en-US" sz="950"/>
          </a:p>
        </p:txBody>
      </p:sp>
      <p:sp>
        <p:nvSpPr>
          <p:cNvPr id="36" name="Shape 33"/>
          <p:cNvSpPr/>
          <p:nvPr/>
        </p:nvSpPr>
        <p:spPr>
          <a:xfrm>
            <a:off x="11572875" y="6338661"/>
            <a:ext cx="2409825" cy="74295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11811000" y="6414861"/>
            <a:ext cx="121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연회·행사</a:t>
            </a:r>
            <a:endParaRPr lang="en-US" sz="1650"/>
          </a:p>
        </p:txBody>
      </p:sp>
      <p:sp>
        <p:nvSpPr>
          <p:cNvPr id="39" name="Text 36"/>
          <p:cNvSpPr txBox="1"/>
          <p:nvPr/>
        </p:nvSpPr>
        <p:spPr>
          <a:xfrm>
            <a:off x="11811000" y="6729186"/>
            <a:ext cx="1219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 kern="0" spc="120">
                <a:solidFill>
                  <a:srgbClr val="17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BANQUET</a:t>
            </a:r>
            <a:endParaRPr lang="en-US" sz="1125"/>
          </a:p>
        </p:txBody>
      </p:sp>
      <p:sp>
        <p:nvSpPr>
          <p:cNvPr id="40" name="Text 37"/>
          <p:cNvSpPr txBox="1"/>
          <p:nvPr/>
        </p:nvSpPr>
        <p:spPr>
          <a:xfrm>
            <a:off x="13144500" y="6691086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 저장</a:t>
            </a:r>
            <a:endParaRPr lang="en-US" sz="950"/>
          </a:p>
        </p:txBody>
      </p:sp>
      <p:sp>
        <p:nvSpPr>
          <p:cNvPr id="41" name="Shape 38"/>
          <p:cNvSpPr/>
          <p:nvPr/>
        </p:nvSpPr>
        <p:spPr>
          <a:xfrm>
            <a:off x="14668500" y="4290786"/>
            <a:ext cx="2390775" cy="742950"/>
          </a:xfrm>
          <a:prstGeom prst="roundRect">
            <a:avLst>
              <a:gd name="adj" fmla="val 769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14906625" y="4366986"/>
            <a:ext cx="1200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시설·운영</a:t>
            </a:r>
            <a:endParaRPr lang="en-US" sz="1650"/>
          </a:p>
        </p:txBody>
      </p:sp>
      <p:sp>
        <p:nvSpPr>
          <p:cNvPr id="44" name="Text 41"/>
          <p:cNvSpPr txBox="1"/>
          <p:nvPr/>
        </p:nvSpPr>
        <p:spPr>
          <a:xfrm>
            <a:off x="14906625" y="4681311"/>
            <a:ext cx="1200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 kern="0" spc="120">
                <a:solidFill>
                  <a:srgbClr val="17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</a:t>
            </a:r>
            <a:endParaRPr lang="en-US" sz="1125"/>
          </a:p>
        </p:txBody>
      </p:sp>
      <p:sp>
        <p:nvSpPr>
          <p:cNvPr id="45" name="Text 42"/>
          <p:cNvSpPr txBox="1"/>
          <p:nvPr/>
        </p:nvSpPr>
        <p:spPr>
          <a:xfrm>
            <a:off x="16221075" y="4643211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 저장</a:t>
            </a:r>
            <a:endParaRPr lang="en-US" sz="950"/>
          </a:p>
        </p:txBody>
      </p:sp>
      <p:sp>
        <p:nvSpPr>
          <p:cNvPr id="46" name="Shape 43"/>
          <p:cNvSpPr/>
          <p:nvPr/>
        </p:nvSpPr>
        <p:spPr>
          <a:xfrm>
            <a:off x="1009650" y="8367486"/>
            <a:ext cx="16268700" cy="169545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1009650" y="8367486"/>
            <a:ext cx="162687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8" name="Text 45"/>
          <p:cNvSpPr txBox="1"/>
          <p:nvPr/>
        </p:nvSpPr>
        <p:spPr>
          <a:xfrm>
            <a:off x="1432832" y="9128579"/>
            <a:ext cx="247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20">
                <a:solidFill>
                  <a:srgbClr val="17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WALKERHILL</a:t>
            </a:r>
            <a:endParaRPr lang="en-US" sz="1200"/>
          </a:p>
        </p:txBody>
      </p:sp>
      <p:sp>
        <p:nvSpPr>
          <p:cNvPr id="49" name="Text 46"/>
          <p:cNvSpPr txBox="1"/>
          <p:nvPr/>
        </p:nvSpPr>
        <p:spPr>
          <a:xfrm>
            <a:off x="3519262" y="9025165"/>
            <a:ext cx="6395355" cy="49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복합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시설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하나에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300" b="1">
                <a:solidFill>
                  <a:srgbClr val="176FE5"/>
                </a:solidFill>
                <a:ea typeface="+mn-lt"/>
                <a:cs typeface="+mn-lt"/>
              </a:rPr>
              <a:t>다섯</a:t>
            </a:r>
            <a:r>
              <a:rPr lang="en-US" sz="2300" b="1">
                <a:solidFill>
                  <a:srgbClr val="176FE5"/>
                </a:solidFill>
                <a:ea typeface="+mn-lt"/>
                <a:cs typeface="+mn-lt"/>
              </a:rPr>
              <a:t> </a:t>
            </a:r>
            <a:r>
              <a:rPr lang="ko-KR" altLang="en-US" sz="2300" b="1">
                <a:solidFill>
                  <a:srgbClr val="176FE5"/>
                </a:solidFill>
                <a:ea typeface="+mn-lt"/>
                <a:cs typeface="+mn-lt"/>
              </a:rPr>
              <a:t>업무</a:t>
            </a:r>
            <a:r>
              <a:rPr lang="en-US" sz="2300" b="1">
                <a:solidFill>
                  <a:srgbClr val="176FE5"/>
                </a:solidFill>
                <a:ea typeface="+mn-lt"/>
                <a:cs typeface="+mn-lt"/>
              </a:rPr>
              <a:t> </a:t>
            </a:r>
            <a:r>
              <a:rPr lang="ko-KR" altLang="en-US" sz="2300" b="1">
                <a:solidFill>
                  <a:srgbClr val="176FE5"/>
                </a:solidFill>
                <a:ea typeface="+mn-lt"/>
                <a:cs typeface="+mn-lt"/>
              </a:rPr>
              <a:t>데이터가</a:t>
            </a:r>
            <a:r>
              <a:rPr lang="en-US" sz="2300" b="1">
                <a:solidFill>
                  <a:srgbClr val="176FE5"/>
                </a:solidFill>
                <a:ea typeface="+mn-lt"/>
                <a:cs typeface="+mn-lt"/>
              </a:rPr>
              <a:t> </a:t>
            </a:r>
            <a:r>
              <a:rPr lang="ko-KR" altLang="en-US" sz="2300" b="1">
                <a:solidFill>
                  <a:srgbClr val="176FE5"/>
                </a:solidFill>
                <a:ea typeface="+mn-lt"/>
                <a:cs typeface="+mn-lt"/>
              </a:rPr>
              <a:t>각각</a:t>
            </a:r>
            <a:r>
              <a:rPr lang="en-US" sz="2300" b="1">
                <a:solidFill>
                  <a:srgbClr val="176FE5"/>
                </a:solidFill>
                <a:ea typeface="+mn-lt"/>
                <a:cs typeface="+mn-lt"/>
              </a:rPr>
              <a:t> </a:t>
            </a:r>
            <a:r>
              <a:rPr lang="ko-KR" altLang="en-US" sz="2300" b="1">
                <a:solidFill>
                  <a:srgbClr val="176FE5"/>
                </a:solidFill>
                <a:ea typeface="+mn-lt"/>
                <a:cs typeface="+mn-lt"/>
              </a:rPr>
              <a:t>쌓인다</a:t>
            </a:r>
            <a:endParaRPr lang="en-US" sz="2300">
              <a:solidFill>
                <a:srgbClr val="000000"/>
              </a:solidFill>
              <a:ea typeface="+mn-lt"/>
              <a:cs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ADEBECD-6974-0E50-5499-538848D51584}"/>
              </a:ext>
            </a:extLst>
          </p:cNvPr>
          <p:cNvGrpSpPr/>
          <p:nvPr/>
        </p:nvGrpSpPr>
        <p:grpSpPr>
          <a:xfrm>
            <a:off x="12460061" y="8900432"/>
            <a:ext cx="4095750" cy="628650"/>
            <a:chOff x="12868275" y="8700861"/>
            <a:chExt cx="4095750" cy="628650"/>
          </a:xfrm>
        </p:grpSpPr>
        <p:sp>
          <p:nvSpPr>
            <p:cNvPr id="51" name="Shape 48"/>
            <p:cNvSpPr/>
            <p:nvPr/>
          </p:nvSpPr>
          <p:spPr>
            <a:xfrm>
              <a:off x="12868275" y="8700861"/>
              <a:ext cx="4095750" cy="628650"/>
            </a:xfrm>
            <a:prstGeom prst="roundRect">
              <a:avLst>
                <a:gd name="adj" fmla="val 9091"/>
              </a:avLst>
            </a:prstGeom>
            <a:solidFill>
              <a:srgbClr val="EAF3FF"/>
            </a:solidFill>
            <a:ln w="12700">
              <a:solidFill>
                <a:srgbClr val="176FE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 panose="02000503000000020004" pitchFamily="2" charset="-127"/>
              </a:endParaRPr>
            </a:p>
          </p:txBody>
        </p:sp>
        <p:sp>
          <p:nvSpPr>
            <p:cNvPr id="52" name="Text 49"/>
            <p:cNvSpPr txBox="1"/>
            <p:nvPr/>
          </p:nvSpPr>
          <p:spPr>
            <a:xfrm>
              <a:off x="13059228" y="8795658"/>
              <a:ext cx="3695700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50" b="1">
                  <a:solidFill>
                    <a:srgbClr val="176FE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 사일로 환경 재현에 적합</a:t>
              </a:r>
              <a:endParaRPr lang="en-US" sz="1650"/>
            </a:p>
          </p:txBody>
        </p:sp>
      </p:grpSp>
      <p:sp>
        <p:nvSpPr>
          <p:cNvPr id="22" name="Text 1">
            <a:extLst>
              <a:ext uri="{FF2B5EF4-FFF2-40B4-BE49-F238E27FC236}">
                <a16:creationId xmlns:a16="http://schemas.microsoft.com/office/drawing/2014/main" id="{6ABEB6BD-996E-0A7A-BCA0-178B3ABF3DF6}"/>
              </a:ext>
            </a:extLst>
          </p:cNvPr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10 · WHY WALKERHILL</a:t>
            </a:r>
            <a:endParaRPr lang="en-US" sz="1100">
              <a:latin typeface="Pretendard"/>
              <a:ea typeface="Pretendar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11</a:t>
            </a: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· DATA EVIDENCE</a:t>
            </a:r>
            <a:endParaRPr lang="en-US" sz="1100">
              <a:latin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AI-Ready 데이터 생성 </a:t>
            </a:r>
            <a:r>
              <a:rPr lang="ko-KR" altLang="en-US" sz="36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기준</a:t>
            </a:r>
            <a:endParaRPr lang="en-US" sz="3600" b="1">
              <a:solidFill>
                <a:srgbClr val="153451"/>
              </a:solidFill>
              <a:latin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05840" y="9015984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EVIDENCE RULE</a:t>
            </a:r>
            <a:endParaRPr lang="en-US" sz="110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478024" y="8951976"/>
            <a:ext cx="14804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공개 자료에서 확인한 </a:t>
            </a:r>
            <a:r>
              <a:rPr lang="en-US" sz="24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실적·가격·행사를 생성 규칙으로 반영</a:t>
            </a:r>
            <a:endParaRPr lang="en-US" sz="2400">
              <a:latin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314450" y="257175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1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참고한 공개 자료</a:t>
            </a:r>
            <a:endParaRPr lang="en-US">
              <a:latin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810250" y="257175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1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확인한 수치·조건</a:t>
            </a:r>
            <a:endParaRPr lang="en-US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2477750" y="257175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1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데이터 반영</a:t>
            </a:r>
            <a:endParaRPr lang="en-US">
              <a:latin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09650" y="2952750"/>
            <a:ext cx="16268700" cy="1619250"/>
          </a:xfrm>
          <a:prstGeom prst="roundRect">
            <a:avLst>
              <a:gd name="adj" fmla="val 11765"/>
            </a:avLst>
          </a:prstGeom>
          <a:solidFill>
            <a:srgbClr val="F7FAFF"/>
          </a:solidFill>
          <a:ln w="1524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28725" y="3409950"/>
            <a:ext cx="704850" cy="70485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409700" y="3524250"/>
            <a:ext cx="342900" cy="4762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628775" y="3524250"/>
            <a:ext cx="123825" cy="123825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628775" y="3524250"/>
            <a:ext cx="95" cy="123825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628775" y="3648075"/>
            <a:ext cx="123825" cy="95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485900" y="3733800"/>
            <a:ext cx="180975" cy="95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485900" y="3829050"/>
            <a:ext cx="180975" cy="95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485900" y="3924300"/>
            <a:ext cx="123825" cy="95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657350" y="3838575"/>
            <a:ext cx="171450" cy="17145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695450" y="3924300"/>
            <a:ext cx="95250" cy="95"/>
          </a:xfrm>
          <a:prstGeom prst="line">
            <a:avLst/>
          </a:prstGeom>
          <a:noFill/>
          <a:ln w="1270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743075" y="3876675"/>
            <a:ext cx="95" cy="95250"/>
          </a:xfrm>
          <a:prstGeom prst="line">
            <a:avLst/>
          </a:prstGeom>
          <a:noFill/>
          <a:ln w="1270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2095500" y="3295650"/>
            <a:ext cx="285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실적·신용평가</a:t>
            </a:r>
            <a:endParaRPr lang="en-US" sz="2800">
              <a:ea typeface="Pretendard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2095500" y="3752850"/>
            <a:ext cx="295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4B5F73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실적보고서 · 신용평가 자료</a:t>
            </a:r>
            <a:endParaRPr lang="en-US" sz="1900">
              <a:latin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219700" y="3762375"/>
            <a:ext cx="40005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715000" y="3143250"/>
            <a:ext cx="581025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000750" y="32766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Pretendard" pitchFamily="34" charset="0"/>
                <a:ea typeface="Pretendard"/>
                <a:cs typeface="Pretendard" pitchFamily="34" charset="-120"/>
              </a:rPr>
              <a:t>호텔·리조트 연간 매출</a:t>
            </a:r>
            <a:endParaRPr lang="en-US" sz="2800">
              <a:solidFill>
                <a:srgbClr val="000000"/>
              </a:solidFill>
              <a:ea typeface="Pretendard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810500" y="3619500"/>
            <a:ext cx="3429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3,006억 원</a:t>
            </a:r>
            <a:endParaRPr lang="en-US" sz="2400">
              <a:latin typeface="Pretendard"/>
              <a:ea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1620500" y="3762375"/>
            <a:ext cx="57150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2287250" y="3143250"/>
            <a:ext cx="4800600" cy="1238250"/>
          </a:xfrm>
          <a:prstGeom prst="roundRect">
            <a:avLst>
              <a:gd name="adj" fmla="val 12308"/>
            </a:avLst>
          </a:prstGeom>
          <a:solidFill>
            <a:srgbClr val="EAF3FF"/>
          </a:solidFill>
          <a:ln w="15240">
            <a:solidFill>
              <a:srgbClr val="B9D2F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2620625" y="3324225"/>
            <a:ext cx="4095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사업 규모·매출 기준</a:t>
            </a:r>
            <a:endParaRPr lang="en-US" sz="2700">
              <a:latin typeface="Pretendard"/>
              <a:ea typeface="Pretendard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2620625" y="3819525"/>
            <a:ext cx="4095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4B5F73"/>
                </a:solidFill>
                <a:latin typeface="Pretendard"/>
                <a:ea typeface="Pretendard"/>
                <a:cs typeface="Pretendard" pitchFamily="34" charset="-120"/>
              </a:rPr>
              <a:t>월별 매출 흐름에 반영</a:t>
            </a:r>
            <a:endParaRPr lang="en-US" sz="1900">
              <a:latin typeface="Pretendard"/>
              <a:ea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09650" y="4762500"/>
            <a:ext cx="16268700" cy="1619250"/>
          </a:xfrm>
          <a:prstGeom prst="roundRect">
            <a:avLst>
              <a:gd name="adj" fmla="val 11765"/>
            </a:avLst>
          </a:prstGeom>
          <a:solidFill>
            <a:srgbClr val="F7FAFF"/>
          </a:solidFill>
          <a:ln w="1524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228725" y="5219700"/>
            <a:ext cx="704850" cy="70485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6" name="Shape 34"/>
          <p:cNvSpPr/>
          <p:nvPr/>
        </p:nvSpPr>
        <p:spPr>
          <a:xfrm flipV="1">
            <a:off x="1371600" y="5353050"/>
            <a:ext cx="238125" cy="85725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609725" y="5353050"/>
            <a:ext cx="209550" cy="20955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8" name="Shape 36"/>
          <p:cNvSpPr/>
          <p:nvPr/>
        </p:nvSpPr>
        <p:spPr>
          <a:xfrm flipH="1">
            <a:off x="1581150" y="5562600"/>
            <a:ext cx="238125" cy="238125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9" name="Shape 37"/>
          <p:cNvSpPr/>
          <p:nvPr/>
        </p:nvSpPr>
        <p:spPr>
          <a:xfrm flipH="1" flipV="1">
            <a:off x="1371600" y="5591175"/>
            <a:ext cx="209550" cy="20955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0" name="Shape 38"/>
          <p:cNvSpPr/>
          <p:nvPr/>
        </p:nvSpPr>
        <p:spPr>
          <a:xfrm flipV="1">
            <a:off x="1371600" y="5438775"/>
            <a:ext cx="95" cy="15240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495425" y="5476875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619250" y="5610225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3" name="Shape 41"/>
          <p:cNvSpPr/>
          <p:nvPr/>
        </p:nvSpPr>
        <p:spPr>
          <a:xfrm flipH="1">
            <a:off x="1524000" y="5476875"/>
            <a:ext cx="133350" cy="22860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2095500" y="5105400"/>
            <a:ext cx="285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가격·멤버십</a:t>
            </a:r>
            <a:endParaRPr lang="en-US" sz="2800">
              <a:latin typeface="Pretendard"/>
              <a:ea typeface="Pretendard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2095500" y="5562600"/>
            <a:ext cx="295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4B5F73"/>
                </a:solidFill>
                <a:latin typeface="Pretendard"/>
                <a:ea typeface="Pretendard"/>
                <a:cs typeface="Pretendard" pitchFamily="34" charset="-120"/>
              </a:rPr>
              <a:t>공식 객실 가격 · 멤버십 혜택</a:t>
            </a:r>
            <a:endParaRPr lang="en-US" sz="1900">
              <a:latin typeface="Pretendard"/>
              <a:ea typeface="Pretendard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219700" y="5572125"/>
            <a:ext cx="40005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715000" y="4953000"/>
            <a:ext cx="581025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6000750" y="5057775"/>
            <a:ext cx="495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err="1">
                <a:solidFill>
                  <a:srgbClr val="000000"/>
                </a:solidFill>
                <a:latin typeface="Pretendard" pitchFamily="34" charset="0"/>
                <a:ea typeface="Pretendard"/>
                <a:cs typeface="Pretendard" pitchFamily="34" charset="-120"/>
              </a:rPr>
              <a:t>평일</a:t>
            </a:r>
            <a:r>
              <a:rPr lang="en-US" sz="2800" b="1">
                <a:solidFill>
                  <a:srgbClr val="000000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· </a:t>
            </a:r>
            <a:r>
              <a:rPr lang="en-US" sz="2800" b="1" err="1">
                <a:solidFill>
                  <a:srgbClr val="000000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주말</a:t>
            </a:r>
            <a:r>
              <a:rPr lang="en-US" sz="2800" b="1">
                <a:solidFill>
                  <a:srgbClr val="000000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· </a:t>
            </a:r>
            <a:r>
              <a:rPr lang="en-US" sz="2800" b="1" err="1">
                <a:solidFill>
                  <a:srgbClr val="000000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성수기</a:t>
            </a:r>
            <a:endParaRPr lang="en-US" sz="2800" err="1">
              <a:solidFill>
                <a:srgbClr val="000000"/>
              </a:solidFill>
              <a:ea typeface="Pretendard"/>
              <a:cs typeface="Calibri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7239000" y="5505450"/>
            <a:ext cx="400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err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할인율</a:t>
            </a:r>
            <a:r>
              <a:rPr lang="en-US" sz="24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10~40%</a:t>
            </a:r>
            <a:endParaRPr lang="en-US" sz="2400">
              <a:latin typeface="Pretendard"/>
              <a:ea typeface="Calibri"/>
              <a:cs typeface="Calibri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1620500" y="5572125"/>
            <a:ext cx="57150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2287250" y="4953000"/>
            <a:ext cx="4800600" cy="1238250"/>
          </a:xfrm>
          <a:prstGeom prst="roundRect">
            <a:avLst>
              <a:gd name="adj" fmla="val 12308"/>
            </a:avLst>
          </a:prstGeom>
          <a:solidFill>
            <a:srgbClr val="EAF3FF"/>
          </a:solidFill>
          <a:ln w="15240">
            <a:solidFill>
              <a:srgbClr val="B9D2F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12620625" y="5133975"/>
            <a:ext cx="4095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객실 가격·할인 조건</a:t>
            </a:r>
            <a:endParaRPr lang="en-US" sz="2700">
              <a:latin typeface="Pretendard"/>
              <a:ea typeface="Pretendard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12620625" y="5629275"/>
            <a:ext cx="4095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4B5F73"/>
                </a:solidFill>
                <a:latin typeface="Pretendard"/>
                <a:ea typeface="Pretendard"/>
                <a:cs typeface="Pretendard" pitchFamily="34" charset="-120"/>
              </a:rPr>
              <a:t>시즌별 가격 규칙에 반영</a:t>
            </a:r>
            <a:endParaRPr lang="en-US" sz="1900">
              <a:latin typeface="Pretendard"/>
              <a:ea typeface="Pretendard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009650" y="6572250"/>
            <a:ext cx="16268700" cy="1619250"/>
          </a:xfrm>
          <a:prstGeom prst="roundRect">
            <a:avLst>
              <a:gd name="adj" fmla="val 11765"/>
            </a:avLst>
          </a:prstGeom>
          <a:solidFill>
            <a:srgbClr val="F7FAFF"/>
          </a:solidFill>
          <a:ln w="1524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228725" y="7029450"/>
            <a:ext cx="704850" cy="70485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343025" y="7172325"/>
            <a:ext cx="47625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343025" y="7296150"/>
            <a:ext cx="476250" cy="95"/>
          </a:xfrm>
          <a:prstGeom prst="line">
            <a:avLst/>
          </a:prstGeom>
          <a:noFill/>
          <a:ln w="1651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457325" y="7105650"/>
            <a:ext cx="95" cy="142875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704975" y="7105650"/>
            <a:ext cx="95" cy="142875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514475" y="7381875"/>
            <a:ext cx="133350" cy="13335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1" name="Text 59"/>
          <p:cNvSpPr txBox="1"/>
          <p:nvPr/>
        </p:nvSpPr>
        <p:spPr>
          <a:xfrm>
            <a:off x="2095500" y="6915150"/>
            <a:ext cx="285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행사·시즌</a:t>
            </a:r>
            <a:endParaRPr lang="en-US" sz="2800">
              <a:latin typeface="Pretendard"/>
              <a:ea typeface="Pretendard"/>
            </a:endParaRPr>
          </a:p>
        </p:txBody>
      </p:sp>
      <p:sp>
        <p:nvSpPr>
          <p:cNvPr id="62" name="Text 60"/>
          <p:cNvSpPr txBox="1"/>
          <p:nvPr/>
        </p:nvSpPr>
        <p:spPr>
          <a:xfrm>
            <a:off x="2095500" y="7372350"/>
            <a:ext cx="2952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4B5F73"/>
                </a:solidFill>
                <a:latin typeface="Pretendard"/>
                <a:ea typeface="Pretendard"/>
                <a:cs typeface="Pretendard" pitchFamily="34" charset="-120"/>
              </a:rPr>
              <a:t>기사 · 워커힐 이벤트 페이지</a:t>
            </a:r>
            <a:endParaRPr lang="en-US" sz="1900">
              <a:latin typeface="Pretendard"/>
              <a:ea typeface="Pretendard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219700" y="7381875"/>
            <a:ext cx="40005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5715000" y="6762750"/>
            <a:ext cx="581025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5" name="Text 63"/>
          <p:cNvSpPr txBox="1"/>
          <p:nvPr/>
        </p:nvSpPr>
        <p:spPr>
          <a:xfrm>
            <a:off x="6000750" y="6867525"/>
            <a:ext cx="495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err="1">
                <a:latin typeface="Pretendard" pitchFamily="34" charset="0"/>
                <a:ea typeface="Pretendard"/>
                <a:cs typeface="Pretendard" pitchFamily="34" charset="-120"/>
              </a:rPr>
              <a:t>행사</a:t>
            </a:r>
            <a:r>
              <a:rPr lang="en-US" sz="2800" b="1">
                <a:latin typeface="Pretendard" pitchFamily="34" charset="0"/>
                <a:ea typeface="Pretendard"/>
                <a:cs typeface="Pretendard" pitchFamily="34" charset="-120"/>
              </a:rPr>
              <a:t> 전 · </a:t>
            </a:r>
            <a:r>
              <a:rPr lang="en-US" sz="2800" b="1" err="1">
                <a:latin typeface="Pretendard" pitchFamily="34" charset="0"/>
                <a:ea typeface="Pretendard"/>
                <a:cs typeface="Pretendard" pitchFamily="34" charset="-120"/>
              </a:rPr>
              <a:t>당일</a:t>
            </a:r>
            <a:r>
              <a:rPr lang="en-US" sz="2800" b="1">
                <a:latin typeface="Pretendard" pitchFamily="34" charset="0"/>
                <a:ea typeface="Pretendard"/>
                <a:cs typeface="Pretendard" pitchFamily="34" charset="-120"/>
              </a:rPr>
              <a:t> · </a:t>
            </a:r>
            <a:r>
              <a:rPr lang="en-US" sz="2800" b="1" err="1">
                <a:latin typeface="Pretendard" pitchFamily="34" charset="0"/>
                <a:ea typeface="Pretendard"/>
                <a:cs typeface="Pretendard" pitchFamily="34" charset="-120"/>
              </a:rPr>
              <a:t>이후</a:t>
            </a:r>
            <a:endParaRPr lang="en-US" sz="2800" err="1">
              <a:ea typeface="Pretendard"/>
              <a:cs typeface="Calibri"/>
            </a:endParaRPr>
          </a:p>
        </p:txBody>
      </p:sp>
      <p:sp>
        <p:nvSpPr>
          <p:cNvPr id="66" name="Text 64"/>
          <p:cNvSpPr txBox="1"/>
          <p:nvPr/>
        </p:nvSpPr>
        <p:spPr>
          <a:xfrm>
            <a:off x="6000750" y="7400925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4B5F73"/>
                </a:solidFill>
                <a:latin typeface="Pretendard"/>
                <a:ea typeface="Pretendard"/>
                <a:cs typeface="Pretendard" pitchFamily="34" charset="-120"/>
              </a:rPr>
              <a:t>컨퍼런스 · 세미나 · 브랜드 행사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1620500" y="7381875"/>
            <a:ext cx="57150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2287250" y="6762750"/>
            <a:ext cx="4800600" cy="1238250"/>
          </a:xfrm>
          <a:prstGeom prst="roundRect">
            <a:avLst>
              <a:gd name="adj" fmla="val 12308"/>
            </a:avLst>
          </a:prstGeom>
          <a:solidFill>
            <a:srgbClr val="EAF3FF"/>
          </a:solidFill>
          <a:ln w="15240">
            <a:solidFill>
              <a:srgbClr val="B9D2F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9" name="Text 67"/>
          <p:cNvSpPr txBox="1"/>
          <p:nvPr/>
        </p:nvSpPr>
        <p:spPr>
          <a:xfrm>
            <a:off x="12620625" y="6943725"/>
            <a:ext cx="4095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이벤트 수요 변화</a:t>
            </a:r>
            <a:endParaRPr lang="en-US" sz="2700">
              <a:latin typeface="Pretendard"/>
              <a:ea typeface="Pretendard"/>
            </a:endParaRPr>
          </a:p>
        </p:txBody>
      </p:sp>
      <p:sp>
        <p:nvSpPr>
          <p:cNvPr id="70" name="Text 68"/>
          <p:cNvSpPr txBox="1"/>
          <p:nvPr/>
        </p:nvSpPr>
        <p:spPr>
          <a:xfrm>
            <a:off x="12620625" y="7439025"/>
            <a:ext cx="4095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4B5F73"/>
                </a:solidFill>
                <a:latin typeface="Pretendard"/>
                <a:ea typeface="Pretendard"/>
                <a:cs typeface="Pretendard" pitchFamily="34" charset="-120"/>
              </a:rPr>
              <a:t>행사 전후 가중치에 반영</a:t>
            </a:r>
            <a:endParaRPr lang="en-US" sz="190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54738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12</a:t>
            </a: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· GUEST JOURNEY</a:t>
            </a:r>
            <a:endParaRPr lang="en-US" sz="1100">
              <a:latin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고객 시나리오</a:t>
            </a:r>
            <a:endParaRPr lang="en-US" sz="3600">
              <a:ea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05840" y="9015984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GUEST JOURNEY</a:t>
            </a:r>
            <a:endParaRPr lang="en-US" sz="110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478024" y="8951976"/>
            <a:ext cx="14804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핵심 흐름과 선택 기록을 </a:t>
            </a:r>
            <a:r>
              <a:rPr lang="en-US" sz="24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한 고객의 여정으로 연결</a:t>
            </a:r>
            <a:endParaRPr lang="en-US" sz="2400">
              <a:latin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905625" y="3714750"/>
            <a:ext cx="125557" cy="2164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156739" y="3758045"/>
            <a:ext cx="125557" cy="2164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07852" y="3801341"/>
            <a:ext cx="125557" cy="2164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58966" y="3844636"/>
            <a:ext cx="125557" cy="2164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10080" y="3887932"/>
            <a:ext cx="125557" cy="2164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61193" y="3931227"/>
            <a:ext cx="125557" cy="2164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 flipH="1">
            <a:off x="9518196" y="3714750"/>
            <a:ext cx="6804" cy="3401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6" name="Shape 14"/>
          <p:cNvSpPr/>
          <p:nvPr/>
        </p:nvSpPr>
        <p:spPr>
          <a:xfrm flipH="1">
            <a:off x="9504589" y="3782786"/>
            <a:ext cx="6804" cy="3401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 flipH="1">
            <a:off x="9490982" y="3850821"/>
            <a:ext cx="6804" cy="3401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 flipH="1">
            <a:off x="9477375" y="3918857"/>
            <a:ext cx="6804" cy="3401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9" name="Shape 17"/>
          <p:cNvSpPr/>
          <p:nvPr/>
        </p:nvSpPr>
        <p:spPr>
          <a:xfrm flipH="1">
            <a:off x="12010159" y="3714750"/>
            <a:ext cx="134216" cy="2164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0" name="Shape 18"/>
          <p:cNvSpPr/>
          <p:nvPr/>
        </p:nvSpPr>
        <p:spPr>
          <a:xfrm flipH="1">
            <a:off x="11741727" y="3758045"/>
            <a:ext cx="134216" cy="2164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1" name="Shape 19"/>
          <p:cNvSpPr/>
          <p:nvPr/>
        </p:nvSpPr>
        <p:spPr>
          <a:xfrm flipH="1">
            <a:off x="11473295" y="3801341"/>
            <a:ext cx="134216" cy="2164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2" name="Shape 20"/>
          <p:cNvSpPr/>
          <p:nvPr/>
        </p:nvSpPr>
        <p:spPr>
          <a:xfrm flipH="1">
            <a:off x="11204864" y="3844636"/>
            <a:ext cx="134216" cy="2164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3" name="Shape 21"/>
          <p:cNvSpPr/>
          <p:nvPr/>
        </p:nvSpPr>
        <p:spPr>
          <a:xfrm flipH="1">
            <a:off x="10936432" y="3887932"/>
            <a:ext cx="134216" cy="2164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4" name="Shape 22"/>
          <p:cNvSpPr/>
          <p:nvPr/>
        </p:nvSpPr>
        <p:spPr>
          <a:xfrm flipH="1">
            <a:off x="10668000" y="3931227"/>
            <a:ext cx="134216" cy="21648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5" name="Shape 23"/>
          <p:cNvSpPr/>
          <p:nvPr/>
        </p:nvSpPr>
        <p:spPr>
          <a:xfrm flipH="1">
            <a:off x="13248409" y="6238875"/>
            <a:ext cx="181841" cy="30307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6" name="Shape 24"/>
          <p:cNvSpPr/>
          <p:nvPr/>
        </p:nvSpPr>
        <p:spPr>
          <a:xfrm flipH="1">
            <a:off x="12884727" y="6299489"/>
            <a:ext cx="181841" cy="30307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7" name="Shape 25"/>
          <p:cNvSpPr/>
          <p:nvPr/>
        </p:nvSpPr>
        <p:spPr>
          <a:xfrm flipH="1">
            <a:off x="12521045" y="6360102"/>
            <a:ext cx="181841" cy="30307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8" name="Shape 26"/>
          <p:cNvSpPr/>
          <p:nvPr/>
        </p:nvSpPr>
        <p:spPr>
          <a:xfrm flipH="1">
            <a:off x="12157364" y="6420716"/>
            <a:ext cx="181841" cy="30307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9" name="Shape 27"/>
          <p:cNvSpPr/>
          <p:nvPr/>
        </p:nvSpPr>
        <p:spPr>
          <a:xfrm flipH="1">
            <a:off x="11793682" y="6481330"/>
            <a:ext cx="181841" cy="30307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0" name="Shape 28"/>
          <p:cNvSpPr/>
          <p:nvPr/>
        </p:nvSpPr>
        <p:spPr>
          <a:xfrm flipH="1">
            <a:off x="11430000" y="6541943"/>
            <a:ext cx="181841" cy="30307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1" name="Shape 29"/>
          <p:cNvSpPr/>
          <p:nvPr/>
        </p:nvSpPr>
        <p:spPr>
          <a:xfrm flipH="1">
            <a:off x="14798386" y="6238875"/>
            <a:ext cx="60614" cy="30307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2" name="Shape 30"/>
          <p:cNvSpPr/>
          <p:nvPr/>
        </p:nvSpPr>
        <p:spPr>
          <a:xfrm flipH="1">
            <a:off x="14677159" y="6299489"/>
            <a:ext cx="60614" cy="30307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3" name="Shape 31"/>
          <p:cNvSpPr/>
          <p:nvPr/>
        </p:nvSpPr>
        <p:spPr>
          <a:xfrm flipH="1">
            <a:off x="14555932" y="6360102"/>
            <a:ext cx="60614" cy="30307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4" name="Shape 32"/>
          <p:cNvSpPr/>
          <p:nvPr/>
        </p:nvSpPr>
        <p:spPr>
          <a:xfrm flipH="1">
            <a:off x="14434705" y="6420716"/>
            <a:ext cx="60614" cy="30307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5" name="Shape 33"/>
          <p:cNvSpPr/>
          <p:nvPr/>
        </p:nvSpPr>
        <p:spPr>
          <a:xfrm flipH="1">
            <a:off x="14313477" y="6481330"/>
            <a:ext cx="60614" cy="30307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6" name="Shape 34"/>
          <p:cNvSpPr/>
          <p:nvPr/>
        </p:nvSpPr>
        <p:spPr>
          <a:xfrm flipH="1">
            <a:off x="14192250" y="6541943"/>
            <a:ext cx="60614" cy="30307"/>
          </a:xfrm>
          <a:prstGeom prst="line">
            <a:avLst/>
          </a:prstGeom>
          <a:noFill/>
          <a:ln w="15240">
            <a:solidFill>
              <a:srgbClr val="A9BD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715000" y="2857500"/>
            <a:ext cx="2505489" cy="869673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5240">
            <a:solidFill>
              <a:srgbClr val="B9D2F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962650" y="3105150"/>
            <a:ext cx="95" cy="142875"/>
          </a:xfrm>
          <a:prstGeom prst="line">
            <a:avLst/>
          </a:prstGeom>
          <a:noFill/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038850" y="3105150"/>
            <a:ext cx="95" cy="371475"/>
          </a:xfrm>
          <a:prstGeom prst="line">
            <a:avLst/>
          </a:prstGeom>
          <a:noFill/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115050" y="3105150"/>
            <a:ext cx="95" cy="142875"/>
          </a:xfrm>
          <a:prstGeom prst="line">
            <a:avLst/>
          </a:prstGeom>
          <a:noFill/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962650" y="3248025"/>
            <a:ext cx="152400" cy="95"/>
          </a:xfrm>
          <a:prstGeom prst="line">
            <a:avLst/>
          </a:prstGeom>
          <a:noFill/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191250" y="3095625"/>
            <a:ext cx="161925" cy="238125"/>
          </a:xfrm>
          <a:prstGeom prst="ellipse">
            <a:avLst/>
          </a:pr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272213" y="3333750"/>
            <a:ext cx="95" cy="152400"/>
          </a:xfrm>
          <a:prstGeom prst="line">
            <a:avLst/>
          </a:prstGeom>
          <a:noFill/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6667499" y="3085271"/>
            <a:ext cx="1300370" cy="41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식음 이용</a:t>
            </a:r>
            <a:endParaRPr lang="en-US" sz="2500">
              <a:ea typeface="Pretendard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558004" y="2857500"/>
            <a:ext cx="2368827" cy="869673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5240">
            <a:solidFill>
              <a:srgbClr val="B9D2F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831331" y="3067050"/>
            <a:ext cx="152400" cy="15240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7" name="Shape 45"/>
          <p:cNvSpPr/>
          <p:nvPr/>
        </p:nvSpPr>
        <p:spPr>
          <a:xfrm flipV="1">
            <a:off x="8812282" y="3267075"/>
            <a:ext cx="104775" cy="85725"/>
          </a:xfrm>
          <a:prstGeom prst="line">
            <a:avLst/>
          </a:prstGeom>
          <a:noFill/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917056" y="3267075"/>
            <a:ext cx="123825" cy="85725"/>
          </a:xfrm>
          <a:prstGeom prst="line">
            <a:avLst/>
          </a:prstGeom>
          <a:noFill/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9" name="Shape 47"/>
          <p:cNvSpPr/>
          <p:nvPr/>
        </p:nvSpPr>
        <p:spPr>
          <a:xfrm flipV="1">
            <a:off x="9040882" y="3257550"/>
            <a:ext cx="142875" cy="95250"/>
          </a:xfrm>
          <a:prstGeom prst="line">
            <a:avLst/>
          </a:prstGeom>
          <a:noFill/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764657" y="3419475"/>
            <a:ext cx="95250" cy="3810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1" name="Shape 49"/>
          <p:cNvSpPr/>
          <p:nvPr/>
        </p:nvSpPr>
        <p:spPr>
          <a:xfrm flipV="1">
            <a:off x="8859906" y="3419475"/>
            <a:ext cx="95250" cy="3810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955157" y="3419475"/>
            <a:ext cx="95250" cy="3810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3" name="Shape 51"/>
          <p:cNvSpPr/>
          <p:nvPr/>
        </p:nvSpPr>
        <p:spPr>
          <a:xfrm flipV="1">
            <a:off x="9050407" y="3419475"/>
            <a:ext cx="95250" cy="3810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764657" y="3486150"/>
            <a:ext cx="95250" cy="3810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5" name="Shape 53"/>
          <p:cNvSpPr/>
          <p:nvPr/>
        </p:nvSpPr>
        <p:spPr>
          <a:xfrm flipV="1">
            <a:off x="8859906" y="3486150"/>
            <a:ext cx="95250" cy="3810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955157" y="3486150"/>
            <a:ext cx="95250" cy="3810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7" name="Shape 55"/>
          <p:cNvSpPr/>
          <p:nvPr/>
        </p:nvSpPr>
        <p:spPr>
          <a:xfrm flipV="1">
            <a:off x="9050407" y="3486150"/>
            <a:ext cx="95250" cy="3810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764657" y="3552825"/>
            <a:ext cx="95250" cy="3810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9" name="Shape 57"/>
          <p:cNvSpPr/>
          <p:nvPr/>
        </p:nvSpPr>
        <p:spPr>
          <a:xfrm flipV="1">
            <a:off x="8859906" y="3552825"/>
            <a:ext cx="95250" cy="3810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8955157" y="3552825"/>
            <a:ext cx="95250" cy="3810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1" name="Shape 59"/>
          <p:cNvSpPr/>
          <p:nvPr/>
        </p:nvSpPr>
        <p:spPr>
          <a:xfrm flipV="1">
            <a:off x="9050407" y="3552825"/>
            <a:ext cx="95250" cy="3810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2" name="Text 60"/>
          <p:cNvSpPr txBox="1"/>
          <p:nvPr/>
        </p:nvSpPr>
        <p:spPr>
          <a:xfrm>
            <a:off x="9452362" y="3075663"/>
            <a:ext cx="1250673" cy="451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시설 이용</a:t>
            </a:r>
            <a:endParaRPr lang="en-US" sz="2500">
              <a:ea typeface="Pretendard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1189806" y="2857500"/>
            <a:ext cx="2493064" cy="869673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5240">
            <a:solidFill>
              <a:srgbClr val="B9D2F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1446151" y="3095625"/>
            <a:ext cx="438150" cy="381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11446151" y="3219450"/>
            <a:ext cx="438150" cy="95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11531876" y="33147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1722376" y="331470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8" name="Text 66"/>
          <p:cNvSpPr txBox="1"/>
          <p:nvPr/>
        </p:nvSpPr>
        <p:spPr>
          <a:xfrm>
            <a:off x="12179575" y="3010727"/>
            <a:ext cx="1437033" cy="538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연회 참여</a:t>
            </a:r>
            <a:endParaRPr lang="en-US" sz="2500">
              <a:ea typeface="Pretendard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1057275" y="4495800"/>
            <a:ext cx="1200150" cy="1200150"/>
          </a:xfrm>
          <a:prstGeom prst="ellipse">
            <a:avLst/>
          </a:prstGeom>
          <a:solidFill>
            <a:srgbClr val="EAF3FF"/>
          </a:solidFill>
          <a:ln w="228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524000" y="4724400"/>
            <a:ext cx="266700" cy="266700"/>
          </a:xfrm>
          <a:prstGeom prst="ellipse">
            <a:avLst/>
          </a:prstGeom>
          <a:solidFill>
            <a:srgbClr val="ECF3FE"/>
          </a:solidFill>
          <a:ln w="228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381125" y="5076825"/>
            <a:ext cx="552450" cy="419100"/>
          </a:xfrm>
          <a:prstGeom prst="ellipse">
            <a:avLst/>
          </a:prstGeom>
          <a:solidFill>
            <a:srgbClr val="FFFFFF">
              <a:alpha val="0"/>
            </a:srgbClr>
          </a:solidFill>
          <a:ln w="228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1343025" y="5286375"/>
            <a:ext cx="628650" cy="257175"/>
          </a:xfrm>
          <a:prstGeom prst="rect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3" name="Text 71"/>
          <p:cNvSpPr txBox="1"/>
          <p:nvPr/>
        </p:nvSpPr>
        <p:spPr>
          <a:xfrm>
            <a:off x="1181100" y="5705475"/>
            <a:ext cx="95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고객</a:t>
            </a:r>
            <a:endParaRPr lang="en-US" sz="2700">
              <a:ea typeface="Pretendard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2352675" y="5095875"/>
            <a:ext cx="504825" cy="0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2952750" y="4048125"/>
            <a:ext cx="3810000" cy="219075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228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3257550" y="4305300"/>
            <a:ext cx="723900" cy="72390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3362325" y="4438650"/>
            <a:ext cx="51435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3362325" y="4572000"/>
            <a:ext cx="514350" cy="95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3486150" y="4371975"/>
            <a:ext cx="95" cy="142875"/>
          </a:xfrm>
          <a:prstGeom prst="line">
            <a:avLst/>
          </a:prstGeom>
          <a:noFill/>
          <a:ln w="2413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3752850" y="4371975"/>
            <a:ext cx="95" cy="142875"/>
          </a:xfrm>
          <a:prstGeom prst="line">
            <a:avLst/>
          </a:prstGeom>
          <a:noFill/>
          <a:ln w="2413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3495675" y="4733925"/>
            <a:ext cx="76200" cy="76200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3" name="Shape 81"/>
          <p:cNvSpPr/>
          <p:nvPr/>
        </p:nvSpPr>
        <p:spPr>
          <a:xfrm flipV="1">
            <a:off x="3571875" y="4619625"/>
            <a:ext cx="161925" cy="190500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4" name="Text 82"/>
          <p:cNvSpPr txBox="1"/>
          <p:nvPr/>
        </p:nvSpPr>
        <p:spPr>
          <a:xfrm>
            <a:off x="4238625" y="4400550"/>
            <a:ext cx="2190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객실 예약</a:t>
            </a:r>
            <a:endParaRPr lang="en-US" sz="3200">
              <a:ea typeface="Pretendard"/>
            </a:endParaRPr>
          </a:p>
        </p:txBody>
      </p:sp>
      <p:sp>
        <p:nvSpPr>
          <p:cNvPr id="85" name="Text 83"/>
          <p:cNvSpPr txBox="1"/>
          <p:nvPr/>
        </p:nvSpPr>
        <p:spPr>
          <a:xfrm>
            <a:off x="3333750" y="5276850"/>
            <a:ext cx="3143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50" b="1">
                <a:solidFill>
                  <a:srgbClr val="4B5F73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요금 · 숙박 기간</a:t>
            </a:r>
            <a:endParaRPr lang="en-US" sz="2250">
              <a:latin typeface="Pretendard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6762750" y="5095875"/>
            <a:ext cx="714375" cy="0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7572375" y="4048125"/>
            <a:ext cx="3810000" cy="2190750"/>
          </a:xfrm>
          <a:prstGeom prst="roundRect">
            <a:avLst>
              <a:gd name="adj" fmla="val 9565"/>
            </a:avLst>
          </a:prstGeom>
          <a:solidFill>
            <a:srgbClr val="EAF3FF"/>
          </a:solidFill>
          <a:ln w="228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7914447" y="4305300"/>
            <a:ext cx="723900" cy="7239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8029575" y="4505325"/>
            <a:ext cx="266700" cy="2667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8296275" y="4638675"/>
            <a:ext cx="266700" cy="95"/>
          </a:xfrm>
          <a:prstGeom prst="line">
            <a:avLst/>
          </a:prstGeom>
          <a:noFill/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8477250" y="4638675"/>
            <a:ext cx="95" cy="104775"/>
          </a:xfrm>
          <a:prstGeom prst="line">
            <a:avLst/>
          </a:prstGeom>
          <a:noFill/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8553450" y="4638675"/>
            <a:ext cx="95" cy="76200"/>
          </a:xfrm>
          <a:prstGeom prst="line">
            <a:avLst/>
          </a:prstGeom>
          <a:noFill/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94" name="Text 92"/>
          <p:cNvSpPr txBox="1"/>
          <p:nvPr/>
        </p:nvSpPr>
        <p:spPr>
          <a:xfrm>
            <a:off x="8858250" y="4400550"/>
            <a:ext cx="2190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체크인·투숙</a:t>
            </a:r>
            <a:endParaRPr lang="en-US" sz="3200">
              <a:ea typeface="Pretendard"/>
            </a:endParaRPr>
          </a:p>
        </p:txBody>
      </p:sp>
      <p:sp>
        <p:nvSpPr>
          <p:cNvPr id="95" name="Text 93"/>
          <p:cNvSpPr txBox="1"/>
          <p:nvPr/>
        </p:nvSpPr>
        <p:spPr>
          <a:xfrm>
            <a:off x="7953375" y="5276850"/>
            <a:ext cx="3143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50" b="1">
                <a:solidFill>
                  <a:srgbClr val="4B5F73"/>
                </a:solidFill>
                <a:latin typeface="Pretendard"/>
                <a:ea typeface="Pretendard"/>
                <a:cs typeface="Pretendard" pitchFamily="34" charset="-120"/>
              </a:rPr>
              <a:t>객실 · 숙박일</a:t>
            </a:r>
            <a:endParaRPr lang="en-US" sz="2250">
              <a:latin typeface="Pretendard"/>
              <a:ea typeface="Pretendard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11382375" y="5095875"/>
            <a:ext cx="714375" cy="0"/>
          </a:xfrm>
          <a:prstGeom prst="line">
            <a:avLst/>
          </a:prstGeom>
          <a:noFill/>
          <a:ln w="2286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12192000" y="4048125"/>
            <a:ext cx="3810000" cy="219075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228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12496800" y="4305300"/>
            <a:ext cx="723900" cy="72390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12630150" y="4410075"/>
            <a:ext cx="457200" cy="51435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12725400" y="4552950"/>
            <a:ext cx="266700" cy="95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12725400" y="4667250"/>
            <a:ext cx="266700" cy="95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12725400" y="4781550"/>
            <a:ext cx="200025" cy="95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4" name="Text 102"/>
          <p:cNvSpPr txBox="1"/>
          <p:nvPr/>
        </p:nvSpPr>
        <p:spPr>
          <a:xfrm>
            <a:off x="13477875" y="4400550"/>
            <a:ext cx="2190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결제·Folio</a:t>
            </a:r>
            <a:endParaRPr lang="en-US" sz="3200">
              <a:latin typeface="Pretendard"/>
              <a:ea typeface="Pretendard"/>
            </a:endParaRPr>
          </a:p>
        </p:txBody>
      </p:sp>
      <p:sp>
        <p:nvSpPr>
          <p:cNvPr id="105" name="Text 103"/>
          <p:cNvSpPr txBox="1"/>
          <p:nvPr/>
        </p:nvSpPr>
        <p:spPr>
          <a:xfrm>
            <a:off x="12573000" y="5276850"/>
            <a:ext cx="3143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50" b="1">
                <a:solidFill>
                  <a:srgbClr val="4B5F73"/>
                </a:solidFill>
                <a:latin typeface="Pretendard"/>
                <a:ea typeface="Pretendard"/>
                <a:cs typeface="Pretendard" pitchFamily="34" charset="-120"/>
              </a:rPr>
              <a:t>주문 · 결제 · 객실 청구</a:t>
            </a:r>
            <a:endParaRPr lang="en-US" sz="2250">
              <a:latin typeface="Pretendard"/>
              <a:ea typeface="Pretendard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10239375" y="6667500"/>
            <a:ext cx="2381250" cy="857250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5240">
            <a:solidFill>
              <a:srgbClr val="B9D2F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10448925" y="6867525"/>
            <a:ext cx="457200" cy="45720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8" name="Text 106"/>
          <p:cNvSpPr txBox="1"/>
          <p:nvPr/>
        </p:nvSpPr>
        <p:spPr>
          <a:xfrm>
            <a:off x="10525125" y="6924675"/>
            <a:ext cx="30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P</a:t>
            </a:r>
            <a:endParaRPr lang="en-US" sz="2200">
              <a:latin typeface="Pretendard"/>
              <a:ea typeface="Pretendard"/>
            </a:endParaRPr>
          </a:p>
        </p:txBody>
      </p:sp>
      <p:sp>
        <p:nvSpPr>
          <p:cNvPr id="109" name="Text 107"/>
          <p:cNvSpPr txBox="1"/>
          <p:nvPr/>
        </p:nvSpPr>
        <p:spPr>
          <a:xfrm>
            <a:off x="11191875" y="6858000"/>
            <a:ext cx="123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포인트</a:t>
            </a:r>
            <a:endParaRPr lang="en-US" sz="2500">
              <a:latin typeface="Pretendard"/>
              <a:ea typeface="Pretendard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13001625" y="6667500"/>
            <a:ext cx="2381250" cy="857250"/>
          </a:xfrm>
          <a:prstGeom prst="roundRect">
            <a:avLst>
              <a:gd name="adj" fmla="val 50000"/>
            </a:avLst>
          </a:prstGeom>
          <a:solidFill>
            <a:srgbClr val="F7FAFF"/>
          </a:solidFill>
          <a:ln w="15240">
            <a:solidFill>
              <a:srgbClr val="B9D2F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13211175" y="6934200"/>
            <a:ext cx="457200" cy="95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13668375" y="6934200"/>
            <a:ext cx="95" cy="295275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3" name="Shape 111"/>
          <p:cNvSpPr/>
          <p:nvPr/>
        </p:nvSpPr>
        <p:spPr>
          <a:xfrm flipH="1">
            <a:off x="13392150" y="7229475"/>
            <a:ext cx="276225" cy="95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4" name="Shape 112"/>
          <p:cNvSpPr/>
          <p:nvPr/>
        </p:nvSpPr>
        <p:spPr>
          <a:xfrm flipH="1">
            <a:off x="13296900" y="7229475"/>
            <a:ext cx="95250" cy="95250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5" name="Shape 113"/>
          <p:cNvSpPr/>
          <p:nvPr/>
        </p:nvSpPr>
        <p:spPr>
          <a:xfrm flipV="1">
            <a:off x="13296900" y="7229475"/>
            <a:ext cx="95" cy="95250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6" name="Shape 114"/>
          <p:cNvSpPr/>
          <p:nvPr/>
        </p:nvSpPr>
        <p:spPr>
          <a:xfrm flipH="1">
            <a:off x="13211175" y="7229475"/>
            <a:ext cx="85725" cy="95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7" name="Shape 115"/>
          <p:cNvSpPr/>
          <p:nvPr/>
        </p:nvSpPr>
        <p:spPr>
          <a:xfrm flipV="1">
            <a:off x="13211175" y="6934200"/>
            <a:ext cx="95" cy="295275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13315950" y="7067550"/>
            <a:ext cx="38100" cy="381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9" name="Shape 117"/>
          <p:cNvSpPr/>
          <p:nvPr/>
        </p:nvSpPr>
        <p:spPr>
          <a:xfrm>
            <a:off x="13420725" y="7067550"/>
            <a:ext cx="38100" cy="381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13525500" y="7067550"/>
            <a:ext cx="38100" cy="381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1" name="Text 119"/>
          <p:cNvSpPr txBox="1"/>
          <p:nvPr/>
        </p:nvSpPr>
        <p:spPr>
          <a:xfrm>
            <a:off x="13954125" y="6858000"/>
            <a:ext cx="123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VOC</a:t>
            </a:r>
            <a:endParaRPr lang="en-US" sz="2500">
              <a:latin typeface="Pretendard"/>
              <a:ea typeface="Pretendard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2952750" y="7810500"/>
            <a:ext cx="13049250" cy="619125"/>
          </a:xfrm>
          <a:prstGeom prst="roundRect">
            <a:avLst>
              <a:gd name="adj" fmla="val 24615"/>
            </a:avLst>
          </a:prstGeom>
          <a:solidFill>
            <a:srgbClr val="EAF3FF"/>
          </a:solidFill>
          <a:ln w="15240">
            <a:solidFill>
              <a:srgbClr val="B9D2F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3" name="Text 121"/>
          <p:cNvSpPr txBox="1"/>
          <p:nvPr/>
        </p:nvSpPr>
        <p:spPr>
          <a:xfrm>
            <a:off x="3714750" y="7877175"/>
            <a:ext cx="11525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같은 고객 · 같은 투숙 · 같은 거래로 연결</a:t>
            </a:r>
            <a:endParaRPr lang="en-US" sz="270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521122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9F390F-FBEC-C195-0BBE-01038D2FC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8E67C9-D37D-46F6-D8DB-DE20E2D36381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B48FA2-016A-1CE6-E625-42D3349B9FCD}"/>
              </a:ext>
            </a:extLst>
          </p:cNvPr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13 · DATA SCALE</a:t>
            </a:r>
            <a:endParaRPr lang="en-US" sz="1100">
              <a:latin typeface="Pretendard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04A0F1-E764-0C75-1C76-D22BFAE27F62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53451"/>
                </a:solidFill>
                <a:latin typeface="Pretendard"/>
                <a:ea typeface="맑은 고딕"/>
              </a:rPr>
              <a:t>데이터 규모</a:t>
            </a:r>
            <a:endParaRPr lang="en-US" altLang="ko-KR" sz="3600" b="1">
              <a:solidFill>
                <a:srgbClr val="153451"/>
              </a:solidFill>
              <a:latin typeface="Pretendard"/>
              <a:ea typeface="맑은 고딕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52A84E3-5317-BFB1-FCEC-F9894AFFD9EA}"/>
              </a:ext>
            </a:extLst>
          </p:cNvPr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CB5C62-97BF-D7BC-4CD6-331A5DDC0BC3}"/>
              </a:ext>
            </a:extLst>
          </p:cNvPr>
          <p:cNvSpPr txBox="1"/>
          <p:nvPr/>
        </p:nvSpPr>
        <p:spPr>
          <a:xfrm>
            <a:off x="1005840" y="9015984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GUEST JOURNEY</a:t>
            </a:r>
            <a:endParaRPr lang="en-US" sz="1100">
              <a:ea typeface="Pretendard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0A6124-8EF4-E46A-D4FE-C5D39BD084DA}"/>
              </a:ext>
            </a:extLst>
          </p:cNvPr>
          <p:cNvSpPr txBox="1"/>
          <p:nvPr/>
        </p:nvSpPr>
        <p:spPr>
          <a:xfrm>
            <a:off x="2478024" y="8951976"/>
            <a:ext cx="14804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400" b="1">
                <a:solidFill>
                  <a:srgbClr val="153451"/>
                </a:solidFill>
                <a:latin typeface="Pretendard"/>
                <a:ea typeface="+mn-lt"/>
                <a:cs typeface="+mn-lt"/>
              </a:rPr>
              <a:t>행</a:t>
            </a:r>
            <a:r>
              <a:rPr lang="en-US" sz="2400" b="1">
                <a:solidFill>
                  <a:srgbClr val="153451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2400" b="1">
                <a:solidFill>
                  <a:srgbClr val="153451"/>
                </a:solidFill>
                <a:latin typeface="Pretendard"/>
                <a:ea typeface="+mn-lt"/>
                <a:cs typeface="+mn-lt"/>
              </a:rPr>
              <a:t>수만</a:t>
            </a:r>
            <a:r>
              <a:rPr lang="en-US" sz="2400" b="1">
                <a:solidFill>
                  <a:srgbClr val="153451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2400" b="1">
                <a:solidFill>
                  <a:srgbClr val="153451"/>
                </a:solidFill>
                <a:latin typeface="Pretendard"/>
                <a:ea typeface="+mn-lt"/>
                <a:cs typeface="+mn-lt"/>
              </a:rPr>
              <a:t>늘린</a:t>
            </a:r>
            <a:r>
              <a:rPr lang="en-US" sz="2400" b="1">
                <a:solidFill>
                  <a:srgbClr val="153451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2400" b="1">
                <a:solidFill>
                  <a:srgbClr val="153451"/>
                </a:solidFill>
                <a:latin typeface="Pretendard"/>
                <a:ea typeface="+mn-lt"/>
                <a:cs typeface="+mn-lt"/>
              </a:rPr>
              <a:t>것이</a:t>
            </a:r>
            <a:r>
              <a:rPr lang="en-US" sz="2400" b="1">
                <a:solidFill>
                  <a:srgbClr val="153451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sz="2400" b="1">
                <a:solidFill>
                  <a:srgbClr val="153451"/>
                </a:solidFill>
                <a:latin typeface="Pretendard"/>
                <a:ea typeface="+mn-lt"/>
                <a:cs typeface="+mn-lt"/>
              </a:rPr>
              <a:t>아닌</a:t>
            </a:r>
            <a:r>
              <a:rPr lang="en-US" sz="2400" b="1">
                <a:solidFill>
                  <a:srgbClr val="153451"/>
                </a:solidFill>
                <a:latin typeface="Pretendard"/>
                <a:ea typeface="+mn-lt"/>
                <a:cs typeface="+mn-lt"/>
              </a:rPr>
              <a:t>, </a:t>
            </a:r>
            <a:r>
              <a:rPr lang="ko-KR" altLang="en-US" sz="2400" b="1">
                <a:solidFill>
                  <a:srgbClr val="176FE5"/>
                </a:solidFill>
                <a:ea typeface="+mn-lt"/>
                <a:cs typeface="+mn-lt"/>
              </a:rPr>
              <a:t>공개</a:t>
            </a:r>
            <a:r>
              <a:rPr lang="ko-KR" sz="2400" b="1">
                <a:solidFill>
                  <a:srgbClr val="176FE5"/>
                </a:solidFill>
                <a:ea typeface="+mn-lt"/>
                <a:cs typeface="+mn-lt"/>
              </a:rPr>
              <a:t> 도메인 스키마 기반으로 데이터 구조까지 설계</a:t>
            </a:r>
            <a:r>
              <a:rPr lang="en-US" altLang="ko-KR" sz="2400" b="1">
                <a:solidFill>
                  <a:srgbClr val="176FE5"/>
                </a:solidFill>
                <a:ea typeface="+mn-lt"/>
                <a:cs typeface="+mn-lt"/>
              </a:rPr>
              <a:t> </a:t>
            </a:r>
            <a:endParaRPr lang="ko-KR" altLang="en-US" sz="2400" b="1">
              <a:solidFill>
                <a:srgbClr val="176FE5"/>
              </a:solidFill>
              <a:ea typeface="+mn-lt"/>
              <a:cs typeface="+mn-lt"/>
            </a:endParaRPr>
          </a:p>
        </p:txBody>
      </p:sp>
      <p:sp>
        <p:nvSpPr>
          <p:cNvPr id="1025" name="Text 9">
            <a:extLst>
              <a:ext uri="{FF2B5EF4-FFF2-40B4-BE49-F238E27FC236}">
                <a16:creationId xmlns:a16="http://schemas.microsoft.com/office/drawing/2014/main" id="{A8B68FFE-C58A-1314-5A92-D0E0EE69AABE}"/>
              </a:ext>
            </a:extLst>
          </p:cNvPr>
          <p:cNvSpPr txBox="1"/>
          <p:nvPr/>
        </p:nvSpPr>
        <p:spPr>
          <a:xfrm>
            <a:off x="1009650" y="266700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DATA VOLUME</a:t>
            </a:r>
            <a:endParaRPr lang="en-US" sz="900">
              <a:latin typeface="Pretendard"/>
            </a:endParaRPr>
          </a:p>
        </p:txBody>
      </p:sp>
      <p:sp>
        <p:nvSpPr>
          <p:cNvPr id="1027" name="Text 10">
            <a:extLst>
              <a:ext uri="{FF2B5EF4-FFF2-40B4-BE49-F238E27FC236}">
                <a16:creationId xmlns:a16="http://schemas.microsoft.com/office/drawing/2014/main" id="{5F61E67F-0246-DD46-E3C5-A52DE75652BF}"/>
              </a:ext>
            </a:extLst>
          </p:cNvPr>
          <p:cNvSpPr txBox="1"/>
          <p:nvPr/>
        </p:nvSpPr>
        <p:spPr>
          <a:xfrm>
            <a:off x="1009650" y="2876550"/>
            <a:ext cx="400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규모를</a:t>
            </a:r>
            <a:r>
              <a:rPr lang="en-US" sz="13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3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이해할</a:t>
            </a:r>
            <a:r>
              <a:rPr lang="en-US" sz="13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수 </a:t>
            </a:r>
            <a:r>
              <a:rPr lang="en-US" sz="13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있는</a:t>
            </a:r>
            <a:r>
              <a:rPr lang="en-US" sz="13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3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단위로</a:t>
            </a:r>
            <a:r>
              <a:rPr lang="en-US" sz="13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3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변환</a:t>
            </a:r>
            <a:endParaRPr lang="ko-KR" altLang="en-US" sz="1350" b="1">
              <a:solidFill>
                <a:srgbClr val="153451"/>
              </a:solidFill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029" name="Shape 11">
            <a:extLst>
              <a:ext uri="{FF2B5EF4-FFF2-40B4-BE49-F238E27FC236}">
                <a16:creationId xmlns:a16="http://schemas.microsoft.com/office/drawing/2014/main" id="{6CFAFE89-D7C5-EEB9-AB36-C3D639F5EB35}"/>
              </a:ext>
            </a:extLst>
          </p:cNvPr>
          <p:cNvSpPr/>
          <p:nvPr/>
        </p:nvSpPr>
        <p:spPr>
          <a:xfrm>
            <a:off x="1009650" y="3314700"/>
            <a:ext cx="3286125" cy="3619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031" name="Text 12">
            <a:extLst>
              <a:ext uri="{FF2B5EF4-FFF2-40B4-BE49-F238E27FC236}">
                <a16:creationId xmlns:a16="http://schemas.microsoft.com/office/drawing/2014/main" id="{DAB58ACB-AE04-1C03-8BE8-544C4ED56830}"/>
              </a:ext>
            </a:extLst>
          </p:cNvPr>
          <p:cNvSpPr txBox="1"/>
          <p:nvPr/>
        </p:nvSpPr>
        <p:spPr>
          <a:xfrm>
            <a:off x="1219200" y="3371850"/>
            <a:ext cx="2952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4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GENERATION CONTRACT · EXPECTED SCALE</a:t>
            </a:r>
            <a:endParaRPr lang="en-US" sz="850">
              <a:ea typeface="Pretendard"/>
            </a:endParaRPr>
          </a:p>
        </p:txBody>
      </p:sp>
      <p:sp>
        <p:nvSpPr>
          <p:cNvPr id="1033" name="Text 13">
            <a:extLst>
              <a:ext uri="{FF2B5EF4-FFF2-40B4-BE49-F238E27FC236}">
                <a16:creationId xmlns:a16="http://schemas.microsoft.com/office/drawing/2014/main" id="{F3490F61-CB4A-F3F3-5D87-804C7259F259}"/>
              </a:ext>
            </a:extLst>
          </p:cNvPr>
          <p:cNvSpPr txBox="1"/>
          <p:nvPr/>
        </p:nvSpPr>
        <p:spPr>
          <a:xfrm>
            <a:off x="1009650" y="3876675"/>
            <a:ext cx="36671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약 780만</a:t>
            </a:r>
            <a:endParaRPr lang="en-US" sz="7200">
              <a:latin typeface="Pretendard"/>
            </a:endParaRPr>
          </a:p>
        </p:txBody>
      </p:sp>
      <p:sp>
        <p:nvSpPr>
          <p:cNvPr id="1035" name="Text 14">
            <a:extLst>
              <a:ext uri="{FF2B5EF4-FFF2-40B4-BE49-F238E27FC236}">
                <a16:creationId xmlns:a16="http://schemas.microsoft.com/office/drawing/2014/main" id="{7E3B6BF8-C65B-4AA9-9796-25C6D382C8B1}"/>
              </a:ext>
            </a:extLst>
          </p:cNvPr>
          <p:cNvSpPr txBox="1"/>
          <p:nvPr/>
        </p:nvSpPr>
        <p:spPr>
          <a:xfrm>
            <a:off x="4810125" y="4295775"/>
            <a:ext cx="6667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행</a:t>
            </a:r>
            <a:endParaRPr lang="en-US" sz="3150">
              <a:ea typeface="Pretendard"/>
            </a:endParaRPr>
          </a:p>
        </p:txBody>
      </p:sp>
      <p:sp>
        <p:nvSpPr>
          <p:cNvPr id="1037" name="Shape 15">
            <a:extLst>
              <a:ext uri="{FF2B5EF4-FFF2-40B4-BE49-F238E27FC236}">
                <a16:creationId xmlns:a16="http://schemas.microsoft.com/office/drawing/2014/main" id="{25D9CF27-4B9E-3471-FE6B-25AC590A43BD}"/>
              </a:ext>
            </a:extLst>
          </p:cNvPr>
          <p:cNvSpPr/>
          <p:nvPr/>
        </p:nvSpPr>
        <p:spPr>
          <a:xfrm>
            <a:off x="1009650" y="5000625"/>
            <a:ext cx="6724650" cy="0"/>
          </a:xfrm>
          <a:prstGeom prst="line">
            <a:avLst/>
          </a:prstGeom>
          <a:noFill/>
          <a:ln w="1905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039" name="Text 16">
            <a:extLst>
              <a:ext uri="{FF2B5EF4-FFF2-40B4-BE49-F238E27FC236}">
                <a16:creationId xmlns:a16="http://schemas.microsoft.com/office/drawing/2014/main" id="{527B1BCA-E30E-BDA8-C22B-15E1C01C62FF}"/>
              </a:ext>
            </a:extLst>
          </p:cNvPr>
          <p:cNvSpPr txBox="1"/>
          <p:nvPr/>
        </p:nvSpPr>
        <p:spPr>
          <a:xfrm>
            <a:off x="1009650" y="516255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>
                <a:solidFill>
                  <a:srgbClr val="4B5F73"/>
                </a:solidFill>
                <a:latin typeface="Pretendard" pitchFamily="34" charset="0"/>
                <a:ea typeface="Pretendard"/>
                <a:cs typeface="Pretendard" pitchFamily="34" charset="-120"/>
              </a:rPr>
              <a:t>문서 분량으로 단순 환산하면</a:t>
            </a:r>
            <a:endParaRPr lang="en-US" sz="1420">
              <a:ea typeface="Pretendard"/>
            </a:endParaRPr>
          </a:p>
        </p:txBody>
      </p:sp>
      <p:sp>
        <p:nvSpPr>
          <p:cNvPr id="1041" name="Text 17">
            <a:extLst>
              <a:ext uri="{FF2B5EF4-FFF2-40B4-BE49-F238E27FC236}">
                <a16:creationId xmlns:a16="http://schemas.microsoft.com/office/drawing/2014/main" id="{8973B785-7820-BF93-B1CA-4CC3CD4F5B83}"/>
              </a:ext>
            </a:extLst>
          </p:cNvPr>
          <p:cNvSpPr txBox="1"/>
          <p:nvPr/>
        </p:nvSpPr>
        <p:spPr>
          <a:xfrm>
            <a:off x="1009650" y="5476875"/>
            <a:ext cx="4095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책 </a:t>
            </a:r>
            <a:r>
              <a:rPr lang="en-US" sz="36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약 800권</a:t>
            </a:r>
            <a:endParaRPr lang="en-US" sz="3600">
              <a:latin typeface="Pretendard"/>
            </a:endParaRPr>
          </a:p>
        </p:txBody>
      </p:sp>
      <p:sp>
        <p:nvSpPr>
          <p:cNvPr id="1043" name="Shape 18">
            <a:extLst>
              <a:ext uri="{FF2B5EF4-FFF2-40B4-BE49-F238E27FC236}">
                <a16:creationId xmlns:a16="http://schemas.microsoft.com/office/drawing/2014/main" id="{80440475-3EE9-FC42-300F-707903A2A556}"/>
              </a:ext>
            </a:extLst>
          </p:cNvPr>
          <p:cNvSpPr/>
          <p:nvPr/>
        </p:nvSpPr>
        <p:spPr>
          <a:xfrm>
            <a:off x="1009650" y="6534150"/>
            <a:ext cx="142875" cy="8763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45" name="Shape 19">
            <a:extLst>
              <a:ext uri="{FF2B5EF4-FFF2-40B4-BE49-F238E27FC236}">
                <a16:creationId xmlns:a16="http://schemas.microsoft.com/office/drawing/2014/main" id="{A78910C7-EFF3-B846-D2BF-90565E3CB78B}"/>
              </a:ext>
            </a:extLst>
          </p:cNvPr>
          <p:cNvSpPr/>
          <p:nvPr/>
        </p:nvSpPr>
        <p:spPr>
          <a:xfrm>
            <a:off x="1181100" y="6334125"/>
            <a:ext cx="161925" cy="1076325"/>
          </a:xfrm>
          <a:prstGeom prst="roundRect">
            <a:avLst>
              <a:gd name="adj" fmla="val 11765"/>
            </a:avLst>
          </a:prstGeom>
          <a:solidFill>
            <a:srgbClr val="EAF3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47" name="Shape 20">
            <a:extLst>
              <a:ext uri="{FF2B5EF4-FFF2-40B4-BE49-F238E27FC236}">
                <a16:creationId xmlns:a16="http://schemas.microsoft.com/office/drawing/2014/main" id="{67A07126-F075-25D5-9129-8FB94B81DEB3}"/>
              </a:ext>
            </a:extLst>
          </p:cNvPr>
          <p:cNvSpPr/>
          <p:nvPr/>
        </p:nvSpPr>
        <p:spPr>
          <a:xfrm>
            <a:off x="1371600" y="6448425"/>
            <a:ext cx="142875" cy="9620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49" name="Shape 21">
            <a:extLst>
              <a:ext uri="{FF2B5EF4-FFF2-40B4-BE49-F238E27FC236}">
                <a16:creationId xmlns:a16="http://schemas.microsoft.com/office/drawing/2014/main" id="{5C1B53BC-34E8-88D6-260D-8E47C03C5297}"/>
              </a:ext>
            </a:extLst>
          </p:cNvPr>
          <p:cNvSpPr/>
          <p:nvPr/>
        </p:nvSpPr>
        <p:spPr>
          <a:xfrm>
            <a:off x="1543050" y="6238875"/>
            <a:ext cx="171450" cy="1171575"/>
          </a:xfrm>
          <a:prstGeom prst="roundRect">
            <a:avLst>
              <a:gd name="adj" fmla="val 11111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51" name="Shape 22">
            <a:extLst>
              <a:ext uri="{FF2B5EF4-FFF2-40B4-BE49-F238E27FC236}">
                <a16:creationId xmlns:a16="http://schemas.microsoft.com/office/drawing/2014/main" id="{0B537F9B-A177-6A8B-6E27-F2FF2DEE7ABB}"/>
              </a:ext>
            </a:extLst>
          </p:cNvPr>
          <p:cNvSpPr/>
          <p:nvPr/>
        </p:nvSpPr>
        <p:spPr>
          <a:xfrm>
            <a:off x="1038225" y="6686550"/>
            <a:ext cx="8572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53" name="Shape 23">
            <a:extLst>
              <a:ext uri="{FF2B5EF4-FFF2-40B4-BE49-F238E27FC236}">
                <a16:creationId xmlns:a16="http://schemas.microsoft.com/office/drawing/2014/main" id="{FDE8FD31-4E1A-A1F6-4AD7-409863482293}"/>
              </a:ext>
            </a:extLst>
          </p:cNvPr>
          <p:cNvSpPr/>
          <p:nvPr/>
        </p:nvSpPr>
        <p:spPr>
          <a:xfrm>
            <a:off x="1209675" y="6505575"/>
            <a:ext cx="10477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55" name="Shape 24">
            <a:extLst>
              <a:ext uri="{FF2B5EF4-FFF2-40B4-BE49-F238E27FC236}">
                <a16:creationId xmlns:a16="http://schemas.microsoft.com/office/drawing/2014/main" id="{39D820A3-EA7E-24E2-D6ED-6D343AAA02DB}"/>
              </a:ext>
            </a:extLst>
          </p:cNvPr>
          <p:cNvSpPr/>
          <p:nvPr/>
        </p:nvSpPr>
        <p:spPr>
          <a:xfrm>
            <a:off x="1400175" y="6610350"/>
            <a:ext cx="85725" cy="0"/>
          </a:xfrm>
          <a:prstGeom prst="line">
            <a:avLst/>
          </a:prstGeom>
          <a:noFill/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57" name="Shape 25">
            <a:extLst>
              <a:ext uri="{FF2B5EF4-FFF2-40B4-BE49-F238E27FC236}">
                <a16:creationId xmlns:a16="http://schemas.microsoft.com/office/drawing/2014/main" id="{F90BDC31-D4AC-21CE-CB87-A3A61A61AA31}"/>
              </a:ext>
            </a:extLst>
          </p:cNvPr>
          <p:cNvSpPr/>
          <p:nvPr/>
        </p:nvSpPr>
        <p:spPr>
          <a:xfrm>
            <a:off x="1581150" y="6410325"/>
            <a:ext cx="9525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59" name="Text 26">
            <a:extLst>
              <a:ext uri="{FF2B5EF4-FFF2-40B4-BE49-F238E27FC236}">
                <a16:creationId xmlns:a16="http://schemas.microsoft.com/office/drawing/2014/main" id="{475ECB86-A4B4-DB0C-61E4-FCB728AE03C6}"/>
              </a:ext>
            </a:extLst>
          </p:cNvPr>
          <p:cNvSpPr txBox="1"/>
          <p:nvPr/>
        </p:nvSpPr>
        <p:spPr>
          <a:xfrm>
            <a:off x="962025" y="77724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1869B"/>
                </a:solidFill>
                <a:latin typeface="Pretendard" pitchFamily="34" charset="0"/>
                <a:ea typeface="Pretendard"/>
                <a:cs typeface="Pretendard" pitchFamily="34" charset="-120"/>
              </a:rPr>
              <a:t>100권</a:t>
            </a:r>
            <a:endParaRPr lang="en-US" sz="950">
              <a:ea typeface="Pretendard"/>
            </a:endParaRPr>
          </a:p>
        </p:txBody>
      </p:sp>
      <p:sp>
        <p:nvSpPr>
          <p:cNvPr id="1061" name="Shape 27">
            <a:extLst>
              <a:ext uri="{FF2B5EF4-FFF2-40B4-BE49-F238E27FC236}">
                <a16:creationId xmlns:a16="http://schemas.microsoft.com/office/drawing/2014/main" id="{9AE963FF-E7F4-C7A0-5AA9-8EF8C3BACF91}"/>
              </a:ext>
            </a:extLst>
          </p:cNvPr>
          <p:cNvSpPr/>
          <p:nvPr/>
        </p:nvSpPr>
        <p:spPr>
          <a:xfrm>
            <a:off x="1847850" y="6534150"/>
            <a:ext cx="142875" cy="8763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63" name="Shape 28">
            <a:extLst>
              <a:ext uri="{FF2B5EF4-FFF2-40B4-BE49-F238E27FC236}">
                <a16:creationId xmlns:a16="http://schemas.microsoft.com/office/drawing/2014/main" id="{57ACE086-A6C2-EC00-B4DA-E2CFDF75E4A2}"/>
              </a:ext>
            </a:extLst>
          </p:cNvPr>
          <p:cNvSpPr/>
          <p:nvPr/>
        </p:nvSpPr>
        <p:spPr>
          <a:xfrm>
            <a:off x="2019300" y="6334125"/>
            <a:ext cx="161925" cy="1076325"/>
          </a:xfrm>
          <a:prstGeom prst="roundRect">
            <a:avLst>
              <a:gd name="adj" fmla="val 11765"/>
            </a:avLst>
          </a:prstGeom>
          <a:solidFill>
            <a:srgbClr val="EAF3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65" name="Shape 29">
            <a:extLst>
              <a:ext uri="{FF2B5EF4-FFF2-40B4-BE49-F238E27FC236}">
                <a16:creationId xmlns:a16="http://schemas.microsoft.com/office/drawing/2014/main" id="{716D9944-6C5B-AD9E-77B4-B7FF2BEF1F20}"/>
              </a:ext>
            </a:extLst>
          </p:cNvPr>
          <p:cNvSpPr/>
          <p:nvPr/>
        </p:nvSpPr>
        <p:spPr>
          <a:xfrm>
            <a:off x="2209800" y="6448425"/>
            <a:ext cx="142875" cy="9620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67" name="Shape 30">
            <a:extLst>
              <a:ext uri="{FF2B5EF4-FFF2-40B4-BE49-F238E27FC236}">
                <a16:creationId xmlns:a16="http://schemas.microsoft.com/office/drawing/2014/main" id="{FC5F8F75-38B2-84E1-4A9F-1861A637C5E4}"/>
              </a:ext>
            </a:extLst>
          </p:cNvPr>
          <p:cNvSpPr/>
          <p:nvPr/>
        </p:nvSpPr>
        <p:spPr>
          <a:xfrm>
            <a:off x="2381250" y="6238875"/>
            <a:ext cx="171450" cy="1171575"/>
          </a:xfrm>
          <a:prstGeom prst="roundRect">
            <a:avLst>
              <a:gd name="adj" fmla="val 11111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69" name="Shape 31">
            <a:extLst>
              <a:ext uri="{FF2B5EF4-FFF2-40B4-BE49-F238E27FC236}">
                <a16:creationId xmlns:a16="http://schemas.microsoft.com/office/drawing/2014/main" id="{A3BB45AC-552C-CD7F-0771-D9384CF22C5F}"/>
              </a:ext>
            </a:extLst>
          </p:cNvPr>
          <p:cNvSpPr/>
          <p:nvPr/>
        </p:nvSpPr>
        <p:spPr>
          <a:xfrm>
            <a:off x="1876425" y="6686550"/>
            <a:ext cx="8572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71" name="Shape 32">
            <a:extLst>
              <a:ext uri="{FF2B5EF4-FFF2-40B4-BE49-F238E27FC236}">
                <a16:creationId xmlns:a16="http://schemas.microsoft.com/office/drawing/2014/main" id="{45145B17-C704-53A1-9258-0A981D708954}"/>
              </a:ext>
            </a:extLst>
          </p:cNvPr>
          <p:cNvSpPr/>
          <p:nvPr/>
        </p:nvSpPr>
        <p:spPr>
          <a:xfrm>
            <a:off x="2047875" y="6505575"/>
            <a:ext cx="10477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73" name="Shape 33">
            <a:extLst>
              <a:ext uri="{FF2B5EF4-FFF2-40B4-BE49-F238E27FC236}">
                <a16:creationId xmlns:a16="http://schemas.microsoft.com/office/drawing/2014/main" id="{5F684C99-36F9-F33B-1AEC-9433C99B7A82}"/>
              </a:ext>
            </a:extLst>
          </p:cNvPr>
          <p:cNvSpPr/>
          <p:nvPr/>
        </p:nvSpPr>
        <p:spPr>
          <a:xfrm>
            <a:off x="2238375" y="6610350"/>
            <a:ext cx="85725" cy="0"/>
          </a:xfrm>
          <a:prstGeom prst="line">
            <a:avLst/>
          </a:prstGeom>
          <a:noFill/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75" name="Shape 34">
            <a:extLst>
              <a:ext uri="{FF2B5EF4-FFF2-40B4-BE49-F238E27FC236}">
                <a16:creationId xmlns:a16="http://schemas.microsoft.com/office/drawing/2014/main" id="{DEE45448-01E6-4251-547B-838FE8005C59}"/>
              </a:ext>
            </a:extLst>
          </p:cNvPr>
          <p:cNvSpPr/>
          <p:nvPr/>
        </p:nvSpPr>
        <p:spPr>
          <a:xfrm>
            <a:off x="2419350" y="6410325"/>
            <a:ext cx="9525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77" name="Text 35">
            <a:extLst>
              <a:ext uri="{FF2B5EF4-FFF2-40B4-BE49-F238E27FC236}">
                <a16:creationId xmlns:a16="http://schemas.microsoft.com/office/drawing/2014/main" id="{907722BF-8BBF-603C-0713-451EBD9AADBB}"/>
              </a:ext>
            </a:extLst>
          </p:cNvPr>
          <p:cNvSpPr txBox="1"/>
          <p:nvPr/>
        </p:nvSpPr>
        <p:spPr>
          <a:xfrm>
            <a:off x="1800225" y="77724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100권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1079" name="Shape 36">
            <a:extLst>
              <a:ext uri="{FF2B5EF4-FFF2-40B4-BE49-F238E27FC236}">
                <a16:creationId xmlns:a16="http://schemas.microsoft.com/office/drawing/2014/main" id="{3DCDFFCB-8EFC-B2AC-0BA1-5C8F073C812F}"/>
              </a:ext>
            </a:extLst>
          </p:cNvPr>
          <p:cNvSpPr/>
          <p:nvPr/>
        </p:nvSpPr>
        <p:spPr>
          <a:xfrm>
            <a:off x="2686050" y="6534150"/>
            <a:ext cx="142875" cy="8763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81" name="Shape 37">
            <a:extLst>
              <a:ext uri="{FF2B5EF4-FFF2-40B4-BE49-F238E27FC236}">
                <a16:creationId xmlns:a16="http://schemas.microsoft.com/office/drawing/2014/main" id="{52105D07-601F-A57D-CF97-700503C87F83}"/>
              </a:ext>
            </a:extLst>
          </p:cNvPr>
          <p:cNvSpPr/>
          <p:nvPr/>
        </p:nvSpPr>
        <p:spPr>
          <a:xfrm>
            <a:off x="2857500" y="6334125"/>
            <a:ext cx="161925" cy="1076325"/>
          </a:xfrm>
          <a:prstGeom prst="roundRect">
            <a:avLst>
              <a:gd name="adj" fmla="val 11765"/>
            </a:avLst>
          </a:prstGeom>
          <a:solidFill>
            <a:srgbClr val="EAF3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83" name="Shape 38">
            <a:extLst>
              <a:ext uri="{FF2B5EF4-FFF2-40B4-BE49-F238E27FC236}">
                <a16:creationId xmlns:a16="http://schemas.microsoft.com/office/drawing/2014/main" id="{4C7F56A5-6BA6-FA2F-E7CE-4FB12D3E6891}"/>
              </a:ext>
            </a:extLst>
          </p:cNvPr>
          <p:cNvSpPr/>
          <p:nvPr/>
        </p:nvSpPr>
        <p:spPr>
          <a:xfrm>
            <a:off x="3048000" y="6448425"/>
            <a:ext cx="142875" cy="9620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85" name="Shape 39">
            <a:extLst>
              <a:ext uri="{FF2B5EF4-FFF2-40B4-BE49-F238E27FC236}">
                <a16:creationId xmlns:a16="http://schemas.microsoft.com/office/drawing/2014/main" id="{D9FE84D2-CD11-F1DC-1E17-9E0533ED2D07}"/>
              </a:ext>
            </a:extLst>
          </p:cNvPr>
          <p:cNvSpPr/>
          <p:nvPr/>
        </p:nvSpPr>
        <p:spPr>
          <a:xfrm>
            <a:off x="3219450" y="6238875"/>
            <a:ext cx="171450" cy="1171575"/>
          </a:xfrm>
          <a:prstGeom prst="roundRect">
            <a:avLst>
              <a:gd name="adj" fmla="val 11111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87" name="Shape 40">
            <a:extLst>
              <a:ext uri="{FF2B5EF4-FFF2-40B4-BE49-F238E27FC236}">
                <a16:creationId xmlns:a16="http://schemas.microsoft.com/office/drawing/2014/main" id="{DDE7151E-7DF5-B3F0-4628-B13E5DB02F1B}"/>
              </a:ext>
            </a:extLst>
          </p:cNvPr>
          <p:cNvSpPr/>
          <p:nvPr/>
        </p:nvSpPr>
        <p:spPr>
          <a:xfrm>
            <a:off x="2714625" y="6686550"/>
            <a:ext cx="8572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89" name="Shape 41">
            <a:extLst>
              <a:ext uri="{FF2B5EF4-FFF2-40B4-BE49-F238E27FC236}">
                <a16:creationId xmlns:a16="http://schemas.microsoft.com/office/drawing/2014/main" id="{3A2D254D-1221-ACE4-8B58-8103F99EAE03}"/>
              </a:ext>
            </a:extLst>
          </p:cNvPr>
          <p:cNvSpPr/>
          <p:nvPr/>
        </p:nvSpPr>
        <p:spPr>
          <a:xfrm>
            <a:off x="2886075" y="6505575"/>
            <a:ext cx="10477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91" name="Shape 42">
            <a:extLst>
              <a:ext uri="{FF2B5EF4-FFF2-40B4-BE49-F238E27FC236}">
                <a16:creationId xmlns:a16="http://schemas.microsoft.com/office/drawing/2014/main" id="{0E1D7969-D046-0628-A268-8B6BC18EDB1E}"/>
              </a:ext>
            </a:extLst>
          </p:cNvPr>
          <p:cNvSpPr/>
          <p:nvPr/>
        </p:nvSpPr>
        <p:spPr>
          <a:xfrm>
            <a:off x="3076575" y="6610350"/>
            <a:ext cx="85725" cy="0"/>
          </a:xfrm>
          <a:prstGeom prst="line">
            <a:avLst/>
          </a:prstGeom>
          <a:noFill/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93" name="Shape 43">
            <a:extLst>
              <a:ext uri="{FF2B5EF4-FFF2-40B4-BE49-F238E27FC236}">
                <a16:creationId xmlns:a16="http://schemas.microsoft.com/office/drawing/2014/main" id="{755F7F88-9EC7-E6C2-6CA4-766FCBA46438}"/>
              </a:ext>
            </a:extLst>
          </p:cNvPr>
          <p:cNvSpPr/>
          <p:nvPr/>
        </p:nvSpPr>
        <p:spPr>
          <a:xfrm>
            <a:off x="3257550" y="6410325"/>
            <a:ext cx="9525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95" name="Text 44">
            <a:extLst>
              <a:ext uri="{FF2B5EF4-FFF2-40B4-BE49-F238E27FC236}">
                <a16:creationId xmlns:a16="http://schemas.microsoft.com/office/drawing/2014/main" id="{7ACE27FF-E9BD-4DE1-31AC-6AEBD52417F8}"/>
              </a:ext>
            </a:extLst>
          </p:cNvPr>
          <p:cNvSpPr txBox="1"/>
          <p:nvPr/>
        </p:nvSpPr>
        <p:spPr>
          <a:xfrm>
            <a:off x="2638425" y="77724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100권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1097" name="Shape 45">
            <a:extLst>
              <a:ext uri="{FF2B5EF4-FFF2-40B4-BE49-F238E27FC236}">
                <a16:creationId xmlns:a16="http://schemas.microsoft.com/office/drawing/2014/main" id="{7E100F57-FE3B-0765-83CE-2101E5F783A3}"/>
              </a:ext>
            </a:extLst>
          </p:cNvPr>
          <p:cNvSpPr/>
          <p:nvPr/>
        </p:nvSpPr>
        <p:spPr>
          <a:xfrm>
            <a:off x="3524250" y="6534150"/>
            <a:ext cx="142875" cy="8763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99" name="Shape 46">
            <a:extLst>
              <a:ext uri="{FF2B5EF4-FFF2-40B4-BE49-F238E27FC236}">
                <a16:creationId xmlns:a16="http://schemas.microsoft.com/office/drawing/2014/main" id="{6B2C4668-4A71-B77E-9D15-B19B318F0C0F}"/>
              </a:ext>
            </a:extLst>
          </p:cNvPr>
          <p:cNvSpPr/>
          <p:nvPr/>
        </p:nvSpPr>
        <p:spPr>
          <a:xfrm>
            <a:off x="3695700" y="6334125"/>
            <a:ext cx="161925" cy="1076325"/>
          </a:xfrm>
          <a:prstGeom prst="roundRect">
            <a:avLst>
              <a:gd name="adj" fmla="val 11765"/>
            </a:avLst>
          </a:prstGeom>
          <a:solidFill>
            <a:srgbClr val="EAF3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01" name="Shape 47">
            <a:extLst>
              <a:ext uri="{FF2B5EF4-FFF2-40B4-BE49-F238E27FC236}">
                <a16:creationId xmlns:a16="http://schemas.microsoft.com/office/drawing/2014/main" id="{FB03E82C-F313-F804-6461-20293D58BCC0}"/>
              </a:ext>
            </a:extLst>
          </p:cNvPr>
          <p:cNvSpPr/>
          <p:nvPr/>
        </p:nvSpPr>
        <p:spPr>
          <a:xfrm>
            <a:off x="3886200" y="6448425"/>
            <a:ext cx="142875" cy="9620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03" name="Shape 48">
            <a:extLst>
              <a:ext uri="{FF2B5EF4-FFF2-40B4-BE49-F238E27FC236}">
                <a16:creationId xmlns:a16="http://schemas.microsoft.com/office/drawing/2014/main" id="{102328D7-D6E6-AAB2-DB0F-2D7744EA0004}"/>
              </a:ext>
            </a:extLst>
          </p:cNvPr>
          <p:cNvSpPr/>
          <p:nvPr/>
        </p:nvSpPr>
        <p:spPr>
          <a:xfrm>
            <a:off x="4057650" y="6238875"/>
            <a:ext cx="171450" cy="1171575"/>
          </a:xfrm>
          <a:prstGeom prst="roundRect">
            <a:avLst>
              <a:gd name="adj" fmla="val 11111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05" name="Shape 49">
            <a:extLst>
              <a:ext uri="{FF2B5EF4-FFF2-40B4-BE49-F238E27FC236}">
                <a16:creationId xmlns:a16="http://schemas.microsoft.com/office/drawing/2014/main" id="{14E7CCD2-1E9B-7FD5-BDCC-3A0DF747ECCA}"/>
              </a:ext>
            </a:extLst>
          </p:cNvPr>
          <p:cNvSpPr/>
          <p:nvPr/>
        </p:nvSpPr>
        <p:spPr>
          <a:xfrm>
            <a:off x="3552825" y="6686550"/>
            <a:ext cx="8572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07" name="Shape 50">
            <a:extLst>
              <a:ext uri="{FF2B5EF4-FFF2-40B4-BE49-F238E27FC236}">
                <a16:creationId xmlns:a16="http://schemas.microsoft.com/office/drawing/2014/main" id="{FB35682C-80D5-6904-DC40-ADDB78D8F762}"/>
              </a:ext>
            </a:extLst>
          </p:cNvPr>
          <p:cNvSpPr/>
          <p:nvPr/>
        </p:nvSpPr>
        <p:spPr>
          <a:xfrm>
            <a:off x="3724275" y="6505575"/>
            <a:ext cx="10477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09" name="Shape 51">
            <a:extLst>
              <a:ext uri="{FF2B5EF4-FFF2-40B4-BE49-F238E27FC236}">
                <a16:creationId xmlns:a16="http://schemas.microsoft.com/office/drawing/2014/main" id="{1E5CD20F-23B0-9E0B-F37E-BED01B842CCC}"/>
              </a:ext>
            </a:extLst>
          </p:cNvPr>
          <p:cNvSpPr/>
          <p:nvPr/>
        </p:nvSpPr>
        <p:spPr>
          <a:xfrm>
            <a:off x="3914775" y="6610350"/>
            <a:ext cx="85725" cy="0"/>
          </a:xfrm>
          <a:prstGeom prst="line">
            <a:avLst/>
          </a:prstGeom>
          <a:noFill/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11" name="Shape 52">
            <a:extLst>
              <a:ext uri="{FF2B5EF4-FFF2-40B4-BE49-F238E27FC236}">
                <a16:creationId xmlns:a16="http://schemas.microsoft.com/office/drawing/2014/main" id="{05A10405-5E89-932B-1BB9-8A28331A4606}"/>
              </a:ext>
            </a:extLst>
          </p:cNvPr>
          <p:cNvSpPr/>
          <p:nvPr/>
        </p:nvSpPr>
        <p:spPr>
          <a:xfrm>
            <a:off x="4095750" y="6410325"/>
            <a:ext cx="9525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13" name="Text 53">
            <a:extLst>
              <a:ext uri="{FF2B5EF4-FFF2-40B4-BE49-F238E27FC236}">
                <a16:creationId xmlns:a16="http://schemas.microsoft.com/office/drawing/2014/main" id="{F19D4C22-4904-709D-3298-DA6F01B8E9BE}"/>
              </a:ext>
            </a:extLst>
          </p:cNvPr>
          <p:cNvSpPr txBox="1"/>
          <p:nvPr/>
        </p:nvSpPr>
        <p:spPr>
          <a:xfrm>
            <a:off x="3476625" y="77724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100권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1115" name="Shape 54">
            <a:extLst>
              <a:ext uri="{FF2B5EF4-FFF2-40B4-BE49-F238E27FC236}">
                <a16:creationId xmlns:a16="http://schemas.microsoft.com/office/drawing/2014/main" id="{DEB6CD3A-0684-BE77-381B-D2978FE70266}"/>
              </a:ext>
            </a:extLst>
          </p:cNvPr>
          <p:cNvSpPr/>
          <p:nvPr/>
        </p:nvSpPr>
        <p:spPr>
          <a:xfrm>
            <a:off x="4362450" y="6534150"/>
            <a:ext cx="142875" cy="8763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17" name="Shape 55">
            <a:extLst>
              <a:ext uri="{FF2B5EF4-FFF2-40B4-BE49-F238E27FC236}">
                <a16:creationId xmlns:a16="http://schemas.microsoft.com/office/drawing/2014/main" id="{428DE256-EEF9-A612-87B4-31EAAFA005F4}"/>
              </a:ext>
            </a:extLst>
          </p:cNvPr>
          <p:cNvSpPr/>
          <p:nvPr/>
        </p:nvSpPr>
        <p:spPr>
          <a:xfrm>
            <a:off x="4533900" y="6334125"/>
            <a:ext cx="161925" cy="1076325"/>
          </a:xfrm>
          <a:prstGeom prst="roundRect">
            <a:avLst>
              <a:gd name="adj" fmla="val 11765"/>
            </a:avLst>
          </a:prstGeom>
          <a:solidFill>
            <a:srgbClr val="EAF3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19" name="Shape 56">
            <a:extLst>
              <a:ext uri="{FF2B5EF4-FFF2-40B4-BE49-F238E27FC236}">
                <a16:creationId xmlns:a16="http://schemas.microsoft.com/office/drawing/2014/main" id="{EDD49C1E-F154-F06A-E16F-9B35112C467D}"/>
              </a:ext>
            </a:extLst>
          </p:cNvPr>
          <p:cNvSpPr/>
          <p:nvPr/>
        </p:nvSpPr>
        <p:spPr>
          <a:xfrm>
            <a:off x="4724400" y="6448425"/>
            <a:ext cx="142875" cy="9620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21" name="Shape 57">
            <a:extLst>
              <a:ext uri="{FF2B5EF4-FFF2-40B4-BE49-F238E27FC236}">
                <a16:creationId xmlns:a16="http://schemas.microsoft.com/office/drawing/2014/main" id="{0FF12BB3-BEA6-A08D-DB4A-C844BF740BB8}"/>
              </a:ext>
            </a:extLst>
          </p:cNvPr>
          <p:cNvSpPr/>
          <p:nvPr/>
        </p:nvSpPr>
        <p:spPr>
          <a:xfrm>
            <a:off x="4895850" y="6238875"/>
            <a:ext cx="171450" cy="1171575"/>
          </a:xfrm>
          <a:prstGeom prst="roundRect">
            <a:avLst>
              <a:gd name="adj" fmla="val 11111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23" name="Shape 58">
            <a:extLst>
              <a:ext uri="{FF2B5EF4-FFF2-40B4-BE49-F238E27FC236}">
                <a16:creationId xmlns:a16="http://schemas.microsoft.com/office/drawing/2014/main" id="{81F9982D-2C66-FA2A-3907-B69AD9F14809}"/>
              </a:ext>
            </a:extLst>
          </p:cNvPr>
          <p:cNvSpPr/>
          <p:nvPr/>
        </p:nvSpPr>
        <p:spPr>
          <a:xfrm>
            <a:off x="4391025" y="6686550"/>
            <a:ext cx="8572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25" name="Shape 59">
            <a:extLst>
              <a:ext uri="{FF2B5EF4-FFF2-40B4-BE49-F238E27FC236}">
                <a16:creationId xmlns:a16="http://schemas.microsoft.com/office/drawing/2014/main" id="{E60D03D4-BC95-4732-40A7-C9C24A3497B5}"/>
              </a:ext>
            </a:extLst>
          </p:cNvPr>
          <p:cNvSpPr/>
          <p:nvPr/>
        </p:nvSpPr>
        <p:spPr>
          <a:xfrm>
            <a:off x="4562475" y="6505575"/>
            <a:ext cx="10477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27" name="Shape 60">
            <a:extLst>
              <a:ext uri="{FF2B5EF4-FFF2-40B4-BE49-F238E27FC236}">
                <a16:creationId xmlns:a16="http://schemas.microsoft.com/office/drawing/2014/main" id="{9E791B3C-5CA4-A051-9D98-CC6B416C54E7}"/>
              </a:ext>
            </a:extLst>
          </p:cNvPr>
          <p:cNvSpPr/>
          <p:nvPr/>
        </p:nvSpPr>
        <p:spPr>
          <a:xfrm>
            <a:off x="4752975" y="6610350"/>
            <a:ext cx="85725" cy="0"/>
          </a:xfrm>
          <a:prstGeom prst="line">
            <a:avLst/>
          </a:prstGeom>
          <a:noFill/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29" name="Shape 61">
            <a:extLst>
              <a:ext uri="{FF2B5EF4-FFF2-40B4-BE49-F238E27FC236}">
                <a16:creationId xmlns:a16="http://schemas.microsoft.com/office/drawing/2014/main" id="{D72E0609-7FC5-FACF-6DCA-59657F930E47}"/>
              </a:ext>
            </a:extLst>
          </p:cNvPr>
          <p:cNvSpPr/>
          <p:nvPr/>
        </p:nvSpPr>
        <p:spPr>
          <a:xfrm>
            <a:off x="4933950" y="6410325"/>
            <a:ext cx="9525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31" name="Text 62">
            <a:extLst>
              <a:ext uri="{FF2B5EF4-FFF2-40B4-BE49-F238E27FC236}">
                <a16:creationId xmlns:a16="http://schemas.microsoft.com/office/drawing/2014/main" id="{3803FEEB-433D-D071-92DD-DE3D7C43175D}"/>
              </a:ext>
            </a:extLst>
          </p:cNvPr>
          <p:cNvSpPr txBox="1"/>
          <p:nvPr/>
        </p:nvSpPr>
        <p:spPr>
          <a:xfrm>
            <a:off x="4314825" y="77724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100권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1133" name="Shape 63">
            <a:extLst>
              <a:ext uri="{FF2B5EF4-FFF2-40B4-BE49-F238E27FC236}">
                <a16:creationId xmlns:a16="http://schemas.microsoft.com/office/drawing/2014/main" id="{9BE98F39-CB29-2929-E81F-EDEC6A69B77D}"/>
              </a:ext>
            </a:extLst>
          </p:cNvPr>
          <p:cNvSpPr/>
          <p:nvPr/>
        </p:nvSpPr>
        <p:spPr>
          <a:xfrm>
            <a:off x="5200650" y="6534150"/>
            <a:ext cx="142875" cy="8763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35" name="Shape 64">
            <a:extLst>
              <a:ext uri="{FF2B5EF4-FFF2-40B4-BE49-F238E27FC236}">
                <a16:creationId xmlns:a16="http://schemas.microsoft.com/office/drawing/2014/main" id="{226980F1-BC4B-6132-6D57-758A41C78E13}"/>
              </a:ext>
            </a:extLst>
          </p:cNvPr>
          <p:cNvSpPr/>
          <p:nvPr/>
        </p:nvSpPr>
        <p:spPr>
          <a:xfrm>
            <a:off x="5372100" y="6334125"/>
            <a:ext cx="161925" cy="1076325"/>
          </a:xfrm>
          <a:prstGeom prst="roundRect">
            <a:avLst>
              <a:gd name="adj" fmla="val 11765"/>
            </a:avLst>
          </a:prstGeom>
          <a:solidFill>
            <a:srgbClr val="EAF3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37" name="Shape 65">
            <a:extLst>
              <a:ext uri="{FF2B5EF4-FFF2-40B4-BE49-F238E27FC236}">
                <a16:creationId xmlns:a16="http://schemas.microsoft.com/office/drawing/2014/main" id="{9234B8E5-2E37-E5A1-8B0C-2AE79A46A83B}"/>
              </a:ext>
            </a:extLst>
          </p:cNvPr>
          <p:cNvSpPr/>
          <p:nvPr/>
        </p:nvSpPr>
        <p:spPr>
          <a:xfrm>
            <a:off x="5562600" y="6448425"/>
            <a:ext cx="142875" cy="9620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39" name="Shape 66">
            <a:extLst>
              <a:ext uri="{FF2B5EF4-FFF2-40B4-BE49-F238E27FC236}">
                <a16:creationId xmlns:a16="http://schemas.microsoft.com/office/drawing/2014/main" id="{45CFCD57-81BE-3F71-7966-79840D302D41}"/>
              </a:ext>
            </a:extLst>
          </p:cNvPr>
          <p:cNvSpPr/>
          <p:nvPr/>
        </p:nvSpPr>
        <p:spPr>
          <a:xfrm>
            <a:off x="5734050" y="6238875"/>
            <a:ext cx="171450" cy="1171575"/>
          </a:xfrm>
          <a:prstGeom prst="roundRect">
            <a:avLst>
              <a:gd name="adj" fmla="val 11111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41" name="Shape 67">
            <a:extLst>
              <a:ext uri="{FF2B5EF4-FFF2-40B4-BE49-F238E27FC236}">
                <a16:creationId xmlns:a16="http://schemas.microsoft.com/office/drawing/2014/main" id="{7F40C478-B527-11E2-1251-8D53660EE100}"/>
              </a:ext>
            </a:extLst>
          </p:cNvPr>
          <p:cNvSpPr/>
          <p:nvPr/>
        </p:nvSpPr>
        <p:spPr>
          <a:xfrm>
            <a:off x="5229225" y="6686550"/>
            <a:ext cx="8572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43" name="Shape 68">
            <a:extLst>
              <a:ext uri="{FF2B5EF4-FFF2-40B4-BE49-F238E27FC236}">
                <a16:creationId xmlns:a16="http://schemas.microsoft.com/office/drawing/2014/main" id="{3360FCF9-8C42-4EA2-CB5E-CB3BB32DD2C8}"/>
              </a:ext>
            </a:extLst>
          </p:cNvPr>
          <p:cNvSpPr/>
          <p:nvPr/>
        </p:nvSpPr>
        <p:spPr>
          <a:xfrm>
            <a:off x="5400675" y="6505575"/>
            <a:ext cx="10477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45" name="Shape 69">
            <a:extLst>
              <a:ext uri="{FF2B5EF4-FFF2-40B4-BE49-F238E27FC236}">
                <a16:creationId xmlns:a16="http://schemas.microsoft.com/office/drawing/2014/main" id="{480A9D50-B628-67D3-9280-D2C61AD61777}"/>
              </a:ext>
            </a:extLst>
          </p:cNvPr>
          <p:cNvSpPr/>
          <p:nvPr/>
        </p:nvSpPr>
        <p:spPr>
          <a:xfrm>
            <a:off x="5591175" y="6610350"/>
            <a:ext cx="85725" cy="0"/>
          </a:xfrm>
          <a:prstGeom prst="line">
            <a:avLst/>
          </a:prstGeom>
          <a:noFill/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47" name="Shape 70">
            <a:extLst>
              <a:ext uri="{FF2B5EF4-FFF2-40B4-BE49-F238E27FC236}">
                <a16:creationId xmlns:a16="http://schemas.microsoft.com/office/drawing/2014/main" id="{94F16136-3751-6897-38D4-C034E45D638A}"/>
              </a:ext>
            </a:extLst>
          </p:cNvPr>
          <p:cNvSpPr/>
          <p:nvPr/>
        </p:nvSpPr>
        <p:spPr>
          <a:xfrm>
            <a:off x="5772150" y="6410325"/>
            <a:ext cx="9525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49" name="Text 71">
            <a:extLst>
              <a:ext uri="{FF2B5EF4-FFF2-40B4-BE49-F238E27FC236}">
                <a16:creationId xmlns:a16="http://schemas.microsoft.com/office/drawing/2014/main" id="{7DFEF034-A08F-3335-9102-3ACEB74F3A94}"/>
              </a:ext>
            </a:extLst>
          </p:cNvPr>
          <p:cNvSpPr txBox="1"/>
          <p:nvPr/>
        </p:nvSpPr>
        <p:spPr>
          <a:xfrm>
            <a:off x="5153025" y="77724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100권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1151" name="Shape 72">
            <a:extLst>
              <a:ext uri="{FF2B5EF4-FFF2-40B4-BE49-F238E27FC236}">
                <a16:creationId xmlns:a16="http://schemas.microsoft.com/office/drawing/2014/main" id="{69C4AE47-5794-8583-0611-9CBCC182CF1C}"/>
              </a:ext>
            </a:extLst>
          </p:cNvPr>
          <p:cNvSpPr/>
          <p:nvPr/>
        </p:nvSpPr>
        <p:spPr>
          <a:xfrm>
            <a:off x="6038850" y="6534150"/>
            <a:ext cx="142875" cy="8763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53" name="Shape 73">
            <a:extLst>
              <a:ext uri="{FF2B5EF4-FFF2-40B4-BE49-F238E27FC236}">
                <a16:creationId xmlns:a16="http://schemas.microsoft.com/office/drawing/2014/main" id="{42E4A30F-CC0D-3509-E8A4-2A683DDF3ECE}"/>
              </a:ext>
            </a:extLst>
          </p:cNvPr>
          <p:cNvSpPr/>
          <p:nvPr/>
        </p:nvSpPr>
        <p:spPr>
          <a:xfrm>
            <a:off x="6210300" y="6334125"/>
            <a:ext cx="161925" cy="1076325"/>
          </a:xfrm>
          <a:prstGeom prst="roundRect">
            <a:avLst>
              <a:gd name="adj" fmla="val 11765"/>
            </a:avLst>
          </a:prstGeom>
          <a:solidFill>
            <a:srgbClr val="EAF3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55" name="Shape 74">
            <a:extLst>
              <a:ext uri="{FF2B5EF4-FFF2-40B4-BE49-F238E27FC236}">
                <a16:creationId xmlns:a16="http://schemas.microsoft.com/office/drawing/2014/main" id="{1F47BA63-9298-E28C-AFD7-D262B56F0E3D}"/>
              </a:ext>
            </a:extLst>
          </p:cNvPr>
          <p:cNvSpPr/>
          <p:nvPr/>
        </p:nvSpPr>
        <p:spPr>
          <a:xfrm>
            <a:off x="6400800" y="6448425"/>
            <a:ext cx="142875" cy="9620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57" name="Shape 75">
            <a:extLst>
              <a:ext uri="{FF2B5EF4-FFF2-40B4-BE49-F238E27FC236}">
                <a16:creationId xmlns:a16="http://schemas.microsoft.com/office/drawing/2014/main" id="{78966DFC-2F73-5477-2D56-C728141AEB07}"/>
              </a:ext>
            </a:extLst>
          </p:cNvPr>
          <p:cNvSpPr/>
          <p:nvPr/>
        </p:nvSpPr>
        <p:spPr>
          <a:xfrm>
            <a:off x="6572250" y="6238875"/>
            <a:ext cx="171450" cy="1171575"/>
          </a:xfrm>
          <a:prstGeom prst="roundRect">
            <a:avLst>
              <a:gd name="adj" fmla="val 11111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59" name="Shape 76">
            <a:extLst>
              <a:ext uri="{FF2B5EF4-FFF2-40B4-BE49-F238E27FC236}">
                <a16:creationId xmlns:a16="http://schemas.microsoft.com/office/drawing/2014/main" id="{4FC035AF-26E1-E2AC-89B6-F0B483E934CC}"/>
              </a:ext>
            </a:extLst>
          </p:cNvPr>
          <p:cNvSpPr/>
          <p:nvPr/>
        </p:nvSpPr>
        <p:spPr>
          <a:xfrm>
            <a:off x="6067425" y="6686550"/>
            <a:ext cx="8572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61" name="Shape 77">
            <a:extLst>
              <a:ext uri="{FF2B5EF4-FFF2-40B4-BE49-F238E27FC236}">
                <a16:creationId xmlns:a16="http://schemas.microsoft.com/office/drawing/2014/main" id="{5118307E-F760-C2AA-E477-96C0F951747B}"/>
              </a:ext>
            </a:extLst>
          </p:cNvPr>
          <p:cNvSpPr/>
          <p:nvPr/>
        </p:nvSpPr>
        <p:spPr>
          <a:xfrm>
            <a:off x="6238875" y="6505575"/>
            <a:ext cx="10477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63" name="Shape 78">
            <a:extLst>
              <a:ext uri="{FF2B5EF4-FFF2-40B4-BE49-F238E27FC236}">
                <a16:creationId xmlns:a16="http://schemas.microsoft.com/office/drawing/2014/main" id="{5D98B458-BF2B-C4FE-4846-4EE860865971}"/>
              </a:ext>
            </a:extLst>
          </p:cNvPr>
          <p:cNvSpPr/>
          <p:nvPr/>
        </p:nvSpPr>
        <p:spPr>
          <a:xfrm>
            <a:off x="6429375" y="6610350"/>
            <a:ext cx="85725" cy="0"/>
          </a:xfrm>
          <a:prstGeom prst="line">
            <a:avLst/>
          </a:prstGeom>
          <a:noFill/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65" name="Shape 79">
            <a:extLst>
              <a:ext uri="{FF2B5EF4-FFF2-40B4-BE49-F238E27FC236}">
                <a16:creationId xmlns:a16="http://schemas.microsoft.com/office/drawing/2014/main" id="{9FF63CF8-9F2C-25FA-2399-F31A171F7597}"/>
              </a:ext>
            </a:extLst>
          </p:cNvPr>
          <p:cNvSpPr/>
          <p:nvPr/>
        </p:nvSpPr>
        <p:spPr>
          <a:xfrm>
            <a:off x="6610350" y="6410325"/>
            <a:ext cx="9525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67" name="Text 80">
            <a:extLst>
              <a:ext uri="{FF2B5EF4-FFF2-40B4-BE49-F238E27FC236}">
                <a16:creationId xmlns:a16="http://schemas.microsoft.com/office/drawing/2014/main" id="{C98DBFEA-EDD9-8394-FA87-4CAB699CD145}"/>
              </a:ext>
            </a:extLst>
          </p:cNvPr>
          <p:cNvSpPr txBox="1"/>
          <p:nvPr/>
        </p:nvSpPr>
        <p:spPr>
          <a:xfrm>
            <a:off x="5991225" y="77724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100권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1169" name="Shape 81">
            <a:extLst>
              <a:ext uri="{FF2B5EF4-FFF2-40B4-BE49-F238E27FC236}">
                <a16:creationId xmlns:a16="http://schemas.microsoft.com/office/drawing/2014/main" id="{D0E3F378-865C-5A9C-5613-941238DFA042}"/>
              </a:ext>
            </a:extLst>
          </p:cNvPr>
          <p:cNvSpPr/>
          <p:nvPr/>
        </p:nvSpPr>
        <p:spPr>
          <a:xfrm>
            <a:off x="6877050" y="6534150"/>
            <a:ext cx="142875" cy="8763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71" name="Shape 82">
            <a:extLst>
              <a:ext uri="{FF2B5EF4-FFF2-40B4-BE49-F238E27FC236}">
                <a16:creationId xmlns:a16="http://schemas.microsoft.com/office/drawing/2014/main" id="{FD623D35-9C7F-9172-8A28-C674E1D2B4E0}"/>
              </a:ext>
            </a:extLst>
          </p:cNvPr>
          <p:cNvSpPr/>
          <p:nvPr/>
        </p:nvSpPr>
        <p:spPr>
          <a:xfrm>
            <a:off x="7048500" y="6334125"/>
            <a:ext cx="161925" cy="1076325"/>
          </a:xfrm>
          <a:prstGeom prst="roundRect">
            <a:avLst>
              <a:gd name="adj" fmla="val 11765"/>
            </a:avLst>
          </a:prstGeom>
          <a:solidFill>
            <a:srgbClr val="EAF3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73" name="Shape 83">
            <a:extLst>
              <a:ext uri="{FF2B5EF4-FFF2-40B4-BE49-F238E27FC236}">
                <a16:creationId xmlns:a16="http://schemas.microsoft.com/office/drawing/2014/main" id="{C4F15F50-B217-F28A-1E7B-479F2159BE2B}"/>
              </a:ext>
            </a:extLst>
          </p:cNvPr>
          <p:cNvSpPr/>
          <p:nvPr/>
        </p:nvSpPr>
        <p:spPr>
          <a:xfrm>
            <a:off x="7239000" y="6448425"/>
            <a:ext cx="142875" cy="9620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75" name="Shape 84">
            <a:extLst>
              <a:ext uri="{FF2B5EF4-FFF2-40B4-BE49-F238E27FC236}">
                <a16:creationId xmlns:a16="http://schemas.microsoft.com/office/drawing/2014/main" id="{EEE8E6EB-0867-23E8-1C6A-8F4CB3AAA488}"/>
              </a:ext>
            </a:extLst>
          </p:cNvPr>
          <p:cNvSpPr/>
          <p:nvPr/>
        </p:nvSpPr>
        <p:spPr>
          <a:xfrm>
            <a:off x="7410450" y="6238875"/>
            <a:ext cx="171450" cy="1171575"/>
          </a:xfrm>
          <a:prstGeom prst="roundRect">
            <a:avLst>
              <a:gd name="adj" fmla="val 11111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77" name="Shape 85">
            <a:extLst>
              <a:ext uri="{FF2B5EF4-FFF2-40B4-BE49-F238E27FC236}">
                <a16:creationId xmlns:a16="http://schemas.microsoft.com/office/drawing/2014/main" id="{8338C5BF-52CE-8419-90BE-15B6C6DF8193}"/>
              </a:ext>
            </a:extLst>
          </p:cNvPr>
          <p:cNvSpPr/>
          <p:nvPr/>
        </p:nvSpPr>
        <p:spPr>
          <a:xfrm>
            <a:off x="6905625" y="6686550"/>
            <a:ext cx="8572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79" name="Shape 86">
            <a:extLst>
              <a:ext uri="{FF2B5EF4-FFF2-40B4-BE49-F238E27FC236}">
                <a16:creationId xmlns:a16="http://schemas.microsoft.com/office/drawing/2014/main" id="{885C8EC7-C15E-837E-405D-51B9C0F4F844}"/>
              </a:ext>
            </a:extLst>
          </p:cNvPr>
          <p:cNvSpPr/>
          <p:nvPr/>
        </p:nvSpPr>
        <p:spPr>
          <a:xfrm>
            <a:off x="7077075" y="6505575"/>
            <a:ext cx="104775" cy="0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81" name="Shape 87">
            <a:extLst>
              <a:ext uri="{FF2B5EF4-FFF2-40B4-BE49-F238E27FC236}">
                <a16:creationId xmlns:a16="http://schemas.microsoft.com/office/drawing/2014/main" id="{CA3AC953-19D2-4507-AB07-3938C6040996}"/>
              </a:ext>
            </a:extLst>
          </p:cNvPr>
          <p:cNvSpPr/>
          <p:nvPr/>
        </p:nvSpPr>
        <p:spPr>
          <a:xfrm>
            <a:off x="7267575" y="6610350"/>
            <a:ext cx="85725" cy="0"/>
          </a:xfrm>
          <a:prstGeom prst="line">
            <a:avLst/>
          </a:prstGeom>
          <a:noFill/>
          <a:ln w="1524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83" name="Shape 88">
            <a:extLst>
              <a:ext uri="{FF2B5EF4-FFF2-40B4-BE49-F238E27FC236}">
                <a16:creationId xmlns:a16="http://schemas.microsoft.com/office/drawing/2014/main" id="{AC190350-D1AC-3412-13AC-7B197A560835}"/>
              </a:ext>
            </a:extLst>
          </p:cNvPr>
          <p:cNvSpPr/>
          <p:nvPr/>
        </p:nvSpPr>
        <p:spPr>
          <a:xfrm>
            <a:off x="7448550" y="6410325"/>
            <a:ext cx="9525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85" name="Text 89">
            <a:extLst>
              <a:ext uri="{FF2B5EF4-FFF2-40B4-BE49-F238E27FC236}">
                <a16:creationId xmlns:a16="http://schemas.microsoft.com/office/drawing/2014/main" id="{9CBADFD0-8E0E-5C28-65CE-927B02060995}"/>
              </a:ext>
            </a:extLst>
          </p:cNvPr>
          <p:cNvSpPr txBox="1"/>
          <p:nvPr/>
        </p:nvSpPr>
        <p:spPr>
          <a:xfrm>
            <a:off x="6829425" y="7772400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100권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1187" name="Shape 90">
            <a:extLst>
              <a:ext uri="{FF2B5EF4-FFF2-40B4-BE49-F238E27FC236}">
                <a16:creationId xmlns:a16="http://schemas.microsoft.com/office/drawing/2014/main" id="{A21B4E7E-47FA-5FF3-2559-CCDC4709FD4D}"/>
              </a:ext>
            </a:extLst>
          </p:cNvPr>
          <p:cNvSpPr/>
          <p:nvPr/>
        </p:nvSpPr>
        <p:spPr>
          <a:xfrm>
            <a:off x="914400" y="7410450"/>
            <a:ext cx="6762750" cy="95250"/>
          </a:xfrm>
          <a:prstGeom prst="roundRect">
            <a:avLst>
              <a:gd name="adj" fmla="val 50000"/>
            </a:avLst>
          </a:prstGeom>
          <a:solidFill>
            <a:srgbClr val="153451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89" name="Shape 91">
            <a:extLst>
              <a:ext uri="{FF2B5EF4-FFF2-40B4-BE49-F238E27FC236}">
                <a16:creationId xmlns:a16="http://schemas.microsoft.com/office/drawing/2014/main" id="{85452FC7-F8F8-037F-4A1F-F37D9C3F6FE6}"/>
              </a:ext>
            </a:extLst>
          </p:cNvPr>
          <p:cNvSpPr/>
          <p:nvPr/>
        </p:nvSpPr>
        <p:spPr>
          <a:xfrm>
            <a:off x="1104900" y="7505700"/>
            <a:ext cx="95250" cy="219075"/>
          </a:xfrm>
          <a:prstGeom prst="rect">
            <a:avLst/>
          </a:prstGeom>
          <a:solidFill>
            <a:srgbClr val="AFC7E2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91" name="Shape 92">
            <a:extLst>
              <a:ext uri="{FF2B5EF4-FFF2-40B4-BE49-F238E27FC236}">
                <a16:creationId xmlns:a16="http://schemas.microsoft.com/office/drawing/2014/main" id="{46164D19-5C34-B557-CFC5-CF4BBAB5ECEA}"/>
              </a:ext>
            </a:extLst>
          </p:cNvPr>
          <p:cNvSpPr/>
          <p:nvPr/>
        </p:nvSpPr>
        <p:spPr>
          <a:xfrm>
            <a:off x="7391400" y="7505700"/>
            <a:ext cx="95250" cy="219075"/>
          </a:xfrm>
          <a:prstGeom prst="rect">
            <a:avLst/>
          </a:prstGeom>
          <a:solidFill>
            <a:srgbClr val="AFC7E2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93" name="Text 93">
            <a:extLst>
              <a:ext uri="{FF2B5EF4-FFF2-40B4-BE49-F238E27FC236}">
                <a16:creationId xmlns:a16="http://schemas.microsoft.com/office/drawing/2014/main" id="{8D91F8FF-282A-BA5A-8069-7ACDD80AC7CB}"/>
              </a:ext>
            </a:extLst>
          </p:cNvPr>
          <p:cNvSpPr txBox="1"/>
          <p:nvPr/>
        </p:nvSpPr>
        <p:spPr>
          <a:xfrm>
            <a:off x="1009650" y="8172450"/>
            <a:ext cx="666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8개 묶음 × 100권 · 행 수를 문서 분량으로 환산한 설명용 비유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1195" name="Shape 94">
            <a:extLst>
              <a:ext uri="{FF2B5EF4-FFF2-40B4-BE49-F238E27FC236}">
                <a16:creationId xmlns:a16="http://schemas.microsoft.com/office/drawing/2014/main" id="{676371F7-4268-5FAE-2FFA-E993C7377F9A}"/>
              </a:ext>
            </a:extLst>
          </p:cNvPr>
          <p:cNvSpPr/>
          <p:nvPr/>
        </p:nvSpPr>
        <p:spPr>
          <a:xfrm>
            <a:off x="8286750" y="2781300"/>
            <a:ext cx="0" cy="5657850"/>
          </a:xfrm>
          <a:prstGeom prst="line">
            <a:avLst/>
          </a:prstGeom>
          <a:noFill/>
          <a:ln w="1905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97" name="Text 95">
            <a:extLst>
              <a:ext uri="{FF2B5EF4-FFF2-40B4-BE49-F238E27FC236}">
                <a16:creationId xmlns:a16="http://schemas.microsoft.com/office/drawing/2014/main" id="{00883B09-B65C-C5C0-437E-B3629176402C}"/>
              </a:ext>
            </a:extLst>
          </p:cNvPr>
          <p:cNvSpPr txBox="1"/>
          <p:nvPr/>
        </p:nvSpPr>
        <p:spPr>
          <a:xfrm>
            <a:off x="8858250" y="266700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DATA CONTRACT</a:t>
            </a:r>
            <a:endParaRPr lang="en-US" sz="900">
              <a:latin typeface="Pretendard"/>
              <a:ea typeface="Pretendard"/>
            </a:endParaRPr>
          </a:p>
        </p:txBody>
      </p:sp>
      <p:sp>
        <p:nvSpPr>
          <p:cNvPr id="1199" name="Text 96">
            <a:extLst>
              <a:ext uri="{FF2B5EF4-FFF2-40B4-BE49-F238E27FC236}">
                <a16:creationId xmlns:a16="http://schemas.microsoft.com/office/drawing/2014/main" id="{E9213E55-C78D-E75D-3B59-4F9B5122F149}"/>
              </a:ext>
            </a:extLst>
          </p:cNvPr>
          <p:cNvSpPr txBox="1"/>
          <p:nvPr/>
        </p:nvSpPr>
        <p:spPr>
          <a:xfrm>
            <a:off x="8858250" y="287655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50" b="1">
                <a:solidFill>
                  <a:srgbClr val="153451"/>
                </a:solidFill>
                <a:ea typeface="+mn-lt"/>
                <a:cs typeface="+mn-lt"/>
              </a:rPr>
              <a:t>검증된</a:t>
            </a:r>
            <a:r>
              <a:rPr lang="en-US" altLang="ko-KR" sz="1350" b="1">
                <a:solidFill>
                  <a:srgbClr val="153451"/>
                </a:solidFill>
                <a:ea typeface="+mn-lt"/>
                <a:cs typeface="+mn-lt"/>
              </a:rPr>
              <a:t> </a:t>
            </a:r>
            <a:r>
              <a:rPr lang="ko-KR" altLang="en-US" sz="1350" b="1">
                <a:solidFill>
                  <a:srgbClr val="153451"/>
                </a:solidFill>
                <a:ea typeface="+mn-lt"/>
                <a:cs typeface="+mn-lt"/>
              </a:rPr>
              <a:t>스키마</a:t>
            </a:r>
            <a:r>
              <a:rPr lang="en-US" altLang="ko-KR" sz="1350" b="1">
                <a:solidFill>
                  <a:srgbClr val="153451"/>
                </a:solidFill>
                <a:ea typeface="+mn-lt"/>
                <a:cs typeface="+mn-lt"/>
              </a:rPr>
              <a:t> </a:t>
            </a:r>
            <a:r>
              <a:rPr lang="ko-KR" altLang="en-US" sz="1350" b="1">
                <a:solidFill>
                  <a:srgbClr val="153451"/>
                </a:solidFill>
                <a:ea typeface="+mn-lt"/>
                <a:cs typeface="+mn-lt"/>
              </a:rPr>
              <a:t>기반</a:t>
            </a:r>
            <a:r>
              <a:rPr lang="en-US" altLang="ko-KR" sz="1350" b="1">
                <a:solidFill>
                  <a:srgbClr val="153451"/>
                </a:solidFill>
                <a:ea typeface="+mn-lt"/>
                <a:cs typeface="+mn-lt"/>
              </a:rPr>
              <a:t> </a:t>
            </a:r>
            <a:r>
              <a:rPr lang="ko-KR" altLang="en-US" sz="1350" b="1">
                <a:solidFill>
                  <a:srgbClr val="153451"/>
                </a:solidFill>
                <a:ea typeface="+mn-lt"/>
                <a:cs typeface="+mn-lt"/>
              </a:rPr>
              <a:t>데이터</a:t>
            </a:r>
            <a:r>
              <a:rPr lang="en-US" altLang="ko-KR" sz="1350" b="1">
                <a:solidFill>
                  <a:srgbClr val="153451"/>
                </a:solidFill>
                <a:ea typeface="+mn-lt"/>
                <a:cs typeface="+mn-lt"/>
              </a:rPr>
              <a:t> </a:t>
            </a:r>
            <a:r>
              <a:rPr lang="ko-KR" altLang="en-US" sz="1350" b="1">
                <a:solidFill>
                  <a:srgbClr val="153451"/>
                </a:solidFill>
                <a:ea typeface="+mn-lt"/>
                <a:cs typeface="+mn-lt"/>
              </a:rPr>
              <a:t>생성</a:t>
            </a:r>
            <a:endParaRPr lang="ko-KR" altLang="en-US" sz="1350" b="1">
              <a:solidFill>
                <a:srgbClr val="153451"/>
              </a:solidFill>
              <a:latin typeface="Pretendard"/>
            </a:endParaRPr>
          </a:p>
        </p:txBody>
      </p:sp>
      <p:sp>
        <p:nvSpPr>
          <p:cNvPr id="1201" name="Shape 97">
            <a:extLst>
              <a:ext uri="{FF2B5EF4-FFF2-40B4-BE49-F238E27FC236}">
                <a16:creationId xmlns:a16="http://schemas.microsoft.com/office/drawing/2014/main" id="{6C641763-5143-760C-15A4-A982D302D3EC}"/>
              </a:ext>
            </a:extLst>
          </p:cNvPr>
          <p:cNvSpPr/>
          <p:nvPr/>
        </p:nvSpPr>
        <p:spPr>
          <a:xfrm>
            <a:off x="8870156" y="3576637"/>
            <a:ext cx="8705850" cy="4257676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1905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03" name="Shape 98">
            <a:extLst>
              <a:ext uri="{FF2B5EF4-FFF2-40B4-BE49-F238E27FC236}">
                <a16:creationId xmlns:a16="http://schemas.microsoft.com/office/drawing/2014/main" id="{F0479249-0E9A-8666-7D86-734FCDFF28CE}"/>
              </a:ext>
            </a:extLst>
          </p:cNvPr>
          <p:cNvSpPr/>
          <p:nvPr/>
        </p:nvSpPr>
        <p:spPr>
          <a:xfrm>
            <a:off x="8870156" y="3588543"/>
            <a:ext cx="900112" cy="4245769"/>
          </a:xfrm>
          <a:prstGeom prst="roundRect">
            <a:avLst>
              <a:gd name="adj" fmla="val 19565"/>
            </a:avLst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05" name="Shape 99">
            <a:extLst>
              <a:ext uri="{FF2B5EF4-FFF2-40B4-BE49-F238E27FC236}">
                <a16:creationId xmlns:a16="http://schemas.microsoft.com/office/drawing/2014/main" id="{C7B42505-567E-F01A-F56E-A3D3ADC395DE}"/>
              </a:ext>
            </a:extLst>
          </p:cNvPr>
          <p:cNvSpPr/>
          <p:nvPr/>
        </p:nvSpPr>
        <p:spPr>
          <a:xfrm>
            <a:off x="9563100" y="3576637"/>
            <a:ext cx="183356" cy="4233863"/>
          </a:xfrm>
          <a:prstGeom prst="rect">
            <a:avLst/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07" name="Shape 100">
            <a:extLst>
              <a:ext uri="{FF2B5EF4-FFF2-40B4-BE49-F238E27FC236}">
                <a16:creationId xmlns:a16="http://schemas.microsoft.com/office/drawing/2014/main" id="{B4494040-AED1-406D-C27B-2B8F2E69A408}"/>
              </a:ext>
            </a:extLst>
          </p:cNvPr>
          <p:cNvSpPr/>
          <p:nvPr/>
        </p:nvSpPr>
        <p:spPr>
          <a:xfrm flipH="1">
            <a:off x="9722644" y="3802855"/>
            <a:ext cx="11906" cy="4007645"/>
          </a:xfrm>
          <a:prstGeom prst="line">
            <a:avLst/>
          </a:prstGeom>
          <a:noFill/>
          <a:ln w="1905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09" name="Shape 101">
            <a:extLst>
              <a:ext uri="{FF2B5EF4-FFF2-40B4-BE49-F238E27FC236}">
                <a16:creationId xmlns:a16="http://schemas.microsoft.com/office/drawing/2014/main" id="{CF5947C4-DA9E-DA9F-4FAE-22A47234BE36}"/>
              </a:ext>
            </a:extLst>
          </p:cNvPr>
          <p:cNvSpPr/>
          <p:nvPr/>
        </p:nvSpPr>
        <p:spPr>
          <a:xfrm>
            <a:off x="8858250" y="4745831"/>
            <a:ext cx="8420100" cy="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11" name="Shape 102">
            <a:extLst>
              <a:ext uri="{FF2B5EF4-FFF2-40B4-BE49-F238E27FC236}">
                <a16:creationId xmlns:a16="http://schemas.microsoft.com/office/drawing/2014/main" id="{067669C9-FE3E-4942-49C7-A78CC99BD349}"/>
              </a:ext>
            </a:extLst>
          </p:cNvPr>
          <p:cNvSpPr/>
          <p:nvPr/>
        </p:nvSpPr>
        <p:spPr>
          <a:xfrm>
            <a:off x="8858250" y="5736431"/>
            <a:ext cx="8420100" cy="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13" name="Shape 104">
            <a:extLst>
              <a:ext uri="{FF2B5EF4-FFF2-40B4-BE49-F238E27FC236}">
                <a16:creationId xmlns:a16="http://schemas.microsoft.com/office/drawing/2014/main" id="{2A2C3C20-A7EE-C52A-F371-15199580E664}"/>
              </a:ext>
            </a:extLst>
          </p:cNvPr>
          <p:cNvSpPr/>
          <p:nvPr/>
        </p:nvSpPr>
        <p:spPr>
          <a:xfrm>
            <a:off x="8858250" y="6824662"/>
            <a:ext cx="8420100" cy="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15" name="Shape 105">
            <a:extLst>
              <a:ext uri="{FF2B5EF4-FFF2-40B4-BE49-F238E27FC236}">
                <a16:creationId xmlns:a16="http://schemas.microsoft.com/office/drawing/2014/main" id="{1057F80B-2E67-AF8B-BC05-28F44EE3A9A8}"/>
              </a:ext>
            </a:extLst>
          </p:cNvPr>
          <p:cNvSpPr/>
          <p:nvPr/>
        </p:nvSpPr>
        <p:spPr>
          <a:xfrm>
            <a:off x="9077325" y="4007644"/>
            <a:ext cx="450056" cy="46196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17" name="Text 106">
            <a:extLst>
              <a:ext uri="{FF2B5EF4-FFF2-40B4-BE49-F238E27FC236}">
                <a16:creationId xmlns:a16="http://schemas.microsoft.com/office/drawing/2014/main" id="{28FCCAF3-055A-26BC-AB50-43926F140AE0}"/>
              </a:ext>
            </a:extLst>
          </p:cNvPr>
          <p:cNvSpPr txBox="1"/>
          <p:nvPr/>
        </p:nvSpPr>
        <p:spPr>
          <a:xfrm>
            <a:off x="9077325" y="4064794"/>
            <a:ext cx="450056" cy="34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01</a:t>
            </a:r>
            <a:endParaRPr lang="en-US" sz="1000">
              <a:latin typeface="Pretendard"/>
              <a:ea typeface="Pretendard"/>
            </a:endParaRPr>
          </a:p>
        </p:txBody>
      </p:sp>
      <p:sp>
        <p:nvSpPr>
          <p:cNvPr id="1219" name="Text 107">
            <a:extLst>
              <a:ext uri="{FF2B5EF4-FFF2-40B4-BE49-F238E27FC236}">
                <a16:creationId xmlns:a16="http://schemas.microsoft.com/office/drawing/2014/main" id="{C4A45296-FF6F-6BF2-B381-D7D20FC04CC9}"/>
              </a:ext>
            </a:extLst>
          </p:cNvPr>
          <p:cNvSpPr txBox="1"/>
          <p:nvPr/>
        </p:nvSpPr>
        <p:spPr>
          <a:xfrm>
            <a:off x="10001250" y="3905250"/>
            <a:ext cx="2559843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SOURCE</a:t>
            </a:r>
            <a:endParaRPr lang="en-US" sz="900">
              <a:latin typeface="Pretendard"/>
              <a:ea typeface="Pretendard"/>
            </a:endParaRPr>
          </a:p>
        </p:txBody>
      </p:sp>
      <p:sp>
        <p:nvSpPr>
          <p:cNvPr id="1221" name="Text 108">
            <a:extLst>
              <a:ext uri="{FF2B5EF4-FFF2-40B4-BE49-F238E27FC236}">
                <a16:creationId xmlns:a16="http://schemas.microsoft.com/office/drawing/2014/main" id="{CD0196F1-87C5-EB4F-CF6E-6734E800B304}"/>
              </a:ext>
            </a:extLst>
          </p:cNvPr>
          <p:cNvSpPr txBox="1"/>
          <p:nvPr/>
        </p:nvSpPr>
        <p:spPr>
          <a:xfrm>
            <a:off x="10001250" y="4074319"/>
            <a:ext cx="2964656" cy="34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5개 업무 원천</a:t>
            </a:r>
            <a:endParaRPr lang="en-US" sz="1700">
              <a:latin typeface="Pretendard"/>
              <a:ea typeface="Pretendard"/>
            </a:endParaRPr>
          </a:p>
        </p:txBody>
      </p:sp>
      <p:sp>
        <p:nvSpPr>
          <p:cNvPr id="1223" name="Text 109">
            <a:extLst>
              <a:ext uri="{FF2B5EF4-FFF2-40B4-BE49-F238E27FC236}">
                <a16:creationId xmlns:a16="http://schemas.microsoft.com/office/drawing/2014/main" id="{209294E3-A7C6-04E7-9C3F-1D1B299016D5}"/>
              </a:ext>
            </a:extLst>
          </p:cNvPr>
          <p:cNvSpPr txBox="1"/>
          <p:nvPr/>
        </p:nvSpPr>
        <p:spPr>
          <a:xfrm>
            <a:off x="10001250" y="4381500"/>
            <a:ext cx="3059906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업무별 시스템을 원천 단위로 구분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1225" name="Shape 110">
            <a:extLst>
              <a:ext uri="{FF2B5EF4-FFF2-40B4-BE49-F238E27FC236}">
                <a16:creationId xmlns:a16="http://schemas.microsoft.com/office/drawing/2014/main" id="{B7C9A4F8-0A8B-C3F8-4F3E-B5F5BD1F714B}"/>
              </a:ext>
            </a:extLst>
          </p:cNvPr>
          <p:cNvSpPr/>
          <p:nvPr/>
        </p:nvSpPr>
        <p:spPr>
          <a:xfrm>
            <a:off x="13096875" y="3988594"/>
            <a:ext cx="728662" cy="481012"/>
          </a:xfrm>
          <a:prstGeom prst="roundRect">
            <a:avLst>
              <a:gd name="adj" fmla="val 18750"/>
            </a:avLst>
          </a:prstGeom>
          <a:solidFill>
            <a:srgbClr val="EAF3FF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Pretendard"/>
              <a:ea typeface="Pretendard"/>
            </a:endParaRPr>
          </a:p>
        </p:txBody>
      </p:sp>
      <p:sp>
        <p:nvSpPr>
          <p:cNvPr id="1227" name="Text 111">
            <a:extLst>
              <a:ext uri="{FF2B5EF4-FFF2-40B4-BE49-F238E27FC236}">
                <a16:creationId xmlns:a16="http://schemas.microsoft.com/office/drawing/2014/main" id="{CB20B840-00FD-D07F-BC3C-DEB5AFBED795}"/>
              </a:ext>
            </a:extLst>
          </p:cNvPr>
          <p:cNvSpPr txBox="1"/>
          <p:nvPr/>
        </p:nvSpPr>
        <p:spPr>
          <a:xfrm>
            <a:off x="13096875" y="4105275"/>
            <a:ext cx="728662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PMS</a:t>
            </a:r>
            <a:endParaRPr lang="en-US" sz="1000">
              <a:latin typeface="Pretendard"/>
              <a:ea typeface="Pretendard"/>
            </a:endParaRPr>
          </a:p>
        </p:txBody>
      </p:sp>
      <p:sp>
        <p:nvSpPr>
          <p:cNvPr id="1229" name="Shape 112">
            <a:extLst>
              <a:ext uri="{FF2B5EF4-FFF2-40B4-BE49-F238E27FC236}">
                <a16:creationId xmlns:a16="http://schemas.microsoft.com/office/drawing/2014/main" id="{18FB5154-D77B-11D1-65FC-39AD2B847FA8}"/>
              </a:ext>
            </a:extLst>
          </p:cNvPr>
          <p:cNvSpPr/>
          <p:nvPr/>
        </p:nvSpPr>
        <p:spPr>
          <a:xfrm>
            <a:off x="13896975" y="3988594"/>
            <a:ext cx="728662" cy="4810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Pretendard"/>
              <a:ea typeface="Pretendard"/>
            </a:endParaRPr>
          </a:p>
        </p:txBody>
      </p:sp>
      <p:sp>
        <p:nvSpPr>
          <p:cNvPr id="1231" name="Text 113">
            <a:extLst>
              <a:ext uri="{FF2B5EF4-FFF2-40B4-BE49-F238E27FC236}">
                <a16:creationId xmlns:a16="http://schemas.microsoft.com/office/drawing/2014/main" id="{DC1424E3-2481-70E1-9850-81A90CA9F2D1}"/>
              </a:ext>
            </a:extLst>
          </p:cNvPr>
          <p:cNvSpPr txBox="1"/>
          <p:nvPr/>
        </p:nvSpPr>
        <p:spPr>
          <a:xfrm>
            <a:off x="13896975" y="4105275"/>
            <a:ext cx="728662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POS</a:t>
            </a:r>
            <a:endParaRPr lang="en-US" sz="1000">
              <a:latin typeface="Pretendard"/>
              <a:ea typeface="Pretendard"/>
            </a:endParaRPr>
          </a:p>
        </p:txBody>
      </p:sp>
      <p:sp>
        <p:nvSpPr>
          <p:cNvPr id="1233" name="Shape 114">
            <a:extLst>
              <a:ext uri="{FF2B5EF4-FFF2-40B4-BE49-F238E27FC236}">
                <a16:creationId xmlns:a16="http://schemas.microsoft.com/office/drawing/2014/main" id="{5BEB7F36-2858-6FE4-62B7-4A48FFD9CB90}"/>
              </a:ext>
            </a:extLst>
          </p:cNvPr>
          <p:cNvSpPr/>
          <p:nvPr/>
        </p:nvSpPr>
        <p:spPr>
          <a:xfrm>
            <a:off x="14697075" y="3988594"/>
            <a:ext cx="728662" cy="481012"/>
          </a:xfrm>
          <a:prstGeom prst="roundRect">
            <a:avLst>
              <a:gd name="adj" fmla="val 18750"/>
            </a:avLst>
          </a:prstGeom>
          <a:solidFill>
            <a:srgbClr val="EAF3FF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Pretendard"/>
              <a:ea typeface="Pretendard"/>
            </a:endParaRPr>
          </a:p>
        </p:txBody>
      </p:sp>
      <p:sp>
        <p:nvSpPr>
          <p:cNvPr id="1235" name="Text 115">
            <a:extLst>
              <a:ext uri="{FF2B5EF4-FFF2-40B4-BE49-F238E27FC236}">
                <a16:creationId xmlns:a16="http://schemas.microsoft.com/office/drawing/2014/main" id="{53EE2CF3-A48E-1D54-B43A-7CA1DBE5198F}"/>
              </a:ext>
            </a:extLst>
          </p:cNvPr>
          <p:cNvSpPr txBox="1"/>
          <p:nvPr/>
        </p:nvSpPr>
        <p:spPr>
          <a:xfrm>
            <a:off x="14697075" y="4105275"/>
            <a:ext cx="728662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CRM</a:t>
            </a:r>
            <a:endParaRPr lang="en-US" sz="1000">
              <a:latin typeface="Pretendard"/>
              <a:ea typeface="Pretendard"/>
            </a:endParaRPr>
          </a:p>
        </p:txBody>
      </p:sp>
      <p:sp>
        <p:nvSpPr>
          <p:cNvPr id="1237" name="Shape 116">
            <a:extLst>
              <a:ext uri="{FF2B5EF4-FFF2-40B4-BE49-F238E27FC236}">
                <a16:creationId xmlns:a16="http://schemas.microsoft.com/office/drawing/2014/main" id="{CA1B4242-4BC7-0420-B6D4-7A4C30C748D1}"/>
              </a:ext>
            </a:extLst>
          </p:cNvPr>
          <p:cNvSpPr/>
          <p:nvPr/>
        </p:nvSpPr>
        <p:spPr>
          <a:xfrm>
            <a:off x="15497175" y="3988594"/>
            <a:ext cx="728662" cy="4810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Pretendard"/>
              <a:ea typeface="Pretendard"/>
            </a:endParaRPr>
          </a:p>
        </p:txBody>
      </p:sp>
      <p:sp>
        <p:nvSpPr>
          <p:cNvPr id="1239" name="Text 117">
            <a:extLst>
              <a:ext uri="{FF2B5EF4-FFF2-40B4-BE49-F238E27FC236}">
                <a16:creationId xmlns:a16="http://schemas.microsoft.com/office/drawing/2014/main" id="{76038012-3133-6CBF-183D-849D20A704A7}"/>
              </a:ext>
            </a:extLst>
          </p:cNvPr>
          <p:cNvSpPr txBox="1"/>
          <p:nvPr/>
        </p:nvSpPr>
        <p:spPr>
          <a:xfrm>
            <a:off x="15497175" y="4105275"/>
            <a:ext cx="728662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연회</a:t>
            </a:r>
            <a:endParaRPr lang="en-US" sz="1000">
              <a:latin typeface="Pretendard"/>
              <a:ea typeface="Pretendard"/>
            </a:endParaRPr>
          </a:p>
        </p:txBody>
      </p:sp>
      <p:sp>
        <p:nvSpPr>
          <p:cNvPr id="1241" name="Shape 118">
            <a:extLst>
              <a:ext uri="{FF2B5EF4-FFF2-40B4-BE49-F238E27FC236}">
                <a16:creationId xmlns:a16="http://schemas.microsoft.com/office/drawing/2014/main" id="{99D09498-7E32-031D-AA7D-25CD40AF8E8B}"/>
              </a:ext>
            </a:extLst>
          </p:cNvPr>
          <p:cNvSpPr/>
          <p:nvPr/>
        </p:nvSpPr>
        <p:spPr>
          <a:xfrm>
            <a:off x="16297275" y="3988594"/>
            <a:ext cx="728662" cy="481012"/>
          </a:xfrm>
          <a:prstGeom prst="roundRect">
            <a:avLst>
              <a:gd name="adj" fmla="val 18750"/>
            </a:avLst>
          </a:prstGeom>
          <a:solidFill>
            <a:srgbClr val="EAF3FF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Pretendard"/>
              <a:ea typeface="Pretendard"/>
            </a:endParaRPr>
          </a:p>
        </p:txBody>
      </p:sp>
      <p:sp>
        <p:nvSpPr>
          <p:cNvPr id="1243" name="Text 119">
            <a:extLst>
              <a:ext uri="{FF2B5EF4-FFF2-40B4-BE49-F238E27FC236}">
                <a16:creationId xmlns:a16="http://schemas.microsoft.com/office/drawing/2014/main" id="{FAC062F5-B7F8-B214-F9F0-F228D2329BBD}"/>
              </a:ext>
            </a:extLst>
          </p:cNvPr>
          <p:cNvSpPr txBox="1"/>
          <p:nvPr/>
        </p:nvSpPr>
        <p:spPr>
          <a:xfrm>
            <a:off x="16297275" y="4105275"/>
            <a:ext cx="728662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시설</a:t>
            </a:r>
            <a:endParaRPr lang="en-US" sz="1000">
              <a:latin typeface="Pretendard"/>
              <a:ea typeface="Pretendard"/>
            </a:endParaRPr>
          </a:p>
        </p:txBody>
      </p:sp>
      <p:sp>
        <p:nvSpPr>
          <p:cNvPr id="1245" name="Shape 120">
            <a:extLst>
              <a:ext uri="{FF2B5EF4-FFF2-40B4-BE49-F238E27FC236}">
                <a16:creationId xmlns:a16="http://schemas.microsoft.com/office/drawing/2014/main" id="{7CC56878-1FFC-9309-80EF-BA752A39117A}"/>
              </a:ext>
            </a:extLst>
          </p:cNvPr>
          <p:cNvSpPr/>
          <p:nvPr/>
        </p:nvSpPr>
        <p:spPr>
          <a:xfrm>
            <a:off x="9077325" y="4998244"/>
            <a:ext cx="450056" cy="461962"/>
          </a:xfrm>
          <a:prstGeom prst="ellipse">
            <a:avLst/>
          </a:prstGeom>
          <a:solidFill>
            <a:srgbClr val="EAF3FF"/>
          </a:solidFill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47" name="Text 121">
            <a:extLst>
              <a:ext uri="{FF2B5EF4-FFF2-40B4-BE49-F238E27FC236}">
                <a16:creationId xmlns:a16="http://schemas.microsoft.com/office/drawing/2014/main" id="{9F0FEBBC-D1CE-5CAF-FC98-D63522E86102}"/>
              </a:ext>
            </a:extLst>
          </p:cNvPr>
          <p:cNvSpPr txBox="1"/>
          <p:nvPr/>
        </p:nvSpPr>
        <p:spPr>
          <a:xfrm>
            <a:off x="9077325" y="5055394"/>
            <a:ext cx="450056" cy="34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02</a:t>
            </a:r>
            <a:endParaRPr lang="en-US" sz="1000">
              <a:latin typeface="Pretendard"/>
              <a:ea typeface="Pretendard"/>
            </a:endParaRPr>
          </a:p>
        </p:txBody>
      </p:sp>
      <p:sp>
        <p:nvSpPr>
          <p:cNvPr id="1249" name="Text 122">
            <a:extLst>
              <a:ext uri="{FF2B5EF4-FFF2-40B4-BE49-F238E27FC236}">
                <a16:creationId xmlns:a16="http://schemas.microsoft.com/office/drawing/2014/main" id="{61678609-259F-EC70-ED90-8DCBD066C54D}"/>
              </a:ext>
            </a:extLst>
          </p:cNvPr>
          <p:cNvSpPr txBox="1"/>
          <p:nvPr/>
        </p:nvSpPr>
        <p:spPr>
          <a:xfrm>
            <a:off x="10001250" y="4895850"/>
            <a:ext cx="2559843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TIME</a:t>
            </a:r>
            <a:endParaRPr lang="en-US" sz="900">
              <a:latin typeface="Pretendard"/>
              <a:ea typeface="Pretendard"/>
            </a:endParaRPr>
          </a:p>
        </p:txBody>
      </p:sp>
      <p:sp>
        <p:nvSpPr>
          <p:cNvPr id="1251" name="Text 123">
            <a:extLst>
              <a:ext uri="{FF2B5EF4-FFF2-40B4-BE49-F238E27FC236}">
                <a16:creationId xmlns:a16="http://schemas.microsoft.com/office/drawing/2014/main" id="{FD4C8C02-0125-A9A8-EE0C-26D73495B510}"/>
              </a:ext>
            </a:extLst>
          </p:cNvPr>
          <p:cNvSpPr txBox="1"/>
          <p:nvPr/>
        </p:nvSpPr>
        <p:spPr>
          <a:xfrm>
            <a:off x="10001250" y="5064919"/>
            <a:ext cx="2964656" cy="34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974일</a:t>
            </a:r>
            <a:endParaRPr lang="en-US" sz="1700">
              <a:latin typeface="Pretendard"/>
              <a:ea typeface="Pretendard"/>
            </a:endParaRPr>
          </a:p>
        </p:txBody>
      </p:sp>
      <p:sp>
        <p:nvSpPr>
          <p:cNvPr id="1253" name="Text 124">
            <a:extLst>
              <a:ext uri="{FF2B5EF4-FFF2-40B4-BE49-F238E27FC236}">
                <a16:creationId xmlns:a16="http://schemas.microsoft.com/office/drawing/2014/main" id="{C78C8EB8-314B-4D40-59DE-5C4A20AEEDDC}"/>
              </a:ext>
            </a:extLst>
          </p:cNvPr>
          <p:cNvSpPr txBox="1"/>
          <p:nvPr/>
        </p:nvSpPr>
        <p:spPr>
          <a:xfrm>
            <a:off x="10001250" y="5372100"/>
            <a:ext cx="3059906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모든 업무 데이터가 공유하는 날짜 범위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1255" name="Text 125">
            <a:extLst>
              <a:ext uri="{FF2B5EF4-FFF2-40B4-BE49-F238E27FC236}">
                <a16:creationId xmlns:a16="http://schemas.microsoft.com/office/drawing/2014/main" id="{1E6B10E9-856A-683D-2273-A0A1BB60B55C}"/>
              </a:ext>
            </a:extLst>
          </p:cNvPr>
          <p:cNvSpPr txBox="1"/>
          <p:nvPr/>
        </p:nvSpPr>
        <p:spPr>
          <a:xfrm>
            <a:off x="13049250" y="4876800"/>
            <a:ext cx="595312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DAY 001</a:t>
            </a:r>
            <a:endParaRPr lang="en-US" sz="800">
              <a:latin typeface="Pretendard"/>
              <a:ea typeface="Pretendard"/>
            </a:endParaRPr>
          </a:p>
        </p:txBody>
      </p:sp>
      <p:sp>
        <p:nvSpPr>
          <p:cNvPr id="1257" name="Text 126">
            <a:extLst>
              <a:ext uri="{FF2B5EF4-FFF2-40B4-BE49-F238E27FC236}">
                <a16:creationId xmlns:a16="http://schemas.microsoft.com/office/drawing/2014/main" id="{0B45B6F6-D5D9-A963-D2D6-2BB299ABE809}"/>
              </a:ext>
            </a:extLst>
          </p:cNvPr>
          <p:cNvSpPr txBox="1"/>
          <p:nvPr/>
        </p:nvSpPr>
        <p:spPr>
          <a:xfrm>
            <a:off x="16478250" y="4876800"/>
            <a:ext cx="595312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DAY 974</a:t>
            </a:r>
            <a:endParaRPr lang="en-US" sz="800">
              <a:latin typeface="Pretendard"/>
              <a:ea typeface="Pretendard"/>
            </a:endParaRPr>
          </a:p>
        </p:txBody>
      </p:sp>
      <p:sp>
        <p:nvSpPr>
          <p:cNvPr id="1259" name="Shape 127">
            <a:extLst>
              <a:ext uri="{FF2B5EF4-FFF2-40B4-BE49-F238E27FC236}">
                <a16:creationId xmlns:a16="http://schemas.microsoft.com/office/drawing/2014/main" id="{6D8D85F5-82AF-3095-BBFA-F8840ED68EDB}"/>
              </a:ext>
            </a:extLst>
          </p:cNvPr>
          <p:cNvSpPr/>
          <p:nvPr/>
        </p:nvSpPr>
        <p:spPr>
          <a:xfrm>
            <a:off x="13335000" y="5355431"/>
            <a:ext cx="3429000" cy="0"/>
          </a:xfrm>
          <a:prstGeom prst="line">
            <a:avLst/>
          </a:prstGeom>
          <a:noFill/>
          <a:ln w="279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61" name="Shape 128">
            <a:extLst>
              <a:ext uri="{FF2B5EF4-FFF2-40B4-BE49-F238E27FC236}">
                <a16:creationId xmlns:a16="http://schemas.microsoft.com/office/drawing/2014/main" id="{4EABDDB3-7EC6-96C0-0CCA-B31B015FDFE8}"/>
              </a:ext>
            </a:extLst>
          </p:cNvPr>
          <p:cNvSpPr/>
          <p:nvPr/>
        </p:nvSpPr>
        <p:spPr>
          <a:xfrm>
            <a:off x="13268325" y="5276850"/>
            <a:ext cx="133350" cy="145256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63" name="Shape 129">
            <a:extLst>
              <a:ext uri="{FF2B5EF4-FFF2-40B4-BE49-F238E27FC236}">
                <a16:creationId xmlns:a16="http://schemas.microsoft.com/office/drawing/2014/main" id="{9DC73CD1-166C-0A6A-250A-043144361AA1}"/>
              </a:ext>
            </a:extLst>
          </p:cNvPr>
          <p:cNvSpPr/>
          <p:nvPr/>
        </p:nvSpPr>
        <p:spPr>
          <a:xfrm>
            <a:off x="14144625" y="5307806"/>
            <a:ext cx="95250" cy="95250"/>
          </a:xfrm>
          <a:prstGeom prst="ellipse">
            <a:avLst/>
          </a:prstGeom>
          <a:solidFill>
            <a:srgbClr val="EAF3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65" name="Shape 130">
            <a:extLst>
              <a:ext uri="{FF2B5EF4-FFF2-40B4-BE49-F238E27FC236}">
                <a16:creationId xmlns:a16="http://schemas.microsoft.com/office/drawing/2014/main" id="{3DD3E9F6-2420-E030-8BAC-52F319F9B304}"/>
              </a:ext>
            </a:extLst>
          </p:cNvPr>
          <p:cNvSpPr/>
          <p:nvPr/>
        </p:nvSpPr>
        <p:spPr>
          <a:xfrm>
            <a:off x="15001875" y="5307806"/>
            <a:ext cx="95250" cy="95250"/>
          </a:xfrm>
          <a:prstGeom prst="ellipse">
            <a:avLst/>
          </a:prstGeom>
          <a:solidFill>
            <a:srgbClr val="EAF3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67" name="Shape 131">
            <a:extLst>
              <a:ext uri="{FF2B5EF4-FFF2-40B4-BE49-F238E27FC236}">
                <a16:creationId xmlns:a16="http://schemas.microsoft.com/office/drawing/2014/main" id="{89768291-13B6-8725-7799-6BDAAA60D463}"/>
              </a:ext>
            </a:extLst>
          </p:cNvPr>
          <p:cNvSpPr/>
          <p:nvPr/>
        </p:nvSpPr>
        <p:spPr>
          <a:xfrm>
            <a:off x="15859125" y="5307806"/>
            <a:ext cx="95250" cy="95250"/>
          </a:xfrm>
          <a:prstGeom prst="ellipse">
            <a:avLst/>
          </a:prstGeom>
          <a:solidFill>
            <a:srgbClr val="EAF3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69" name="Shape 132">
            <a:extLst>
              <a:ext uri="{FF2B5EF4-FFF2-40B4-BE49-F238E27FC236}">
                <a16:creationId xmlns:a16="http://schemas.microsoft.com/office/drawing/2014/main" id="{DA7A6BD9-1253-5772-3391-E67E26D35CE8}"/>
              </a:ext>
            </a:extLst>
          </p:cNvPr>
          <p:cNvSpPr/>
          <p:nvPr/>
        </p:nvSpPr>
        <p:spPr>
          <a:xfrm>
            <a:off x="16697325" y="5276850"/>
            <a:ext cx="133350" cy="145256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71" name="Text 133">
            <a:extLst>
              <a:ext uri="{FF2B5EF4-FFF2-40B4-BE49-F238E27FC236}">
                <a16:creationId xmlns:a16="http://schemas.microsoft.com/office/drawing/2014/main" id="{6C858732-916D-C966-F53C-005A3EC0E9F9}"/>
              </a:ext>
            </a:extLst>
          </p:cNvPr>
          <p:cNvSpPr txBox="1"/>
          <p:nvPr/>
        </p:nvSpPr>
        <p:spPr>
          <a:xfrm>
            <a:off x="14192250" y="5438775"/>
            <a:ext cx="2464593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동일한 달력·공휴일·행사 기준</a:t>
            </a:r>
            <a:endParaRPr lang="en-US" sz="850">
              <a:latin typeface="Pretendard"/>
              <a:ea typeface="Pretendard"/>
            </a:endParaRPr>
          </a:p>
        </p:txBody>
      </p:sp>
      <p:sp>
        <p:nvSpPr>
          <p:cNvPr id="1273" name="Shape 134">
            <a:extLst>
              <a:ext uri="{FF2B5EF4-FFF2-40B4-BE49-F238E27FC236}">
                <a16:creationId xmlns:a16="http://schemas.microsoft.com/office/drawing/2014/main" id="{384A83CF-D078-F67B-F692-9B0856B6BC8C}"/>
              </a:ext>
            </a:extLst>
          </p:cNvPr>
          <p:cNvSpPr/>
          <p:nvPr/>
        </p:nvSpPr>
        <p:spPr>
          <a:xfrm>
            <a:off x="9077325" y="5988844"/>
            <a:ext cx="450056" cy="46196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75" name="Text 135">
            <a:extLst>
              <a:ext uri="{FF2B5EF4-FFF2-40B4-BE49-F238E27FC236}">
                <a16:creationId xmlns:a16="http://schemas.microsoft.com/office/drawing/2014/main" id="{C95429B3-1DDF-8C0E-34B9-9520D4B61159}"/>
              </a:ext>
            </a:extLst>
          </p:cNvPr>
          <p:cNvSpPr txBox="1"/>
          <p:nvPr/>
        </p:nvSpPr>
        <p:spPr>
          <a:xfrm>
            <a:off x="9077325" y="6045994"/>
            <a:ext cx="450056" cy="34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03</a:t>
            </a:r>
            <a:endParaRPr lang="en-US" sz="1000">
              <a:latin typeface="Pretendard"/>
              <a:ea typeface="Pretendard"/>
            </a:endParaRPr>
          </a:p>
        </p:txBody>
      </p:sp>
      <p:sp>
        <p:nvSpPr>
          <p:cNvPr id="1277" name="Text 136">
            <a:extLst>
              <a:ext uri="{FF2B5EF4-FFF2-40B4-BE49-F238E27FC236}">
                <a16:creationId xmlns:a16="http://schemas.microsoft.com/office/drawing/2014/main" id="{F6608C61-F0F0-F4C9-6277-D36D165FB96C}"/>
              </a:ext>
            </a:extLst>
          </p:cNvPr>
          <p:cNvSpPr txBox="1"/>
          <p:nvPr/>
        </p:nvSpPr>
        <p:spPr>
          <a:xfrm>
            <a:off x="10001250" y="5886450"/>
            <a:ext cx="2559843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SCHEMA</a:t>
            </a:r>
            <a:endParaRPr lang="en-US" sz="900">
              <a:latin typeface="Pretendard"/>
              <a:ea typeface="Pretendard"/>
            </a:endParaRPr>
          </a:p>
        </p:txBody>
      </p:sp>
      <p:sp>
        <p:nvSpPr>
          <p:cNvPr id="1279" name="Text 137">
            <a:extLst>
              <a:ext uri="{FF2B5EF4-FFF2-40B4-BE49-F238E27FC236}">
                <a16:creationId xmlns:a16="http://schemas.microsoft.com/office/drawing/2014/main" id="{96370A5F-6921-DAAA-3C6C-4184B9DF36B8}"/>
              </a:ext>
            </a:extLst>
          </p:cNvPr>
          <p:cNvSpPr txBox="1"/>
          <p:nvPr/>
        </p:nvSpPr>
        <p:spPr>
          <a:xfrm>
            <a:off x="10001250" y="6055519"/>
            <a:ext cx="2964656" cy="34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38개 물리 테이블</a:t>
            </a:r>
            <a:endParaRPr lang="en-US" sz="1700">
              <a:latin typeface="Pretendard"/>
              <a:ea typeface="Pretendard"/>
            </a:endParaRPr>
          </a:p>
        </p:txBody>
      </p:sp>
      <p:sp>
        <p:nvSpPr>
          <p:cNvPr id="1281" name="Text 138">
            <a:extLst>
              <a:ext uri="{FF2B5EF4-FFF2-40B4-BE49-F238E27FC236}">
                <a16:creationId xmlns:a16="http://schemas.microsoft.com/office/drawing/2014/main" id="{74CCBD7E-90D4-2D45-EF71-E53F8D7ACD7A}"/>
              </a:ext>
            </a:extLst>
          </p:cNvPr>
          <p:cNvSpPr txBox="1"/>
          <p:nvPr/>
        </p:nvSpPr>
        <p:spPr>
          <a:xfrm>
            <a:off x="10001250" y="6372360"/>
            <a:ext cx="2767641" cy="403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50" b="1">
                <a:solidFill>
                  <a:srgbClr val="71869B"/>
                </a:solidFill>
                <a:latin typeface="Calibri"/>
                <a:ea typeface="+mn-lt"/>
                <a:cs typeface="Calibri"/>
              </a:rPr>
              <a:t>공개</a:t>
            </a:r>
            <a:r>
              <a:rPr lang="ko-KR" sz="1050" b="1">
                <a:solidFill>
                  <a:srgbClr val="71869B"/>
                </a:solidFill>
                <a:ea typeface="+mn-lt"/>
                <a:cs typeface="+mn-lt"/>
              </a:rPr>
              <a:t> 연구 및 산업 도메인 스키마를 참고해 실제 호텔 업무 흐름을 반영한 데이터 구조 설계</a:t>
            </a:r>
            <a:r>
              <a:rPr lang="ko-KR" altLang="en-US" sz="10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 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1283" name="Shape 139">
            <a:extLst>
              <a:ext uri="{FF2B5EF4-FFF2-40B4-BE49-F238E27FC236}">
                <a16:creationId xmlns:a16="http://schemas.microsoft.com/office/drawing/2014/main" id="{94637EE7-B8C1-875D-A6C7-654D406B0142}"/>
              </a:ext>
            </a:extLst>
          </p:cNvPr>
          <p:cNvSpPr/>
          <p:nvPr/>
        </p:nvSpPr>
        <p:spPr>
          <a:xfrm>
            <a:off x="13096875" y="5929313"/>
            <a:ext cx="2147887" cy="588168"/>
          </a:xfrm>
          <a:prstGeom prst="roundRect">
            <a:avLst>
              <a:gd name="adj" fmla="val 13793"/>
            </a:avLst>
          </a:prstGeom>
          <a:solidFill>
            <a:srgbClr val="F7FAFF"/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85" name="Shape 140">
            <a:extLst>
              <a:ext uri="{FF2B5EF4-FFF2-40B4-BE49-F238E27FC236}">
                <a16:creationId xmlns:a16="http://schemas.microsoft.com/office/drawing/2014/main" id="{62305786-C1CF-973F-E3B9-C1F6837EB5CA}"/>
              </a:ext>
            </a:extLst>
          </p:cNvPr>
          <p:cNvSpPr/>
          <p:nvPr/>
        </p:nvSpPr>
        <p:spPr>
          <a:xfrm>
            <a:off x="13096875" y="6146006"/>
            <a:ext cx="2076450" cy="0"/>
          </a:xfrm>
          <a:prstGeom prst="line">
            <a:avLst/>
          </a:prstGeom>
          <a:noFill/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87" name="Shape 141">
            <a:extLst>
              <a:ext uri="{FF2B5EF4-FFF2-40B4-BE49-F238E27FC236}">
                <a16:creationId xmlns:a16="http://schemas.microsoft.com/office/drawing/2014/main" id="{0BAB9A9B-6EE9-E248-C136-F3D0814E7C81}"/>
              </a:ext>
            </a:extLst>
          </p:cNvPr>
          <p:cNvSpPr/>
          <p:nvPr/>
        </p:nvSpPr>
        <p:spPr>
          <a:xfrm>
            <a:off x="13096875" y="6326981"/>
            <a:ext cx="2076450" cy="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89" name="Shape 142">
            <a:extLst>
              <a:ext uri="{FF2B5EF4-FFF2-40B4-BE49-F238E27FC236}">
                <a16:creationId xmlns:a16="http://schemas.microsoft.com/office/drawing/2014/main" id="{7C80B14A-EB0E-B6A7-5B3D-2EC3E1EC80DD}"/>
              </a:ext>
            </a:extLst>
          </p:cNvPr>
          <p:cNvSpPr/>
          <p:nvPr/>
        </p:nvSpPr>
        <p:spPr>
          <a:xfrm>
            <a:off x="13620750" y="5965031"/>
            <a:ext cx="0" cy="55245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91" name="Shape 143">
            <a:extLst>
              <a:ext uri="{FF2B5EF4-FFF2-40B4-BE49-F238E27FC236}">
                <a16:creationId xmlns:a16="http://schemas.microsoft.com/office/drawing/2014/main" id="{3F1D39C3-0995-582F-E2E6-CDF6BDB5F4C7}"/>
              </a:ext>
            </a:extLst>
          </p:cNvPr>
          <p:cNvSpPr/>
          <p:nvPr/>
        </p:nvSpPr>
        <p:spPr>
          <a:xfrm>
            <a:off x="14144625" y="5965031"/>
            <a:ext cx="0" cy="55245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93" name="Shape 144">
            <a:extLst>
              <a:ext uri="{FF2B5EF4-FFF2-40B4-BE49-F238E27FC236}">
                <a16:creationId xmlns:a16="http://schemas.microsoft.com/office/drawing/2014/main" id="{51970756-A30D-615D-3A55-9400C1D32FAA}"/>
              </a:ext>
            </a:extLst>
          </p:cNvPr>
          <p:cNvSpPr/>
          <p:nvPr/>
        </p:nvSpPr>
        <p:spPr>
          <a:xfrm>
            <a:off x="14668500" y="5965031"/>
            <a:ext cx="0" cy="55245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95" name="Text 145">
            <a:extLst>
              <a:ext uri="{FF2B5EF4-FFF2-40B4-BE49-F238E27FC236}">
                <a16:creationId xmlns:a16="http://schemas.microsoft.com/office/drawing/2014/main" id="{FC122A20-AF65-48AE-DF35-1D56A5F71FAA}"/>
              </a:ext>
            </a:extLst>
          </p:cNvPr>
          <p:cNvSpPr txBox="1"/>
          <p:nvPr/>
        </p:nvSpPr>
        <p:spPr>
          <a:xfrm>
            <a:off x="15459075" y="5981700"/>
            <a:ext cx="690562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TABLES</a:t>
            </a:r>
            <a:endParaRPr lang="en-US" sz="900">
              <a:latin typeface="Pretendard"/>
              <a:ea typeface="Pretendard"/>
            </a:endParaRPr>
          </a:p>
        </p:txBody>
      </p:sp>
      <p:sp>
        <p:nvSpPr>
          <p:cNvPr id="1297" name="Text 146">
            <a:extLst>
              <a:ext uri="{FF2B5EF4-FFF2-40B4-BE49-F238E27FC236}">
                <a16:creationId xmlns:a16="http://schemas.microsoft.com/office/drawing/2014/main" id="{C976B98C-69BF-8610-97CE-B3FE3A5FF1F6}"/>
              </a:ext>
            </a:extLst>
          </p:cNvPr>
          <p:cNvSpPr txBox="1"/>
          <p:nvPr/>
        </p:nvSpPr>
        <p:spPr>
          <a:xfrm>
            <a:off x="15459075" y="6210300"/>
            <a:ext cx="59531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38</a:t>
            </a:r>
            <a:endParaRPr lang="en-US" sz="1600">
              <a:latin typeface="Pretendard"/>
              <a:ea typeface="Pretendard"/>
            </a:endParaRPr>
          </a:p>
        </p:txBody>
      </p:sp>
      <p:sp>
        <p:nvSpPr>
          <p:cNvPr id="1299" name="Text 147">
            <a:extLst>
              <a:ext uri="{FF2B5EF4-FFF2-40B4-BE49-F238E27FC236}">
                <a16:creationId xmlns:a16="http://schemas.microsoft.com/office/drawing/2014/main" id="{D9359C01-ED7B-01E5-4A0D-D0104D74DD24}"/>
              </a:ext>
            </a:extLst>
          </p:cNvPr>
          <p:cNvSpPr txBox="1"/>
          <p:nvPr/>
        </p:nvSpPr>
        <p:spPr>
          <a:xfrm>
            <a:off x="16240125" y="5981700"/>
            <a:ext cx="892968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COLUMNS</a:t>
            </a:r>
            <a:endParaRPr lang="en-US" sz="900">
              <a:latin typeface="Pretendard"/>
              <a:ea typeface="Pretendard"/>
            </a:endParaRPr>
          </a:p>
        </p:txBody>
      </p:sp>
      <p:sp>
        <p:nvSpPr>
          <p:cNvPr id="1301" name="Text 148">
            <a:extLst>
              <a:ext uri="{FF2B5EF4-FFF2-40B4-BE49-F238E27FC236}">
                <a16:creationId xmlns:a16="http://schemas.microsoft.com/office/drawing/2014/main" id="{867F24A1-CAF4-4BB9-0911-D1EF6B89653C}"/>
              </a:ext>
            </a:extLst>
          </p:cNvPr>
          <p:cNvSpPr txBox="1"/>
          <p:nvPr/>
        </p:nvSpPr>
        <p:spPr>
          <a:xfrm>
            <a:off x="16240125" y="6210300"/>
            <a:ext cx="69056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410</a:t>
            </a:r>
            <a:endParaRPr lang="en-US" sz="1600">
              <a:latin typeface="Pretendard"/>
              <a:ea typeface="Pretendard"/>
            </a:endParaRPr>
          </a:p>
        </p:txBody>
      </p:sp>
      <p:sp>
        <p:nvSpPr>
          <p:cNvPr id="1303" name="Shape 149">
            <a:extLst>
              <a:ext uri="{FF2B5EF4-FFF2-40B4-BE49-F238E27FC236}">
                <a16:creationId xmlns:a16="http://schemas.microsoft.com/office/drawing/2014/main" id="{3F73F1E2-3037-B452-6230-831AD7770636}"/>
              </a:ext>
            </a:extLst>
          </p:cNvPr>
          <p:cNvSpPr/>
          <p:nvPr/>
        </p:nvSpPr>
        <p:spPr>
          <a:xfrm>
            <a:off x="9077325" y="6979444"/>
            <a:ext cx="450056" cy="461962"/>
          </a:xfrm>
          <a:prstGeom prst="ellipse">
            <a:avLst/>
          </a:prstGeom>
          <a:solidFill>
            <a:srgbClr val="EAF3FF"/>
          </a:solidFill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05" name="Text 150">
            <a:extLst>
              <a:ext uri="{FF2B5EF4-FFF2-40B4-BE49-F238E27FC236}">
                <a16:creationId xmlns:a16="http://schemas.microsoft.com/office/drawing/2014/main" id="{A218E931-2F5C-A280-ADCA-FC90CD4B0532}"/>
              </a:ext>
            </a:extLst>
          </p:cNvPr>
          <p:cNvSpPr txBox="1"/>
          <p:nvPr/>
        </p:nvSpPr>
        <p:spPr>
          <a:xfrm>
            <a:off x="9077325" y="7036594"/>
            <a:ext cx="450056" cy="34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04</a:t>
            </a:r>
            <a:endParaRPr lang="en-US" sz="1000">
              <a:latin typeface="Pretendard"/>
              <a:ea typeface="Pretendard"/>
            </a:endParaRPr>
          </a:p>
        </p:txBody>
      </p:sp>
      <p:sp>
        <p:nvSpPr>
          <p:cNvPr id="1307" name="Text 151">
            <a:extLst>
              <a:ext uri="{FF2B5EF4-FFF2-40B4-BE49-F238E27FC236}">
                <a16:creationId xmlns:a16="http://schemas.microsoft.com/office/drawing/2014/main" id="{2DAD5B80-2827-7669-00AE-65E707729168}"/>
              </a:ext>
            </a:extLst>
          </p:cNvPr>
          <p:cNvSpPr txBox="1"/>
          <p:nvPr/>
        </p:nvSpPr>
        <p:spPr>
          <a:xfrm>
            <a:off x="10001250" y="6877050"/>
            <a:ext cx="2559843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ROWS</a:t>
            </a:r>
            <a:endParaRPr lang="en-US" sz="900">
              <a:latin typeface="Pretendard"/>
              <a:ea typeface="Pretendard"/>
            </a:endParaRPr>
          </a:p>
        </p:txBody>
      </p:sp>
      <p:sp>
        <p:nvSpPr>
          <p:cNvPr id="1309" name="Text 152">
            <a:extLst>
              <a:ext uri="{FF2B5EF4-FFF2-40B4-BE49-F238E27FC236}">
                <a16:creationId xmlns:a16="http://schemas.microsoft.com/office/drawing/2014/main" id="{36C55FE4-860E-AA8E-C712-F1B65FCB6E10}"/>
              </a:ext>
            </a:extLst>
          </p:cNvPr>
          <p:cNvSpPr txBox="1"/>
          <p:nvPr/>
        </p:nvSpPr>
        <p:spPr>
          <a:xfrm>
            <a:off x="10001250" y="7046119"/>
            <a:ext cx="2964656" cy="34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약 780만 행</a:t>
            </a:r>
            <a:endParaRPr lang="en-US" sz="1700">
              <a:latin typeface="Pretendard"/>
              <a:ea typeface="Pretendard"/>
            </a:endParaRPr>
          </a:p>
        </p:txBody>
      </p:sp>
      <p:sp>
        <p:nvSpPr>
          <p:cNvPr id="1311" name="Text 153">
            <a:extLst>
              <a:ext uri="{FF2B5EF4-FFF2-40B4-BE49-F238E27FC236}">
                <a16:creationId xmlns:a16="http://schemas.microsoft.com/office/drawing/2014/main" id="{5B452C73-172E-BF68-87C8-07F4B5FD5F8C}"/>
              </a:ext>
            </a:extLst>
          </p:cNvPr>
          <p:cNvSpPr txBox="1"/>
          <p:nvPr/>
        </p:nvSpPr>
        <p:spPr>
          <a:xfrm>
            <a:off x="10001250" y="7353300"/>
            <a:ext cx="3059906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생성 계약상 예상 규모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1313" name="Shape 154">
            <a:extLst>
              <a:ext uri="{FF2B5EF4-FFF2-40B4-BE49-F238E27FC236}">
                <a16:creationId xmlns:a16="http://schemas.microsoft.com/office/drawing/2014/main" id="{219AD89B-E63F-095F-AC7C-4607C93CBB2F}"/>
              </a:ext>
            </a:extLst>
          </p:cNvPr>
          <p:cNvSpPr/>
          <p:nvPr/>
        </p:nvSpPr>
        <p:spPr>
          <a:xfrm>
            <a:off x="13201650" y="6974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15" name="Shape 155">
            <a:extLst>
              <a:ext uri="{FF2B5EF4-FFF2-40B4-BE49-F238E27FC236}">
                <a16:creationId xmlns:a16="http://schemas.microsoft.com/office/drawing/2014/main" id="{35A250FA-B0ED-D0A9-B396-E57690F00896}"/>
              </a:ext>
            </a:extLst>
          </p:cNvPr>
          <p:cNvSpPr/>
          <p:nvPr/>
        </p:nvSpPr>
        <p:spPr>
          <a:xfrm>
            <a:off x="13392150" y="6974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17" name="Shape 156">
            <a:extLst>
              <a:ext uri="{FF2B5EF4-FFF2-40B4-BE49-F238E27FC236}">
                <a16:creationId xmlns:a16="http://schemas.microsoft.com/office/drawing/2014/main" id="{C002DF97-79E5-8458-A824-9817932C5F5F}"/>
              </a:ext>
            </a:extLst>
          </p:cNvPr>
          <p:cNvSpPr/>
          <p:nvPr/>
        </p:nvSpPr>
        <p:spPr>
          <a:xfrm>
            <a:off x="13582650" y="6974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19" name="Shape 157">
            <a:extLst>
              <a:ext uri="{FF2B5EF4-FFF2-40B4-BE49-F238E27FC236}">
                <a16:creationId xmlns:a16="http://schemas.microsoft.com/office/drawing/2014/main" id="{904E9D88-A57D-E8C9-9B76-8CC44DAFAED5}"/>
              </a:ext>
            </a:extLst>
          </p:cNvPr>
          <p:cNvSpPr/>
          <p:nvPr/>
        </p:nvSpPr>
        <p:spPr>
          <a:xfrm>
            <a:off x="13773150" y="6974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21" name="Shape 158">
            <a:extLst>
              <a:ext uri="{FF2B5EF4-FFF2-40B4-BE49-F238E27FC236}">
                <a16:creationId xmlns:a16="http://schemas.microsoft.com/office/drawing/2014/main" id="{BA65BE24-C6FB-9F2E-B3D9-A3DA4A48FBA5}"/>
              </a:ext>
            </a:extLst>
          </p:cNvPr>
          <p:cNvSpPr/>
          <p:nvPr/>
        </p:nvSpPr>
        <p:spPr>
          <a:xfrm>
            <a:off x="13963650" y="6974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23" name="Shape 159">
            <a:extLst>
              <a:ext uri="{FF2B5EF4-FFF2-40B4-BE49-F238E27FC236}">
                <a16:creationId xmlns:a16="http://schemas.microsoft.com/office/drawing/2014/main" id="{FE70BEB9-3C9A-2D5C-6688-F972FB72A19E}"/>
              </a:ext>
            </a:extLst>
          </p:cNvPr>
          <p:cNvSpPr/>
          <p:nvPr/>
        </p:nvSpPr>
        <p:spPr>
          <a:xfrm>
            <a:off x="14154150" y="6974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25" name="Shape 160">
            <a:extLst>
              <a:ext uri="{FF2B5EF4-FFF2-40B4-BE49-F238E27FC236}">
                <a16:creationId xmlns:a16="http://schemas.microsoft.com/office/drawing/2014/main" id="{063C772B-B23B-6CBE-B5C1-8DF473426507}"/>
              </a:ext>
            </a:extLst>
          </p:cNvPr>
          <p:cNvSpPr/>
          <p:nvPr/>
        </p:nvSpPr>
        <p:spPr>
          <a:xfrm>
            <a:off x="14344650" y="6974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27" name="Shape 161">
            <a:extLst>
              <a:ext uri="{FF2B5EF4-FFF2-40B4-BE49-F238E27FC236}">
                <a16:creationId xmlns:a16="http://schemas.microsoft.com/office/drawing/2014/main" id="{552C211A-0DE1-76D4-E201-C4961B49F522}"/>
              </a:ext>
            </a:extLst>
          </p:cNvPr>
          <p:cNvSpPr/>
          <p:nvPr/>
        </p:nvSpPr>
        <p:spPr>
          <a:xfrm>
            <a:off x="14535150" y="6974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29" name="Shape 162">
            <a:extLst>
              <a:ext uri="{FF2B5EF4-FFF2-40B4-BE49-F238E27FC236}">
                <a16:creationId xmlns:a16="http://schemas.microsoft.com/office/drawing/2014/main" id="{D54DFC58-2F85-92C8-1EF9-DD56D5E8E07D}"/>
              </a:ext>
            </a:extLst>
          </p:cNvPr>
          <p:cNvSpPr/>
          <p:nvPr/>
        </p:nvSpPr>
        <p:spPr>
          <a:xfrm>
            <a:off x="13201650" y="71651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31" name="Shape 163">
            <a:extLst>
              <a:ext uri="{FF2B5EF4-FFF2-40B4-BE49-F238E27FC236}">
                <a16:creationId xmlns:a16="http://schemas.microsoft.com/office/drawing/2014/main" id="{3B7708AF-DDFA-1EAC-FE37-851CF8F79112}"/>
              </a:ext>
            </a:extLst>
          </p:cNvPr>
          <p:cNvSpPr/>
          <p:nvPr/>
        </p:nvSpPr>
        <p:spPr>
          <a:xfrm>
            <a:off x="13392150" y="71651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33" name="Shape 164">
            <a:extLst>
              <a:ext uri="{FF2B5EF4-FFF2-40B4-BE49-F238E27FC236}">
                <a16:creationId xmlns:a16="http://schemas.microsoft.com/office/drawing/2014/main" id="{3088A5B5-FB58-389D-A43F-748CB343A384}"/>
              </a:ext>
            </a:extLst>
          </p:cNvPr>
          <p:cNvSpPr/>
          <p:nvPr/>
        </p:nvSpPr>
        <p:spPr>
          <a:xfrm>
            <a:off x="13582650" y="71651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35" name="Shape 165">
            <a:extLst>
              <a:ext uri="{FF2B5EF4-FFF2-40B4-BE49-F238E27FC236}">
                <a16:creationId xmlns:a16="http://schemas.microsoft.com/office/drawing/2014/main" id="{C90CC67E-4095-1300-1CB0-5B87F1309730}"/>
              </a:ext>
            </a:extLst>
          </p:cNvPr>
          <p:cNvSpPr/>
          <p:nvPr/>
        </p:nvSpPr>
        <p:spPr>
          <a:xfrm>
            <a:off x="13773150" y="71651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37" name="Shape 166">
            <a:extLst>
              <a:ext uri="{FF2B5EF4-FFF2-40B4-BE49-F238E27FC236}">
                <a16:creationId xmlns:a16="http://schemas.microsoft.com/office/drawing/2014/main" id="{9DBE2041-6A9A-D21A-2698-4BC853D4F758}"/>
              </a:ext>
            </a:extLst>
          </p:cNvPr>
          <p:cNvSpPr/>
          <p:nvPr/>
        </p:nvSpPr>
        <p:spPr>
          <a:xfrm>
            <a:off x="13963650" y="71651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39" name="Shape 167">
            <a:extLst>
              <a:ext uri="{FF2B5EF4-FFF2-40B4-BE49-F238E27FC236}">
                <a16:creationId xmlns:a16="http://schemas.microsoft.com/office/drawing/2014/main" id="{ACC6D275-949A-E2DA-5F30-E0523FEC9575}"/>
              </a:ext>
            </a:extLst>
          </p:cNvPr>
          <p:cNvSpPr/>
          <p:nvPr/>
        </p:nvSpPr>
        <p:spPr>
          <a:xfrm>
            <a:off x="14154150" y="71651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41" name="Shape 168">
            <a:extLst>
              <a:ext uri="{FF2B5EF4-FFF2-40B4-BE49-F238E27FC236}">
                <a16:creationId xmlns:a16="http://schemas.microsoft.com/office/drawing/2014/main" id="{72A32FE4-A378-A831-AD69-D977B7718527}"/>
              </a:ext>
            </a:extLst>
          </p:cNvPr>
          <p:cNvSpPr/>
          <p:nvPr/>
        </p:nvSpPr>
        <p:spPr>
          <a:xfrm>
            <a:off x="14344650" y="71651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43" name="Shape 169">
            <a:extLst>
              <a:ext uri="{FF2B5EF4-FFF2-40B4-BE49-F238E27FC236}">
                <a16:creationId xmlns:a16="http://schemas.microsoft.com/office/drawing/2014/main" id="{290CB229-0F21-AC81-F6D0-8A51F901EBBE}"/>
              </a:ext>
            </a:extLst>
          </p:cNvPr>
          <p:cNvSpPr/>
          <p:nvPr/>
        </p:nvSpPr>
        <p:spPr>
          <a:xfrm>
            <a:off x="14535150" y="71651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45" name="Shape 170">
            <a:extLst>
              <a:ext uri="{FF2B5EF4-FFF2-40B4-BE49-F238E27FC236}">
                <a16:creationId xmlns:a16="http://schemas.microsoft.com/office/drawing/2014/main" id="{6B06FAA3-F0C0-84A5-536C-D48B1DD1B3C1}"/>
              </a:ext>
            </a:extLst>
          </p:cNvPr>
          <p:cNvSpPr/>
          <p:nvPr/>
        </p:nvSpPr>
        <p:spPr>
          <a:xfrm>
            <a:off x="13201650" y="7355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47" name="Shape 171">
            <a:extLst>
              <a:ext uri="{FF2B5EF4-FFF2-40B4-BE49-F238E27FC236}">
                <a16:creationId xmlns:a16="http://schemas.microsoft.com/office/drawing/2014/main" id="{584494FD-1BAF-DDD4-89F6-55B59572D935}"/>
              </a:ext>
            </a:extLst>
          </p:cNvPr>
          <p:cNvSpPr/>
          <p:nvPr/>
        </p:nvSpPr>
        <p:spPr>
          <a:xfrm>
            <a:off x="13392150" y="7355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49" name="Shape 172">
            <a:extLst>
              <a:ext uri="{FF2B5EF4-FFF2-40B4-BE49-F238E27FC236}">
                <a16:creationId xmlns:a16="http://schemas.microsoft.com/office/drawing/2014/main" id="{8EC07EDA-DA2B-F8D3-06BC-F48FAD40DEF2}"/>
              </a:ext>
            </a:extLst>
          </p:cNvPr>
          <p:cNvSpPr/>
          <p:nvPr/>
        </p:nvSpPr>
        <p:spPr>
          <a:xfrm>
            <a:off x="13582650" y="7355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51" name="Shape 173">
            <a:extLst>
              <a:ext uri="{FF2B5EF4-FFF2-40B4-BE49-F238E27FC236}">
                <a16:creationId xmlns:a16="http://schemas.microsoft.com/office/drawing/2014/main" id="{8CBB3D66-CC44-4B84-1A52-8FBD5E71C12C}"/>
              </a:ext>
            </a:extLst>
          </p:cNvPr>
          <p:cNvSpPr/>
          <p:nvPr/>
        </p:nvSpPr>
        <p:spPr>
          <a:xfrm>
            <a:off x="13773150" y="7355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53" name="Shape 174">
            <a:extLst>
              <a:ext uri="{FF2B5EF4-FFF2-40B4-BE49-F238E27FC236}">
                <a16:creationId xmlns:a16="http://schemas.microsoft.com/office/drawing/2014/main" id="{68EC7D82-34DF-2B8B-9093-7FE3ED4A5925}"/>
              </a:ext>
            </a:extLst>
          </p:cNvPr>
          <p:cNvSpPr/>
          <p:nvPr/>
        </p:nvSpPr>
        <p:spPr>
          <a:xfrm>
            <a:off x="13963650" y="7355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55" name="Shape 175">
            <a:extLst>
              <a:ext uri="{FF2B5EF4-FFF2-40B4-BE49-F238E27FC236}">
                <a16:creationId xmlns:a16="http://schemas.microsoft.com/office/drawing/2014/main" id="{34C068AF-F8A9-53A7-37D8-4AF3A64103BD}"/>
              </a:ext>
            </a:extLst>
          </p:cNvPr>
          <p:cNvSpPr/>
          <p:nvPr/>
        </p:nvSpPr>
        <p:spPr>
          <a:xfrm>
            <a:off x="14154150" y="7355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57" name="Shape 176">
            <a:extLst>
              <a:ext uri="{FF2B5EF4-FFF2-40B4-BE49-F238E27FC236}">
                <a16:creationId xmlns:a16="http://schemas.microsoft.com/office/drawing/2014/main" id="{3DB5076E-EE36-25CE-130B-F57E8E47DFC6}"/>
              </a:ext>
            </a:extLst>
          </p:cNvPr>
          <p:cNvSpPr/>
          <p:nvPr/>
        </p:nvSpPr>
        <p:spPr>
          <a:xfrm>
            <a:off x="14344650" y="7355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59" name="Shape 177">
            <a:extLst>
              <a:ext uri="{FF2B5EF4-FFF2-40B4-BE49-F238E27FC236}">
                <a16:creationId xmlns:a16="http://schemas.microsoft.com/office/drawing/2014/main" id="{CEFF6CA3-C372-8A6B-E36E-4FBBFC03DCE3}"/>
              </a:ext>
            </a:extLst>
          </p:cNvPr>
          <p:cNvSpPr/>
          <p:nvPr/>
        </p:nvSpPr>
        <p:spPr>
          <a:xfrm>
            <a:off x="14535150" y="7355681"/>
            <a:ext cx="76200" cy="762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61" name="Text 178">
            <a:extLst>
              <a:ext uri="{FF2B5EF4-FFF2-40B4-BE49-F238E27FC236}">
                <a16:creationId xmlns:a16="http://schemas.microsoft.com/office/drawing/2014/main" id="{8CA84FC0-5926-163A-31AF-3B239985633C}"/>
              </a:ext>
            </a:extLst>
          </p:cNvPr>
          <p:cNvSpPr txBox="1"/>
          <p:nvPr/>
        </p:nvSpPr>
        <p:spPr>
          <a:xfrm>
            <a:off x="15144750" y="6905625"/>
            <a:ext cx="1678781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EXPECTED ROWS</a:t>
            </a:r>
            <a:endParaRPr lang="en-US" sz="900">
              <a:latin typeface="Pretendard"/>
              <a:ea typeface="Pretendard"/>
            </a:endParaRPr>
          </a:p>
        </p:txBody>
      </p:sp>
      <p:sp>
        <p:nvSpPr>
          <p:cNvPr id="1363" name="Text 179">
            <a:extLst>
              <a:ext uri="{FF2B5EF4-FFF2-40B4-BE49-F238E27FC236}">
                <a16:creationId xmlns:a16="http://schemas.microsoft.com/office/drawing/2014/main" id="{94167C10-F806-D426-0E9A-10F6FA3A110B}"/>
              </a:ext>
            </a:extLst>
          </p:cNvPr>
          <p:cNvSpPr txBox="1"/>
          <p:nvPr/>
        </p:nvSpPr>
        <p:spPr>
          <a:xfrm>
            <a:off x="15144750" y="7172325"/>
            <a:ext cx="1678781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≈ 7.8M</a:t>
            </a:r>
            <a:endParaRPr lang="en-US" sz="160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563111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5DBF9-5453-B75B-F6AB-168CD64C7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885CAC-C9D5-CC96-4E6B-1A108F686AF5}"/>
              </a:ext>
            </a:extLst>
          </p:cNvPr>
          <p:cNvSpPr/>
          <p:nvPr/>
        </p:nvSpPr>
        <p:spPr>
          <a:xfrm>
            <a:off x="1009650" y="752475"/>
            <a:ext cx="16268700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59312D5-27B4-CD46-7668-E09F6AF41B9C}"/>
              </a:ext>
            </a:extLst>
          </p:cNvPr>
          <p:cNvSpPr/>
          <p:nvPr/>
        </p:nvSpPr>
        <p:spPr>
          <a:xfrm>
            <a:off x="8572500" y="2305050"/>
            <a:ext cx="1143000" cy="0"/>
          </a:xfrm>
          <a:prstGeom prst="line">
            <a:avLst/>
          </a:prstGeom>
          <a:noFill/>
          <a:ln w="571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A50210C-18FE-6D1A-DD6C-4AA1B041FEA6}"/>
              </a:ext>
            </a:extLst>
          </p:cNvPr>
          <p:cNvSpPr txBox="1"/>
          <p:nvPr/>
        </p:nvSpPr>
        <p:spPr>
          <a:xfrm>
            <a:off x="5810250" y="4406291"/>
            <a:ext cx="6667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ko-KR" altLang="en-US" sz="9600" b="1">
                <a:solidFill>
                  <a:srgbClr val="176FE5"/>
                </a:solidFill>
                <a:latin typeface="Arial"/>
                <a:ea typeface="Calibri"/>
                <a:cs typeface="Arial"/>
              </a:rPr>
              <a:t>해결 방안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F732CBAA-DFE1-67C7-C25A-148E61E75E78}"/>
              </a:ext>
            </a:extLst>
          </p:cNvPr>
          <p:cNvSpPr/>
          <p:nvPr/>
        </p:nvSpPr>
        <p:spPr>
          <a:xfrm>
            <a:off x="5810250" y="6057900"/>
            <a:ext cx="6667500" cy="0"/>
          </a:xfrm>
          <a:prstGeom prst="line">
            <a:avLst/>
          </a:prstGeom>
          <a:noFill/>
          <a:ln w="19050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8794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FECC3-394E-522E-1CC9-62410CB05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48B06E-991E-5B40-0E59-CE9925170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937" y="-11112"/>
            <a:ext cx="18303875" cy="10293350"/>
          </a:xfrm>
          <a:prstGeom prst="rect">
            <a:avLst/>
          </a:prstGeom>
        </p:spPr>
      </p:pic>
      <p:sp>
        <p:nvSpPr>
          <p:cNvPr id="6" name="Text 13">
            <a:extLst>
              <a:ext uri="{FF2B5EF4-FFF2-40B4-BE49-F238E27FC236}">
                <a16:creationId xmlns:a16="http://schemas.microsoft.com/office/drawing/2014/main" id="{6709FD65-0A2B-AA6B-BE7D-6745D98DE3F8}"/>
              </a:ext>
            </a:extLst>
          </p:cNvPr>
          <p:cNvSpPr txBox="1"/>
          <p:nvPr/>
        </p:nvSpPr>
        <p:spPr>
          <a:xfrm>
            <a:off x="9601200" y="1687657"/>
            <a:ext cx="412144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카탈로그 </a:t>
            </a:r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479333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16</a:t>
            </a: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· DATA CATALOG</a:t>
            </a:r>
            <a:endParaRPr lang="en-US" sz="1100">
              <a:latin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err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데이터</a:t>
            </a:r>
            <a:r>
              <a:rPr lang="en-US" sz="36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3600" b="1" err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카탈로그</a:t>
            </a:r>
            <a:r>
              <a:rPr lang="en-US" sz="36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3600" b="1" err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도입</a:t>
            </a:r>
            <a:endParaRPr lang="en-US" sz="3600">
              <a:ea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05840" y="9015984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DATA CATALOG</a:t>
            </a:r>
            <a:endParaRPr lang="en-US" sz="110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478024" y="8951976"/>
            <a:ext cx="14804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err="1">
                <a:latin typeface="Pretendard"/>
                <a:ea typeface="+mn-lt"/>
                <a:cs typeface="+mn-lt"/>
              </a:rPr>
              <a:t>데이터</a:t>
            </a:r>
            <a:r>
              <a:rPr lang="en-US" sz="2400">
                <a:latin typeface="Pretendard"/>
                <a:ea typeface="+mn-lt"/>
                <a:cs typeface="+mn-lt"/>
              </a:rPr>
              <a:t> </a:t>
            </a:r>
            <a:r>
              <a:rPr lang="ko-KR" altLang="en-US" sz="2400">
                <a:latin typeface="Pretendard"/>
                <a:ea typeface="+mn-lt"/>
                <a:cs typeface="+mn-lt"/>
              </a:rPr>
              <a:t>카탈로그는</a:t>
            </a:r>
            <a:r>
              <a:rPr lang="en-US" sz="2400">
                <a:latin typeface="Pretendard"/>
                <a:ea typeface="+mn-lt"/>
                <a:cs typeface="+mn-lt"/>
              </a:rPr>
              <a:t> </a:t>
            </a:r>
            <a:r>
              <a:rPr lang="ko-KR" altLang="en-US" sz="2400">
                <a:latin typeface="Pretendard"/>
                <a:ea typeface="+mn-lt"/>
                <a:cs typeface="+mn-lt"/>
              </a:rPr>
              <a:t>데이터의</a:t>
            </a:r>
            <a:r>
              <a:rPr lang="en-US" sz="2400">
                <a:latin typeface="Pretendard"/>
                <a:ea typeface="+mn-lt"/>
                <a:cs typeface="+mn-lt"/>
              </a:rPr>
              <a:t> </a:t>
            </a:r>
            <a:r>
              <a:rPr lang="ko-KR" altLang="en-US" sz="2400">
                <a:latin typeface="Pretendard"/>
                <a:ea typeface="+mn-lt"/>
                <a:cs typeface="+mn-lt"/>
              </a:rPr>
              <a:t>위치</a:t>
            </a:r>
            <a:r>
              <a:rPr lang="en-US" sz="2400">
                <a:latin typeface="Pretendard"/>
                <a:ea typeface="+mn-lt"/>
                <a:cs typeface="+mn-lt"/>
              </a:rPr>
              <a:t>·</a:t>
            </a:r>
            <a:r>
              <a:rPr lang="ko-KR" altLang="en-US" sz="2400">
                <a:latin typeface="Pretendard"/>
                <a:ea typeface="+mn-lt"/>
                <a:cs typeface="+mn-lt"/>
              </a:rPr>
              <a:t>의미</a:t>
            </a:r>
            <a:r>
              <a:rPr lang="en-US" sz="2400">
                <a:latin typeface="Pretendard"/>
                <a:ea typeface="+mn-lt"/>
                <a:cs typeface="+mn-lt"/>
              </a:rPr>
              <a:t>·</a:t>
            </a:r>
            <a:r>
              <a:rPr lang="ko-KR" altLang="en-US" sz="2400">
                <a:latin typeface="Pretendard"/>
                <a:ea typeface="+mn-lt"/>
                <a:cs typeface="+mn-lt"/>
              </a:rPr>
              <a:t>연결</a:t>
            </a:r>
            <a:r>
              <a:rPr lang="en-US" sz="2400">
                <a:latin typeface="Pretendard"/>
                <a:ea typeface="+mn-lt"/>
                <a:cs typeface="+mn-lt"/>
              </a:rPr>
              <a:t> </a:t>
            </a:r>
            <a:r>
              <a:rPr lang="ko-KR" altLang="en-US" sz="2400">
                <a:latin typeface="Pretendard"/>
                <a:ea typeface="+mn-lt"/>
                <a:cs typeface="+mn-lt"/>
              </a:rPr>
              <a:t>기준을</a:t>
            </a:r>
            <a:r>
              <a:rPr lang="en-US" sz="2400">
                <a:latin typeface="Pretendard"/>
                <a:ea typeface="+mn-lt"/>
                <a:cs typeface="+mn-lt"/>
              </a:rPr>
              <a:t> </a:t>
            </a:r>
            <a:r>
              <a:rPr lang="ko-KR" altLang="en-US" sz="2400">
                <a:latin typeface="Pretendard"/>
                <a:ea typeface="+mn-lt"/>
                <a:cs typeface="+mn-lt"/>
              </a:rPr>
              <a:t>정리한</a:t>
            </a:r>
            <a:r>
              <a:rPr lang="en-US" sz="2400">
                <a:latin typeface="Pretendard"/>
                <a:ea typeface="+mn-lt"/>
                <a:cs typeface="+mn-lt"/>
              </a:rPr>
              <a:t> </a:t>
            </a:r>
            <a:r>
              <a:rPr lang="ko-KR" altLang="en-US" sz="2400">
                <a:latin typeface="Pretendard"/>
                <a:ea typeface="+mn-lt"/>
                <a:cs typeface="+mn-lt"/>
              </a:rPr>
              <a:t>업무</a:t>
            </a:r>
            <a:r>
              <a:rPr lang="en-US" sz="2400">
                <a:latin typeface="Pretendard"/>
                <a:ea typeface="+mn-lt"/>
                <a:cs typeface="+mn-lt"/>
              </a:rPr>
              <a:t> </a:t>
            </a:r>
            <a:r>
              <a:rPr lang="ko-KR" altLang="en-US" sz="2400">
                <a:latin typeface="Pretendard"/>
                <a:ea typeface="+mn-lt"/>
                <a:cs typeface="+mn-lt"/>
              </a:rPr>
              <a:t>사전을 의미</a:t>
            </a:r>
            <a:endParaRPr lang="en-US" sz="2400">
              <a:latin typeface="Pretendard"/>
              <a:ea typeface="+mn-lt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09650" y="2914650"/>
            <a:ext cx="4248150" cy="5143500"/>
          </a:xfrm>
          <a:prstGeom prst="roundRect">
            <a:avLst>
              <a:gd name="adj" fmla="val 5381"/>
            </a:avLst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3825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40970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58115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75260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2405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09550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6695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43840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60985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8130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95275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12420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9565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46710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3855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1000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98145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15290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32435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9580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6725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38700" y="29051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10150" y="2905125"/>
            <a:ext cx="190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23825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40970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58115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75260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92405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09550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26695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43840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60985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78130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95275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12420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29565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46710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63855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81000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98145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15290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32435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49580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66725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838700" y="8048625"/>
            <a:ext cx="952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010150" y="8048625"/>
            <a:ext cx="19050" cy="190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000125" y="31432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000125" y="33147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00125" y="34861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000125" y="36576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000125" y="38290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000125" y="40005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000125" y="41719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000125" y="43434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000125" y="45148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1000125" y="46863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1000125" y="48577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000125" y="50292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000125" y="52006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1000125" y="53721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000125" y="55435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000125" y="57150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1000125" y="58864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1000125" y="60579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1000125" y="62293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1000125" y="64008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1000125" y="65722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000125" y="67437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1000125" y="69151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1000125" y="70866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000125" y="72580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1000125" y="74295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1000125" y="76009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1000125" y="7772400"/>
            <a:ext cx="19050" cy="571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5248275" y="31432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5248275" y="33147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5248275" y="34861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5248275" y="36576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5248275" y="38290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5248275" y="40005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5248275" y="41719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5248275" y="43434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5248275" y="45148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5248275" y="46863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5248275" y="48577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5248275" y="50292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5248275" y="52006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5248275" y="53721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5248275" y="55435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5248275" y="57150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5248275" y="58864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5248275" y="60579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5248275" y="62293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5248275" y="64008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5248275" y="65722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5248275" y="67437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5248275" y="69151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5248275" y="70866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5248275" y="72580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5248275" y="742950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5248275" y="7600950"/>
            <a:ext cx="19050" cy="952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5248275" y="7772400"/>
            <a:ext cx="19050" cy="57150"/>
          </a:xfrm>
          <a:prstGeom prst="rect">
            <a:avLst/>
          </a:prstGeom>
          <a:solidFill>
            <a:srgbClr val="CBD9E6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12" name="Text 110"/>
          <p:cNvSpPr txBox="1"/>
          <p:nvPr/>
        </p:nvSpPr>
        <p:spPr>
          <a:xfrm>
            <a:off x="1390650" y="3076575"/>
            <a:ext cx="285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흩어진 데이터</a:t>
            </a:r>
            <a:endParaRPr lang="en-US" sz="1950">
              <a:ea typeface="Pretendard"/>
            </a:endParaRPr>
          </a:p>
        </p:txBody>
      </p:sp>
      <p:sp>
        <p:nvSpPr>
          <p:cNvPr id="113" name="Text 111"/>
          <p:cNvSpPr txBox="1"/>
          <p:nvPr/>
        </p:nvSpPr>
        <p:spPr>
          <a:xfrm>
            <a:off x="1390650" y="3476625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4B5F73"/>
                </a:solidFill>
                <a:latin typeface="Pretendard"/>
                <a:ea typeface="Pretendard"/>
                <a:cs typeface="Pretendard" pitchFamily="34" charset="-120"/>
              </a:rPr>
              <a:t>시스템마다 위치와 기준이 다름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1638300" y="4133850"/>
            <a:ext cx="876300" cy="8763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15" name="Shape 113"/>
          <p:cNvSpPr/>
          <p:nvPr/>
        </p:nvSpPr>
        <p:spPr>
          <a:xfrm>
            <a:off x="1947862" y="4400550"/>
            <a:ext cx="257175" cy="102870"/>
          </a:xfrm>
          <a:prstGeom prst="ellipse">
            <a:avLst/>
          </a:prstGeom>
          <a:solidFill>
            <a:srgbClr val="FFFFFF">
              <a:alpha val="0"/>
            </a:srgbClr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16" name="Shape 114"/>
          <p:cNvSpPr/>
          <p:nvPr/>
        </p:nvSpPr>
        <p:spPr>
          <a:xfrm>
            <a:off x="1947862" y="4451985"/>
            <a:ext cx="0" cy="214313"/>
          </a:xfrm>
          <a:prstGeom prst="line">
            <a:avLst/>
          </a:prstGeom>
          <a:noFill/>
          <a:ln w="1714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2205037" y="4451985"/>
            <a:ext cx="0" cy="214313"/>
          </a:xfrm>
          <a:prstGeom prst="line">
            <a:avLst/>
          </a:prstGeom>
          <a:noFill/>
          <a:ln w="1714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1947862" y="4614863"/>
            <a:ext cx="257175" cy="102870"/>
          </a:xfrm>
          <a:prstGeom prst="ellipse">
            <a:avLst/>
          </a:prstGeom>
          <a:solidFill>
            <a:srgbClr val="FFFFFF">
              <a:alpha val="0"/>
            </a:srgbClr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19" name="Text 117"/>
          <p:cNvSpPr txBox="1"/>
          <p:nvPr/>
        </p:nvSpPr>
        <p:spPr>
          <a:xfrm>
            <a:off x="1638300" y="5038725"/>
            <a:ext cx="876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PMS</a:t>
            </a:r>
            <a:endParaRPr lang="en-US" sz="1650">
              <a:ea typeface="Pretendard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3581400" y="4133850"/>
            <a:ext cx="876300" cy="8763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21" name="Shape 119"/>
          <p:cNvSpPr/>
          <p:nvPr/>
        </p:nvSpPr>
        <p:spPr>
          <a:xfrm>
            <a:off x="3890962" y="4400550"/>
            <a:ext cx="257175" cy="102870"/>
          </a:xfrm>
          <a:prstGeom prst="ellipse">
            <a:avLst/>
          </a:prstGeom>
          <a:solidFill>
            <a:srgbClr val="FFFFFF">
              <a:alpha val="0"/>
            </a:srgbClr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3890962" y="4451985"/>
            <a:ext cx="0" cy="214313"/>
          </a:xfrm>
          <a:prstGeom prst="line">
            <a:avLst/>
          </a:prstGeom>
          <a:noFill/>
          <a:ln w="1714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23" name="Shape 121"/>
          <p:cNvSpPr/>
          <p:nvPr/>
        </p:nvSpPr>
        <p:spPr>
          <a:xfrm>
            <a:off x="4148137" y="4451985"/>
            <a:ext cx="0" cy="214313"/>
          </a:xfrm>
          <a:prstGeom prst="line">
            <a:avLst/>
          </a:prstGeom>
          <a:noFill/>
          <a:ln w="1714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24" name="Shape 122"/>
          <p:cNvSpPr/>
          <p:nvPr/>
        </p:nvSpPr>
        <p:spPr>
          <a:xfrm>
            <a:off x="3890962" y="4614863"/>
            <a:ext cx="257175" cy="102870"/>
          </a:xfrm>
          <a:prstGeom prst="ellipse">
            <a:avLst/>
          </a:prstGeom>
          <a:solidFill>
            <a:srgbClr val="FFFFFF">
              <a:alpha val="0"/>
            </a:srgbClr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25" name="Text 123"/>
          <p:cNvSpPr txBox="1"/>
          <p:nvPr/>
        </p:nvSpPr>
        <p:spPr>
          <a:xfrm>
            <a:off x="3581400" y="5038725"/>
            <a:ext cx="876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POS</a:t>
            </a:r>
            <a:endParaRPr lang="en-US" sz="1650">
              <a:ea typeface="Pretendard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1638300" y="5800725"/>
            <a:ext cx="876300" cy="8763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27" name="Shape 125"/>
          <p:cNvSpPr/>
          <p:nvPr/>
        </p:nvSpPr>
        <p:spPr>
          <a:xfrm>
            <a:off x="1947862" y="6067425"/>
            <a:ext cx="257175" cy="102870"/>
          </a:xfrm>
          <a:prstGeom prst="ellipse">
            <a:avLst/>
          </a:prstGeom>
          <a:solidFill>
            <a:srgbClr val="FFFFFF">
              <a:alpha val="0"/>
            </a:srgbClr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28" name="Shape 126"/>
          <p:cNvSpPr/>
          <p:nvPr/>
        </p:nvSpPr>
        <p:spPr>
          <a:xfrm>
            <a:off x="1947862" y="6118860"/>
            <a:ext cx="0" cy="214313"/>
          </a:xfrm>
          <a:prstGeom prst="line">
            <a:avLst/>
          </a:prstGeom>
          <a:noFill/>
          <a:ln w="1714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29" name="Shape 127"/>
          <p:cNvSpPr/>
          <p:nvPr/>
        </p:nvSpPr>
        <p:spPr>
          <a:xfrm>
            <a:off x="2205037" y="6118860"/>
            <a:ext cx="0" cy="214313"/>
          </a:xfrm>
          <a:prstGeom prst="line">
            <a:avLst/>
          </a:prstGeom>
          <a:noFill/>
          <a:ln w="1714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1947862" y="6281737"/>
            <a:ext cx="257175" cy="102870"/>
          </a:xfrm>
          <a:prstGeom prst="ellipse">
            <a:avLst/>
          </a:prstGeom>
          <a:solidFill>
            <a:srgbClr val="FFFFFF">
              <a:alpha val="0"/>
            </a:srgbClr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31" name="Text 129"/>
          <p:cNvSpPr txBox="1"/>
          <p:nvPr/>
        </p:nvSpPr>
        <p:spPr>
          <a:xfrm>
            <a:off x="1638300" y="6705600"/>
            <a:ext cx="876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CRM</a:t>
            </a:r>
            <a:endParaRPr lang="en-US" sz="1650">
              <a:ea typeface="Pretendard"/>
            </a:endParaRPr>
          </a:p>
        </p:txBody>
      </p:sp>
      <p:sp>
        <p:nvSpPr>
          <p:cNvPr id="132" name="Shape 130"/>
          <p:cNvSpPr/>
          <p:nvPr/>
        </p:nvSpPr>
        <p:spPr>
          <a:xfrm>
            <a:off x="3581400" y="5800725"/>
            <a:ext cx="876300" cy="8763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33" name="Shape 131"/>
          <p:cNvSpPr/>
          <p:nvPr/>
        </p:nvSpPr>
        <p:spPr>
          <a:xfrm>
            <a:off x="3890962" y="6067425"/>
            <a:ext cx="257175" cy="102870"/>
          </a:xfrm>
          <a:prstGeom prst="ellipse">
            <a:avLst/>
          </a:prstGeom>
          <a:solidFill>
            <a:srgbClr val="FFFFFF">
              <a:alpha val="0"/>
            </a:srgbClr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3890962" y="6118860"/>
            <a:ext cx="0" cy="214313"/>
          </a:xfrm>
          <a:prstGeom prst="line">
            <a:avLst/>
          </a:prstGeom>
          <a:noFill/>
          <a:ln w="1714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35" name="Shape 133"/>
          <p:cNvSpPr/>
          <p:nvPr/>
        </p:nvSpPr>
        <p:spPr>
          <a:xfrm>
            <a:off x="4148137" y="6118860"/>
            <a:ext cx="0" cy="214313"/>
          </a:xfrm>
          <a:prstGeom prst="line">
            <a:avLst/>
          </a:prstGeom>
          <a:noFill/>
          <a:ln w="1714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36" name="Shape 134"/>
          <p:cNvSpPr/>
          <p:nvPr/>
        </p:nvSpPr>
        <p:spPr>
          <a:xfrm>
            <a:off x="3890962" y="6281737"/>
            <a:ext cx="257175" cy="102870"/>
          </a:xfrm>
          <a:prstGeom prst="ellipse">
            <a:avLst/>
          </a:prstGeom>
          <a:solidFill>
            <a:srgbClr val="FFFFFF">
              <a:alpha val="0"/>
            </a:srgbClr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37" name="Text 135"/>
          <p:cNvSpPr txBox="1"/>
          <p:nvPr/>
        </p:nvSpPr>
        <p:spPr>
          <a:xfrm>
            <a:off x="3581400" y="6705600"/>
            <a:ext cx="876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연회</a:t>
            </a:r>
            <a:endParaRPr lang="en-US" sz="1650">
              <a:ea typeface="Pretendard"/>
            </a:endParaRPr>
          </a:p>
        </p:txBody>
      </p:sp>
      <p:sp>
        <p:nvSpPr>
          <p:cNvPr id="138" name="Shape 136"/>
          <p:cNvSpPr/>
          <p:nvPr/>
        </p:nvSpPr>
        <p:spPr>
          <a:xfrm>
            <a:off x="2676525" y="6772275"/>
            <a:ext cx="742950" cy="74295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39" name="Shape 137"/>
          <p:cNvSpPr/>
          <p:nvPr/>
        </p:nvSpPr>
        <p:spPr>
          <a:xfrm>
            <a:off x="2919412" y="6972300"/>
            <a:ext cx="257175" cy="102870"/>
          </a:xfrm>
          <a:prstGeom prst="ellipse">
            <a:avLst/>
          </a:prstGeom>
          <a:solidFill>
            <a:srgbClr val="FFFFFF">
              <a:alpha val="0"/>
            </a:srgbClr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40" name="Shape 138"/>
          <p:cNvSpPr/>
          <p:nvPr/>
        </p:nvSpPr>
        <p:spPr>
          <a:xfrm>
            <a:off x="2919412" y="7023735"/>
            <a:ext cx="0" cy="214313"/>
          </a:xfrm>
          <a:prstGeom prst="line">
            <a:avLst/>
          </a:prstGeom>
          <a:noFill/>
          <a:ln w="1714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41" name="Shape 139"/>
          <p:cNvSpPr/>
          <p:nvPr/>
        </p:nvSpPr>
        <p:spPr>
          <a:xfrm>
            <a:off x="3176587" y="7023735"/>
            <a:ext cx="0" cy="214313"/>
          </a:xfrm>
          <a:prstGeom prst="line">
            <a:avLst/>
          </a:prstGeom>
          <a:noFill/>
          <a:ln w="1714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42" name="Shape 140"/>
          <p:cNvSpPr/>
          <p:nvPr/>
        </p:nvSpPr>
        <p:spPr>
          <a:xfrm>
            <a:off x="2919412" y="7186613"/>
            <a:ext cx="257175" cy="102870"/>
          </a:xfrm>
          <a:prstGeom prst="ellipse">
            <a:avLst/>
          </a:prstGeom>
          <a:solidFill>
            <a:srgbClr val="FFFFFF">
              <a:alpha val="0"/>
            </a:srgbClr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43" name="Text 141"/>
          <p:cNvSpPr txBox="1"/>
          <p:nvPr/>
        </p:nvSpPr>
        <p:spPr>
          <a:xfrm>
            <a:off x="2676525" y="7543800"/>
            <a:ext cx="74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시설</a:t>
            </a:r>
            <a:endParaRPr lang="en-US" sz="1650">
              <a:ea typeface="Pretendard"/>
            </a:endParaRPr>
          </a:p>
        </p:txBody>
      </p:sp>
      <p:sp>
        <p:nvSpPr>
          <p:cNvPr id="144" name="Text 142"/>
          <p:cNvSpPr txBox="1"/>
          <p:nvPr/>
        </p:nvSpPr>
        <p:spPr>
          <a:xfrm>
            <a:off x="5476875" y="4676775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>
                <a:solidFill>
                  <a:srgbClr val="159C9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정리</a:t>
            </a:r>
            <a:endParaRPr lang="en-US" sz="1275">
              <a:latin typeface="Pretendard"/>
            </a:endParaRPr>
          </a:p>
        </p:txBody>
      </p:sp>
      <p:sp>
        <p:nvSpPr>
          <p:cNvPr id="145" name="Shape 143"/>
          <p:cNvSpPr/>
          <p:nvPr/>
        </p:nvSpPr>
        <p:spPr>
          <a:xfrm>
            <a:off x="5353050" y="5267325"/>
            <a:ext cx="990600" cy="0"/>
          </a:xfrm>
          <a:prstGeom prst="line">
            <a:avLst/>
          </a:prstGeom>
          <a:noFill/>
          <a:ln w="22860">
            <a:solidFill>
              <a:srgbClr val="159C9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46" name="Shape 144"/>
          <p:cNvSpPr/>
          <p:nvPr/>
        </p:nvSpPr>
        <p:spPr>
          <a:xfrm>
            <a:off x="6276975" y="5223986"/>
            <a:ext cx="66675" cy="43339"/>
          </a:xfrm>
          <a:prstGeom prst="line">
            <a:avLst/>
          </a:prstGeom>
          <a:noFill/>
          <a:ln w="22860">
            <a:solidFill>
              <a:srgbClr val="159C9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47" name="Shape 145"/>
          <p:cNvSpPr/>
          <p:nvPr/>
        </p:nvSpPr>
        <p:spPr>
          <a:xfrm flipV="1">
            <a:off x="6276975" y="5267325"/>
            <a:ext cx="66675" cy="43339"/>
          </a:xfrm>
          <a:prstGeom prst="line">
            <a:avLst/>
          </a:prstGeom>
          <a:noFill/>
          <a:ln w="22860">
            <a:solidFill>
              <a:srgbClr val="159C9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48" name="Shape 146"/>
          <p:cNvSpPr/>
          <p:nvPr/>
        </p:nvSpPr>
        <p:spPr>
          <a:xfrm>
            <a:off x="6438900" y="2914650"/>
            <a:ext cx="4953000" cy="5143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49" name="Shape 147"/>
          <p:cNvSpPr/>
          <p:nvPr/>
        </p:nvSpPr>
        <p:spPr>
          <a:xfrm>
            <a:off x="6438900" y="2914650"/>
            <a:ext cx="4953000" cy="1200150"/>
          </a:xfrm>
          <a:prstGeom prst="roundRect">
            <a:avLst>
              <a:gd name="adj" fmla="val 19048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50" name="Shape 148"/>
          <p:cNvSpPr/>
          <p:nvPr/>
        </p:nvSpPr>
        <p:spPr>
          <a:xfrm>
            <a:off x="6438900" y="3886200"/>
            <a:ext cx="4953000" cy="228600"/>
          </a:xfrm>
          <a:prstGeom prst="rect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51" name="Shape 149"/>
          <p:cNvSpPr/>
          <p:nvPr/>
        </p:nvSpPr>
        <p:spPr>
          <a:xfrm>
            <a:off x="6858000" y="3228975"/>
            <a:ext cx="704850" cy="590550"/>
          </a:xfrm>
          <a:prstGeom prst="roundRect">
            <a:avLst>
              <a:gd name="adj" fmla="val 19355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52" name="Shape 150"/>
          <p:cNvSpPr/>
          <p:nvPr/>
        </p:nvSpPr>
        <p:spPr>
          <a:xfrm>
            <a:off x="7058025" y="3352800"/>
            <a:ext cx="295275" cy="333375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53" name="Shape 151"/>
          <p:cNvSpPr/>
          <p:nvPr/>
        </p:nvSpPr>
        <p:spPr>
          <a:xfrm>
            <a:off x="7115175" y="3429000"/>
            <a:ext cx="180975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54" name="Shape 152"/>
          <p:cNvSpPr/>
          <p:nvPr/>
        </p:nvSpPr>
        <p:spPr>
          <a:xfrm>
            <a:off x="7115175" y="3505200"/>
            <a:ext cx="180975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55" name="Shape 153"/>
          <p:cNvSpPr/>
          <p:nvPr/>
        </p:nvSpPr>
        <p:spPr>
          <a:xfrm>
            <a:off x="7115175" y="3581400"/>
            <a:ext cx="13335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56" name="Text 154"/>
          <p:cNvSpPr txBox="1"/>
          <p:nvPr/>
        </p:nvSpPr>
        <p:spPr>
          <a:xfrm>
            <a:off x="7829550" y="310515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75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데이터 카탈로그</a:t>
            </a:r>
            <a:endParaRPr lang="en-US" sz="2175">
              <a:ea typeface="Pretendard"/>
            </a:endParaRPr>
          </a:p>
        </p:txBody>
      </p:sp>
      <p:sp>
        <p:nvSpPr>
          <p:cNvPr id="157" name="Text 155"/>
          <p:cNvSpPr txBox="1"/>
          <p:nvPr/>
        </p:nvSpPr>
        <p:spPr>
          <a:xfrm>
            <a:off x="7829550" y="3562350"/>
            <a:ext cx="238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DataHub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158" name="Shape 156"/>
          <p:cNvSpPr/>
          <p:nvPr/>
        </p:nvSpPr>
        <p:spPr>
          <a:xfrm>
            <a:off x="6915150" y="4552950"/>
            <a:ext cx="4000500" cy="781050"/>
          </a:xfrm>
          <a:prstGeom prst="roundRect">
            <a:avLst>
              <a:gd name="adj" fmla="val 17073"/>
            </a:avLst>
          </a:prstGeom>
          <a:solidFill>
            <a:srgbClr val="F7FA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59" name="Shape 157"/>
          <p:cNvSpPr/>
          <p:nvPr/>
        </p:nvSpPr>
        <p:spPr>
          <a:xfrm>
            <a:off x="7153275" y="4762500"/>
            <a:ext cx="361950" cy="36195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60" name="Shape 158"/>
          <p:cNvSpPr/>
          <p:nvPr/>
        </p:nvSpPr>
        <p:spPr>
          <a:xfrm>
            <a:off x="7229475" y="4943475"/>
            <a:ext cx="20955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61" name="Shape 159"/>
          <p:cNvSpPr/>
          <p:nvPr/>
        </p:nvSpPr>
        <p:spPr>
          <a:xfrm>
            <a:off x="7334250" y="4838700"/>
            <a:ext cx="0" cy="20955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62" name="Text 160"/>
          <p:cNvSpPr txBox="1"/>
          <p:nvPr/>
        </p:nvSpPr>
        <p:spPr>
          <a:xfrm>
            <a:off x="7724775" y="4676775"/>
            <a:ext cx="28098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데이터 위치</a:t>
            </a:r>
            <a:endParaRPr lang="en-US" sz="1800">
              <a:latin typeface="Pretendard"/>
              <a:ea typeface="Pretendard"/>
            </a:endParaRPr>
          </a:p>
        </p:txBody>
      </p:sp>
      <p:sp>
        <p:nvSpPr>
          <p:cNvPr id="163" name="Shape 161"/>
          <p:cNvSpPr/>
          <p:nvPr/>
        </p:nvSpPr>
        <p:spPr>
          <a:xfrm>
            <a:off x="6915150" y="5572125"/>
            <a:ext cx="4000500" cy="781050"/>
          </a:xfrm>
          <a:prstGeom prst="roundRect">
            <a:avLst>
              <a:gd name="adj" fmla="val 17073"/>
            </a:avLst>
          </a:prstGeom>
          <a:solidFill>
            <a:srgbClr val="F7FA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64" name="Shape 162"/>
          <p:cNvSpPr/>
          <p:nvPr/>
        </p:nvSpPr>
        <p:spPr>
          <a:xfrm>
            <a:off x="7153275" y="5781675"/>
            <a:ext cx="361950" cy="36195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65" name="Shape 163"/>
          <p:cNvSpPr/>
          <p:nvPr/>
        </p:nvSpPr>
        <p:spPr>
          <a:xfrm>
            <a:off x="7239000" y="5924550"/>
            <a:ext cx="1905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66" name="Shape 164"/>
          <p:cNvSpPr/>
          <p:nvPr/>
        </p:nvSpPr>
        <p:spPr>
          <a:xfrm>
            <a:off x="7239000" y="6000750"/>
            <a:ext cx="13335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67" name="Text 165"/>
          <p:cNvSpPr txBox="1"/>
          <p:nvPr/>
        </p:nvSpPr>
        <p:spPr>
          <a:xfrm>
            <a:off x="7724775" y="5695950"/>
            <a:ext cx="28098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업무 의미</a:t>
            </a:r>
            <a:endParaRPr lang="en-US" sz="1800">
              <a:latin typeface="Pretendard"/>
              <a:ea typeface="Pretendard"/>
            </a:endParaRPr>
          </a:p>
        </p:txBody>
      </p:sp>
      <p:sp>
        <p:nvSpPr>
          <p:cNvPr id="168" name="Shape 166"/>
          <p:cNvSpPr/>
          <p:nvPr/>
        </p:nvSpPr>
        <p:spPr>
          <a:xfrm>
            <a:off x="6915150" y="6591300"/>
            <a:ext cx="4000500" cy="781050"/>
          </a:xfrm>
          <a:prstGeom prst="roundRect">
            <a:avLst>
              <a:gd name="adj" fmla="val 17073"/>
            </a:avLst>
          </a:prstGeom>
          <a:solidFill>
            <a:srgbClr val="F7FA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69" name="Shape 167"/>
          <p:cNvSpPr/>
          <p:nvPr/>
        </p:nvSpPr>
        <p:spPr>
          <a:xfrm>
            <a:off x="7153275" y="6800850"/>
            <a:ext cx="361950" cy="36195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70" name="Shape 168"/>
          <p:cNvSpPr/>
          <p:nvPr/>
        </p:nvSpPr>
        <p:spPr>
          <a:xfrm>
            <a:off x="7229475" y="6924675"/>
            <a:ext cx="95250" cy="9525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71" name="Shape 169"/>
          <p:cNvSpPr/>
          <p:nvPr/>
        </p:nvSpPr>
        <p:spPr>
          <a:xfrm>
            <a:off x="7439025" y="6924675"/>
            <a:ext cx="95250" cy="9525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72" name="Shape 170"/>
          <p:cNvSpPr/>
          <p:nvPr/>
        </p:nvSpPr>
        <p:spPr>
          <a:xfrm>
            <a:off x="7324725" y="6972300"/>
            <a:ext cx="11430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73" name="Text 171"/>
          <p:cNvSpPr txBox="1"/>
          <p:nvPr/>
        </p:nvSpPr>
        <p:spPr>
          <a:xfrm>
            <a:off x="7724775" y="6715125"/>
            <a:ext cx="28098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연결 기준</a:t>
            </a:r>
            <a:endParaRPr lang="en-US" sz="1800">
              <a:latin typeface="Pretendard"/>
              <a:ea typeface="Pretendard"/>
            </a:endParaRPr>
          </a:p>
        </p:txBody>
      </p:sp>
      <p:sp>
        <p:nvSpPr>
          <p:cNvPr id="174" name="Shape 172"/>
          <p:cNvSpPr/>
          <p:nvPr/>
        </p:nvSpPr>
        <p:spPr>
          <a:xfrm>
            <a:off x="6438900" y="2914650"/>
            <a:ext cx="4953000" cy="5143500"/>
          </a:xfrm>
          <a:prstGeom prst="roundRect">
            <a:avLst>
              <a:gd name="adj" fmla="val 4615"/>
            </a:avLst>
          </a:prstGeom>
          <a:solidFill>
            <a:srgbClr val="FFFFFF">
              <a:alpha val="0"/>
            </a:srgbClr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75" name="Text 173"/>
          <p:cNvSpPr txBox="1"/>
          <p:nvPr/>
        </p:nvSpPr>
        <p:spPr>
          <a:xfrm>
            <a:off x="11553825" y="4676775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>
                <a:solidFill>
                  <a:srgbClr val="159C98"/>
                </a:solidFill>
                <a:latin typeface="Pretendard"/>
                <a:ea typeface="Pretendard"/>
                <a:cs typeface="Pretendard" pitchFamily="34" charset="-120"/>
              </a:rPr>
              <a:t>탐색</a:t>
            </a:r>
            <a:endParaRPr lang="en-US" sz="1275">
              <a:latin typeface="Pretendard"/>
              <a:ea typeface="Pretendard"/>
            </a:endParaRPr>
          </a:p>
        </p:txBody>
      </p:sp>
      <p:sp>
        <p:nvSpPr>
          <p:cNvPr id="176" name="Shape 174"/>
          <p:cNvSpPr/>
          <p:nvPr/>
        </p:nvSpPr>
        <p:spPr>
          <a:xfrm>
            <a:off x="11487150" y="5267325"/>
            <a:ext cx="876300" cy="0"/>
          </a:xfrm>
          <a:prstGeom prst="line">
            <a:avLst/>
          </a:prstGeom>
          <a:noFill/>
          <a:ln w="22860">
            <a:solidFill>
              <a:srgbClr val="159C9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77" name="Shape 175"/>
          <p:cNvSpPr/>
          <p:nvPr/>
        </p:nvSpPr>
        <p:spPr>
          <a:xfrm>
            <a:off x="12296775" y="5223986"/>
            <a:ext cx="66675" cy="43339"/>
          </a:xfrm>
          <a:prstGeom prst="line">
            <a:avLst/>
          </a:prstGeom>
          <a:noFill/>
          <a:ln w="22860">
            <a:solidFill>
              <a:srgbClr val="159C9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78" name="Shape 176"/>
          <p:cNvSpPr/>
          <p:nvPr/>
        </p:nvSpPr>
        <p:spPr>
          <a:xfrm flipV="1">
            <a:off x="12296775" y="5267325"/>
            <a:ext cx="66675" cy="43339"/>
          </a:xfrm>
          <a:prstGeom prst="line">
            <a:avLst/>
          </a:prstGeom>
          <a:noFill/>
          <a:ln w="22860">
            <a:solidFill>
              <a:srgbClr val="159C9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79" name="Shape 177"/>
          <p:cNvSpPr/>
          <p:nvPr/>
        </p:nvSpPr>
        <p:spPr>
          <a:xfrm>
            <a:off x="12458700" y="3314700"/>
            <a:ext cx="4819650" cy="4171950"/>
          </a:xfrm>
          <a:prstGeom prst="roundRect">
            <a:avLst>
              <a:gd name="adj" fmla="val 5023"/>
            </a:avLst>
          </a:prstGeom>
          <a:solidFill>
            <a:srgbClr val="F7FAFF"/>
          </a:solidFill>
          <a:ln w="13970">
            <a:solidFill>
              <a:srgbClr val="CBD9E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80" name="Text 178"/>
          <p:cNvSpPr txBox="1"/>
          <p:nvPr/>
        </p:nvSpPr>
        <p:spPr>
          <a:xfrm>
            <a:off x="12858750" y="3476625"/>
            <a:ext cx="371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25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같은 기준으로 탐색</a:t>
            </a:r>
            <a:endParaRPr lang="en-US" sz="2025">
              <a:latin typeface="Pretendard"/>
              <a:ea typeface="Pretendard"/>
            </a:endParaRPr>
          </a:p>
        </p:txBody>
      </p:sp>
      <p:sp>
        <p:nvSpPr>
          <p:cNvPr id="181" name="Shape 179"/>
          <p:cNvSpPr/>
          <p:nvPr/>
        </p:nvSpPr>
        <p:spPr>
          <a:xfrm>
            <a:off x="12858750" y="4305300"/>
            <a:ext cx="401955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82" name="Shape 180"/>
          <p:cNvSpPr/>
          <p:nvPr/>
        </p:nvSpPr>
        <p:spPr>
          <a:xfrm>
            <a:off x="13077825" y="4514850"/>
            <a:ext cx="323850" cy="3238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83" name="Shape 181"/>
          <p:cNvSpPr/>
          <p:nvPr/>
        </p:nvSpPr>
        <p:spPr>
          <a:xfrm>
            <a:off x="13354050" y="4791075"/>
            <a:ext cx="114300" cy="11430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84" name="Text 182"/>
          <p:cNvSpPr txBox="1"/>
          <p:nvPr/>
        </p:nvSpPr>
        <p:spPr>
          <a:xfrm>
            <a:off x="13649325" y="4429125"/>
            <a:ext cx="2952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어떤 데이터를 사용해야 하는가?</a:t>
            </a:r>
            <a:endParaRPr lang="en-US" sz="1575">
              <a:latin typeface="Pretendard"/>
              <a:ea typeface="Pretendard"/>
            </a:endParaRPr>
          </a:p>
        </p:txBody>
      </p:sp>
      <p:sp>
        <p:nvSpPr>
          <p:cNvPr id="185" name="Shape 183"/>
          <p:cNvSpPr/>
          <p:nvPr/>
        </p:nvSpPr>
        <p:spPr>
          <a:xfrm>
            <a:off x="12858750" y="5486400"/>
            <a:ext cx="4019550" cy="1333500"/>
          </a:xfrm>
          <a:prstGeom prst="roundRect">
            <a:avLst>
              <a:gd name="adj" fmla="val 11429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86" name="Shape 184"/>
          <p:cNvSpPr/>
          <p:nvPr/>
        </p:nvSpPr>
        <p:spPr>
          <a:xfrm>
            <a:off x="13068300" y="5734050"/>
            <a:ext cx="342900" cy="3429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87" name="Shape 185"/>
          <p:cNvSpPr/>
          <p:nvPr/>
        </p:nvSpPr>
        <p:spPr>
          <a:xfrm>
            <a:off x="13154025" y="5905500"/>
            <a:ext cx="66675" cy="66675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88" name="Shape 186"/>
          <p:cNvSpPr/>
          <p:nvPr/>
        </p:nvSpPr>
        <p:spPr>
          <a:xfrm flipV="1">
            <a:off x="13220700" y="5800725"/>
            <a:ext cx="142875" cy="17145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89" name="Text 187"/>
          <p:cNvSpPr txBox="1"/>
          <p:nvPr/>
        </p:nvSpPr>
        <p:spPr>
          <a:xfrm>
            <a:off x="13544550" y="5629275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질문에 맞는 데이터 확인</a:t>
            </a:r>
            <a:endParaRPr lang="en-US" sz="1725">
              <a:latin typeface="Pretendard"/>
              <a:ea typeface="Pretendard"/>
            </a:endParaRPr>
          </a:p>
        </p:txBody>
      </p:sp>
      <p:sp>
        <p:nvSpPr>
          <p:cNvPr id="190" name="Text 188"/>
          <p:cNvSpPr txBox="1"/>
          <p:nvPr/>
        </p:nvSpPr>
        <p:spPr>
          <a:xfrm>
            <a:off x="13239750" y="6153150"/>
            <a:ext cx="3143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>
                <a:solidFill>
                  <a:srgbClr val="4B5F73"/>
                </a:solidFill>
                <a:latin typeface="Pretendard"/>
                <a:ea typeface="Pretendard"/>
                <a:cs typeface="Pretendard" pitchFamily="34" charset="-120"/>
              </a:rPr>
              <a:t>위치 · 의미 · 연결 기준을 함께 확인</a:t>
            </a:r>
            <a:endParaRPr lang="en-US" sz="1425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085770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881A-8495-D7D5-E8A8-CF599540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EAC376-02DC-7400-EF18-AD17D1D00996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AC7EAE-E4E2-7D57-ABB4-F000323B565A}"/>
              </a:ext>
            </a:extLst>
          </p:cNvPr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17 </a:t>
            </a: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· SOLUTION</a:t>
            </a:r>
            <a:endParaRPr lang="en-US" sz="1100">
              <a:latin typeface="Pretendard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62E80A-2A3D-2668-88EA-33D1466BB3BC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</a:t>
            </a:r>
            <a:endParaRPr lang="en-US" sz="3600" b="1" err="1">
              <a:solidFill>
                <a:srgbClr val="153451"/>
              </a:solidFill>
              <a:latin typeface="Pretendard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3852C23-F53A-16DF-EBCA-F40677745F38}"/>
              </a:ext>
            </a:extLst>
          </p:cNvPr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5A8746B-68EB-6CD7-4721-5D2FCB2A83B0}"/>
              </a:ext>
            </a:extLst>
          </p:cNvPr>
          <p:cNvSpPr txBox="1"/>
          <p:nvPr/>
        </p:nvSpPr>
        <p:spPr>
          <a:xfrm>
            <a:off x="1005840" y="9015984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SERVICE PROMISE</a:t>
            </a:r>
            <a:endParaRPr lang="en-US" sz="1100">
              <a:ea typeface="Pretendard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DD11450-FA7B-0E8E-5A07-840779A87B37}"/>
              </a:ext>
            </a:extLst>
          </p:cNvPr>
          <p:cNvSpPr txBox="1"/>
          <p:nvPr/>
        </p:nvSpPr>
        <p:spPr>
          <a:xfrm>
            <a:off x="2478024" y="8951976"/>
            <a:ext cx="14804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 질문을 </a:t>
            </a:r>
            <a:r>
              <a:rPr lang="en-US" sz="240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검증된</a:t>
            </a:r>
            <a:r>
              <a:rPr lang="en-US" sz="24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40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결과와</a:t>
            </a:r>
            <a:r>
              <a:rPr lang="en-US" sz="24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40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근거가</a:t>
            </a:r>
            <a:r>
              <a:rPr lang="en-US" sz="24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40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남는</a:t>
            </a:r>
            <a:r>
              <a:rPr lang="en-US" sz="24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40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보고서</a:t>
            </a:r>
            <a:r>
              <a:rPr lang="en-US" sz="24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로</a:t>
            </a:r>
            <a:endParaRPr lang="en-US" sz="2400" b="1" err="1">
              <a:solidFill>
                <a:srgbClr val="153451"/>
              </a:solidFill>
              <a:latin typeface="Pretendard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556D356-24C6-C841-F45D-219417EA8066}"/>
              </a:ext>
            </a:extLst>
          </p:cNvPr>
          <p:cNvSpPr txBox="1"/>
          <p:nvPr/>
        </p:nvSpPr>
        <p:spPr>
          <a:xfrm>
            <a:off x="1005840" y="1873725"/>
            <a:ext cx="54864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FROM QUESTION TO REPORT</a:t>
            </a:r>
            <a:endParaRPr lang="en-US" sz="1100">
              <a:latin typeface="Pretendard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1CB0845-080C-6129-4BBD-C9ED18EAB518}"/>
              </a:ext>
            </a:extLst>
          </p:cNvPr>
          <p:cNvSpPr txBox="1"/>
          <p:nvPr/>
        </p:nvSpPr>
        <p:spPr>
          <a:xfrm>
            <a:off x="1005840" y="31028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BUSINESS QUESTION</a:t>
            </a:r>
            <a:endParaRPr lang="en-US" sz="1200">
              <a:latin typeface="Pretendard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9073766-21A4-6C1D-8E4D-49E7B985C872}"/>
              </a:ext>
            </a:extLst>
          </p:cNvPr>
          <p:cNvSpPr/>
          <p:nvPr/>
        </p:nvSpPr>
        <p:spPr>
          <a:xfrm>
            <a:off x="1005840" y="3960114"/>
            <a:ext cx="819150" cy="819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8D2E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7D68A074-73FA-6186-1073-55B8E3FEA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90" y="4131564"/>
            <a:ext cx="476250" cy="476250"/>
          </a:xfrm>
          <a:prstGeom prst="rect">
            <a:avLst/>
          </a:prstGeom>
        </p:spPr>
      </p:pic>
      <p:sp>
        <p:nvSpPr>
          <p:cNvPr id="15" name="Shape 12">
            <a:extLst>
              <a:ext uri="{FF2B5EF4-FFF2-40B4-BE49-F238E27FC236}">
                <a16:creationId xmlns:a16="http://schemas.microsoft.com/office/drawing/2014/main" id="{C8B41AC2-FD1D-82C4-8E12-E9D356EF1C9A}"/>
              </a:ext>
            </a:extLst>
          </p:cNvPr>
          <p:cNvSpPr/>
          <p:nvPr/>
        </p:nvSpPr>
        <p:spPr>
          <a:xfrm>
            <a:off x="2072640" y="3712464"/>
            <a:ext cx="3257550" cy="2171700"/>
          </a:xfrm>
          <a:prstGeom prst="roundRect">
            <a:avLst>
              <a:gd name="adj" fmla="val 12211"/>
            </a:avLst>
          </a:prstGeom>
          <a:solidFill>
            <a:srgbClr val="F7FAFF"/>
          </a:solidFill>
          <a:ln w="9525">
            <a:solidFill>
              <a:srgbClr val="B8D2EF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9448A12-125E-FE72-8C76-E81F8A4EF62D}"/>
              </a:ext>
            </a:extLst>
          </p:cNvPr>
          <p:cNvSpPr txBox="1"/>
          <p:nvPr/>
        </p:nvSpPr>
        <p:spPr>
          <a:xfrm>
            <a:off x="2365248" y="3712464"/>
            <a:ext cx="2672334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3451"/>
                </a:solidFill>
                <a:latin typeface="Pretendard"/>
              </a:rPr>
              <a:t>"8</a:t>
            </a:r>
            <a:r>
              <a:rPr lang="ko-KR" altLang="en-US" sz="2400" b="1" err="1">
                <a:solidFill>
                  <a:srgbClr val="153451"/>
                </a:solidFill>
                <a:latin typeface="Pretendard"/>
                <a:ea typeface="Pretendard" panose="02000503000000020004" pitchFamily="2" charset="-127"/>
              </a:rPr>
              <a:t>월달</a:t>
            </a:r>
            <a:r>
              <a:rPr lang="en-US" sz="2400" b="1">
                <a:solidFill>
                  <a:srgbClr val="153451"/>
                </a:solidFill>
                <a:latin typeface="Pretendard"/>
              </a:rPr>
              <a:t> </a:t>
            </a:r>
            <a:r>
              <a:rPr lang="ko-KR" altLang="en-US" sz="2400" b="1">
                <a:solidFill>
                  <a:srgbClr val="153451"/>
                </a:solidFill>
                <a:latin typeface="Pretendard"/>
                <a:ea typeface="Pretendard" panose="02000503000000020004" pitchFamily="2" charset="-127"/>
              </a:rPr>
              <a:t>각</a:t>
            </a:r>
            <a:r>
              <a:rPr lang="en-US" sz="2400" b="1">
                <a:solidFill>
                  <a:srgbClr val="153451"/>
                </a:solidFill>
                <a:latin typeface="Pretendard"/>
              </a:rPr>
              <a:t> </a:t>
            </a:r>
            <a:r>
              <a:rPr lang="ko-KR" altLang="en-US" sz="2400" b="1">
                <a:solidFill>
                  <a:srgbClr val="153451"/>
                </a:solidFill>
                <a:latin typeface="Pretendard"/>
                <a:ea typeface="Pretendard" panose="02000503000000020004" pitchFamily="2" charset="-127"/>
              </a:rPr>
              <a:t>시설별</a:t>
            </a:r>
            <a:endParaRPr lang="en-US" sz="2400">
              <a:solidFill>
                <a:srgbClr val="000000"/>
              </a:solidFill>
              <a:latin typeface="Pretendard"/>
              <a:ea typeface="Pretendard" panose="02000503000000020004" pitchFamily="2" charset="-127"/>
            </a:endParaRPr>
          </a:p>
          <a:p>
            <a:r>
              <a:rPr lang="ko-KR" altLang="en-US" sz="2400" b="1">
                <a:solidFill>
                  <a:srgbClr val="153451"/>
                </a:solidFill>
                <a:latin typeface="Pretendard"/>
                <a:ea typeface="Pretendard" panose="02000503000000020004" pitchFamily="2" charset="-127"/>
              </a:rPr>
              <a:t>매출 알려줘"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E65DE68-5135-5CE8-B57E-500BF5E4ED9B}"/>
              </a:ext>
            </a:extLst>
          </p:cNvPr>
          <p:cNvSpPr txBox="1"/>
          <p:nvPr/>
        </p:nvSpPr>
        <p:spPr>
          <a:xfrm>
            <a:off x="5482590" y="4760214"/>
            <a:ext cx="104775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100">
                <a:solidFill>
                  <a:srgbClr val="71869B"/>
                </a:solidFill>
                <a:latin typeface="Pretendard" pitchFamily="34" charset="0"/>
                <a:ea typeface="Pretendard"/>
                <a:cs typeface="Pretendard" pitchFamily="34" charset="-120"/>
              </a:rPr>
              <a:t>ASK</a:t>
            </a:r>
            <a:endParaRPr lang="en-US" sz="1400">
              <a:ea typeface="Pretendard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6BD73C4-6A08-EDAC-B089-ECDEEC1744DD}"/>
              </a:ext>
            </a:extLst>
          </p:cNvPr>
          <p:cNvSpPr/>
          <p:nvPr/>
        </p:nvSpPr>
        <p:spPr>
          <a:xfrm>
            <a:off x="5482590" y="5073853"/>
            <a:ext cx="1047750" cy="0"/>
          </a:xfrm>
          <a:prstGeom prst="line">
            <a:avLst/>
          </a:prstGeom>
          <a:noFill/>
          <a:ln w="38100">
            <a:solidFill>
              <a:srgbClr val="176FE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1665B852-ABB6-CB15-AA24-EFB6989939E0}"/>
              </a:ext>
            </a:extLst>
          </p:cNvPr>
          <p:cNvSpPr/>
          <p:nvPr/>
        </p:nvSpPr>
        <p:spPr>
          <a:xfrm>
            <a:off x="6625590" y="2788539"/>
            <a:ext cx="4953000" cy="4438650"/>
          </a:xfrm>
          <a:prstGeom prst="roundRect">
            <a:avLst>
              <a:gd name="adj" fmla="val 7210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18D8775D-25A1-8BAB-B047-E4BF44266883}"/>
              </a:ext>
            </a:extLst>
          </p:cNvPr>
          <p:cNvSpPr/>
          <p:nvPr/>
        </p:nvSpPr>
        <p:spPr>
          <a:xfrm>
            <a:off x="6625590" y="3912489"/>
            <a:ext cx="4953000" cy="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7B14689-5687-A5DD-5736-D28449A29BC6}"/>
              </a:ext>
            </a:extLst>
          </p:cNvPr>
          <p:cNvSpPr txBox="1"/>
          <p:nvPr/>
        </p:nvSpPr>
        <p:spPr>
          <a:xfrm>
            <a:off x="6949288" y="3045714"/>
            <a:ext cx="4305605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FFFFFF"/>
                </a:solidFill>
                <a:latin typeface="Pretendard" pitchFamily="34" charset="0"/>
                <a:ea typeface="Pretendard"/>
                <a:cs typeface="Pretendard" pitchFamily="34" charset="-120"/>
              </a:rPr>
              <a:t>GOVERNED ANALYSIS</a:t>
            </a:r>
            <a:endParaRPr lang="en-US" sz="1200">
              <a:ea typeface="Pretendard"/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1BD8697-B7F1-8098-0721-7BC25E4E3096}"/>
              </a:ext>
            </a:extLst>
          </p:cNvPr>
          <p:cNvSpPr txBox="1"/>
          <p:nvPr/>
        </p:nvSpPr>
        <p:spPr>
          <a:xfrm>
            <a:off x="6949288" y="3274314"/>
            <a:ext cx="430560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>
                <a:solidFill>
                  <a:srgbClr val="FFFFFF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ANSWERVICE</a:t>
            </a:r>
            <a:endParaRPr lang="en-US" sz="2900">
              <a:latin typeface="Pretendard"/>
            </a:endParaRP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135463CD-7578-5BED-6E3C-3FDDCC1464EA}"/>
              </a:ext>
            </a:extLst>
          </p:cNvPr>
          <p:cNvSpPr/>
          <p:nvPr/>
        </p:nvSpPr>
        <p:spPr>
          <a:xfrm>
            <a:off x="6949288" y="4288727"/>
            <a:ext cx="400050" cy="400050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6EA7422F-CBB2-0289-139C-CEDFACC0C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869" y="4365308"/>
            <a:ext cx="246888" cy="246888"/>
          </a:xfrm>
          <a:prstGeom prst="rect">
            <a:avLst/>
          </a:prstGeom>
        </p:spPr>
      </p:pic>
      <p:sp>
        <p:nvSpPr>
          <p:cNvPr id="27" name="Text 23">
            <a:extLst>
              <a:ext uri="{FF2B5EF4-FFF2-40B4-BE49-F238E27FC236}">
                <a16:creationId xmlns:a16="http://schemas.microsoft.com/office/drawing/2014/main" id="{27672B2A-62B0-F2DD-E590-1209621BD6C2}"/>
              </a:ext>
            </a:extLst>
          </p:cNvPr>
          <p:cNvSpPr txBox="1"/>
          <p:nvPr/>
        </p:nvSpPr>
        <p:spPr>
          <a:xfrm>
            <a:off x="7444588" y="4335769"/>
            <a:ext cx="381030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00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지표</a:t>
            </a:r>
            <a:r>
              <a:rPr lang="en-US" altLang="ko-KR" sz="2000" b="1">
                <a:solidFill>
                  <a:srgbClr val="FFFFFF"/>
                </a:solidFill>
                <a:latin typeface="Pretendard"/>
                <a:ea typeface="+mn-lt"/>
                <a:cs typeface="+mn-lt"/>
              </a:rPr>
              <a:t>·</a:t>
            </a:r>
            <a:r>
              <a:rPr lang="ko-KR" altLang="en-US" sz="200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데이터 사용 기준 확인</a:t>
            </a:r>
            <a:endParaRPr lang="en-US" sz="2000" b="1">
              <a:solidFill>
                <a:srgbClr val="FFFFFF"/>
              </a:solidFill>
              <a:latin typeface="Pretendard"/>
              <a:ea typeface="Pretendard"/>
            </a:endParaRPr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C76C4490-F767-DE7A-9B76-7D12ACDB6DDA}"/>
              </a:ext>
            </a:extLst>
          </p:cNvPr>
          <p:cNvSpPr/>
          <p:nvPr/>
        </p:nvSpPr>
        <p:spPr>
          <a:xfrm>
            <a:off x="6949288" y="4855464"/>
            <a:ext cx="4305605" cy="0"/>
          </a:xfrm>
          <a:prstGeom prst="line">
            <a:avLst/>
          </a:prstGeom>
          <a:noFill/>
          <a:ln w="63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29ADB9DF-92B7-67AB-79D2-01FD3EF9A9E3}"/>
              </a:ext>
            </a:extLst>
          </p:cNvPr>
          <p:cNvSpPr/>
          <p:nvPr/>
        </p:nvSpPr>
        <p:spPr>
          <a:xfrm>
            <a:off x="6949288" y="5022152"/>
            <a:ext cx="400050" cy="400050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FE71D694-23B9-A6ED-A795-DC2295965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5869" y="5098733"/>
            <a:ext cx="246888" cy="246888"/>
          </a:xfrm>
          <a:prstGeom prst="rect">
            <a:avLst/>
          </a:prstGeom>
        </p:spPr>
      </p:pic>
      <p:sp>
        <p:nvSpPr>
          <p:cNvPr id="32" name="Text 27">
            <a:extLst>
              <a:ext uri="{FF2B5EF4-FFF2-40B4-BE49-F238E27FC236}">
                <a16:creationId xmlns:a16="http://schemas.microsoft.com/office/drawing/2014/main" id="{68F43023-34C1-93C9-C9A4-EAFCE8FD3673}"/>
              </a:ext>
            </a:extLst>
          </p:cNvPr>
          <p:cNvSpPr txBox="1"/>
          <p:nvPr/>
        </p:nvSpPr>
        <p:spPr>
          <a:xfrm>
            <a:off x="7444588" y="5069193"/>
            <a:ext cx="381030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00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허용된</a:t>
            </a:r>
            <a:r>
              <a:rPr lang="en-US" sz="200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000" b="1" err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권한</a:t>
            </a:r>
            <a:r>
              <a:rPr lang="en-US" sz="200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00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범위</a:t>
            </a:r>
            <a:r>
              <a:rPr lang="en-US" altLang="ko-KR" sz="2000" b="1">
                <a:solidFill>
                  <a:srgbClr val="FFFFFF"/>
                </a:solidFill>
                <a:ea typeface="Pretendard"/>
                <a:cs typeface="+mn-lt"/>
              </a:rPr>
              <a:t>·</a:t>
            </a:r>
            <a:r>
              <a:rPr lang="en-US" altLang="ko-KR" sz="2000" b="1" err="1">
                <a:solidFill>
                  <a:srgbClr val="FFFFFF"/>
                </a:solidFill>
                <a:ea typeface="Pretendard"/>
                <a:cs typeface="+mn-lt"/>
              </a:rPr>
              <a:t>공개</a:t>
            </a:r>
            <a:r>
              <a:rPr lang="en-US" altLang="ko-KR" sz="2000" b="1">
                <a:solidFill>
                  <a:srgbClr val="FFFFFF"/>
                </a:solidFill>
                <a:ea typeface="Pretendard"/>
                <a:cs typeface="+mn-lt"/>
              </a:rPr>
              <a:t> </a:t>
            </a:r>
            <a:r>
              <a:rPr lang="en-US" altLang="ko-KR" sz="2000" b="1" err="1">
                <a:solidFill>
                  <a:srgbClr val="FFFFFF"/>
                </a:solidFill>
                <a:ea typeface="Pretendard"/>
                <a:cs typeface="+mn-lt"/>
              </a:rPr>
              <a:t>대상</a:t>
            </a:r>
            <a:r>
              <a:rPr lang="en-US" altLang="ko-KR" sz="2000" b="1">
                <a:solidFill>
                  <a:srgbClr val="FFFFFF"/>
                </a:solidFill>
                <a:ea typeface="Pretendard"/>
                <a:cs typeface="+mn-lt"/>
              </a:rPr>
              <a:t> </a:t>
            </a:r>
            <a:r>
              <a:rPr lang="en-US" altLang="ko-KR" sz="2000" b="1" err="1">
                <a:solidFill>
                  <a:srgbClr val="FFFFFF"/>
                </a:solidFill>
                <a:ea typeface="Pretendard"/>
                <a:cs typeface="+mn-lt"/>
              </a:rPr>
              <a:t>확인</a:t>
            </a:r>
            <a:endParaRPr lang="en-US" altLang="ko-KR" sz="2000" b="1" err="1">
              <a:solidFill>
                <a:srgbClr val="FFFFFF"/>
              </a:solidFill>
              <a:latin typeface="Calibri"/>
              <a:ea typeface="Pretendard"/>
              <a:cs typeface="Calibri"/>
            </a:endParaRPr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E96E10FE-037C-1C32-0BBC-90E418648E0B}"/>
              </a:ext>
            </a:extLst>
          </p:cNvPr>
          <p:cNvSpPr/>
          <p:nvPr/>
        </p:nvSpPr>
        <p:spPr>
          <a:xfrm>
            <a:off x="6949288" y="5588889"/>
            <a:ext cx="4305605" cy="0"/>
          </a:xfrm>
          <a:prstGeom prst="line">
            <a:avLst/>
          </a:prstGeom>
          <a:noFill/>
          <a:ln w="635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4595E9F8-AED0-108F-9FE5-5972C5EC85EB}"/>
              </a:ext>
            </a:extLst>
          </p:cNvPr>
          <p:cNvSpPr/>
          <p:nvPr/>
        </p:nvSpPr>
        <p:spPr>
          <a:xfrm>
            <a:off x="6949288" y="5755577"/>
            <a:ext cx="400050" cy="400050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pic>
        <p:nvPicPr>
          <p:cNvPr id="36" name="Image 3" descr="preencoded.png">
            <a:extLst>
              <a:ext uri="{FF2B5EF4-FFF2-40B4-BE49-F238E27FC236}">
                <a16:creationId xmlns:a16="http://schemas.microsoft.com/office/drawing/2014/main" id="{9504B921-2AFB-08FE-65DD-5F456CEE36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5869" y="5832158"/>
            <a:ext cx="246888" cy="246888"/>
          </a:xfrm>
          <a:prstGeom prst="rect">
            <a:avLst/>
          </a:prstGeom>
        </p:spPr>
      </p:pic>
      <p:sp>
        <p:nvSpPr>
          <p:cNvPr id="37" name="Text 31">
            <a:extLst>
              <a:ext uri="{FF2B5EF4-FFF2-40B4-BE49-F238E27FC236}">
                <a16:creationId xmlns:a16="http://schemas.microsoft.com/office/drawing/2014/main" id="{70995FD4-62DD-74CF-70E9-9F2108FCE27C}"/>
              </a:ext>
            </a:extLst>
          </p:cNvPr>
          <p:cNvSpPr txBox="1"/>
          <p:nvPr/>
        </p:nvSpPr>
        <p:spPr>
          <a:xfrm>
            <a:off x="7444588" y="5802618"/>
            <a:ext cx="381030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000" b="1" err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안전한</a:t>
            </a:r>
            <a:r>
              <a:rPr lang="en-US" sz="200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00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분석</a:t>
            </a:r>
            <a:r>
              <a:rPr lang="en-US" sz="2000" b="1">
                <a:solidFill>
                  <a:srgbClr val="FFFFFF"/>
                </a:solidFill>
                <a:latin typeface="Pretendard" pitchFamily="34" charset="0"/>
                <a:ea typeface="Pretendard"/>
                <a:cs typeface="Pretendard" pitchFamily="34" charset="-120"/>
              </a:rPr>
              <a:t>·결과 </a:t>
            </a:r>
            <a:r>
              <a:rPr lang="en-US" sz="2000" b="1" err="1">
                <a:solidFill>
                  <a:srgbClr val="FFFFFF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검증</a:t>
            </a:r>
            <a:endParaRPr lang="en-US" sz="2000" err="1">
              <a:ea typeface="Pretendard"/>
            </a:endParaRP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BA05ACD8-8430-5C51-ECE6-A82629E7BA72}"/>
              </a:ext>
            </a:extLst>
          </p:cNvPr>
          <p:cNvSpPr txBox="1"/>
          <p:nvPr/>
        </p:nvSpPr>
        <p:spPr>
          <a:xfrm>
            <a:off x="6887168" y="6608478"/>
            <a:ext cx="4554083" cy="41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kern="0" spc="50" err="1">
                <a:solidFill>
                  <a:srgbClr val="D6E4FB"/>
                </a:solidFill>
                <a:latin typeface="Pretendard"/>
                <a:ea typeface="Pretendard"/>
                <a:cs typeface="Pretendard" pitchFamily="34" charset="-120"/>
              </a:rPr>
              <a:t>질문을</a:t>
            </a:r>
            <a:r>
              <a:rPr lang="en-US" sz="1400" kern="0" spc="50">
                <a:solidFill>
                  <a:srgbClr val="D6E4FB"/>
                </a:solidFill>
                <a:latin typeface="Pretendard"/>
                <a:ea typeface="Pretendard"/>
                <a:cs typeface="Pretendard" pitchFamily="34" charset="-120"/>
              </a:rPr>
              <a:t> </a:t>
            </a:r>
            <a:r>
              <a:rPr lang="en-US" sz="1400" kern="0" spc="50" err="1">
                <a:solidFill>
                  <a:srgbClr val="D6E4FB"/>
                </a:solidFill>
                <a:latin typeface="Pretendard"/>
                <a:ea typeface="Pretendard"/>
                <a:cs typeface="Pretendard" pitchFamily="34" charset="-120"/>
              </a:rPr>
              <a:t>분석</a:t>
            </a:r>
            <a:r>
              <a:rPr lang="en-US" sz="1400" kern="0" spc="50">
                <a:solidFill>
                  <a:srgbClr val="D6E4FB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kern="0" spc="50" err="1">
                <a:solidFill>
                  <a:srgbClr val="D6E4FB"/>
                </a:solidFill>
                <a:latin typeface="Pretendard"/>
                <a:ea typeface="Pretendard"/>
                <a:cs typeface="Pretendard" pitchFamily="34" charset="-120"/>
              </a:rPr>
              <a:t>가능한</a:t>
            </a:r>
            <a:r>
              <a:rPr lang="en-US" sz="1400" kern="0" spc="50">
                <a:solidFill>
                  <a:srgbClr val="D6E4FB"/>
                </a:solidFill>
                <a:latin typeface="Pretendard"/>
                <a:ea typeface="Pretendard"/>
                <a:cs typeface="Pretendard" pitchFamily="34" charset="-120"/>
              </a:rPr>
              <a:t> 요청으로 </a:t>
            </a:r>
            <a:r>
              <a:rPr lang="ko-KR" altLang="en-US" sz="1400" kern="0" spc="50">
                <a:solidFill>
                  <a:srgbClr val="D6E4FB"/>
                </a:solidFill>
                <a:latin typeface="Pretendard"/>
                <a:ea typeface="Pretendard"/>
                <a:cs typeface="Pretendard" pitchFamily="34" charset="-120"/>
              </a:rPr>
              <a:t>변환</a:t>
            </a:r>
            <a:endParaRPr lang="ko-KR" altLang="en-US" sz="1400" kern="0" spc="50">
              <a:solidFill>
                <a:srgbClr val="D6E4FB"/>
              </a:solidFill>
              <a:latin typeface="Pretendard"/>
              <a:ea typeface="Pretendard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E377A84C-87A6-4547-C149-12460D3B22CA}"/>
              </a:ext>
            </a:extLst>
          </p:cNvPr>
          <p:cNvSpPr txBox="1"/>
          <p:nvPr/>
        </p:nvSpPr>
        <p:spPr>
          <a:xfrm>
            <a:off x="11683365" y="4760214"/>
            <a:ext cx="105727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100">
                <a:solidFill>
                  <a:srgbClr val="71869B"/>
                </a:solidFill>
                <a:latin typeface="Pretendard" pitchFamily="34" charset="0"/>
                <a:ea typeface="Pretendard"/>
                <a:cs typeface="Pretendard" pitchFamily="34" charset="-120"/>
              </a:rPr>
              <a:t>VERIFY</a:t>
            </a:r>
            <a:endParaRPr lang="en-US" sz="1400">
              <a:ea typeface="Pretendard"/>
            </a:endParaRPr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78BFF28B-97AA-61AE-C373-4E91390DCCF1}"/>
              </a:ext>
            </a:extLst>
          </p:cNvPr>
          <p:cNvSpPr/>
          <p:nvPr/>
        </p:nvSpPr>
        <p:spPr>
          <a:xfrm>
            <a:off x="11683365" y="5073853"/>
            <a:ext cx="1057275" cy="0"/>
          </a:xfrm>
          <a:prstGeom prst="line">
            <a:avLst/>
          </a:prstGeom>
          <a:noFill/>
          <a:ln w="38100">
            <a:solidFill>
              <a:srgbClr val="176FE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064DBC9C-A40D-7770-DFBF-29E7A34698EB}"/>
              </a:ext>
            </a:extLst>
          </p:cNvPr>
          <p:cNvSpPr txBox="1"/>
          <p:nvPr/>
        </p:nvSpPr>
        <p:spPr>
          <a:xfrm>
            <a:off x="13072720" y="289331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REPORT + EVIDENCE</a:t>
            </a:r>
            <a:endParaRPr lang="en-US" sz="1200">
              <a:latin typeface="Pretendard"/>
            </a:endParaRPr>
          </a:p>
        </p:txBody>
      </p:sp>
      <p:sp>
        <p:nvSpPr>
          <p:cNvPr id="43" name="Shape 37">
            <a:extLst>
              <a:ext uri="{FF2B5EF4-FFF2-40B4-BE49-F238E27FC236}">
                <a16:creationId xmlns:a16="http://schemas.microsoft.com/office/drawing/2014/main" id="{C58EF56A-6225-4EE4-DF79-75C52F2720DA}"/>
              </a:ext>
            </a:extLst>
          </p:cNvPr>
          <p:cNvSpPr/>
          <p:nvPr/>
        </p:nvSpPr>
        <p:spPr>
          <a:xfrm>
            <a:off x="14082141" y="3521964"/>
            <a:ext cx="3190875" cy="3333750"/>
          </a:xfrm>
          <a:prstGeom prst="roundRect">
            <a:avLst>
              <a:gd name="adj" fmla="val 5445"/>
            </a:avLst>
          </a:prstGeom>
          <a:solidFill>
            <a:srgbClr val="EEF5FD"/>
          </a:solidFill>
          <a:ln w="12700">
            <a:solidFill>
              <a:srgbClr val="B8D2EF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941DBD8E-9459-8882-1CE9-8294EEF8B2D2}"/>
              </a:ext>
            </a:extLst>
          </p:cNvPr>
          <p:cNvSpPr txBox="1"/>
          <p:nvPr/>
        </p:nvSpPr>
        <p:spPr>
          <a:xfrm>
            <a:off x="14329029" y="3741420"/>
            <a:ext cx="26970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10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EVIDENCE</a:t>
            </a:r>
            <a:endParaRPr lang="en-US" sz="1300">
              <a:ea typeface="Pretendard"/>
            </a:endParaRPr>
          </a:p>
        </p:txBody>
      </p:sp>
      <p:pic>
        <p:nvPicPr>
          <p:cNvPr id="45" name="Image 4" descr="preencoded.png">
            <a:extLst>
              <a:ext uri="{FF2B5EF4-FFF2-40B4-BE49-F238E27FC236}">
                <a16:creationId xmlns:a16="http://schemas.microsoft.com/office/drawing/2014/main" id="{E29E4699-1270-52FB-F51F-CDF412FA57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29029" y="4268534"/>
            <a:ext cx="201168" cy="201168"/>
          </a:xfrm>
          <a:prstGeom prst="rect">
            <a:avLst/>
          </a:prstGeom>
        </p:spPr>
      </p:pic>
      <p:sp>
        <p:nvSpPr>
          <p:cNvPr id="46" name="Text 39">
            <a:extLst>
              <a:ext uri="{FF2B5EF4-FFF2-40B4-BE49-F238E27FC236}">
                <a16:creationId xmlns:a16="http://schemas.microsoft.com/office/drawing/2014/main" id="{39C7572D-7BB7-31BC-1997-92DDDF891510}"/>
              </a:ext>
            </a:extLst>
          </p:cNvPr>
          <p:cNvSpPr txBox="1"/>
          <p:nvPr/>
        </p:nvSpPr>
        <p:spPr>
          <a:xfrm>
            <a:off x="14621637" y="4107180"/>
            <a:ext cx="240449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4B5F73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DATA SOURCE</a:t>
            </a:r>
            <a:endParaRPr lang="en-US" sz="1350">
              <a:latin typeface="Pretendard"/>
            </a:endParaRPr>
          </a:p>
        </p:txBody>
      </p:sp>
      <p:pic>
        <p:nvPicPr>
          <p:cNvPr id="47" name="Image 5" descr="preencoded.png">
            <a:extLst>
              <a:ext uri="{FF2B5EF4-FFF2-40B4-BE49-F238E27FC236}">
                <a16:creationId xmlns:a16="http://schemas.microsoft.com/office/drawing/2014/main" id="{2863D6BE-3FEF-FC21-9854-85CFE0C3AD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29029" y="4792409"/>
            <a:ext cx="201168" cy="201168"/>
          </a:xfrm>
          <a:prstGeom prst="rect">
            <a:avLst/>
          </a:prstGeom>
        </p:spPr>
      </p:pic>
      <p:sp>
        <p:nvSpPr>
          <p:cNvPr id="48" name="Text 40">
            <a:extLst>
              <a:ext uri="{FF2B5EF4-FFF2-40B4-BE49-F238E27FC236}">
                <a16:creationId xmlns:a16="http://schemas.microsoft.com/office/drawing/2014/main" id="{083B8D64-D032-5F2D-23B1-7E02B8F39026}"/>
              </a:ext>
            </a:extLst>
          </p:cNvPr>
          <p:cNvSpPr txBox="1"/>
          <p:nvPr/>
        </p:nvSpPr>
        <p:spPr>
          <a:xfrm>
            <a:off x="14621637" y="4631055"/>
            <a:ext cx="240449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4B5F73"/>
                </a:solidFill>
                <a:latin typeface="Pretendard" pitchFamily="34" charset="0"/>
                <a:ea typeface="Pretendard"/>
                <a:cs typeface="Pretendard" pitchFamily="34" charset="-120"/>
              </a:rPr>
              <a:t>QUERY ID</a:t>
            </a:r>
            <a:endParaRPr lang="en-US" sz="1350">
              <a:ea typeface="Pretendard"/>
            </a:endParaRPr>
          </a:p>
        </p:txBody>
      </p:sp>
      <p:sp>
        <p:nvSpPr>
          <p:cNvPr id="49" name="Shape 41">
            <a:extLst>
              <a:ext uri="{FF2B5EF4-FFF2-40B4-BE49-F238E27FC236}">
                <a16:creationId xmlns:a16="http://schemas.microsoft.com/office/drawing/2014/main" id="{2459638E-5955-F97B-F3A0-00B6EDB31A6A}"/>
              </a:ext>
            </a:extLst>
          </p:cNvPr>
          <p:cNvSpPr/>
          <p:nvPr/>
        </p:nvSpPr>
        <p:spPr>
          <a:xfrm>
            <a:off x="14329029" y="4631055"/>
            <a:ext cx="2697099" cy="0"/>
          </a:xfrm>
          <a:prstGeom prst="line">
            <a:avLst/>
          </a:prstGeom>
          <a:noFill/>
          <a:ln w="6350">
            <a:solidFill>
              <a:srgbClr val="D4E3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pic>
        <p:nvPicPr>
          <p:cNvPr id="50" name="Image 6" descr="preencoded.png">
            <a:extLst>
              <a:ext uri="{FF2B5EF4-FFF2-40B4-BE49-F238E27FC236}">
                <a16:creationId xmlns:a16="http://schemas.microsoft.com/office/drawing/2014/main" id="{F9D0CBEB-0FB1-6648-1EDF-7424264455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29029" y="5316284"/>
            <a:ext cx="201168" cy="201168"/>
          </a:xfrm>
          <a:prstGeom prst="rect">
            <a:avLst/>
          </a:prstGeom>
        </p:spPr>
      </p:pic>
      <p:sp>
        <p:nvSpPr>
          <p:cNvPr id="51" name="Text 42">
            <a:extLst>
              <a:ext uri="{FF2B5EF4-FFF2-40B4-BE49-F238E27FC236}">
                <a16:creationId xmlns:a16="http://schemas.microsoft.com/office/drawing/2014/main" id="{08476A19-5ECC-80A4-F432-A2A59EE4D087}"/>
              </a:ext>
            </a:extLst>
          </p:cNvPr>
          <p:cNvSpPr txBox="1"/>
          <p:nvPr/>
        </p:nvSpPr>
        <p:spPr>
          <a:xfrm>
            <a:off x="14621637" y="5154930"/>
            <a:ext cx="240449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4B5F73"/>
                </a:solidFill>
                <a:latin typeface="Pretendard" pitchFamily="34" charset="0"/>
                <a:ea typeface="Pretendard"/>
                <a:cs typeface="Pretendard" pitchFamily="34" charset="-120"/>
              </a:rPr>
              <a:t>VALIDATION</a:t>
            </a:r>
            <a:endParaRPr lang="en-US" sz="1350">
              <a:ea typeface="Pretendard"/>
            </a:endParaRPr>
          </a:p>
        </p:txBody>
      </p:sp>
      <p:sp>
        <p:nvSpPr>
          <p:cNvPr id="52" name="Shape 43">
            <a:extLst>
              <a:ext uri="{FF2B5EF4-FFF2-40B4-BE49-F238E27FC236}">
                <a16:creationId xmlns:a16="http://schemas.microsoft.com/office/drawing/2014/main" id="{5E8087BE-442B-022B-51AA-9F343074C9D7}"/>
              </a:ext>
            </a:extLst>
          </p:cNvPr>
          <p:cNvSpPr/>
          <p:nvPr/>
        </p:nvSpPr>
        <p:spPr>
          <a:xfrm>
            <a:off x="14329029" y="5154930"/>
            <a:ext cx="2697099" cy="0"/>
          </a:xfrm>
          <a:prstGeom prst="line">
            <a:avLst/>
          </a:prstGeom>
          <a:noFill/>
          <a:ln w="6350">
            <a:solidFill>
              <a:srgbClr val="D4E3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53" name="Shape 44">
            <a:extLst>
              <a:ext uri="{FF2B5EF4-FFF2-40B4-BE49-F238E27FC236}">
                <a16:creationId xmlns:a16="http://schemas.microsoft.com/office/drawing/2014/main" id="{92FD3A3C-D211-C978-61BA-8425E456C6CF}"/>
              </a:ext>
            </a:extLst>
          </p:cNvPr>
          <p:cNvSpPr/>
          <p:nvPr/>
        </p:nvSpPr>
        <p:spPr>
          <a:xfrm>
            <a:off x="12758166" y="3321939"/>
            <a:ext cx="3571875" cy="369570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C2D7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54" name="Text 45">
            <a:extLst>
              <a:ext uri="{FF2B5EF4-FFF2-40B4-BE49-F238E27FC236}">
                <a16:creationId xmlns:a16="http://schemas.microsoft.com/office/drawing/2014/main" id="{ABA1C846-6CB4-46DF-50A6-235D0742DABF}"/>
              </a:ext>
            </a:extLst>
          </p:cNvPr>
          <p:cNvSpPr txBox="1"/>
          <p:nvPr/>
        </p:nvSpPr>
        <p:spPr>
          <a:xfrm>
            <a:off x="13034391" y="3579114"/>
            <a:ext cx="196262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50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ANALYSIS REPORT</a:t>
            </a:r>
            <a:endParaRPr lang="en-US" sz="1350">
              <a:ea typeface="Pretendard"/>
            </a:endParaRPr>
          </a:p>
        </p:txBody>
      </p:sp>
      <p:sp>
        <p:nvSpPr>
          <p:cNvPr id="55" name="Text 46">
            <a:extLst>
              <a:ext uri="{FF2B5EF4-FFF2-40B4-BE49-F238E27FC236}">
                <a16:creationId xmlns:a16="http://schemas.microsoft.com/office/drawing/2014/main" id="{7D45BAE3-76AD-1CF7-6E02-337B826E3FB2}"/>
              </a:ext>
            </a:extLst>
          </p:cNvPr>
          <p:cNvSpPr txBox="1"/>
          <p:nvPr/>
        </p:nvSpPr>
        <p:spPr>
          <a:xfrm>
            <a:off x="14997017" y="3579114"/>
            <a:ext cx="1056799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EDITABLE</a:t>
            </a:r>
            <a:endParaRPr lang="en-US" sz="1000">
              <a:latin typeface="Pretendard"/>
            </a:endParaRPr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9E8057E6-8D54-6DA2-8129-11D00B4341CB}"/>
              </a:ext>
            </a:extLst>
          </p:cNvPr>
          <p:cNvSpPr/>
          <p:nvPr/>
        </p:nvSpPr>
        <p:spPr>
          <a:xfrm>
            <a:off x="13034391" y="3883609"/>
            <a:ext cx="3019425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7" name="Shape 48">
            <a:extLst>
              <a:ext uri="{FF2B5EF4-FFF2-40B4-BE49-F238E27FC236}">
                <a16:creationId xmlns:a16="http://schemas.microsoft.com/office/drawing/2014/main" id="{87CF98AC-90DB-F774-E74F-C14387E194E0}"/>
              </a:ext>
            </a:extLst>
          </p:cNvPr>
          <p:cNvSpPr/>
          <p:nvPr/>
        </p:nvSpPr>
        <p:spPr>
          <a:xfrm>
            <a:off x="13034391" y="4074109"/>
            <a:ext cx="955675" cy="571500"/>
          </a:xfrm>
          <a:prstGeom prst="roundRect">
            <a:avLst>
              <a:gd name="adj" fmla="val 9600"/>
            </a:avLst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A08732F1-9823-5E43-CCF3-699E6803CFA5}"/>
              </a:ext>
            </a:extLst>
          </p:cNvPr>
          <p:cNvSpPr/>
          <p:nvPr/>
        </p:nvSpPr>
        <p:spPr>
          <a:xfrm>
            <a:off x="13125831" y="4165549"/>
            <a:ext cx="501079" cy="66751"/>
          </a:xfrm>
          <a:prstGeom prst="roundRect">
            <a:avLst>
              <a:gd name="adj" fmla="val 49315"/>
            </a:avLst>
          </a:prstGeom>
          <a:solidFill>
            <a:srgbClr val="BFD4EC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9" name="Shape 50">
            <a:extLst>
              <a:ext uri="{FF2B5EF4-FFF2-40B4-BE49-F238E27FC236}">
                <a16:creationId xmlns:a16="http://schemas.microsoft.com/office/drawing/2014/main" id="{5A731BB4-0D26-B397-0F74-9105B6B6BCE2}"/>
              </a:ext>
            </a:extLst>
          </p:cNvPr>
          <p:cNvSpPr/>
          <p:nvPr/>
        </p:nvSpPr>
        <p:spPr>
          <a:xfrm>
            <a:off x="13125831" y="4337456"/>
            <a:ext cx="653987" cy="114300"/>
          </a:xfrm>
          <a:prstGeom prst="roundRect">
            <a:avLst>
              <a:gd name="adj" fmla="val 48000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0" name="Shape 51">
            <a:extLst>
              <a:ext uri="{FF2B5EF4-FFF2-40B4-BE49-F238E27FC236}">
                <a16:creationId xmlns:a16="http://schemas.microsoft.com/office/drawing/2014/main" id="{B1862A19-9FA8-08E7-C60E-B6CBB698A359}"/>
              </a:ext>
            </a:extLst>
          </p:cNvPr>
          <p:cNvSpPr/>
          <p:nvPr/>
        </p:nvSpPr>
        <p:spPr>
          <a:xfrm>
            <a:off x="14066266" y="4074109"/>
            <a:ext cx="955675" cy="571500"/>
          </a:xfrm>
          <a:prstGeom prst="roundRect">
            <a:avLst>
              <a:gd name="adj" fmla="val 9600"/>
            </a:avLst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1" name="Shape 52">
            <a:extLst>
              <a:ext uri="{FF2B5EF4-FFF2-40B4-BE49-F238E27FC236}">
                <a16:creationId xmlns:a16="http://schemas.microsoft.com/office/drawing/2014/main" id="{19A961B0-2525-10DB-3FCF-2E216E5951D3}"/>
              </a:ext>
            </a:extLst>
          </p:cNvPr>
          <p:cNvSpPr/>
          <p:nvPr/>
        </p:nvSpPr>
        <p:spPr>
          <a:xfrm>
            <a:off x="14157706" y="4165549"/>
            <a:ext cx="501079" cy="66751"/>
          </a:xfrm>
          <a:prstGeom prst="roundRect">
            <a:avLst>
              <a:gd name="adj" fmla="val 49315"/>
            </a:avLst>
          </a:prstGeom>
          <a:solidFill>
            <a:srgbClr val="BFD4EC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2" name="Shape 53">
            <a:extLst>
              <a:ext uri="{FF2B5EF4-FFF2-40B4-BE49-F238E27FC236}">
                <a16:creationId xmlns:a16="http://schemas.microsoft.com/office/drawing/2014/main" id="{87156462-A772-F312-EAD8-3F53C62D58C1}"/>
              </a:ext>
            </a:extLst>
          </p:cNvPr>
          <p:cNvSpPr/>
          <p:nvPr/>
        </p:nvSpPr>
        <p:spPr>
          <a:xfrm>
            <a:off x="14157706" y="4337456"/>
            <a:ext cx="653987" cy="114300"/>
          </a:xfrm>
          <a:prstGeom prst="roundRect">
            <a:avLst>
              <a:gd name="adj" fmla="val 48000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3" name="Shape 54">
            <a:extLst>
              <a:ext uri="{FF2B5EF4-FFF2-40B4-BE49-F238E27FC236}">
                <a16:creationId xmlns:a16="http://schemas.microsoft.com/office/drawing/2014/main" id="{3869E1D6-EE5B-B3D8-02D9-51AA7D86C637}"/>
              </a:ext>
            </a:extLst>
          </p:cNvPr>
          <p:cNvSpPr/>
          <p:nvPr/>
        </p:nvSpPr>
        <p:spPr>
          <a:xfrm>
            <a:off x="15098141" y="4074109"/>
            <a:ext cx="955675" cy="571500"/>
          </a:xfrm>
          <a:prstGeom prst="roundRect">
            <a:avLst>
              <a:gd name="adj" fmla="val 9600"/>
            </a:avLst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4" name="Shape 55">
            <a:extLst>
              <a:ext uri="{FF2B5EF4-FFF2-40B4-BE49-F238E27FC236}">
                <a16:creationId xmlns:a16="http://schemas.microsoft.com/office/drawing/2014/main" id="{C7C7A15B-62F2-FB42-258B-144EC0DC9811}"/>
              </a:ext>
            </a:extLst>
          </p:cNvPr>
          <p:cNvSpPr/>
          <p:nvPr/>
        </p:nvSpPr>
        <p:spPr>
          <a:xfrm>
            <a:off x="15189581" y="4165549"/>
            <a:ext cx="501079" cy="66751"/>
          </a:xfrm>
          <a:prstGeom prst="roundRect">
            <a:avLst>
              <a:gd name="adj" fmla="val 49315"/>
            </a:avLst>
          </a:prstGeom>
          <a:solidFill>
            <a:srgbClr val="BFD4EC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5" name="Shape 56">
            <a:extLst>
              <a:ext uri="{FF2B5EF4-FFF2-40B4-BE49-F238E27FC236}">
                <a16:creationId xmlns:a16="http://schemas.microsoft.com/office/drawing/2014/main" id="{DB20A536-5BEF-CC8E-6C25-8CAEEA2E39EE}"/>
              </a:ext>
            </a:extLst>
          </p:cNvPr>
          <p:cNvSpPr/>
          <p:nvPr/>
        </p:nvSpPr>
        <p:spPr>
          <a:xfrm>
            <a:off x="15189581" y="4337456"/>
            <a:ext cx="653987" cy="114300"/>
          </a:xfrm>
          <a:prstGeom prst="roundRect">
            <a:avLst>
              <a:gd name="adj" fmla="val 48000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6" name="Shape 57">
            <a:extLst>
              <a:ext uri="{FF2B5EF4-FFF2-40B4-BE49-F238E27FC236}">
                <a16:creationId xmlns:a16="http://schemas.microsoft.com/office/drawing/2014/main" id="{D94B6594-511E-1711-3DC8-04C4BBFFDD46}"/>
              </a:ext>
            </a:extLst>
          </p:cNvPr>
          <p:cNvSpPr/>
          <p:nvPr/>
        </p:nvSpPr>
        <p:spPr>
          <a:xfrm>
            <a:off x="13034391" y="4817059"/>
            <a:ext cx="0" cy="1095375"/>
          </a:xfrm>
          <a:prstGeom prst="line">
            <a:avLst/>
          </a:prstGeom>
          <a:noFill/>
          <a:ln w="9525">
            <a:solidFill>
              <a:srgbClr val="C8DA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7" name="Shape 58">
            <a:extLst>
              <a:ext uri="{FF2B5EF4-FFF2-40B4-BE49-F238E27FC236}">
                <a16:creationId xmlns:a16="http://schemas.microsoft.com/office/drawing/2014/main" id="{114F0F7D-F680-1836-6722-8C47D661A407}"/>
              </a:ext>
            </a:extLst>
          </p:cNvPr>
          <p:cNvSpPr/>
          <p:nvPr/>
        </p:nvSpPr>
        <p:spPr>
          <a:xfrm>
            <a:off x="13034391" y="5912434"/>
            <a:ext cx="3019425" cy="0"/>
          </a:xfrm>
          <a:prstGeom prst="line">
            <a:avLst/>
          </a:prstGeom>
          <a:noFill/>
          <a:ln w="9525">
            <a:solidFill>
              <a:srgbClr val="C8DA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8" name="Shape 59">
            <a:extLst>
              <a:ext uri="{FF2B5EF4-FFF2-40B4-BE49-F238E27FC236}">
                <a16:creationId xmlns:a16="http://schemas.microsoft.com/office/drawing/2014/main" id="{ADD0E19A-2FD0-F389-89CC-AF37834FDCAD}"/>
              </a:ext>
            </a:extLst>
          </p:cNvPr>
          <p:cNvSpPr/>
          <p:nvPr/>
        </p:nvSpPr>
        <p:spPr>
          <a:xfrm>
            <a:off x="13282041" y="5474284"/>
            <a:ext cx="219075" cy="438150"/>
          </a:xfrm>
          <a:prstGeom prst="roundRect">
            <a:avLst>
              <a:gd name="adj" fmla="val 12522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69" name="Shape 60">
            <a:extLst>
              <a:ext uri="{FF2B5EF4-FFF2-40B4-BE49-F238E27FC236}">
                <a16:creationId xmlns:a16="http://schemas.microsoft.com/office/drawing/2014/main" id="{1077FE5D-C185-6B1C-A885-FC97862F705F}"/>
              </a:ext>
            </a:extLst>
          </p:cNvPr>
          <p:cNvSpPr/>
          <p:nvPr/>
        </p:nvSpPr>
        <p:spPr>
          <a:xfrm>
            <a:off x="13739241" y="5207584"/>
            <a:ext cx="219075" cy="704850"/>
          </a:xfrm>
          <a:prstGeom prst="roundRect">
            <a:avLst>
              <a:gd name="adj" fmla="val 12522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0" name="Shape 61">
            <a:extLst>
              <a:ext uri="{FF2B5EF4-FFF2-40B4-BE49-F238E27FC236}">
                <a16:creationId xmlns:a16="http://schemas.microsoft.com/office/drawing/2014/main" id="{882C053C-E533-B06E-E8B6-95F626D4EE77}"/>
              </a:ext>
            </a:extLst>
          </p:cNvPr>
          <p:cNvSpPr/>
          <p:nvPr/>
        </p:nvSpPr>
        <p:spPr>
          <a:xfrm>
            <a:off x="14196441" y="5388559"/>
            <a:ext cx="219075" cy="523875"/>
          </a:xfrm>
          <a:prstGeom prst="roundRect">
            <a:avLst>
              <a:gd name="adj" fmla="val 12522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1" name="Shape 62">
            <a:extLst>
              <a:ext uri="{FF2B5EF4-FFF2-40B4-BE49-F238E27FC236}">
                <a16:creationId xmlns:a16="http://schemas.microsoft.com/office/drawing/2014/main" id="{1B4AA6F4-4C4A-E817-EF56-9D0100E9B6EC}"/>
              </a:ext>
            </a:extLst>
          </p:cNvPr>
          <p:cNvSpPr/>
          <p:nvPr/>
        </p:nvSpPr>
        <p:spPr>
          <a:xfrm>
            <a:off x="14653641" y="5017084"/>
            <a:ext cx="219075" cy="895350"/>
          </a:xfrm>
          <a:prstGeom prst="roundRect">
            <a:avLst>
              <a:gd name="adj" fmla="val 12522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2" name="Shape 63">
            <a:extLst>
              <a:ext uri="{FF2B5EF4-FFF2-40B4-BE49-F238E27FC236}">
                <a16:creationId xmlns:a16="http://schemas.microsoft.com/office/drawing/2014/main" id="{3BA9FA44-4A76-BCB4-7F80-E1888C574AE4}"/>
              </a:ext>
            </a:extLst>
          </p:cNvPr>
          <p:cNvSpPr/>
          <p:nvPr/>
        </p:nvSpPr>
        <p:spPr>
          <a:xfrm>
            <a:off x="15110841" y="5226634"/>
            <a:ext cx="219075" cy="685800"/>
          </a:xfrm>
          <a:prstGeom prst="roundRect">
            <a:avLst>
              <a:gd name="adj" fmla="val 12522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3" name="Shape 64">
            <a:extLst>
              <a:ext uri="{FF2B5EF4-FFF2-40B4-BE49-F238E27FC236}">
                <a16:creationId xmlns:a16="http://schemas.microsoft.com/office/drawing/2014/main" id="{8DD0622F-4E1B-EEFC-2EA4-2E2B38AA606E}"/>
              </a:ext>
            </a:extLst>
          </p:cNvPr>
          <p:cNvSpPr/>
          <p:nvPr/>
        </p:nvSpPr>
        <p:spPr>
          <a:xfrm>
            <a:off x="15568041" y="4921834"/>
            <a:ext cx="219075" cy="990600"/>
          </a:xfrm>
          <a:prstGeom prst="roundRect">
            <a:avLst>
              <a:gd name="adj" fmla="val 12522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4" name="Shape 65">
            <a:extLst>
              <a:ext uri="{FF2B5EF4-FFF2-40B4-BE49-F238E27FC236}">
                <a16:creationId xmlns:a16="http://schemas.microsoft.com/office/drawing/2014/main" id="{FC733BC1-D727-66EB-B892-4D2BB836029A}"/>
              </a:ext>
            </a:extLst>
          </p:cNvPr>
          <p:cNvSpPr/>
          <p:nvPr/>
        </p:nvSpPr>
        <p:spPr>
          <a:xfrm>
            <a:off x="13034391" y="6083884"/>
            <a:ext cx="3019425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5" name="Shape 66">
            <a:extLst>
              <a:ext uri="{FF2B5EF4-FFF2-40B4-BE49-F238E27FC236}">
                <a16:creationId xmlns:a16="http://schemas.microsoft.com/office/drawing/2014/main" id="{ED2AA437-4CA4-D5AA-16FC-4EC202EEE877}"/>
              </a:ext>
            </a:extLst>
          </p:cNvPr>
          <p:cNvSpPr/>
          <p:nvPr/>
        </p:nvSpPr>
        <p:spPr>
          <a:xfrm>
            <a:off x="13034391" y="6250076"/>
            <a:ext cx="1180540" cy="66751"/>
          </a:xfrm>
          <a:prstGeom prst="roundRect">
            <a:avLst>
              <a:gd name="adj" fmla="val 49315"/>
            </a:avLst>
          </a:prstGeom>
          <a:solidFill>
            <a:srgbClr val="B9D1EB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6" name="Shape 67">
            <a:extLst>
              <a:ext uri="{FF2B5EF4-FFF2-40B4-BE49-F238E27FC236}">
                <a16:creationId xmlns:a16="http://schemas.microsoft.com/office/drawing/2014/main" id="{EF502428-2CC8-4AC5-1400-C2D46D188A55}"/>
              </a:ext>
            </a:extLst>
          </p:cNvPr>
          <p:cNvSpPr/>
          <p:nvPr/>
        </p:nvSpPr>
        <p:spPr>
          <a:xfrm>
            <a:off x="14291131" y="6250076"/>
            <a:ext cx="843243" cy="66751"/>
          </a:xfrm>
          <a:prstGeom prst="roundRect">
            <a:avLst>
              <a:gd name="adj" fmla="val 49315"/>
            </a:avLst>
          </a:prstGeom>
          <a:solidFill>
            <a:srgbClr val="D6E4F3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7" name="Shape 68">
            <a:extLst>
              <a:ext uri="{FF2B5EF4-FFF2-40B4-BE49-F238E27FC236}">
                <a16:creationId xmlns:a16="http://schemas.microsoft.com/office/drawing/2014/main" id="{A09EE751-80D6-E573-117B-1D2FA50AEE29}"/>
              </a:ext>
            </a:extLst>
          </p:cNvPr>
          <p:cNvSpPr/>
          <p:nvPr/>
        </p:nvSpPr>
        <p:spPr>
          <a:xfrm>
            <a:off x="15210573" y="6250076"/>
            <a:ext cx="843243" cy="66751"/>
          </a:xfrm>
          <a:prstGeom prst="roundRect">
            <a:avLst>
              <a:gd name="adj" fmla="val 49315"/>
            </a:avLst>
          </a:prstGeom>
          <a:solidFill>
            <a:srgbClr val="D6E4F3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8" name="Shape 69">
            <a:extLst>
              <a:ext uri="{FF2B5EF4-FFF2-40B4-BE49-F238E27FC236}">
                <a16:creationId xmlns:a16="http://schemas.microsoft.com/office/drawing/2014/main" id="{7ACD1322-7E45-185F-C444-B22E4A259A58}"/>
              </a:ext>
            </a:extLst>
          </p:cNvPr>
          <p:cNvSpPr/>
          <p:nvPr/>
        </p:nvSpPr>
        <p:spPr>
          <a:xfrm>
            <a:off x="13034391" y="6535826"/>
            <a:ext cx="1180540" cy="66751"/>
          </a:xfrm>
          <a:prstGeom prst="roundRect">
            <a:avLst>
              <a:gd name="adj" fmla="val 49315"/>
            </a:avLst>
          </a:prstGeom>
          <a:solidFill>
            <a:srgbClr val="B9D1EB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79" name="Shape 70">
            <a:extLst>
              <a:ext uri="{FF2B5EF4-FFF2-40B4-BE49-F238E27FC236}">
                <a16:creationId xmlns:a16="http://schemas.microsoft.com/office/drawing/2014/main" id="{7441DA8D-B724-0DE6-0535-6BBFEB4FC112}"/>
              </a:ext>
            </a:extLst>
          </p:cNvPr>
          <p:cNvSpPr/>
          <p:nvPr/>
        </p:nvSpPr>
        <p:spPr>
          <a:xfrm>
            <a:off x="14291131" y="6535826"/>
            <a:ext cx="843243" cy="66751"/>
          </a:xfrm>
          <a:prstGeom prst="roundRect">
            <a:avLst>
              <a:gd name="adj" fmla="val 49315"/>
            </a:avLst>
          </a:prstGeom>
          <a:solidFill>
            <a:srgbClr val="D6E4F3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0" name="Shape 71">
            <a:extLst>
              <a:ext uri="{FF2B5EF4-FFF2-40B4-BE49-F238E27FC236}">
                <a16:creationId xmlns:a16="http://schemas.microsoft.com/office/drawing/2014/main" id="{D2BBEF8F-F609-BCD7-DB19-6332155D4D44}"/>
              </a:ext>
            </a:extLst>
          </p:cNvPr>
          <p:cNvSpPr/>
          <p:nvPr/>
        </p:nvSpPr>
        <p:spPr>
          <a:xfrm>
            <a:off x="15210573" y="6535826"/>
            <a:ext cx="843243" cy="66751"/>
          </a:xfrm>
          <a:prstGeom prst="roundRect">
            <a:avLst>
              <a:gd name="adj" fmla="val 49315"/>
            </a:avLst>
          </a:prstGeom>
          <a:solidFill>
            <a:srgbClr val="D6E4F3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1" name="Shape 72">
            <a:extLst>
              <a:ext uri="{FF2B5EF4-FFF2-40B4-BE49-F238E27FC236}">
                <a16:creationId xmlns:a16="http://schemas.microsoft.com/office/drawing/2014/main" id="{0E092A23-C52F-260D-06C0-5B96A9DEBE9B}"/>
              </a:ext>
            </a:extLst>
          </p:cNvPr>
          <p:cNvSpPr/>
          <p:nvPr/>
        </p:nvSpPr>
        <p:spPr>
          <a:xfrm>
            <a:off x="13034391" y="6821576"/>
            <a:ext cx="1180540" cy="66751"/>
          </a:xfrm>
          <a:prstGeom prst="roundRect">
            <a:avLst>
              <a:gd name="adj" fmla="val 49315"/>
            </a:avLst>
          </a:prstGeom>
          <a:solidFill>
            <a:srgbClr val="B9D1EB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2" name="Shape 73">
            <a:extLst>
              <a:ext uri="{FF2B5EF4-FFF2-40B4-BE49-F238E27FC236}">
                <a16:creationId xmlns:a16="http://schemas.microsoft.com/office/drawing/2014/main" id="{E3BC0A46-DC13-62B7-E8D3-42419FE6CF47}"/>
              </a:ext>
            </a:extLst>
          </p:cNvPr>
          <p:cNvSpPr/>
          <p:nvPr/>
        </p:nvSpPr>
        <p:spPr>
          <a:xfrm>
            <a:off x="14291131" y="6821576"/>
            <a:ext cx="843243" cy="66751"/>
          </a:xfrm>
          <a:prstGeom prst="roundRect">
            <a:avLst>
              <a:gd name="adj" fmla="val 49315"/>
            </a:avLst>
          </a:prstGeom>
          <a:solidFill>
            <a:srgbClr val="D6E4F3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3" name="Shape 74">
            <a:extLst>
              <a:ext uri="{FF2B5EF4-FFF2-40B4-BE49-F238E27FC236}">
                <a16:creationId xmlns:a16="http://schemas.microsoft.com/office/drawing/2014/main" id="{C6A19D62-715B-75F4-8784-F0632FC26017}"/>
              </a:ext>
            </a:extLst>
          </p:cNvPr>
          <p:cNvSpPr/>
          <p:nvPr/>
        </p:nvSpPr>
        <p:spPr>
          <a:xfrm>
            <a:off x="15210573" y="6821576"/>
            <a:ext cx="843243" cy="66751"/>
          </a:xfrm>
          <a:prstGeom prst="roundRect">
            <a:avLst>
              <a:gd name="adj" fmla="val 49315"/>
            </a:avLst>
          </a:prstGeom>
          <a:solidFill>
            <a:srgbClr val="D6E4F3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4" name="Shape 75">
            <a:extLst>
              <a:ext uri="{FF2B5EF4-FFF2-40B4-BE49-F238E27FC236}">
                <a16:creationId xmlns:a16="http://schemas.microsoft.com/office/drawing/2014/main" id="{6CA42126-0CC2-A5E4-9091-A56A37D3DAA4}"/>
              </a:ext>
            </a:extLst>
          </p:cNvPr>
          <p:cNvSpPr/>
          <p:nvPr/>
        </p:nvSpPr>
        <p:spPr>
          <a:xfrm>
            <a:off x="3006090" y="7617714"/>
            <a:ext cx="12268200" cy="0"/>
          </a:xfrm>
          <a:prstGeom prst="line">
            <a:avLst/>
          </a:prstGeom>
          <a:noFill/>
          <a:ln w="9525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5" name="Shape 76">
            <a:extLst>
              <a:ext uri="{FF2B5EF4-FFF2-40B4-BE49-F238E27FC236}">
                <a16:creationId xmlns:a16="http://schemas.microsoft.com/office/drawing/2014/main" id="{3C5DC4E5-73DF-A40F-7C53-34BD5D724A9D}"/>
              </a:ext>
            </a:extLst>
          </p:cNvPr>
          <p:cNvSpPr/>
          <p:nvPr/>
        </p:nvSpPr>
        <p:spPr>
          <a:xfrm>
            <a:off x="3006090" y="8265414"/>
            <a:ext cx="12268200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86" name="Text 77">
            <a:extLst>
              <a:ext uri="{FF2B5EF4-FFF2-40B4-BE49-F238E27FC236}">
                <a16:creationId xmlns:a16="http://schemas.microsoft.com/office/drawing/2014/main" id="{77407A06-92D2-55B9-29E2-FB420DCD977D}"/>
              </a:ext>
            </a:extLst>
          </p:cNvPr>
          <p:cNvSpPr txBox="1"/>
          <p:nvPr/>
        </p:nvSpPr>
        <p:spPr>
          <a:xfrm>
            <a:off x="3006090" y="7617714"/>
            <a:ext cx="12268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QUESTION</a:t>
            </a:r>
            <a:r>
              <a:rPr lang="en-US" sz="1700" b="1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 →  GOVERNED ANALYSIS  →  EVIDENCE  →  </a:t>
            </a: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REPORT</a:t>
            </a:r>
            <a:endParaRPr lang="en-US" sz="1700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202408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D6789-530C-6FB6-03F8-8741F702E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793152-C89D-D3A8-D241-DFD3B9B582F4}"/>
              </a:ext>
            </a:extLst>
          </p:cNvPr>
          <p:cNvSpPr/>
          <p:nvPr/>
        </p:nvSpPr>
        <p:spPr>
          <a:xfrm>
            <a:off x="1009650" y="752475"/>
            <a:ext cx="16268700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67A2561-3166-FB63-86EA-6A033D419B10}"/>
              </a:ext>
            </a:extLst>
          </p:cNvPr>
          <p:cNvSpPr/>
          <p:nvPr/>
        </p:nvSpPr>
        <p:spPr>
          <a:xfrm>
            <a:off x="8572500" y="2305050"/>
            <a:ext cx="1143000" cy="0"/>
          </a:xfrm>
          <a:prstGeom prst="line">
            <a:avLst/>
          </a:prstGeom>
          <a:noFill/>
          <a:ln w="571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BBEDC75-A230-0C0D-590A-F79206EFA869}"/>
              </a:ext>
            </a:extLst>
          </p:cNvPr>
          <p:cNvSpPr txBox="1"/>
          <p:nvPr/>
        </p:nvSpPr>
        <p:spPr>
          <a:xfrm>
            <a:off x="5810250" y="4406291"/>
            <a:ext cx="6667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ko-KR" altLang="en-US" sz="9600" b="1">
                <a:solidFill>
                  <a:srgbClr val="176FE5"/>
                </a:solidFill>
                <a:latin typeface="Arial"/>
                <a:ea typeface="Calibri"/>
                <a:cs typeface="Arial"/>
              </a:rPr>
              <a:t>서비스 시연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07AC6C23-19D4-5BD9-9883-A6A5DE5E7F47}"/>
              </a:ext>
            </a:extLst>
          </p:cNvPr>
          <p:cNvSpPr/>
          <p:nvPr/>
        </p:nvSpPr>
        <p:spPr>
          <a:xfrm>
            <a:off x="5810250" y="6057900"/>
            <a:ext cx="6667500" cy="0"/>
          </a:xfrm>
          <a:prstGeom prst="line">
            <a:avLst/>
          </a:prstGeom>
          <a:noFill/>
          <a:ln w="19050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6558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05840" y="9015984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DEMO FLOW</a:t>
            </a:r>
            <a:endParaRPr lang="en-US" sz="1100">
              <a:ea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848100" y="2569464"/>
            <a:ext cx="10582656" cy="5952744"/>
          </a:xfrm>
          <a:prstGeom prst="roundRect">
            <a:avLst>
              <a:gd name="adj" fmla="val 3492"/>
            </a:avLst>
          </a:prstGeom>
          <a:solidFill>
            <a:srgbClr val="0B2F4D"/>
          </a:solidFill>
          <a:ln w="9525">
            <a:solidFill>
              <a:srgbClr val="C9D8E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90588" y="3039831"/>
            <a:ext cx="4297680" cy="4297680"/>
          </a:xfrm>
          <a:prstGeom prst="ellipse">
            <a:avLst/>
          </a:prstGeom>
          <a:solidFill>
            <a:srgbClr val="176FE5">
              <a:alpha val="4000"/>
            </a:srgbClr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04988" y="3954231"/>
            <a:ext cx="2468880" cy="2468880"/>
          </a:xfrm>
          <a:prstGeom prst="ellipse">
            <a:avLst/>
          </a:prstGeom>
          <a:solidFill>
            <a:srgbClr val="176FE5">
              <a:alpha val="4000"/>
            </a:srgbClr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39428" y="3072384"/>
            <a:ext cx="0" cy="4946904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131564" y="2805684"/>
            <a:ext cx="5820461" cy="264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A8BDCF"/>
                </a:solidFill>
                <a:latin typeface="Pretendard" pitchFamily="34" charset="0"/>
                <a:ea typeface="Pretendard"/>
                <a:cs typeface="Pretendard" pitchFamily="34" charset="-120"/>
              </a:rPr>
              <a:t>ANSWERVICE · PRODUCT DEMO</a:t>
            </a:r>
            <a:endParaRPr lang="en-US" sz="120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1785092" y="2805684"/>
            <a:ext cx="2362200" cy="264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>
                <a:solidFill>
                  <a:srgbClr val="A8BDCF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01:30</a:t>
            </a:r>
            <a:endParaRPr lang="en-US" sz="1200">
              <a:latin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648090" y="4232453"/>
            <a:ext cx="982675" cy="982675"/>
          </a:xfrm>
          <a:prstGeom prst="ellipse">
            <a:avLst/>
          </a:prstGeom>
          <a:solidFill>
            <a:srgbClr val="3E8FF0"/>
          </a:solidFill>
          <a:ln w="9525">
            <a:solidFill>
              <a:srgbClr val="FFFFFF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 rot="5400000">
            <a:off x="9021507" y="4527255"/>
            <a:ext cx="304629" cy="393070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848100" y="5479694"/>
            <a:ext cx="10582656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서비스 시연 영상</a:t>
            </a:r>
            <a:endParaRPr lang="en-US" sz="3000">
              <a:ea typeface="Pretendard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3848100" y="6027725"/>
            <a:ext cx="10582656" cy="321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C2D2E0"/>
                </a:solidFill>
                <a:latin typeface="Pretendard"/>
                <a:ea typeface="Pretendard"/>
                <a:cs typeface="Pretendard" pitchFamily="34" charset="-120"/>
              </a:rPr>
              <a:t>약 90초 · 질문 입력부터 보고서 편집까지</a:t>
            </a:r>
            <a:endParaRPr lang="en-US" sz="1800">
              <a:latin typeface="Pretendard"/>
              <a:ea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957828" y="8496605"/>
            <a:ext cx="10363200" cy="0"/>
          </a:xfrm>
          <a:prstGeom prst="line">
            <a:avLst/>
          </a:prstGeom>
          <a:noFill/>
          <a:ln w="57150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57828" y="8496605"/>
            <a:ext cx="1865376" cy="0"/>
          </a:xfrm>
          <a:prstGeom prst="line">
            <a:avLst/>
          </a:prstGeom>
          <a:noFill/>
          <a:ln w="571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2478024" y="8951976"/>
            <a:ext cx="14804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질문</a:t>
            </a:r>
            <a:r>
              <a:rPr lang="en-US" sz="20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  →   분석   →   </a:t>
            </a: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결과</a:t>
            </a:r>
            <a:r>
              <a:rPr lang="en-US" sz="20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  →   근거   →   </a:t>
            </a: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보고서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FA32A10-64C5-435A-50C8-061B92083AC4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latin typeface="Pretendard"/>
                <a:ea typeface="맑은 고딕"/>
              </a:rPr>
              <a:t>서비스 시연</a:t>
            </a:r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B2BE8F3B-9064-C5FE-4320-B98E9E2A56E5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04312A1-3FEB-C9D9-331C-491D24B55E77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19 · DEMO</a:t>
            </a:r>
            <a:endParaRPr lang="en-US" sz="1100">
              <a:latin typeface="Pretendar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05840" y="9015984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kern="0" spc="12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FUNCTION SCOPE</a:t>
            </a:r>
            <a:endParaRPr lang="en-US" sz="1100">
              <a:latin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623164" y="8951976"/>
            <a:ext cx="14804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분석·문서 검색·수요 예측을 </a:t>
            </a:r>
            <a:r>
              <a:rPr lang="en-US" sz="24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하나의 서비스 흐름으로 제공</a:t>
            </a:r>
            <a:endParaRPr lang="en-US" sz="2400">
              <a:latin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05840" y="2569464"/>
            <a:ext cx="16267176" cy="3383280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307592" y="2834640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01</a:t>
            </a:r>
            <a:endParaRPr lang="en-US" sz="1800">
              <a:latin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737360" y="2816352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공통 업무 흐름</a:t>
            </a:r>
            <a:endParaRPr lang="en-US" sz="1800">
              <a:latin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307592" y="3346704"/>
            <a:ext cx="15654528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307592" y="3694176"/>
            <a:ext cx="2743200" cy="1426464"/>
          </a:xfrm>
          <a:prstGeom prst="roundRect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536192" y="3977640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536192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1</a:t>
            </a:r>
            <a:endParaRPr lang="en-US" sz="1200">
              <a:latin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536192" y="455371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자연어 질문</a:t>
            </a:r>
            <a:endParaRPr lang="en-US" sz="2000"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23944" y="4407408"/>
            <a:ext cx="347472" cy="0"/>
          </a:xfrm>
          <a:prstGeom prst="line">
            <a:avLst/>
          </a:prstGeom>
          <a:noFill/>
          <a:ln w="15875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44568" y="3694176"/>
            <a:ext cx="2743200" cy="1426464"/>
          </a:xfrm>
          <a:prstGeom prst="roundRect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73168" y="3977640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773168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2</a:t>
            </a:r>
            <a:endParaRPr lang="en-US" sz="1200">
              <a:latin typeface="Pretendard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773168" y="455371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카탈로그 탐색</a:t>
            </a:r>
            <a:endParaRPr lang="en-US" sz="2000">
              <a:ea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360920" y="4407408"/>
            <a:ext cx="347472" cy="0"/>
          </a:xfrm>
          <a:prstGeom prst="line">
            <a:avLst/>
          </a:prstGeom>
          <a:noFill/>
          <a:ln w="15875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781544" y="3694176"/>
            <a:ext cx="2743200" cy="1426464"/>
          </a:xfrm>
          <a:prstGeom prst="roundRect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10144" y="3977640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010144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3</a:t>
            </a:r>
            <a:endParaRPr lang="en-US" sz="1200">
              <a:latin typeface="Pretendard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010144" y="455371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Pretendard" pitchFamily="34" charset="0"/>
                <a:ea typeface="Pretendard"/>
                <a:cs typeface="Pretendard" pitchFamily="34" charset="-120"/>
              </a:rPr>
              <a:t>분석·검증</a:t>
            </a:r>
            <a:endParaRPr lang="en-US" sz="2000">
              <a:ea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597896" y="4407408"/>
            <a:ext cx="347472" cy="0"/>
          </a:xfrm>
          <a:prstGeom prst="line">
            <a:avLst/>
          </a:prstGeom>
          <a:noFill/>
          <a:ln w="15875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1018520" y="3694176"/>
            <a:ext cx="2743200" cy="1426464"/>
          </a:xfrm>
          <a:prstGeom prst="roundRect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1247120" y="3977640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11247120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4</a:t>
            </a:r>
            <a:endParaRPr lang="en-US" sz="1200">
              <a:latin typeface="Pretendard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1247120" y="455371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결과·근거 저장</a:t>
            </a:r>
            <a:endParaRPr lang="en-US" sz="2000">
              <a:ea typeface="Pretendard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3834872" y="4407408"/>
            <a:ext cx="347472" cy="0"/>
          </a:xfrm>
          <a:prstGeom prst="line">
            <a:avLst/>
          </a:prstGeom>
          <a:noFill/>
          <a:ln w="15875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4255496" y="3694176"/>
            <a:ext cx="2743200" cy="1426464"/>
          </a:xfrm>
          <a:prstGeom prst="roundRect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4484096" y="3977640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14484096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5</a:t>
            </a:r>
            <a:endParaRPr lang="en-US" sz="1200">
              <a:latin typeface="Pretendard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4484096" y="455371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Pretendard" pitchFamily="34" charset="0"/>
                <a:ea typeface="Pretendard"/>
                <a:cs typeface="Pretendard" pitchFamily="34" charset="-120"/>
              </a:rPr>
              <a:t>보고서 생성</a:t>
            </a:r>
            <a:endParaRPr lang="en-US" sz="2000">
              <a:ea typeface="Pretendard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307592" y="5276088"/>
            <a:ext cx="15654528" cy="438912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1307592" y="5312664"/>
            <a:ext cx="1565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질문을 검증된 분석 결과와 보고서로 연결하는 주 경로</a:t>
            </a:r>
            <a:endParaRPr lang="en-US" sz="1250">
              <a:latin typeface="Pretendard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1005840" y="61813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150" b="1" kern="0" spc="5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부가 </a:t>
            </a:r>
            <a:r>
              <a:rPr lang="en-US" sz="1150" b="1" kern="0" spc="5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기능</a:t>
            </a:r>
            <a:endParaRPr lang="en-US" sz="1150">
              <a:latin typeface="Pretendard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005840" y="6492240"/>
            <a:ext cx="7845552" cy="1307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005840" y="6492240"/>
            <a:ext cx="2240280" cy="1307592"/>
          </a:xfrm>
          <a:prstGeom prst="rect">
            <a:avLst/>
          </a:prstGeom>
          <a:solidFill>
            <a:srgbClr val="EAF3FF"/>
          </a:solidFill>
          <a:ln w="10160">
            <a:solidFill>
              <a:srgbClr val="B9C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1225296" y="669340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kern="0" spc="9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DOCUMENT SEARCH</a:t>
            </a:r>
            <a:endParaRPr lang="en-US" sz="850">
              <a:ea typeface="Pretendard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1225296" y="6958584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내부 문서 RAG</a:t>
            </a:r>
            <a:endParaRPr lang="en-US" sz="1500">
              <a:latin typeface="Pretendard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225296" y="7351776"/>
            <a:ext cx="676656" cy="2651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1225296" y="737463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구현 완료</a:t>
            </a:r>
            <a:endParaRPr lang="en-US" sz="800">
              <a:latin typeface="Pretendard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3593592" y="69860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01</a:t>
            </a:r>
            <a:endParaRPr lang="en-US" sz="1050">
              <a:ea typeface="Pretendard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3886200" y="6931152"/>
            <a:ext cx="1298448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승인 문서 검색</a:t>
            </a:r>
            <a:endParaRPr lang="en-US" sz="1400">
              <a:latin typeface="Pretendard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114544" y="6729984"/>
            <a:ext cx="0" cy="832104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5462016" y="69860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02</a:t>
            </a:r>
            <a:endParaRPr lang="en-US" sz="1050">
              <a:latin typeface="Pretendard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5754624" y="6931152"/>
            <a:ext cx="1298448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관련 문단 추출</a:t>
            </a:r>
            <a:endParaRPr lang="en-US" sz="1400">
              <a:ea typeface="Pretendard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982968" y="6729984"/>
            <a:ext cx="0" cy="832104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7330440" y="69860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03</a:t>
            </a:r>
            <a:endParaRPr lang="en-US" sz="1050">
              <a:latin typeface="Pretendard"/>
            </a:endParaRPr>
          </a:p>
        </p:txBody>
      </p:sp>
      <p:sp>
        <p:nvSpPr>
          <p:cNvPr id="54" name="Text 52"/>
          <p:cNvSpPr txBox="1"/>
          <p:nvPr/>
        </p:nvSpPr>
        <p:spPr>
          <a:xfrm>
            <a:off x="7623048" y="6931152"/>
            <a:ext cx="1298448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근거 답변 생성</a:t>
            </a:r>
            <a:endParaRPr lang="en-US" sz="1400">
              <a:ea typeface="Pretendard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427464" y="6492240"/>
            <a:ext cx="7845552" cy="1307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EE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427464" y="6492240"/>
            <a:ext cx="2240280" cy="1307592"/>
          </a:xfrm>
          <a:prstGeom prst="rect">
            <a:avLst/>
          </a:prstGeom>
          <a:solidFill>
            <a:srgbClr val="EAF3FF"/>
          </a:solidFill>
          <a:ln w="10160">
            <a:solidFill>
              <a:srgbClr val="B9CEE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7" name="Text 55"/>
          <p:cNvSpPr txBox="1"/>
          <p:nvPr/>
        </p:nvSpPr>
        <p:spPr>
          <a:xfrm>
            <a:off x="9646920" y="669340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kern="0" spc="9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DEMAND FORECAST</a:t>
            </a:r>
            <a:endParaRPr lang="en-US" sz="850">
              <a:latin typeface="Pretendard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9646920" y="6958584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객실 수요 예측</a:t>
            </a:r>
            <a:endParaRPr lang="en-US" sz="1500">
              <a:ea typeface="Pretendard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9646920" y="7351776"/>
            <a:ext cx="676656" cy="2651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60" name="Text 58"/>
          <p:cNvSpPr txBox="1"/>
          <p:nvPr/>
        </p:nvSpPr>
        <p:spPr>
          <a:xfrm>
            <a:off x="9646920" y="737463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구현 완료</a:t>
            </a:r>
            <a:endParaRPr lang="en-US" sz="800">
              <a:latin typeface="Pretendard"/>
            </a:endParaRPr>
          </a:p>
        </p:txBody>
      </p:sp>
      <p:sp>
        <p:nvSpPr>
          <p:cNvPr id="61" name="Text 59"/>
          <p:cNvSpPr txBox="1"/>
          <p:nvPr/>
        </p:nvSpPr>
        <p:spPr>
          <a:xfrm>
            <a:off x="12015216" y="69860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01</a:t>
            </a:r>
            <a:endParaRPr lang="en-US" sz="1050">
              <a:ea typeface="Pretendard"/>
            </a:endParaRPr>
          </a:p>
        </p:txBody>
      </p:sp>
      <p:sp>
        <p:nvSpPr>
          <p:cNvPr id="62" name="Text 60"/>
          <p:cNvSpPr txBox="1"/>
          <p:nvPr/>
        </p:nvSpPr>
        <p:spPr>
          <a:xfrm>
            <a:off x="12307824" y="6931152"/>
            <a:ext cx="129844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호텔·기준일 입력</a:t>
            </a:r>
            <a:endParaRPr lang="en-US" sz="1400">
              <a:latin typeface="Pretendard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3536168" y="6729984"/>
            <a:ext cx="0" cy="832104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 txBox="1"/>
          <p:nvPr/>
        </p:nvSpPr>
        <p:spPr>
          <a:xfrm>
            <a:off x="13883640" y="69860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02</a:t>
            </a:r>
            <a:endParaRPr lang="en-US" sz="1050">
              <a:ea typeface="Pretendard"/>
            </a:endParaRPr>
          </a:p>
        </p:txBody>
      </p:sp>
      <p:sp>
        <p:nvSpPr>
          <p:cNvPr id="65" name="Text 63"/>
          <p:cNvSpPr txBox="1"/>
          <p:nvPr/>
        </p:nvSpPr>
        <p:spPr>
          <a:xfrm>
            <a:off x="14176248" y="6931152"/>
            <a:ext cx="1298448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향후 1~7일 </a:t>
            </a:r>
            <a:r>
              <a:rPr lang="en-US" sz="1400" b="1" err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예측</a:t>
            </a:r>
            <a:endParaRPr lang="en-US" sz="1400">
              <a:latin typeface="Pretendard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15404592" y="6729984"/>
            <a:ext cx="0" cy="832104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67" name="Text 65"/>
          <p:cNvSpPr txBox="1"/>
          <p:nvPr/>
        </p:nvSpPr>
        <p:spPr>
          <a:xfrm>
            <a:off x="15752064" y="69860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03</a:t>
            </a:r>
            <a:endParaRPr lang="en-US" sz="1050">
              <a:latin typeface="Pretendard"/>
            </a:endParaRPr>
          </a:p>
        </p:txBody>
      </p:sp>
      <p:sp>
        <p:nvSpPr>
          <p:cNvPr id="68" name="Text 66"/>
          <p:cNvSpPr txBox="1"/>
          <p:nvPr/>
        </p:nvSpPr>
        <p:spPr>
          <a:xfrm>
            <a:off x="16044672" y="6931152"/>
            <a:ext cx="1298448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err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점유·잔여</a:t>
            </a:r>
            <a:r>
              <a:rPr lang="en-US" sz="14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1400" b="1" err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객실</a:t>
            </a:r>
            <a:endParaRPr lang="en-US" sz="1400">
              <a:ea typeface="Pretendard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1005840" y="8046720"/>
            <a:ext cx="16267176" cy="47548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70" name="Text 68"/>
          <p:cNvSpPr txBox="1"/>
          <p:nvPr/>
        </p:nvSpPr>
        <p:spPr>
          <a:xfrm>
            <a:off x="1271016" y="817473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8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FUNCTION FLOW</a:t>
            </a:r>
            <a:endParaRPr lang="en-US" sz="950">
              <a:latin typeface="Pretendard"/>
            </a:endParaRPr>
          </a:p>
        </p:txBody>
      </p:sp>
      <p:sp>
        <p:nvSpPr>
          <p:cNvPr id="71" name="Text 69"/>
          <p:cNvSpPr txBox="1"/>
          <p:nvPr/>
        </p:nvSpPr>
        <p:spPr>
          <a:xfrm>
            <a:off x="3273552" y="8147304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질문에 맞는 기능 선택</a:t>
            </a:r>
            <a:endParaRPr lang="en-US" sz="1120">
              <a:latin typeface="Pretendard"/>
            </a:endParaRPr>
          </a:p>
        </p:txBody>
      </p:sp>
      <p:sp>
        <p:nvSpPr>
          <p:cNvPr id="72" name="Text 70"/>
          <p:cNvSpPr txBox="1"/>
          <p:nvPr/>
        </p:nvSpPr>
        <p:spPr>
          <a:xfrm>
            <a:off x="5001768" y="812901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›</a:t>
            </a:r>
            <a:endParaRPr lang="en-US" sz="1500">
              <a:ea typeface="Pretendard"/>
            </a:endParaRPr>
          </a:p>
        </p:txBody>
      </p:sp>
      <p:sp>
        <p:nvSpPr>
          <p:cNvPr id="73" name="Text 71"/>
          <p:cNvSpPr txBox="1"/>
          <p:nvPr/>
        </p:nvSpPr>
        <p:spPr>
          <a:xfrm>
            <a:off x="5358384" y="814730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검증된 결과 생성</a:t>
            </a:r>
            <a:endParaRPr lang="en-US" sz="1120">
              <a:latin typeface="Pretendard"/>
            </a:endParaRPr>
          </a:p>
        </p:txBody>
      </p:sp>
      <p:sp>
        <p:nvSpPr>
          <p:cNvPr id="74" name="Text 72"/>
          <p:cNvSpPr txBox="1"/>
          <p:nvPr/>
        </p:nvSpPr>
        <p:spPr>
          <a:xfrm>
            <a:off x="6876288" y="812901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›</a:t>
            </a:r>
            <a:endParaRPr lang="en-US" sz="1500">
              <a:latin typeface="Pretendard"/>
            </a:endParaRPr>
          </a:p>
        </p:txBody>
      </p:sp>
      <p:sp>
        <p:nvSpPr>
          <p:cNvPr id="75" name="Text 73"/>
          <p:cNvSpPr txBox="1"/>
          <p:nvPr/>
        </p:nvSpPr>
        <p:spPr>
          <a:xfrm>
            <a:off x="7232904" y="8147304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근거와 함께 저장·활용</a:t>
            </a:r>
            <a:endParaRPr lang="en-US" sz="1120">
              <a:ea typeface="Pretendard"/>
            </a:endParaRPr>
          </a:p>
        </p:txBody>
      </p:sp>
      <p:sp>
        <p:nvSpPr>
          <p:cNvPr id="77" name="Text 3">
            <a:extLst>
              <a:ext uri="{FF2B5EF4-FFF2-40B4-BE49-F238E27FC236}">
                <a16:creationId xmlns:a16="http://schemas.microsoft.com/office/drawing/2014/main" id="{5BDF4E20-20B8-5ECF-3436-55C9FF014419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latin typeface="Pretendard"/>
                <a:ea typeface="맑은 고딕"/>
              </a:rPr>
              <a:t>질문부터 보고서까지</a:t>
            </a:r>
          </a:p>
        </p:txBody>
      </p:sp>
      <p:sp>
        <p:nvSpPr>
          <p:cNvPr id="79" name="Shape 0">
            <a:extLst>
              <a:ext uri="{FF2B5EF4-FFF2-40B4-BE49-F238E27FC236}">
                <a16:creationId xmlns:a16="http://schemas.microsoft.com/office/drawing/2014/main" id="{BFD0D324-98F2-CD5C-C9E8-12B057D90E26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1" name="Text 1">
            <a:extLst>
              <a:ext uri="{FF2B5EF4-FFF2-40B4-BE49-F238E27FC236}">
                <a16:creationId xmlns:a16="http://schemas.microsoft.com/office/drawing/2014/main" id="{0C7497F7-A8F6-C7EA-606D-D23AE99709CE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20 · FUNCTION SCOPE</a:t>
            </a:r>
            <a:endParaRPr lang="en-US" sz="1100">
              <a:latin typeface="Pretendar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6D04E-D3B3-E059-E839-5ED3A0ABB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DB88BD-A9BA-FCD5-604F-5645C01F6652}"/>
              </a:ext>
            </a:extLst>
          </p:cNvPr>
          <p:cNvSpPr/>
          <p:nvPr/>
        </p:nvSpPr>
        <p:spPr>
          <a:xfrm>
            <a:off x="1009650" y="752475"/>
            <a:ext cx="16268700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F5A8278-EE7C-5579-C029-4CF5090D8C6A}"/>
              </a:ext>
            </a:extLst>
          </p:cNvPr>
          <p:cNvSpPr/>
          <p:nvPr/>
        </p:nvSpPr>
        <p:spPr>
          <a:xfrm>
            <a:off x="8572500" y="2305050"/>
            <a:ext cx="1143000" cy="0"/>
          </a:xfrm>
          <a:prstGeom prst="line">
            <a:avLst/>
          </a:prstGeom>
          <a:noFill/>
          <a:ln w="571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1221898-0917-2AF0-3976-A91291EC2363}"/>
              </a:ext>
            </a:extLst>
          </p:cNvPr>
          <p:cNvSpPr txBox="1"/>
          <p:nvPr/>
        </p:nvSpPr>
        <p:spPr>
          <a:xfrm>
            <a:off x="3620730" y="4406291"/>
            <a:ext cx="11046541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ko-KR" altLang="en-US" sz="9600" b="1">
                <a:solidFill>
                  <a:srgbClr val="176FE5"/>
                </a:solidFill>
                <a:latin typeface="Arial"/>
                <a:ea typeface="Calibri"/>
                <a:cs typeface="Arial"/>
              </a:rPr>
              <a:t> 아키텍처 및 기술 설명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5F2B37FB-905D-94D0-2558-BE78E0924265}"/>
              </a:ext>
            </a:extLst>
          </p:cNvPr>
          <p:cNvSpPr/>
          <p:nvPr/>
        </p:nvSpPr>
        <p:spPr>
          <a:xfrm>
            <a:off x="5810250" y="6057900"/>
            <a:ext cx="6667500" cy="0"/>
          </a:xfrm>
          <a:prstGeom prst="line">
            <a:avLst/>
          </a:prstGeom>
          <a:noFill/>
          <a:ln w="19050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709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3">
            <a:extLst>
              <a:ext uri="{FF2B5EF4-FFF2-40B4-BE49-F238E27FC236}">
                <a16:creationId xmlns:a16="http://schemas.microsoft.com/office/drawing/2014/main" id="{F3DCED40-95C2-5B03-2FBD-DB85D12A18AB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latin typeface="Pretendard"/>
                <a:ea typeface="맑은 고딕"/>
              </a:rPr>
              <a:t>기술 스택</a:t>
            </a:r>
            <a:endParaRPr lang="en-US" altLang="ko-KR" sz="3600" b="1">
              <a:solidFill>
                <a:srgbClr val="1D334F"/>
              </a:solidFill>
              <a:latin typeface="Pretendard"/>
              <a:ea typeface="맑은 고딕"/>
            </a:endParaRPr>
          </a:p>
        </p:txBody>
      </p:sp>
      <p:sp>
        <p:nvSpPr>
          <p:cNvPr id="2" name="Shape 0"/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05840" y="9015984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STACK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2478024" y="8951976"/>
            <a:ext cx="14804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역할을 나누고, </a:t>
            </a:r>
            <a:r>
              <a:rPr lang="en-US" sz="24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영역에 필요한 기술을 연결</a:t>
            </a:r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1009650" y="2305050"/>
            <a:ext cx="16268700" cy="1304925"/>
          </a:xfrm>
          <a:prstGeom prst="roundRect">
            <a:avLst>
              <a:gd name="adj" fmla="val 11679"/>
            </a:avLst>
          </a:prstGeom>
          <a:solidFill>
            <a:srgbClr val="FFFFFF"/>
          </a:solidFill>
          <a:ln w="1016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19175" y="2305504"/>
            <a:ext cx="3429454" cy="1304017"/>
          </a:xfrm>
          <a:prstGeom prst="rect">
            <a:avLst/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57700" y="2305050"/>
            <a:ext cx="0" cy="1304925"/>
          </a:xfrm>
          <a:prstGeom prst="line">
            <a:avLst/>
          </a:prstGeom>
          <a:noFill/>
          <a:ln w="8890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09700" y="2562225"/>
            <a:ext cx="2619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화면·보고서</a:t>
            </a:r>
            <a:endParaRPr lang="en-US" sz="2900"/>
          </a:p>
        </p:txBody>
      </p:sp>
      <p:sp>
        <p:nvSpPr>
          <p:cNvPr id="14" name="Text 12"/>
          <p:cNvSpPr txBox="1"/>
          <p:nvPr/>
        </p:nvSpPr>
        <p:spPr>
          <a:xfrm>
            <a:off x="1409700" y="3028950"/>
            <a:ext cx="2714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질문·차트·보고서 편집</a:t>
            </a:r>
            <a:endParaRPr lang="en-US" sz="1900"/>
          </a:p>
        </p:txBody>
      </p:sp>
      <p:pic>
        <p:nvPicPr>
          <p:cNvPr id="15" name="Image 0" descr="react-offici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8344" y="2529716"/>
            <a:ext cx="523875" cy="455543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552950" y="3143250"/>
            <a:ext cx="30146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</a:t>
            </a:r>
            <a:endParaRPr lang="en-US" sz="1700"/>
          </a:p>
        </p:txBody>
      </p:sp>
      <p:sp>
        <p:nvSpPr>
          <p:cNvPr id="17" name="Shape 14"/>
          <p:cNvSpPr/>
          <p:nvPr/>
        </p:nvSpPr>
        <p:spPr>
          <a:xfrm>
            <a:off x="7662862" y="2419350"/>
            <a:ext cx="0" cy="1076325"/>
          </a:xfrm>
          <a:prstGeom prst="line">
            <a:avLst/>
          </a:prstGeom>
          <a:noFill/>
          <a:ln w="825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pic>
        <p:nvPicPr>
          <p:cNvPr id="18" name="Image 1" descr="vite-offici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2544" y="2548766"/>
            <a:ext cx="685800" cy="417443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58113" y="3143250"/>
            <a:ext cx="30146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Vite</a:t>
            </a:r>
            <a:endParaRPr lang="en-US" sz="1700"/>
          </a:p>
        </p:txBody>
      </p:sp>
      <p:sp>
        <p:nvSpPr>
          <p:cNvPr id="20" name="Shape 16"/>
          <p:cNvSpPr/>
          <p:nvPr/>
        </p:nvSpPr>
        <p:spPr>
          <a:xfrm>
            <a:off x="10868025" y="2419350"/>
            <a:ext cx="0" cy="1076325"/>
          </a:xfrm>
          <a:prstGeom prst="line">
            <a:avLst/>
          </a:prstGeom>
          <a:noFill/>
          <a:ln w="825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11565731" y="2562225"/>
            <a:ext cx="1809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22B5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lang="en-US" sz="2400"/>
          </a:p>
        </p:txBody>
      </p:sp>
      <p:sp>
        <p:nvSpPr>
          <p:cNvPr id="22" name="Text 18"/>
          <p:cNvSpPr txBox="1"/>
          <p:nvPr/>
        </p:nvSpPr>
        <p:spPr>
          <a:xfrm>
            <a:off x="10963275" y="3143250"/>
            <a:ext cx="30146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Recharts</a:t>
            </a:r>
            <a:endParaRPr lang="en-US" sz="1700"/>
          </a:p>
        </p:txBody>
      </p:sp>
      <p:sp>
        <p:nvSpPr>
          <p:cNvPr id="23" name="Shape 19"/>
          <p:cNvSpPr/>
          <p:nvPr/>
        </p:nvSpPr>
        <p:spPr>
          <a:xfrm>
            <a:off x="14073188" y="2419350"/>
            <a:ext cx="0" cy="1076325"/>
          </a:xfrm>
          <a:prstGeom prst="line">
            <a:avLst/>
          </a:prstGeom>
          <a:noFill/>
          <a:ln w="825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pic>
        <p:nvPicPr>
          <p:cNvPr id="24" name="Image 2" descr="dndki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985206" y="2513012"/>
            <a:ext cx="1381125" cy="46037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4168438" y="3143250"/>
            <a:ext cx="30146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dnd-kit</a:t>
            </a:r>
            <a:endParaRPr lang="en-US" sz="1700"/>
          </a:p>
        </p:txBody>
      </p:sp>
      <p:sp>
        <p:nvSpPr>
          <p:cNvPr id="26" name="Shape 21"/>
          <p:cNvSpPr/>
          <p:nvPr/>
        </p:nvSpPr>
        <p:spPr>
          <a:xfrm>
            <a:off x="1009650" y="3743325"/>
            <a:ext cx="16268700" cy="1304925"/>
          </a:xfrm>
          <a:prstGeom prst="roundRect">
            <a:avLst>
              <a:gd name="adj" fmla="val 11679"/>
            </a:avLst>
          </a:prstGeom>
          <a:solidFill>
            <a:srgbClr val="FFFFFF"/>
          </a:solidFill>
          <a:ln w="1016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1019175" y="3752850"/>
            <a:ext cx="3438525" cy="1285875"/>
          </a:xfrm>
          <a:prstGeom prst="rect">
            <a:avLst/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4457700" y="3743325"/>
            <a:ext cx="0" cy="1304925"/>
          </a:xfrm>
          <a:prstGeom prst="line">
            <a:avLst/>
          </a:prstGeom>
          <a:noFill/>
          <a:ln w="8890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0" name="Text 25"/>
          <p:cNvSpPr txBox="1"/>
          <p:nvPr/>
        </p:nvSpPr>
        <p:spPr>
          <a:xfrm>
            <a:off x="1409700" y="4000500"/>
            <a:ext cx="2619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서버·통제</a:t>
            </a:r>
            <a:endParaRPr lang="en-US" sz="2900"/>
          </a:p>
        </p:txBody>
      </p:sp>
      <p:sp>
        <p:nvSpPr>
          <p:cNvPr id="31" name="Text 26"/>
          <p:cNvSpPr txBox="1"/>
          <p:nvPr/>
        </p:nvSpPr>
        <p:spPr>
          <a:xfrm>
            <a:off x="1409700" y="4467225"/>
            <a:ext cx="2714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API·SQL 검증·PDF</a:t>
            </a:r>
            <a:endParaRPr lang="en-US" sz="1900"/>
          </a:p>
        </p:txBody>
      </p:sp>
      <p:pic>
        <p:nvPicPr>
          <p:cNvPr id="32" name="Image 3" descr="fastapi-officia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5550" y="3933825"/>
            <a:ext cx="1189463" cy="4286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4552950" y="4581525"/>
            <a:ext cx="30146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</a:t>
            </a:r>
            <a:endParaRPr lang="en-US" sz="1700"/>
          </a:p>
        </p:txBody>
      </p:sp>
      <p:sp>
        <p:nvSpPr>
          <p:cNvPr id="34" name="Shape 28"/>
          <p:cNvSpPr/>
          <p:nvPr/>
        </p:nvSpPr>
        <p:spPr>
          <a:xfrm>
            <a:off x="7662862" y="3857625"/>
            <a:ext cx="0" cy="1076325"/>
          </a:xfrm>
          <a:prstGeom prst="line">
            <a:avLst/>
          </a:prstGeom>
          <a:noFill/>
          <a:ln w="825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pic>
        <p:nvPicPr>
          <p:cNvPr id="35" name="Image 4" descr="sqlalchemy-officia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4881" y="4017407"/>
            <a:ext cx="1381125" cy="29003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758113" y="4581525"/>
            <a:ext cx="30146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SQLAlchemy · Alembic</a:t>
            </a:r>
            <a:endParaRPr lang="en-US" sz="1600"/>
          </a:p>
        </p:txBody>
      </p:sp>
      <p:sp>
        <p:nvSpPr>
          <p:cNvPr id="37" name="Shape 30"/>
          <p:cNvSpPr/>
          <p:nvPr/>
        </p:nvSpPr>
        <p:spPr>
          <a:xfrm>
            <a:off x="10868025" y="3857625"/>
            <a:ext cx="0" cy="1076325"/>
          </a:xfrm>
          <a:prstGeom prst="line">
            <a:avLst/>
          </a:prstGeom>
          <a:noFill/>
          <a:ln w="825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11813381" y="4038600"/>
            <a:ext cx="1314450" cy="457200"/>
          </a:xfrm>
          <a:prstGeom prst="roundRect">
            <a:avLst>
              <a:gd name="adj" fmla="val 16667"/>
            </a:avLst>
          </a:prstGeom>
          <a:solidFill>
            <a:srgbClr val="0D1320"/>
          </a:solidFill>
          <a:ln/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pic>
        <p:nvPicPr>
          <p:cNvPr id="39" name="Image 5" descr="sqlglo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18156" y="4130814"/>
            <a:ext cx="1104900" cy="27277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0963275" y="4581525"/>
            <a:ext cx="30146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SQLGlot</a:t>
            </a:r>
            <a:endParaRPr lang="en-US" sz="1700"/>
          </a:p>
        </p:txBody>
      </p:sp>
      <p:sp>
        <p:nvSpPr>
          <p:cNvPr id="41" name="Shape 33"/>
          <p:cNvSpPr/>
          <p:nvPr/>
        </p:nvSpPr>
        <p:spPr>
          <a:xfrm>
            <a:off x="14073188" y="3857625"/>
            <a:ext cx="0" cy="1076325"/>
          </a:xfrm>
          <a:prstGeom prst="line">
            <a:avLst/>
          </a:prstGeom>
          <a:noFill/>
          <a:ln w="825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pic>
        <p:nvPicPr>
          <p:cNvPr id="42" name="Image 6" descr="weasypri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413831" y="3933825"/>
            <a:ext cx="523875" cy="52387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4168438" y="4581525"/>
            <a:ext cx="30146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WeasyPrint</a:t>
            </a:r>
            <a:endParaRPr lang="en-US" sz="1700"/>
          </a:p>
        </p:txBody>
      </p:sp>
      <p:sp>
        <p:nvSpPr>
          <p:cNvPr id="44" name="Shape 35"/>
          <p:cNvSpPr/>
          <p:nvPr/>
        </p:nvSpPr>
        <p:spPr>
          <a:xfrm>
            <a:off x="1009650" y="5181600"/>
            <a:ext cx="16268700" cy="1304925"/>
          </a:xfrm>
          <a:prstGeom prst="roundRect">
            <a:avLst>
              <a:gd name="adj" fmla="val 11679"/>
            </a:avLst>
          </a:prstGeom>
          <a:solidFill>
            <a:srgbClr val="FFFFFF"/>
          </a:solidFill>
          <a:ln w="1016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5" name="Shape 36"/>
          <p:cNvSpPr/>
          <p:nvPr/>
        </p:nvSpPr>
        <p:spPr>
          <a:xfrm>
            <a:off x="1019175" y="5191125"/>
            <a:ext cx="3438525" cy="1285875"/>
          </a:xfrm>
          <a:prstGeom prst="rect">
            <a:avLst/>
          </a:prstGeom>
          <a:solidFill>
            <a:srgbClr val="F7FAFF"/>
          </a:solidFill>
          <a:ln/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7" name="Shape 38"/>
          <p:cNvSpPr/>
          <p:nvPr/>
        </p:nvSpPr>
        <p:spPr>
          <a:xfrm>
            <a:off x="4457700" y="5181600"/>
            <a:ext cx="0" cy="1304925"/>
          </a:xfrm>
          <a:prstGeom prst="line">
            <a:avLst/>
          </a:prstGeom>
          <a:noFill/>
          <a:ln w="8890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8" name="Text 39"/>
          <p:cNvSpPr txBox="1"/>
          <p:nvPr/>
        </p:nvSpPr>
        <p:spPr>
          <a:xfrm>
            <a:off x="1409700" y="5438775"/>
            <a:ext cx="2619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AI·모델</a:t>
            </a:r>
            <a:endParaRPr lang="en-US" sz="2900"/>
          </a:p>
        </p:txBody>
      </p:sp>
      <p:sp>
        <p:nvSpPr>
          <p:cNvPr id="49" name="Text 40"/>
          <p:cNvSpPr txBox="1"/>
          <p:nvPr/>
        </p:nvSpPr>
        <p:spPr>
          <a:xfrm>
            <a:off x="1409700" y="5905500"/>
            <a:ext cx="2714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계획·SQL 생성·학습</a:t>
            </a:r>
            <a:endParaRPr lang="en-US" sz="1900"/>
          </a:p>
        </p:txBody>
      </p:sp>
      <p:pic>
        <p:nvPicPr>
          <p:cNvPr id="50" name="Image 7" descr="open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2538" y="5372100"/>
            <a:ext cx="523875" cy="52387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4552950" y="5934075"/>
            <a:ext cx="408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</a:t>
            </a:r>
            <a:endParaRPr lang="en-US" sz="1700"/>
          </a:p>
        </p:txBody>
      </p:sp>
      <p:sp>
        <p:nvSpPr>
          <p:cNvPr id="52" name="Text 42"/>
          <p:cNvSpPr txBox="1"/>
          <p:nvPr/>
        </p:nvSpPr>
        <p:spPr>
          <a:xfrm>
            <a:off x="4533900" y="6210300"/>
            <a:ext cx="41211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Supervisor</a:t>
            </a:r>
            <a:endParaRPr lang="en-US" sz="1300"/>
          </a:p>
        </p:txBody>
      </p:sp>
      <p:sp>
        <p:nvSpPr>
          <p:cNvPr id="53" name="Shape 43"/>
          <p:cNvSpPr/>
          <p:nvPr/>
        </p:nvSpPr>
        <p:spPr>
          <a:xfrm>
            <a:off x="8731250" y="5295900"/>
            <a:ext cx="0" cy="1076325"/>
          </a:xfrm>
          <a:prstGeom prst="line">
            <a:avLst/>
          </a:prstGeom>
          <a:noFill/>
          <a:ln w="825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pic>
        <p:nvPicPr>
          <p:cNvPr id="54" name="Image 8" descr="qwe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06087" y="5372100"/>
            <a:ext cx="523875" cy="523875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8826500" y="5934075"/>
            <a:ext cx="408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</a:t>
            </a:r>
            <a:endParaRPr lang="en-US" sz="1700"/>
          </a:p>
        </p:txBody>
      </p:sp>
      <p:sp>
        <p:nvSpPr>
          <p:cNvPr id="56" name="Text 45"/>
          <p:cNvSpPr txBox="1"/>
          <p:nvPr/>
        </p:nvSpPr>
        <p:spPr>
          <a:xfrm>
            <a:off x="8807450" y="6210300"/>
            <a:ext cx="41211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생성 sLLM</a:t>
            </a:r>
            <a:endParaRPr lang="en-US" sz="1300"/>
          </a:p>
        </p:txBody>
      </p:sp>
      <p:sp>
        <p:nvSpPr>
          <p:cNvPr id="57" name="Shape 46"/>
          <p:cNvSpPr/>
          <p:nvPr/>
        </p:nvSpPr>
        <p:spPr>
          <a:xfrm>
            <a:off x="13004800" y="5295900"/>
            <a:ext cx="0" cy="1076325"/>
          </a:xfrm>
          <a:prstGeom prst="line">
            <a:avLst/>
          </a:prstGeom>
          <a:noFill/>
          <a:ln w="825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pic>
        <p:nvPicPr>
          <p:cNvPr id="58" name="Image 9" descr="huggingfa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879637" y="5372100"/>
            <a:ext cx="523875" cy="523875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13100050" y="5934075"/>
            <a:ext cx="408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Hugging Face</a:t>
            </a:r>
            <a:endParaRPr lang="en-US" sz="1700"/>
          </a:p>
        </p:txBody>
      </p:sp>
      <p:sp>
        <p:nvSpPr>
          <p:cNvPr id="60" name="Text 48"/>
          <p:cNvSpPr txBox="1"/>
          <p:nvPr/>
        </p:nvSpPr>
        <p:spPr>
          <a:xfrm>
            <a:off x="13081000" y="6210300"/>
            <a:ext cx="41211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Transformers · PEFT</a:t>
            </a:r>
            <a:endParaRPr lang="en-US" sz="1300"/>
          </a:p>
        </p:txBody>
      </p:sp>
      <p:sp>
        <p:nvSpPr>
          <p:cNvPr id="61" name="Shape 49"/>
          <p:cNvSpPr/>
          <p:nvPr/>
        </p:nvSpPr>
        <p:spPr>
          <a:xfrm>
            <a:off x="1009650" y="6619875"/>
            <a:ext cx="16268700" cy="1647825"/>
          </a:xfrm>
          <a:prstGeom prst="roundRect">
            <a:avLst>
              <a:gd name="adj" fmla="val 9249"/>
            </a:avLst>
          </a:prstGeom>
          <a:solidFill>
            <a:srgbClr val="EAF3FF"/>
          </a:solidFill>
          <a:ln w="1397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2" name="Shape 50"/>
          <p:cNvSpPr/>
          <p:nvPr/>
        </p:nvSpPr>
        <p:spPr>
          <a:xfrm>
            <a:off x="1019175" y="6629400"/>
            <a:ext cx="3438525" cy="1628775"/>
          </a:xfrm>
          <a:prstGeom prst="rect">
            <a:avLst/>
          </a:prstGeom>
          <a:solidFill>
            <a:srgbClr val="E2EFFF"/>
          </a:solidFill>
          <a:ln/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4" name="Shape 52"/>
          <p:cNvSpPr/>
          <p:nvPr/>
        </p:nvSpPr>
        <p:spPr>
          <a:xfrm>
            <a:off x="4457700" y="6619875"/>
            <a:ext cx="0" cy="1647825"/>
          </a:xfrm>
          <a:prstGeom prst="line">
            <a:avLst/>
          </a:prstGeom>
          <a:noFill/>
          <a:ln w="8890">
            <a:solidFill>
              <a:srgbClr val="B9D3F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5" name="Text 53"/>
          <p:cNvSpPr txBox="1"/>
          <p:nvPr/>
        </p:nvSpPr>
        <p:spPr>
          <a:xfrm>
            <a:off x="1409700" y="7038975"/>
            <a:ext cx="2619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데이터·인프라</a:t>
            </a:r>
            <a:endParaRPr lang="en-US" sz="2900"/>
          </a:p>
        </p:txBody>
      </p:sp>
      <p:sp>
        <p:nvSpPr>
          <p:cNvPr id="66" name="Text 54"/>
          <p:cNvSpPr txBox="1"/>
          <p:nvPr/>
        </p:nvSpPr>
        <p:spPr>
          <a:xfrm>
            <a:off x="1409700" y="7531182"/>
            <a:ext cx="3026352" cy="264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카탈로그·통합조회·업무 DB</a:t>
            </a:r>
            <a:endParaRPr lang="en-US" sz="1900"/>
          </a:p>
        </p:txBody>
      </p:sp>
      <p:pic>
        <p:nvPicPr>
          <p:cNvPr id="67" name="Image 10" descr="datahub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35537" y="6912808"/>
            <a:ext cx="1181100" cy="290434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4552950" y="7505700"/>
            <a:ext cx="1946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DataHub</a:t>
            </a:r>
            <a:endParaRPr lang="en-US" sz="1700"/>
          </a:p>
        </p:txBody>
      </p:sp>
      <p:sp>
        <p:nvSpPr>
          <p:cNvPr id="69" name="Text 56"/>
          <p:cNvSpPr txBox="1"/>
          <p:nvPr/>
        </p:nvSpPr>
        <p:spPr>
          <a:xfrm>
            <a:off x="4533900" y="7762875"/>
            <a:ext cx="19843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카탈로그</a:t>
            </a:r>
            <a:endParaRPr lang="en-US" sz="1300"/>
          </a:p>
        </p:txBody>
      </p:sp>
      <p:sp>
        <p:nvSpPr>
          <p:cNvPr id="70" name="Shape 57"/>
          <p:cNvSpPr/>
          <p:nvPr/>
        </p:nvSpPr>
        <p:spPr>
          <a:xfrm>
            <a:off x="6594475" y="6734175"/>
            <a:ext cx="0" cy="1419225"/>
          </a:xfrm>
          <a:prstGeom prst="line">
            <a:avLst/>
          </a:prstGeom>
          <a:noFill/>
          <a:ln w="8255">
            <a:solidFill>
              <a:srgbClr val="C5DB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pic>
        <p:nvPicPr>
          <p:cNvPr id="71" name="Image 11" descr="trin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00925" y="6810375"/>
            <a:ext cx="523875" cy="523875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6689725" y="7505700"/>
            <a:ext cx="1946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Trino</a:t>
            </a:r>
            <a:endParaRPr lang="en-US" sz="1700"/>
          </a:p>
        </p:txBody>
      </p:sp>
      <p:sp>
        <p:nvSpPr>
          <p:cNvPr id="73" name="Text 59"/>
          <p:cNvSpPr txBox="1"/>
          <p:nvPr/>
        </p:nvSpPr>
        <p:spPr>
          <a:xfrm>
            <a:off x="6670675" y="7762875"/>
            <a:ext cx="19843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통합조회</a:t>
            </a:r>
            <a:endParaRPr lang="en-US" sz="1300"/>
          </a:p>
        </p:txBody>
      </p:sp>
      <p:sp>
        <p:nvSpPr>
          <p:cNvPr id="74" name="Shape 60"/>
          <p:cNvSpPr/>
          <p:nvPr/>
        </p:nvSpPr>
        <p:spPr>
          <a:xfrm>
            <a:off x="8731250" y="6734175"/>
            <a:ext cx="0" cy="1419225"/>
          </a:xfrm>
          <a:prstGeom prst="line">
            <a:avLst/>
          </a:prstGeom>
          <a:noFill/>
          <a:ln w="8255">
            <a:solidFill>
              <a:srgbClr val="C5DB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pic>
        <p:nvPicPr>
          <p:cNvPr id="75" name="Image 12" descr="postgresq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37700" y="6810375"/>
            <a:ext cx="523875" cy="523875"/>
          </a:xfrm>
          <a:prstGeom prst="rect">
            <a:avLst/>
          </a:prstGeom>
        </p:spPr>
      </p:pic>
      <p:sp>
        <p:nvSpPr>
          <p:cNvPr id="76" name="Text 61"/>
          <p:cNvSpPr txBox="1"/>
          <p:nvPr/>
        </p:nvSpPr>
        <p:spPr>
          <a:xfrm>
            <a:off x="8826500" y="7505700"/>
            <a:ext cx="1946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</a:t>
            </a:r>
            <a:endParaRPr lang="en-US" sz="1700"/>
          </a:p>
        </p:txBody>
      </p:sp>
      <p:sp>
        <p:nvSpPr>
          <p:cNvPr id="77" name="Shape 62"/>
          <p:cNvSpPr/>
          <p:nvPr/>
        </p:nvSpPr>
        <p:spPr>
          <a:xfrm>
            <a:off x="10868025" y="6734175"/>
            <a:ext cx="0" cy="1419225"/>
          </a:xfrm>
          <a:prstGeom prst="line">
            <a:avLst/>
          </a:prstGeom>
          <a:noFill/>
          <a:ln w="8255">
            <a:solidFill>
              <a:srgbClr val="C5DB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pic>
        <p:nvPicPr>
          <p:cNvPr id="78" name="Image 13" descr="mysq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674475" y="6810375"/>
            <a:ext cx="523875" cy="523875"/>
          </a:xfrm>
          <a:prstGeom prst="rect">
            <a:avLst/>
          </a:prstGeom>
        </p:spPr>
      </p:pic>
      <p:sp>
        <p:nvSpPr>
          <p:cNvPr id="79" name="Text 63"/>
          <p:cNvSpPr txBox="1"/>
          <p:nvPr/>
        </p:nvSpPr>
        <p:spPr>
          <a:xfrm>
            <a:off x="10963275" y="7505700"/>
            <a:ext cx="1946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700"/>
          </a:p>
        </p:txBody>
      </p:sp>
      <p:sp>
        <p:nvSpPr>
          <p:cNvPr id="80" name="Shape 64"/>
          <p:cNvSpPr/>
          <p:nvPr/>
        </p:nvSpPr>
        <p:spPr>
          <a:xfrm>
            <a:off x="13004800" y="6734175"/>
            <a:ext cx="0" cy="1419225"/>
          </a:xfrm>
          <a:prstGeom prst="line">
            <a:avLst/>
          </a:prstGeom>
          <a:noFill/>
          <a:ln w="8255">
            <a:solidFill>
              <a:srgbClr val="C5DB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pic>
        <p:nvPicPr>
          <p:cNvPr id="81" name="Image 14" descr="microsoftsqlserv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811250" y="6810375"/>
            <a:ext cx="523875" cy="523875"/>
          </a:xfrm>
          <a:prstGeom prst="rect">
            <a:avLst/>
          </a:prstGeom>
        </p:spPr>
      </p:pic>
      <p:sp>
        <p:nvSpPr>
          <p:cNvPr id="82" name="Text 65"/>
          <p:cNvSpPr txBox="1"/>
          <p:nvPr/>
        </p:nvSpPr>
        <p:spPr>
          <a:xfrm>
            <a:off x="13100050" y="7505700"/>
            <a:ext cx="1946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Server</a:t>
            </a:r>
            <a:endParaRPr lang="en-US" sz="1700"/>
          </a:p>
        </p:txBody>
      </p:sp>
      <p:sp>
        <p:nvSpPr>
          <p:cNvPr id="83" name="Shape 66"/>
          <p:cNvSpPr/>
          <p:nvPr/>
        </p:nvSpPr>
        <p:spPr>
          <a:xfrm>
            <a:off x="15141575" y="6734175"/>
            <a:ext cx="0" cy="1419225"/>
          </a:xfrm>
          <a:prstGeom prst="line">
            <a:avLst/>
          </a:prstGeom>
          <a:noFill/>
          <a:ln w="8255">
            <a:solidFill>
              <a:srgbClr val="C5DB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pic>
        <p:nvPicPr>
          <p:cNvPr id="84" name="Image 15" descr="clickhou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948025" y="6810375"/>
            <a:ext cx="523875" cy="523875"/>
          </a:xfrm>
          <a:prstGeom prst="rect">
            <a:avLst/>
          </a:prstGeom>
        </p:spPr>
      </p:pic>
      <p:sp>
        <p:nvSpPr>
          <p:cNvPr id="85" name="Text 67"/>
          <p:cNvSpPr txBox="1"/>
          <p:nvPr/>
        </p:nvSpPr>
        <p:spPr>
          <a:xfrm>
            <a:off x="15236825" y="7505700"/>
            <a:ext cx="1946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ClickHouse</a:t>
            </a:r>
            <a:endParaRPr lang="en-US" sz="1700"/>
          </a:p>
        </p:txBody>
      </p:sp>
      <p:sp>
        <p:nvSpPr>
          <p:cNvPr id="88" name="Text 1">
            <a:extLst>
              <a:ext uri="{FF2B5EF4-FFF2-40B4-BE49-F238E27FC236}">
                <a16:creationId xmlns:a16="http://schemas.microsoft.com/office/drawing/2014/main" id="{658F6379-E97A-E392-9B56-D01F195ADBE8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22 · TECHNOLOGY STACK</a:t>
            </a:r>
            <a:endParaRPr lang="en-US" sz="1100"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954522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7667625" y="2686050"/>
            <a:ext cx="0" cy="219075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67625" y="3590925"/>
            <a:ext cx="0" cy="22860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05325" y="4686300"/>
            <a:ext cx="3162300" cy="609600"/>
          </a:xfrm>
          <a:custGeom>
            <a:avLst/>
            <a:gdLst/>
            <a:ahLst/>
            <a:cxnLst/>
            <a:rect l="l" t="t" r="r" b="b"/>
            <a:pathLst>
              <a:path w="3162300" h="609600">
                <a:moveTo>
                  <a:pt x="3162300" y="0"/>
                </a:moveTo>
                <a:cubicBezTo>
                  <a:pt x="3162300" y="428625"/>
                  <a:pt x="0" y="285750"/>
                  <a:pt x="0" y="609600"/>
                </a:cubicBezTo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159C9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67625" y="4686300"/>
            <a:ext cx="2667000" cy="609600"/>
          </a:xfrm>
          <a:custGeom>
            <a:avLst/>
            <a:gdLst/>
            <a:ahLst/>
            <a:cxnLst/>
            <a:rect l="l" t="t" r="r" b="b"/>
            <a:pathLst>
              <a:path w="2667000" h="609600">
                <a:moveTo>
                  <a:pt x="0" y="0"/>
                </a:moveTo>
                <a:cubicBezTo>
                  <a:pt x="0" y="428625"/>
                  <a:pt x="2667000" y="285750"/>
                  <a:pt x="2667000" y="609600"/>
                </a:cubicBezTo>
              </a:path>
            </a:pathLst>
          </a:custGeom>
          <a:solidFill>
            <a:srgbClr val="FFFFFF">
              <a:alpha val="0"/>
            </a:srgbClr>
          </a:solidFill>
          <a:ln w="15240">
            <a:solidFill>
              <a:srgbClr val="9FB4C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67625" y="4686300"/>
            <a:ext cx="6858000" cy="609600"/>
          </a:xfrm>
          <a:custGeom>
            <a:avLst/>
            <a:gdLst/>
            <a:ahLst/>
            <a:cxnLst/>
            <a:rect l="l" t="t" r="r" b="b"/>
            <a:pathLst>
              <a:path w="6858000" h="609600">
                <a:moveTo>
                  <a:pt x="0" y="0"/>
                </a:moveTo>
                <a:cubicBezTo>
                  <a:pt x="0" y="428625"/>
                  <a:pt x="6858000" y="285750"/>
                  <a:pt x="6858000" y="609600"/>
                </a:cubicBezTo>
              </a:path>
            </a:pathLst>
          </a:custGeom>
          <a:solidFill>
            <a:srgbClr val="FFFFFF">
              <a:alpha val="0"/>
            </a:srgbClr>
          </a:solidFill>
          <a:ln w="15240">
            <a:solidFill>
              <a:srgbClr val="9FB4C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05325" y="6219825"/>
            <a:ext cx="0" cy="171450"/>
          </a:xfrm>
          <a:prstGeom prst="line">
            <a:avLst/>
          </a:prstGeom>
          <a:noFill/>
          <a:ln w="22860">
            <a:solidFill>
              <a:srgbClr val="159C9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334625" y="6219825"/>
            <a:ext cx="0" cy="171450"/>
          </a:xfrm>
          <a:prstGeom prst="line">
            <a:avLst/>
          </a:prstGeom>
          <a:noFill/>
          <a:ln w="15240">
            <a:solidFill>
              <a:srgbClr val="9FB4C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4525625" y="6219825"/>
            <a:ext cx="0" cy="171450"/>
          </a:xfrm>
          <a:prstGeom prst="line">
            <a:avLst/>
          </a:prstGeom>
          <a:noFill/>
          <a:ln w="15240">
            <a:solidFill>
              <a:srgbClr val="9FB4C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05325" y="7572375"/>
            <a:ext cx="0" cy="295275"/>
          </a:xfrm>
          <a:prstGeom prst="line">
            <a:avLst/>
          </a:prstGeom>
          <a:noFill/>
          <a:ln w="22860">
            <a:solidFill>
              <a:srgbClr val="159C9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334625" y="7572375"/>
            <a:ext cx="0" cy="295275"/>
          </a:xfrm>
          <a:prstGeom prst="line">
            <a:avLst/>
          </a:prstGeom>
          <a:noFill/>
          <a:ln w="15240">
            <a:solidFill>
              <a:srgbClr val="9FB4C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582400" y="7572375"/>
            <a:ext cx="2943225" cy="295275"/>
          </a:xfrm>
          <a:custGeom>
            <a:avLst/>
            <a:gdLst/>
            <a:ahLst/>
            <a:cxnLst/>
            <a:rect l="l" t="t" r="r" b="b"/>
            <a:pathLst>
              <a:path w="2943225" h="295275">
                <a:moveTo>
                  <a:pt x="2943225" y="0"/>
                </a:moveTo>
                <a:lnTo>
                  <a:pt x="2943225" y="190500"/>
                </a:lnTo>
                <a:lnTo>
                  <a:pt x="0" y="190500"/>
                </a:lnTo>
                <a:lnTo>
                  <a:pt x="0" y="295275"/>
                </a:lnTo>
              </a:path>
            </a:pathLst>
          </a:custGeom>
          <a:solidFill>
            <a:srgbClr val="FFFFFF">
              <a:alpha val="0"/>
            </a:srgbClr>
          </a:solidFill>
          <a:ln w="15240">
            <a:solidFill>
              <a:srgbClr val="9FB4C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91000" y="2114550"/>
            <a:ext cx="695325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7145">
            <a:solidFill>
              <a:srgbClr val="B8CDE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38650" y="2247900"/>
            <a:ext cx="304800" cy="304800"/>
          </a:xfrm>
          <a:prstGeom prst="roundRect">
            <a:avLst>
              <a:gd name="adj" fmla="val 15625"/>
            </a:avLst>
          </a:prstGeom>
          <a:solidFill>
            <a:srgbClr val="EEF5FD"/>
          </a:solidFill>
          <a:ln w="12700">
            <a:solidFill>
              <a:srgbClr val="EEF5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438650" y="2247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66675"/>
                </a:moveTo>
                <a:lnTo>
                  <a:pt x="228600" y="66675"/>
                </a:lnTo>
                <a:lnTo>
                  <a:pt x="228600" y="200025"/>
                </a:lnTo>
                <a:lnTo>
                  <a:pt x="76200" y="200025"/>
                </a:lnTo>
                <a:close/>
                <a:moveTo>
                  <a:pt x="76200" y="123825"/>
                </a:moveTo>
                <a:lnTo>
                  <a:pt x="228600" y="123825"/>
                </a:lnTo>
                <a:moveTo>
                  <a:pt x="123825" y="247650"/>
                </a:moveTo>
                <a:lnTo>
                  <a:pt x="180975" y="247650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953000" y="2143125"/>
            <a:ext cx="24765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사용자</a:t>
            </a:r>
            <a:r>
              <a:rPr lang="en-US" sz="17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7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화면</a:t>
            </a:r>
            <a:endParaRPr lang="en-US" sz="1725" err="1">
              <a:latin typeface="Pretendard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953000" y="2400300"/>
            <a:ext cx="3429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분석 · 보고서 · 관리자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4191000" y="3000375"/>
            <a:ext cx="6953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191000" y="3000375"/>
            <a:ext cx="76200" cy="590550"/>
          </a:xfrm>
          <a:prstGeom prst="rect">
            <a:avLst/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438650" y="3133725"/>
            <a:ext cx="323850" cy="323850"/>
          </a:xfrm>
          <a:prstGeom prst="roundRect">
            <a:avLst>
              <a:gd name="adj" fmla="val 14706"/>
            </a:avLst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438650" y="3133725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85725" y="104775"/>
                </a:moveTo>
                <a:lnTo>
                  <a:pt x="238125" y="104775"/>
                </a:lnTo>
                <a:moveTo>
                  <a:pt x="85725" y="171450"/>
                </a:moveTo>
                <a:lnTo>
                  <a:pt x="238125" y="171450"/>
                </a:lnTo>
                <a:moveTo>
                  <a:pt x="85725" y="238125"/>
                </a:moveTo>
                <a:lnTo>
                  <a:pt x="190500" y="238125"/>
                </a:lnTo>
              </a:path>
            </a:pathLst>
          </a:custGeom>
          <a:solidFill>
            <a:srgbClr val="FFFFFF">
              <a:alpha val="0"/>
            </a:srgbClr>
          </a:solidFill>
          <a:ln w="2032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972050" y="3038475"/>
            <a:ext cx="24765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중앙 백엔드</a:t>
            </a:r>
            <a:endParaRPr lang="en-US" sz="1725"/>
          </a:p>
        </p:txBody>
      </p:sp>
      <p:sp>
        <p:nvSpPr>
          <p:cNvPr id="27" name="Text 25"/>
          <p:cNvSpPr txBox="1"/>
          <p:nvPr/>
        </p:nvSpPr>
        <p:spPr>
          <a:xfrm>
            <a:off x="4972050" y="3295650"/>
            <a:ext cx="3714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 · 요청 접수 · 권한 확인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4191000" y="3905250"/>
            <a:ext cx="6953250" cy="781050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38650" y="408622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14850" y="4162425"/>
            <a:ext cx="266700" cy="266700"/>
          </a:xfrm>
          <a:prstGeom prst="sun">
            <a:avLst/>
          </a:prstGeom>
          <a:solidFill>
            <a:srgbClr val="176FE5">
              <a:alpha val="0"/>
            </a:srgbClr>
          </a:solidFill>
          <a:ln w="1968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5105400" y="3933825"/>
            <a:ext cx="2952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Supervisor</a:t>
            </a:r>
            <a:endParaRPr lang="en-US" sz="2200"/>
          </a:p>
        </p:txBody>
      </p:sp>
      <p:sp>
        <p:nvSpPr>
          <p:cNvPr id="32" name="Text 30"/>
          <p:cNvSpPr txBox="1"/>
          <p:nvPr/>
        </p:nvSpPr>
        <p:spPr>
          <a:xfrm>
            <a:off x="5105400" y="4324350"/>
            <a:ext cx="352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C3D3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계획 · 서버 검증 · 실행 추적</a:t>
            </a:r>
            <a:endParaRPr lang="en-US" sz="1400"/>
          </a:p>
        </p:txBody>
      </p:sp>
      <p:sp>
        <p:nvSpPr>
          <p:cNvPr id="33" name="Shape 31"/>
          <p:cNvSpPr/>
          <p:nvPr/>
        </p:nvSpPr>
        <p:spPr>
          <a:xfrm>
            <a:off x="8934450" y="4105275"/>
            <a:ext cx="1943100" cy="381000"/>
          </a:xfrm>
          <a:prstGeom prst="roundRect">
            <a:avLst>
              <a:gd name="adj" fmla="val 12500"/>
            </a:avLst>
          </a:prstGeom>
          <a:solidFill>
            <a:srgbClr val="304F6D"/>
          </a:solidFill>
          <a:ln w="12700">
            <a:solidFill>
              <a:srgbClr val="304F6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9067800" y="4152900"/>
            <a:ext cx="1676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Terra + 서버 제어</a:t>
            </a:r>
            <a:endParaRPr lang="en-US" sz="1250"/>
          </a:p>
        </p:txBody>
      </p:sp>
      <p:sp>
        <p:nvSpPr>
          <p:cNvPr id="35" name="Shape 33"/>
          <p:cNvSpPr/>
          <p:nvPr/>
        </p:nvSpPr>
        <p:spPr>
          <a:xfrm>
            <a:off x="13144500" y="2114550"/>
            <a:ext cx="4133850" cy="161925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3970">
            <a:solidFill>
              <a:srgbClr val="CBD9E6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3449300" y="2247900"/>
            <a:ext cx="2381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12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COMMON CONTROL</a:t>
            </a:r>
            <a:endParaRPr lang="en-US" sz="1150"/>
          </a:p>
        </p:txBody>
      </p:sp>
      <p:sp>
        <p:nvSpPr>
          <p:cNvPr id="38" name="Text 36"/>
          <p:cNvSpPr txBox="1"/>
          <p:nvPr/>
        </p:nvSpPr>
        <p:spPr>
          <a:xfrm>
            <a:off x="13449300" y="253365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통제</a:t>
            </a:r>
            <a:endParaRPr lang="en-US" sz="1850"/>
          </a:p>
        </p:txBody>
      </p:sp>
      <p:sp>
        <p:nvSpPr>
          <p:cNvPr id="39" name="Shape 37"/>
          <p:cNvSpPr/>
          <p:nvPr/>
        </p:nvSpPr>
        <p:spPr>
          <a:xfrm>
            <a:off x="13449300" y="2952750"/>
            <a:ext cx="352425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13449300" y="3067050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</a:t>
            </a:r>
            <a:endParaRPr lang="en-US" sz="1500"/>
          </a:p>
        </p:txBody>
      </p:sp>
      <p:sp>
        <p:nvSpPr>
          <p:cNvPr id="41" name="Text 39"/>
          <p:cNvSpPr txBox="1"/>
          <p:nvPr/>
        </p:nvSpPr>
        <p:spPr>
          <a:xfrm>
            <a:off x="14458950" y="3067050"/>
            <a:ext cx="1238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상태</a:t>
            </a:r>
            <a:endParaRPr lang="en-US" sz="1500"/>
          </a:p>
        </p:txBody>
      </p:sp>
      <p:sp>
        <p:nvSpPr>
          <p:cNvPr id="42" name="Text 40"/>
          <p:cNvSpPr txBox="1"/>
          <p:nvPr/>
        </p:nvSpPr>
        <p:spPr>
          <a:xfrm>
            <a:off x="15878175" y="3067050"/>
            <a:ext cx="1095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 기록</a:t>
            </a:r>
            <a:endParaRPr lang="en-US" sz="1500"/>
          </a:p>
        </p:txBody>
      </p:sp>
      <p:sp>
        <p:nvSpPr>
          <p:cNvPr id="43" name="Text 41"/>
          <p:cNvSpPr txBox="1"/>
          <p:nvPr/>
        </p:nvSpPr>
        <p:spPr>
          <a:xfrm>
            <a:off x="13449300" y="3381375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요청과 실행 경로에 적용</a:t>
            </a:r>
            <a:endParaRPr lang="en-US" sz="1200"/>
          </a:p>
        </p:txBody>
      </p:sp>
      <p:sp>
        <p:nvSpPr>
          <p:cNvPr id="44" name="Shape 42"/>
          <p:cNvSpPr/>
          <p:nvPr/>
        </p:nvSpPr>
        <p:spPr>
          <a:xfrm>
            <a:off x="1009650" y="5381625"/>
            <a:ext cx="6991350" cy="838200"/>
          </a:xfrm>
          <a:prstGeom prst="roundRect">
            <a:avLst>
              <a:gd name="adj" fmla="val 9091"/>
            </a:avLst>
          </a:prstGeom>
          <a:solidFill>
            <a:srgbClr val="F2FAF9"/>
          </a:solidFill>
          <a:ln w="1905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009650" y="5381625"/>
            <a:ext cx="76200" cy="838200"/>
          </a:xfrm>
          <a:prstGeom prst="rect">
            <a:avLst/>
          </a:prstGeom>
          <a:solidFill>
            <a:srgbClr val="159C98"/>
          </a:solidFill>
          <a:ln w="12700">
            <a:solidFill>
              <a:srgbClr val="159C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295400" y="5610225"/>
            <a:ext cx="381000" cy="381000"/>
          </a:xfrm>
          <a:prstGeom prst="roundRect">
            <a:avLst>
              <a:gd name="adj" fmla="val 12500"/>
            </a:avLst>
          </a:prstGeom>
          <a:solidFill>
            <a:srgbClr val="159C98"/>
          </a:solidFill>
          <a:ln w="12700">
            <a:solidFill>
              <a:srgbClr val="159C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390650" y="5676900"/>
            <a:ext cx="190500" cy="247650"/>
          </a:xfrm>
          <a:prstGeom prst="can">
            <a:avLst/>
          </a:prstGeom>
          <a:solidFill>
            <a:srgbClr val="159C98">
              <a:alpha val="0"/>
            </a:srgbClr>
          </a:solidFill>
          <a:ln w="215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1885950" y="5467350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 Agent</a:t>
            </a:r>
            <a:endParaRPr lang="en-US" sz="2025"/>
          </a:p>
        </p:txBody>
      </p:sp>
      <p:sp>
        <p:nvSpPr>
          <p:cNvPr id="49" name="Text 47"/>
          <p:cNvSpPr txBox="1"/>
          <p:nvPr/>
        </p:nvSpPr>
        <p:spPr>
          <a:xfrm>
            <a:off x="1885950" y="5819775"/>
            <a:ext cx="247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데이터 분석</a:t>
            </a:r>
            <a:endParaRPr lang="en-US" sz="1350"/>
          </a:p>
        </p:txBody>
      </p:sp>
      <p:sp>
        <p:nvSpPr>
          <p:cNvPr id="50" name="Text 48"/>
          <p:cNvSpPr txBox="1"/>
          <p:nvPr/>
        </p:nvSpPr>
        <p:spPr>
          <a:xfrm>
            <a:off x="6743700" y="5638800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경로</a:t>
            </a:r>
            <a:endParaRPr lang="en-US" sz="1200"/>
          </a:p>
        </p:txBody>
      </p:sp>
      <p:sp>
        <p:nvSpPr>
          <p:cNvPr id="51" name="Shape 49"/>
          <p:cNvSpPr/>
          <p:nvPr/>
        </p:nvSpPr>
        <p:spPr>
          <a:xfrm>
            <a:off x="8572500" y="5381625"/>
            <a:ext cx="35242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CBD9E6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572500" y="5381625"/>
            <a:ext cx="57150" cy="838200"/>
          </a:xfrm>
          <a:prstGeom prst="rect">
            <a:avLst/>
          </a:prstGeom>
          <a:solidFill>
            <a:srgbClr val="9FB4C8"/>
          </a:solidFill>
          <a:ln w="12700">
            <a:solidFill>
              <a:srgbClr val="9FB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839200" y="5610225"/>
            <a:ext cx="381000" cy="381000"/>
          </a:xfrm>
          <a:prstGeom prst="roundRect">
            <a:avLst>
              <a:gd name="adj" fmla="val 12500"/>
            </a:avLst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839200" y="5610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76200"/>
                </a:moveTo>
                <a:lnTo>
                  <a:pt x="247650" y="76200"/>
                </a:lnTo>
                <a:lnTo>
                  <a:pt x="304800" y="133350"/>
                </a:lnTo>
                <a:lnTo>
                  <a:pt x="304800" y="314325"/>
                </a:lnTo>
                <a:lnTo>
                  <a:pt x="95250" y="314325"/>
                </a:lnTo>
                <a:close/>
                <a:moveTo>
                  <a:pt x="247650" y="76200"/>
                </a:moveTo>
                <a:lnTo>
                  <a:pt x="247650" y="142875"/>
                </a:lnTo>
                <a:lnTo>
                  <a:pt x="304800" y="142875"/>
                </a:lnTo>
                <a:moveTo>
                  <a:pt x="142875" y="200025"/>
                </a:moveTo>
                <a:lnTo>
                  <a:pt x="257175" y="200025"/>
                </a:lnTo>
                <a:moveTo>
                  <a:pt x="142875" y="257175"/>
                </a:moveTo>
                <a:lnTo>
                  <a:pt x="228600" y="257175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15345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9429750" y="5467350"/>
            <a:ext cx="2190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Agent</a:t>
            </a:r>
            <a:endParaRPr lang="en-US" sz="1875"/>
          </a:p>
        </p:txBody>
      </p:sp>
      <p:sp>
        <p:nvSpPr>
          <p:cNvPr id="56" name="Text 54"/>
          <p:cNvSpPr txBox="1"/>
          <p:nvPr/>
        </p:nvSpPr>
        <p:spPr>
          <a:xfrm>
            <a:off x="9429750" y="5819775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문서 검색</a:t>
            </a:r>
            <a:endParaRPr lang="en-US" sz="1350"/>
          </a:p>
        </p:txBody>
      </p:sp>
      <p:sp>
        <p:nvSpPr>
          <p:cNvPr id="57" name="Shape 55"/>
          <p:cNvSpPr/>
          <p:nvPr/>
        </p:nvSpPr>
        <p:spPr>
          <a:xfrm>
            <a:off x="12763500" y="5381625"/>
            <a:ext cx="35242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CBD9E6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2763500" y="5381625"/>
            <a:ext cx="57150" cy="838200"/>
          </a:xfrm>
          <a:prstGeom prst="rect">
            <a:avLst/>
          </a:prstGeom>
          <a:solidFill>
            <a:srgbClr val="9FB4C8"/>
          </a:solidFill>
          <a:ln w="12700">
            <a:solidFill>
              <a:srgbClr val="9FB4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3030200" y="5610225"/>
            <a:ext cx="381000" cy="381000"/>
          </a:xfrm>
          <a:prstGeom prst="roundRect">
            <a:avLst>
              <a:gd name="adj" fmla="val 12500"/>
            </a:avLst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3125450" y="5829300"/>
            <a:ext cx="20955" cy="95250"/>
          </a:xfrm>
          <a:prstGeom prst="rect">
            <a:avLst/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3201650" y="5772150"/>
            <a:ext cx="20955" cy="152400"/>
          </a:xfrm>
          <a:prstGeom prst="rect">
            <a:avLst/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3277850" y="5715000"/>
            <a:ext cx="20955" cy="209550"/>
          </a:xfrm>
          <a:prstGeom prst="rect">
            <a:avLst/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3354050" y="5648325"/>
            <a:ext cx="20955" cy="276225"/>
          </a:xfrm>
          <a:prstGeom prst="rect">
            <a:avLst/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4" name="Text 62"/>
          <p:cNvSpPr txBox="1"/>
          <p:nvPr/>
        </p:nvSpPr>
        <p:spPr>
          <a:xfrm>
            <a:off x="13620750" y="5467350"/>
            <a:ext cx="2190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 Agent</a:t>
            </a:r>
            <a:endParaRPr lang="en-US" sz="1875"/>
          </a:p>
        </p:txBody>
      </p:sp>
      <p:sp>
        <p:nvSpPr>
          <p:cNvPr id="65" name="Text 63"/>
          <p:cNvSpPr txBox="1"/>
          <p:nvPr/>
        </p:nvSpPr>
        <p:spPr>
          <a:xfrm>
            <a:off x="13620750" y="5819775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 수요 예측</a:t>
            </a:r>
            <a:endParaRPr lang="en-US" sz="1350"/>
          </a:p>
        </p:txBody>
      </p:sp>
      <p:sp>
        <p:nvSpPr>
          <p:cNvPr id="66" name="Shape 64"/>
          <p:cNvSpPr/>
          <p:nvPr/>
        </p:nvSpPr>
        <p:spPr>
          <a:xfrm>
            <a:off x="1009650" y="6477000"/>
            <a:ext cx="6991350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A9DCD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7" name="Text 65"/>
          <p:cNvSpPr txBox="1"/>
          <p:nvPr/>
        </p:nvSpPr>
        <p:spPr>
          <a:xfrm>
            <a:off x="1295400" y="6667500"/>
            <a:ext cx="12382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DataHub</a:t>
            </a:r>
            <a:endParaRPr lang="en-US" sz="1500"/>
          </a:p>
        </p:txBody>
      </p:sp>
      <p:sp>
        <p:nvSpPr>
          <p:cNvPr id="68" name="Text 66"/>
          <p:cNvSpPr txBox="1"/>
          <p:nvPr/>
        </p:nvSpPr>
        <p:spPr>
          <a:xfrm>
            <a:off x="1295400" y="7019925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기준</a:t>
            </a:r>
            <a:endParaRPr lang="en-US" sz="1200"/>
          </a:p>
        </p:txBody>
      </p:sp>
      <p:sp>
        <p:nvSpPr>
          <p:cNvPr id="69" name="Shape 67"/>
          <p:cNvSpPr/>
          <p:nvPr/>
        </p:nvSpPr>
        <p:spPr>
          <a:xfrm>
            <a:off x="2705100" y="7029450"/>
            <a:ext cx="323850" cy="0"/>
          </a:xfrm>
          <a:prstGeom prst="line">
            <a:avLst/>
          </a:prstGeom>
          <a:noFill/>
          <a:ln w="22860">
            <a:solidFill>
              <a:srgbClr val="159C9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0" name="Text 68"/>
          <p:cNvSpPr txBox="1"/>
          <p:nvPr/>
        </p:nvSpPr>
        <p:spPr>
          <a:xfrm>
            <a:off x="3276600" y="6667500"/>
            <a:ext cx="12382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검증</a:t>
            </a:r>
            <a:endParaRPr lang="en-US" sz="1500"/>
          </a:p>
        </p:txBody>
      </p:sp>
      <p:sp>
        <p:nvSpPr>
          <p:cNvPr id="71" name="Text 69"/>
          <p:cNvSpPr txBox="1"/>
          <p:nvPr/>
        </p:nvSpPr>
        <p:spPr>
          <a:xfrm>
            <a:off x="3276600" y="7019925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전 통제</a:t>
            </a:r>
            <a:endParaRPr lang="en-US" sz="1200"/>
          </a:p>
        </p:txBody>
      </p:sp>
      <p:sp>
        <p:nvSpPr>
          <p:cNvPr id="72" name="Shape 70"/>
          <p:cNvSpPr/>
          <p:nvPr/>
        </p:nvSpPr>
        <p:spPr>
          <a:xfrm>
            <a:off x="4686300" y="7029450"/>
            <a:ext cx="323850" cy="0"/>
          </a:xfrm>
          <a:prstGeom prst="line">
            <a:avLst/>
          </a:prstGeom>
          <a:noFill/>
          <a:ln w="22860">
            <a:solidFill>
              <a:srgbClr val="159C9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3" name="Text 71"/>
          <p:cNvSpPr txBox="1"/>
          <p:nvPr/>
        </p:nvSpPr>
        <p:spPr>
          <a:xfrm>
            <a:off x="5257800" y="6667500"/>
            <a:ext cx="8572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Trino</a:t>
            </a:r>
            <a:endParaRPr lang="en-US" sz="1500"/>
          </a:p>
        </p:txBody>
      </p:sp>
      <p:sp>
        <p:nvSpPr>
          <p:cNvPr id="74" name="Text 72"/>
          <p:cNvSpPr txBox="1"/>
          <p:nvPr/>
        </p:nvSpPr>
        <p:spPr>
          <a:xfrm>
            <a:off x="5257800" y="7019925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조회</a:t>
            </a:r>
            <a:endParaRPr lang="en-US" sz="1200"/>
          </a:p>
        </p:txBody>
      </p:sp>
      <p:sp>
        <p:nvSpPr>
          <p:cNvPr id="75" name="Shape 73"/>
          <p:cNvSpPr/>
          <p:nvPr/>
        </p:nvSpPr>
        <p:spPr>
          <a:xfrm>
            <a:off x="6191250" y="7029450"/>
            <a:ext cx="285750" cy="0"/>
          </a:xfrm>
          <a:prstGeom prst="line">
            <a:avLst/>
          </a:prstGeom>
          <a:noFill/>
          <a:ln w="22860">
            <a:solidFill>
              <a:srgbClr val="159C9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6" name="Text 74"/>
          <p:cNvSpPr txBox="1"/>
          <p:nvPr/>
        </p:nvSpPr>
        <p:spPr>
          <a:xfrm>
            <a:off x="6705600" y="6667500"/>
            <a:ext cx="12382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데이터</a:t>
            </a:r>
            <a:endParaRPr lang="en-US" sz="1500"/>
          </a:p>
        </p:txBody>
      </p:sp>
      <p:sp>
        <p:nvSpPr>
          <p:cNvPr id="77" name="Text 75"/>
          <p:cNvSpPr txBox="1"/>
          <p:nvPr/>
        </p:nvSpPr>
        <p:spPr>
          <a:xfrm>
            <a:off x="6705600" y="7019925"/>
            <a:ext cx="1257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PMS · POS · CRM 외</a:t>
            </a:r>
            <a:endParaRPr lang="en-US" sz="1075"/>
          </a:p>
        </p:txBody>
      </p:sp>
      <p:sp>
        <p:nvSpPr>
          <p:cNvPr id="78" name="Shape 76"/>
          <p:cNvSpPr/>
          <p:nvPr/>
        </p:nvSpPr>
        <p:spPr>
          <a:xfrm>
            <a:off x="8572500" y="6477000"/>
            <a:ext cx="3524250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CBD9E6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9" name="Text 77"/>
          <p:cNvSpPr txBox="1"/>
          <p:nvPr/>
        </p:nvSpPr>
        <p:spPr>
          <a:xfrm>
            <a:off x="8896350" y="666750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문서</a:t>
            </a:r>
            <a:endParaRPr lang="en-US" sz="1575"/>
          </a:p>
        </p:txBody>
      </p:sp>
      <p:sp>
        <p:nvSpPr>
          <p:cNvPr id="80" name="Shape 78"/>
          <p:cNvSpPr/>
          <p:nvPr/>
        </p:nvSpPr>
        <p:spPr>
          <a:xfrm>
            <a:off x="9972675" y="7029450"/>
            <a:ext cx="304800" cy="0"/>
          </a:xfrm>
          <a:prstGeom prst="line">
            <a:avLst/>
          </a:prstGeom>
          <a:noFill/>
          <a:ln w="15240">
            <a:solidFill>
              <a:srgbClr val="9FB4C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1" name="Text 79"/>
          <p:cNvSpPr txBox="1"/>
          <p:nvPr/>
        </p:nvSpPr>
        <p:spPr>
          <a:xfrm>
            <a:off x="10515600" y="6667500"/>
            <a:ext cx="1381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 Search</a:t>
            </a:r>
            <a:endParaRPr lang="en-US" sz="1575"/>
          </a:p>
        </p:txBody>
      </p:sp>
      <p:sp>
        <p:nvSpPr>
          <p:cNvPr id="82" name="Text 80"/>
          <p:cNvSpPr txBox="1"/>
          <p:nvPr/>
        </p:nvSpPr>
        <p:spPr>
          <a:xfrm>
            <a:off x="8896350" y="7086600"/>
            <a:ext cx="2667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검색된 근거 안에서 답변</a:t>
            </a:r>
            <a:endParaRPr lang="en-US" sz="1200"/>
          </a:p>
        </p:txBody>
      </p:sp>
      <p:sp>
        <p:nvSpPr>
          <p:cNvPr id="83" name="Shape 81"/>
          <p:cNvSpPr/>
          <p:nvPr/>
        </p:nvSpPr>
        <p:spPr>
          <a:xfrm>
            <a:off x="12763500" y="6477000"/>
            <a:ext cx="3524250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CBD9E6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4" name="Text 82"/>
          <p:cNvSpPr txBox="1"/>
          <p:nvPr/>
        </p:nvSpPr>
        <p:spPr>
          <a:xfrm>
            <a:off x="13087350" y="666750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호텔 데이터</a:t>
            </a:r>
            <a:endParaRPr lang="en-US" sz="1575"/>
          </a:p>
        </p:txBody>
      </p:sp>
      <p:sp>
        <p:nvSpPr>
          <p:cNvPr id="85" name="Shape 83"/>
          <p:cNvSpPr/>
          <p:nvPr/>
        </p:nvSpPr>
        <p:spPr>
          <a:xfrm>
            <a:off x="14211300" y="7029450"/>
            <a:ext cx="304800" cy="0"/>
          </a:xfrm>
          <a:prstGeom prst="line">
            <a:avLst/>
          </a:prstGeom>
          <a:noFill/>
          <a:ln w="15240">
            <a:solidFill>
              <a:srgbClr val="9FB4C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6" name="Text 84"/>
          <p:cNvSpPr txBox="1"/>
          <p:nvPr/>
        </p:nvSpPr>
        <p:spPr>
          <a:xfrm>
            <a:off x="14744700" y="6667500"/>
            <a:ext cx="104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HGBR</a:t>
            </a:r>
            <a:endParaRPr lang="en-US" sz="1575"/>
          </a:p>
        </p:txBody>
      </p:sp>
      <p:sp>
        <p:nvSpPr>
          <p:cNvPr id="87" name="Text 85"/>
          <p:cNvSpPr txBox="1"/>
          <p:nvPr/>
        </p:nvSpPr>
        <p:spPr>
          <a:xfrm>
            <a:off x="13087350" y="7086600"/>
            <a:ext cx="2667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 Runtime에서 예측</a:t>
            </a:r>
            <a:endParaRPr lang="en-US" sz="1200"/>
          </a:p>
        </p:txBody>
      </p:sp>
      <p:sp>
        <p:nvSpPr>
          <p:cNvPr id="88" name="Shape 86"/>
          <p:cNvSpPr/>
          <p:nvPr/>
        </p:nvSpPr>
        <p:spPr>
          <a:xfrm>
            <a:off x="1009650" y="7953375"/>
            <a:ext cx="106680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7145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1009650" y="7953375"/>
            <a:ext cx="76200" cy="571500"/>
          </a:xfrm>
          <a:prstGeom prst="rect">
            <a:avLst/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0" name="Text 88"/>
          <p:cNvSpPr txBox="1"/>
          <p:nvPr/>
        </p:nvSpPr>
        <p:spPr>
          <a:xfrm>
            <a:off x="1428750" y="7981950"/>
            <a:ext cx="304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결과와 근거</a:t>
            </a:r>
            <a:endParaRPr lang="en-US" sz="1650"/>
          </a:p>
        </p:txBody>
      </p:sp>
      <p:sp>
        <p:nvSpPr>
          <p:cNvPr id="91" name="Text 89"/>
          <p:cNvSpPr txBox="1"/>
          <p:nvPr/>
        </p:nvSpPr>
        <p:spPr>
          <a:xfrm>
            <a:off x="1428750" y="8267700"/>
            <a:ext cx="428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 PostgreSQL · 대화 · 분석 결과 · 실행 이력</a:t>
            </a:r>
            <a:endParaRPr lang="en-US" sz="1200"/>
          </a:p>
        </p:txBody>
      </p:sp>
      <p:sp>
        <p:nvSpPr>
          <p:cNvPr id="92" name="Text 90"/>
          <p:cNvSpPr txBox="1"/>
          <p:nvPr/>
        </p:nvSpPr>
        <p:spPr>
          <a:xfrm>
            <a:off x="9620250" y="8067675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Agent 결과 저장</a:t>
            </a:r>
            <a:endParaRPr lang="en-US" sz="1200"/>
          </a:p>
        </p:txBody>
      </p:sp>
      <p:sp>
        <p:nvSpPr>
          <p:cNvPr id="93" name="Shape 91"/>
          <p:cNvSpPr/>
          <p:nvPr/>
        </p:nvSpPr>
        <p:spPr>
          <a:xfrm>
            <a:off x="11887200" y="8239125"/>
            <a:ext cx="97155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12954000" y="7953375"/>
            <a:ext cx="4324350" cy="571500"/>
          </a:xfrm>
          <a:prstGeom prst="roundRect">
            <a:avLst>
              <a:gd name="adj" fmla="val 13333"/>
            </a:avLst>
          </a:prstGeom>
          <a:solidFill>
            <a:srgbClr val="EAF3FF"/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12954000" y="7953375"/>
            <a:ext cx="57150" cy="571500"/>
          </a:xfrm>
          <a:prstGeom prst="rect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6" name="Text 94"/>
          <p:cNvSpPr txBox="1"/>
          <p:nvPr/>
        </p:nvSpPr>
        <p:spPr>
          <a:xfrm>
            <a:off x="13315950" y="7991475"/>
            <a:ext cx="2667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 Workflow</a:t>
            </a:r>
            <a:endParaRPr lang="en-US" sz="1650"/>
          </a:p>
        </p:txBody>
      </p:sp>
      <p:sp>
        <p:nvSpPr>
          <p:cNvPr id="97" name="Text 95"/>
          <p:cNvSpPr txBox="1"/>
          <p:nvPr/>
        </p:nvSpPr>
        <p:spPr>
          <a:xfrm>
            <a:off x="13315950" y="828675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· 승인 · 실행</a:t>
            </a:r>
            <a:endParaRPr lang="en-US" sz="1200"/>
          </a:p>
        </p:txBody>
      </p:sp>
      <p:sp>
        <p:nvSpPr>
          <p:cNvPr id="98" name="Shape 96"/>
          <p:cNvSpPr/>
          <p:nvPr/>
        </p:nvSpPr>
        <p:spPr>
          <a:xfrm>
            <a:off x="1009650" y="9048750"/>
            <a:ext cx="162687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9" name="Text 97"/>
          <p:cNvSpPr txBox="1"/>
          <p:nvPr/>
        </p:nvSpPr>
        <p:spPr>
          <a:xfrm>
            <a:off x="1009650" y="9296400"/>
            <a:ext cx="1809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1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 OVERVIEW</a:t>
            </a:r>
            <a:endParaRPr lang="en-US" sz="1200"/>
          </a:p>
        </p:txBody>
      </p:sp>
      <p:sp>
        <p:nvSpPr>
          <p:cNvPr id="100" name="Text 98"/>
          <p:cNvSpPr txBox="1"/>
          <p:nvPr/>
        </p:nvSpPr>
        <p:spPr>
          <a:xfrm>
            <a:off x="3067050" y="9210675"/>
            <a:ext cx="533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Supervisor에서 세 전문 기능으로 분기하고,</a:t>
            </a:r>
            <a:endParaRPr lang="en-US" sz="2250"/>
          </a:p>
        </p:txBody>
      </p:sp>
      <p:sp>
        <p:nvSpPr>
          <p:cNvPr id="101" name="Text 99"/>
          <p:cNvSpPr txBox="1"/>
          <p:nvPr/>
        </p:nvSpPr>
        <p:spPr>
          <a:xfrm>
            <a:off x="8743950" y="9210675"/>
            <a:ext cx="4095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결과와 근거를 하나로 저장</a:t>
            </a:r>
            <a:endParaRPr lang="en-US" sz="2250"/>
          </a:p>
        </p:txBody>
      </p:sp>
      <p:sp>
        <p:nvSpPr>
          <p:cNvPr id="116" name="Text 3">
            <a:extLst>
              <a:ext uri="{FF2B5EF4-FFF2-40B4-BE49-F238E27FC236}">
                <a16:creationId xmlns:a16="http://schemas.microsoft.com/office/drawing/2014/main" id="{BD2A94DC-5008-24AE-7BDC-CF7A6FC54AF3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latin typeface="Pretendard"/>
                <a:ea typeface="맑은 고딕"/>
              </a:rPr>
              <a:t>ANSWERVICE 전체구조</a:t>
            </a:r>
          </a:p>
        </p:txBody>
      </p:sp>
      <p:sp>
        <p:nvSpPr>
          <p:cNvPr id="118" name="Shape 0">
            <a:extLst>
              <a:ext uri="{FF2B5EF4-FFF2-40B4-BE49-F238E27FC236}">
                <a16:creationId xmlns:a16="http://schemas.microsoft.com/office/drawing/2014/main" id="{8E273ED0-AE7E-E340-9A2D-CA87D313BD2F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20" name="Text 1">
            <a:extLst>
              <a:ext uri="{FF2B5EF4-FFF2-40B4-BE49-F238E27FC236}">
                <a16:creationId xmlns:a16="http://schemas.microsoft.com/office/drawing/2014/main" id="{A8EA6213-3315-BB57-5181-C8BE67A01571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23 · SYSTEM OVERVIEW</a:t>
            </a:r>
            <a:endParaRPr lang="en-US" sz="1100">
              <a:latin typeface="Pretendar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924300" y="5067300"/>
            <a:ext cx="55245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391525" y="5067300"/>
            <a:ext cx="47625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3277850" y="5067300"/>
            <a:ext cx="45720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09650" y="2238375"/>
            <a:ext cx="1428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2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INPUT</a:t>
            </a:r>
            <a:endParaRPr lang="en-US" sz="1200"/>
          </a:p>
        </p:txBody>
      </p:sp>
      <p:sp>
        <p:nvSpPr>
          <p:cNvPr id="10" name="Text 8"/>
          <p:cNvSpPr txBox="1"/>
          <p:nvPr/>
        </p:nvSpPr>
        <p:spPr>
          <a:xfrm>
            <a:off x="1009650" y="2533650"/>
            <a:ext cx="24765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Supervisor 입력</a:t>
            </a:r>
            <a:endParaRPr lang="en-US" sz="2100"/>
          </a:p>
        </p:txBody>
      </p:sp>
      <p:sp>
        <p:nvSpPr>
          <p:cNvPr id="11" name="Shape 9"/>
          <p:cNvSpPr/>
          <p:nvPr/>
        </p:nvSpPr>
        <p:spPr>
          <a:xfrm>
            <a:off x="1009650" y="3086100"/>
            <a:ext cx="2914650" cy="3962400"/>
          </a:xfrm>
          <a:prstGeom prst="roundRect">
            <a:avLst>
              <a:gd name="adj" fmla="val 2614"/>
            </a:avLst>
          </a:prstGeom>
          <a:solidFill>
            <a:srgbClr val="F8FAFC"/>
          </a:solidFill>
          <a:ln w="15240">
            <a:solidFill>
              <a:srgbClr val="CBD9E6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333500" y="35433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333500" y="3543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133350"/>
                </a:moveTo>
                <a:lnTo>
                  <a:pt x="342900" y="133350"/>
                </a:lnTo>
                <a:lnTo>
                  <a:pt x="342900" y="276225"/>
                </a:lnTo>
                <a:lnTo>
                  <a:pt x="238125" y="276225"/>
                </a:lnTo>
                <a:lnTo>
                  <a:pt x="171450" y="342900"/>
                </a:lnTo>
                <a:lnTo>
                  <a:pt x="171450" y="276225"/>
                </a:lnTo>
                <a:lnTo>
                  <a:pt x="114300" y="276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2032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2019300" y="3524250"/>
            <a:ext cx="1619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요청</a:t>
            </a:r>
            <a:endParaRPr lang="en-US" sz="1725"/>
          </a:p>
        </p:txBody>
      </p:sp>
      <p:sp>
        <p:nvSpPr>
          <p:cNvPr id="16" name="Text 14"/>
          <p:cNvSpPr txBox="1"/>
          <p:nvPr/>
        </p:nvSpPr>
        <p:spPr>
          <a:xfrm>
            <a:off x="2019300" y="3857625"/>
            <a:ext cx="1619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입력한 질문</a:t>
            </a:r>
            <a:endParaRPr lang="en-US" sz="1275"/>
          </a:p>
        </p:txBody>
      </p:sp>
      <p:sp>
        <p:nvSpPr>
          <p:cNvPr id="17" name="Shape 15"/>
          <p:cNvSpPr/>
          <p:nvPr/>
        </p:nvSpPr>
        <p:spPr>
          <a:xfrm>
            <a:off x="1333500" y="4267200"/>
            <a:ext cx="226695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33500" y="46482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33350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3350" y="114300"/>
                </a:moveTo>
                <a:lnTo>
                  <a:pt x="323850" y="114300"/>
                </a:lnTo>
                <a:lnTo>
                  <a:pt x="323850" y="352425"/>
                </a:lnTo>
                <a:lnTo>
                  <a:pt x="133350" y="352425"/>
                </a:lnTo>
                <a:close/>
                <a:moveTo>
                  <a:pt x="180975" y="180975"/>
                </a:moveTo>
                <a:lnTo>
                  <a:pt x="276225" y="180975"/>
                </a:lnTo>
                <a:moveTo>
                  <a:pt x="180975" y="238125"/>
                </a:moveTo>
                <a:lnTo>
                  <a:pt x="276225" y="238125"/>
                </a:lnTo>
                <a:moveTo>
                  <a:pt x="180975" y="295275"/>
                </a:moveTo>
                <a:lnTo>
                  <a:pt x="247650" y="295275"/>
                </a:lnTo>
              </a:path>
            </a:pathLst>
          </a:custGeom>
          <a:solidFill>
            <a:srgbClr val="FFFFFF">
              <a:alpha val="0"/>
            </a:srgbClr>
          </a:solidFill>
          <a:ln w="19685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2019300" y="4629150"/>
            <a:ext cx="1619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대화</a:t>
            </a:r>
            <a:endParaRPr lang="en-US" sz="1725"/>
          </a:p>
        </p:txBody>
      </p:sp>
      <p:sp>
        <p:nvSpPr>
          <p:cNvPr id="21" name="Text 19"/>
          <p:cNvSpPr txBox="1"/>
          <p:nvPr/>
        </p:nvSpPr>
        <p:spPr>
          <a:xfrm>
            <a:off x="2019300" y="4962525"/>
            <a:ext cx="1619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이어지는 질문의 맥락</a:t>
            </a:r>
            <a:endParaRPr lang="en-US" sz="1275"/>
          </a:p>
        </p:txBody>
      </p:sp>
      <p:sp>
        <p:nvSpPr>
          <p:cNvPr id="22" name="Shape 20"/>
          <p:cNvSpPr/>
          <p:nvPr/>
        </p:nvSpPr>
        <p:spPr>
          <a:xfrm>
            <a:off x="1333500" y="5372100"/>
            <a:ext cx="226695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333500" y="57531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447800" y="587692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AF3FF"/>
          </a:solidFill>
          <a:ln w="1587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581150" y="587692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AF3FF"/>
          </a:solidFill>
          <a:ln w="1587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447800" y="60102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AF3FF"/>
          </a:solidFill>
          <a:ln w="1587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590675" y="6057900"/>
            <a:ext cx="85725" cy="19050"/>
          </a:xfrm>
          <a:prstGeom prst="rect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2019300" y="5734050"/>
            <a:ext cx="16668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가능 Agent</a:t>
            </a:r>
            <a:endParaRPr lang="en-US" sz="1725"/>
          </a:p>
        </p:txBody>
      </p:sp>
      <p:sp>
        <p:nvSpPr>
          <p:cNvPr id="29" name="Text 27"/>
          <p:cNvSpPr txBox="1"/>
          <p:nvPr/>
        </p:nvSpPr>
        <p:spPr>
          <a:xfrm>
            <a:off x="2019300" y="6067425"/>
            <a:ext cx="1619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실행 가능한 기능</a:t>
            </a:r>
            <a:endParaRPr lang="en-US" sz="1275"/>
          </a:p>
        </p:txBody>
      </p:sp>
      <p:sp>
        <p:nvSpPr>
          <p:cNvPr id="30" name="Text 28"/>
          <p:cNvSpPr txBox="1"/>
          <p:nvPr/>
        </p:nvSpPr>
        <p:spPr>
          <a:xfrm>
            <a:off x="4572000" y="2238375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2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SUPERVISOR ORCHESTRATION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4572000" y="2647950"/>
            <a:ext cx="8705850" cy="4991100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905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0" y="2647950"/>
            <a:ext cx="8705850" cy="666750"/>
          </a:xfrm>
          <a:prstGeom prst="rect">
            <a:avLst/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4914900" y="2714625"/>
            <a:ext cx="7429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Supervisor 안에서 계획과 실행을 분리</a:t>
            </a:r>
            <a:endParaRPr lang="en-US" sz="2100"/>
          </a:p>
        </p:txBody>
      </p:sp>
      <p:sp>
        <p:nvSpPr>
          <p:cNvPr id="34" name="Shape 32"/>
          <p:cNvSpPr/>
          <p:nvPr/>
        </p:nvSpPr>
        <p:spPr>
          <a:xfrm>
            <a:off x="4857750" y="3600450"/>
            <a:ext cx="3533775" cy="3333750"/>
          </a:xfrm>
          <a:prstGeom prst="roundRect">
            <a:avLst>
              <a:gd name="adj" fmla="val 1714"/>
            </a:avLst>
          </a:prstGeom>
          <a:solidFill>
            <a:srgbClr val="F5F9FE"/>
          </a:solidFill>
          <a:ln w="12700">
            <a:solidFill>
              <a:srgbClr val="F5F9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5143500" y="3752850"/>
            <a:ext cx="1143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 kern="0" spc="10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275"/>
          </a:p>
        </p:txBody>
      </p:sp>
      <p:sp>
        <p:nvSpPr>
          <p:cNvPr id="36" name="Text 34"/>
          <p:cNvSpPr txBox="1"/>
          <p:nvPr/>
        </p:nvSpPr>
        <p:spPr>
          <a:xfrm>
            <a:off x="5143500" y="4076700"/>
            <a:ext cx="2571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GPT-5.6-Terra</a:t>
            </a:r>
            <a:endParaRPr lang="en-US" sz="2025"/>
          </a:p>
        </p:txBody>
      </p:sp>
      <p:sp>
        <p:nvSpPr>
          <p:cNvPr id="37" name="Text 35"/>
          <p:cNvSpPr txBox="1"/>
          <p:nvPr/>
        </p:nvSpPr>
        <p:spPr>
          <a:xfrm>
            <a:off x="5143500" y="4467225"/>
            <a:ext cx="27622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5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Agent 작업을 계획</a:t>
            </a:r>
            <a:endParaRPr lang="en-US" sz="1425"/>
          </a:p>
        </p:txBody>
      </p:sp>
      <p:sp>
        <p:nvSpPr>
          <p:cNvPr id="38" name="Shape 36"/>
          <p:cNvSpPr/>
          <p:nvPr/>
        </p:nvSpPr>
        <p:spPr>
          <a:xfrm>
            <a:off x="5143500" y="4991100"/>
            <a:ext cx="2962275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5143500" y="5143500"/>
            <a:ext cx="3429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500"/>
          </a:p>
        </p:txBody>
      </p:sp>
      <p:sp>
        <p:nvSpPr>
          <p:cNvPr id="40" name="Text 38"/>
          <p:cNvSpPr txBox="1"/>
          <p:nvPr/>
        </p:nvSpPr>
        <p:spPr>
          <a:xfrm>
            <a:off x="5572125" y="5143500"/>
            <a:ext cx="23336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목적 확인</a:t>
            </a:r>
            <a:endParaRPr lang="en-US" sz="1500"/>
          </a:p>
        </p:txBody>
      </p:sp>
      <p:sp>
        <p:nvSpPr>
          <p:cNvPr id="41" name="Text 39"/>
          <p:cNvSpPr txBox="1"/>
          <p:nvPr/>
        </p:nvSpPr>
        <p:spPr>
          <a:xfrm>
            <a:off x="5143500" y="5591175"/>
            <a:ext cx="3429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500"/>
          </a:p>
        </p:txBody>
      </p:sp>
      <p:sp>
        <p:nvSpPr>
          <p:cNvPr id="42" name="Text 40"/>
          <p:cNvSpPr txBox="1"/>
          <p:nvPr/>
        </p:nvSpPr>
        <p:spPr>
          <a:xfrm>
            <a:off x="5572125" y="5591175"/>
            <a:ext cx="23336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1~3개 구성</a:t>
            </a:r>
            <a:endParaRPr lang="en-US" sz="1500"/>
          </a:p>
        </p:txBody>
      </p:sp>
      <p:sp>
        <p:nvSpPr>
          <p:cNvPr id="43" name="Text 41"/>
          <p:cNvSpPr txBox="1"/>
          <p:nvPr/>
        </p:nvSpPr>
        <p:spPr>
          <a:xfrm>
            <a:off x="5143500" y="6038850"/>
            <a:ext cx="3429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500"/>
          </a:p>
        </p:txBody>
      </p:sp>
      <p:sp>
        <p:nvSpPr>
          <p:cNvPr id="44" name="Text 42"/>
          <p:cNvSpPr txBox="1"/>
          <p:nvPr/>
        </p:nvSpPr>
        <p:spPr>
          <a:xfrm>
            <a:off x="5572125" y="6038850"/>
            <a:ext cx="23336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순서 작성</a:t>
            </a:r>
            <a:endParaRPr lang="en-US" sz="1500"/>
          </a:p>
        </p:txBody>
      </p:sp>
      <p:sp>
        <p:nvSpPr>
          <p:cNvPr id="45" name="Shape 43"/>
          <p:cNvSpPr/>
          <p:nvPr/>
        </p:nvSpPr>
        <p:spPr>
          <a:xfrm>
            <a:off x="5143500" y="6534150"/>
            <a:ext cx="2962275" cy="400050"/>
          </a:xfrm>
          <a:prstGeom prst="roundRect">
            <a:avLst>
              <a:gd name="adj" fmla="val 11905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5429250" y="6581775"/>
            <a:ext cx="2390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계획만 생성</a:t>
            </a:r>
            <a:endParaRPr lang="en-US" sz="1425"/>
          </a:p>
        </p:txBody>
      </p:sp>
      <p:sp>
        <p:nvSpPr>
          <p:cNvPr id="48" name="Shape 46"/>
          <p:cNvSpPr/>
          <p:nvPr/>
        </p:nvSpPr>
        <p:spPr>
          <a:xfrm>
            <a:off x="8963025" y="3600450"/>
            <a:ext cx="4029075" cy="333375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3970">
            <a:solidFill>
              <a:srgbClr val="BFD3E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9248775" y="3752850"/>
            <a:ext cx="1428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 kern="0" spc="100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CONTROL</a:t>
            </a:r>
            <a:endParaRPr lang="en-US" sz="1275"/>
          </a:p>
        </p:txBody>
      </p:sp>
      <p:sp>
        <p:nvSpPr>
          <p:cNvPr id="50" name="Text 48"/>
          <p:cNvSpPr txBox="1"/>
          <p:nvPr/>
        </p:nvSpPr>
        <p:spPr>
          <a:xfrm>
            <a:off x="9248775" y="4076700"/>
            <a:ext cx="2571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실행 제어</a:t>
            </a:r>
            <a:endParaRPr lang="en-US" sz="2025"/>
          </a:p>
        </p:txBody>
      </p:sp>
      <p:sp>
        <p:nvSpPr>
          <p:cNvPr id="51" name="Text 49"/>
          <p:cNvSpPr txBox="1"/>
          <p:nvPr/>
        </p:nvSpPr>
        <p:spPr>
          <a:xfrm>
            <a:off x="9248775" y="4467225"/>
            <a:ext cx="3048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5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계획을 다시 확인한 뒤 실행</a:t>
            </a:r>
            <a:endParaRPr lang="en-US" sz="1425"/>
          </a:p>
        </p:txBody>
      </p:sp>
      <p:sp>
        <p:nvSpPr>
          <p:cNvPr id="52" name="Shape 50"/>
          <p:cNvSpPr/>
          <p:nvPr/>
        </p:nvSpPr>
        <p:spPr>
          <a:xfrm>
            <a:off x="9248775" y="4991100"/>
            <a:ext cx="3457575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248775" y="5219700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EAF8F6"/>
          </a:solidFill>
          <a:ln w="12700">
            <a:solidFill>
              <a:srgbClr val="EAF8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248775" y="52197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66675" y="133350"/>
                </a:moveTo>
                <a:lnTo>
                  <a:pt x="114300" y="180975"/>
                </a:lnTo>
                <a:lnTo>
                  <a:pt x="200025" y="76200"/>
                </a:lnTo>
              </a:path>
            </a:pathLst>
          </a:custGeom>
          <a:solidFill>
            <a:srgbClr val="FFFFFF">
              <a:alpha val="0"/>
            </a:srgbClr>
          </a:solidFill>
          <a:ln w="20955">
            <a:solidFill>
              <a:srgbClr val="159C9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9686925" y="5210175"/>
            <a:ext cx="2667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형식</a:t>
            </a:r>
            <a:endParaRPr lang="en-US" sz="1500"/>
          </a:p>
        </p:txBody>
      </p:sp>
      <p:sp>
        <p:nvSpPr>
          <p:cNvPr id="56" name="Shape 54"/>
          <p:cNvSpPr/>
          <p:nvPr/>
        </p:nvSpPr>
        <p:spPr>
          <a:xfrm>
            <a:off x="9248775" y="5657850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EAF8F6"/>
          </a:solidFill>
          <a:ln w="12700">
            <a:solidFill>
              <a:srgbClr val="EAF8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248775" y="56578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66675" y="133350"/>
                </a:moveTo>
                <a:lnTo>
                  <a:pt x="114300" y="180975"/>
                </a:lnTo>
                <a:lnTo>
                  <a:pt x="200025" y="76200"/>
                </a:lnTo>
              </a:path>
            </a:pathLst>
          </a:custGeom>
          <a:solidFill>
            <a:srgbClr val="FFFFFF">
              <a:alpha val="0"/>
            </a:srgbClr>
          </a:solidFill>
          <a:ln w="20955">
            <a:solidFill>
              <a:srgbClr val="159C9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9686925" y="5648325"/>
            <a:ext cx="2667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범위</a:t>
            </a:r>
            <a:endParaRPr lang="en-US" sz="1500"/>
          </a:p>
        </p:txBody>
      </p:sp>
      <p:sp>
        <p:nvSpPr>
          <p:cNvPr id="59" name="Shape 57"/>
          <p:cNvSpPr/>
          <p:nvPr/>
        </p:nvSpPr>
        <p:spPr>
          <a:xfrm>
            <a:off x="9248775" y="6096000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EAF8F6"/>
          </a:solidFill>
          <a:ln w="12700">
            <a:solidFill>
              <a:srgbClr val="EAF8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9248775" y="60960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66675" y="133350"/>
                </a:moveTo>
                <a:lnTo>
                  <a:pt x="114300" y="180975"/>
                </a:lnTo>
                <a:lnTo>
                  <a:pt x="200025" y="76200"/>
                </a:lnTo>
              </a:path>
            </a:pathLst>
          </a:custGeom>
          <a:solidFill>
            <a:srgbClr val="FFFFFF">
              <a:alpha val="0"/>
            </a:srgbClr>
          </a:solidFill>
          <a:ln w="20955">
            <a:solidFill>
              <a:srgbClr val="159C9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1" name="Text 59"/>
          <p:cNvSpPr txBox="1"/>
          <p:nvPr/>
        </p:nvSpPr>
        <p:spPr>
          <a:xfrm>
            <a:off x="9686925" y="6086475"/>
            <a:ext cx="2667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준비 상태</a:t>
            </a:r>
            <a:endParaRPr lang="en-US" sz="1500"/>
          </a:p>
        </p:txBody>
      </p:sp>
      <p:sp>
        <p:nvSpPr>
          <p:cNvPr id="62" name="Shape 60"/>
          <p:cNvSpPr/>
          <p:nvPr/>
        </p:nvSpPr>
        <p:spPr>
          <a:xfrm>
            <a:off x="9248775" y="6534150"/>
            <a:ext cx="3457575" cy="400050"/>
          </a:xfrm>
          <a:prstGeom prst="roundRect">
            <a:avLst>
              <a:gd name="adj" fmla="val 11905"/>
            </a:avLst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3" name="Text 61"/>
          <p:cNvSpPr txBox="1"/>
          <p:nvPr/>
        </p:nvSpPr>
        <p:spPr>
          <a:xfrm>
            <a:off x="9572625" y="6581775"/>
            <a:ext cx="2809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실행 · 결과 추적</a:t>
            </a:r>
            <a:endParaRPr lang="en-US" sz="1425"/>
          </a:p>
        </p:txBody>
      </p:sp>
      <p:sp>
        <p:nvSpPr>
          <p:cNvPr id="64" name="Text 62"/>
          <p:cNvSpPr txBox="1"/>
          <p:nvPr/>
        </p:nvSpPr>
        <p:spPr>
          <a:xfrm>
            <a:off x="13830300" y="2238375"/>
            <a:ext cx="171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2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OUTCOME</a:t>
            </a:r>
            <a:endParaRPr lang="en-US" sz="1200"/>
          </a:p>
        </p:txBody>
      </p:sp>
      <p:sp>
        <p:nvSpPr>
          <p:cNvPr id="65" name="Text 63"/>
          <p:cNvSpPr txBox="1"/>
          <p:nvPr/>
        </p:nvSpPr>
        <p:spPr>
          <a:xfrm>
            <a:off x="13830300" y="2533650"/>
            <a:ext cx="2190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결과</a:t>
            </a:r>
            <a:endParaRPr lang="en-US" sz="2100"/>
          </a:p>
        </p:txBody>
      </p:sp>
      <p:sp>
        <p:nvSpPr>
          <p:cNvPr id="66" name="Shape 64"/>
          <p:cNvSpPr/>
          <p:nvPr/>
        </p:nvSpPr>
        <p:spPr>
          <a:xfrm>
            <a:off x="13830300" y="3086100"/>
            <a:ext cx="3448050" cy="28575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5240">
            <a:solidFill>
              <a:srgbClr val="CBD9E6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8" name="Text 66"/>
          <p:cNvSpPr txBox="1"/>
          <p:nvPr/>
        </p:nvSpPr>
        <p:spPr>
          <a:xfrm>
            <a:off x="14135100" y="3228975"/>
            <a:ext cx="1809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통과</a:t>
            </a:r>
            <a:endParaRPr lang="en-US" sz="1350"/>
          </a:p>
        </p:txBody>
      </p:sp>
      <p:sp>
        <p:nvSpPr>
          <p:cNvPr id="69" name="Text 67"/>
          <p:cNvSpPr txBox="1"/>
          <p:nvPr/>
        </p:nvSpPr>
        <p:spPr>
          <a:xfrm>
            <a:off x="14135100" y="3552825"/>
            <a:ext cx="2095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실행</a:t>
            </a:r>
            <a:endParaRPr lang="en-US" sz="1800"/>
          </a:p>
        </p:txBody>
      </p:sp>
      <p:sp>
        <p:nvSpPr>
          <p:cNvPr id="70" name="Shape 68"/>
          <p:cNvSpPr/>
          <p:nvPr/>
        </p:nvSpPr>
        <p:spPr>
          <a:xfrm>
            <a:off x="14135100" y="4019550"/>
            <a:ext cx="283845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4135100" y="4314825"/>
            <a:ext cx="361950" cy="361950"/>
          </a:xfrm>
          <a:prstGeom prst="roundRect">
            <a:avLst>
              <a:gd name="adj" fmla="val 13158"/>
            </a:avLst>
          </a:prstGeom>
          <a:solidFill>
            <a:srgbClr val="EAF8F6"/>
          </a:solidFill>
          <a:ln w="12700">
            <a:solidFill>
              <a:srgbClr val="EAF8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14135100" y="431482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85725" y="257175"/>
                </a:moveTo>
                <a:lnTo>
                  <a:pt x="161925" y="180975"/>
                </a:lnTo>
                <a:lnTo>
                  <a:pt x="219075" y="219075"/>
                </a:lnTo>
                <a:lnTo>
                  <a:pt x="285750" y="114300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59C9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3" name="Text 71"/>
          <p:cNvSpPr txBox="1"/>
          <p:nvPr/>
        </p:nvSpPr>
        <p:spPr>
          <a:xfrm>
            <a:off x="14687550" y="4314825"/>
            <a:ext cx="200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</a:t>
            </a:r>
            <a:endParaRPr lang="en-US" sz="1575"/>
          </a:p>
        </p:txBody>
      </p:sp>
      <p:sp>
        <p:nvSpPr>
          <p:cNvPr id="74" name="Shape 72"/>
          <p:cNvSpPr/>
          <p:nvPr/>
        </p:nvSpPr>
        <p:spPr>
          <a:xfrm>
            <a:off x="14135100" y="4867275"/>
            <a:ext cx="361950" cy="361950"/>
          </a:xfrm>
          <a:prstGeom prst="roundRect">
            <a:avLst>
              <a:gd name="adj" fmla="val 13158"/>
            </a:avLst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14135100" y="48672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95250" y="76200"/>
                </a:moveTo>
                <a:lnTo>
                  <a:pt x="228600" y="76200"/>
                </a:lnTo>
                <a:lnTo>
                  <a:pt x="276225" y="123825"/>
                </a:lnTo>
                <a:lnTo>
                  <a:pt x="276225" y="276225"/>
                </a:lnTo>
                <a:lnTo>
                  <a:pt x="95250" y="276225"/>
                </a:lnTo>
                <a:close/>
                <a:moveTo>
                  <a:pt x="228600" y="76200"/>
                </a:moveTo>
                <a:lnTo>
                  <a:pt x="228600" y="133350"/>
                </a:lnTo>
                <a:lnTo>
                  <a:pt x="276225" y="133350"/>
                </a:lnTo>
                <a:moveTo>
                  <a:pt x="142875" y="180975"/>
                </a:moveTo>
                <a:lnTo>
                  <a:pt x="238125" y="180975"/>
                </a:lnTo>
                <a:moveTo>
                  <a:pt x="142875" y="228600"/>
                </a:moveTo>
                <a:lnTo>
                  <a:pt x="219075" y="228600"/>
                </a:lnTo>
              </a:path>
            </a:pathLst>
          </a:custGeom>
          <a:solidFill>
            <a:srgbClr val="FFFFFF">
              <a:alpha val="0"/>
            </a:srgbClr>
          </a:solidFill>
          <a:ln w="18415">
            <a:solidFill>
              <a:srgbClr val="15345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6" name="Text 74"/>
          <p:cNvSpPr txBox="1"/>
          <p:nvPr/>
        </p:nvSpPr>
        <p:spPr>
          <a:xfrm>
            <a:off x="14687550" y="4867275"/>
            <a:ext cx="2095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문서 검색</a:t>
            </a:r>
            <a:endParaRPr lang="en-US" sz="1575"/>
          </a:p>
        </p:txBody>
      </p:sp>
      <p:sp>
        <p:nvSpPr>
          <p:cNvPr id="77" name="Shape 75"/>
          <p:cNvSpPr/>
          <p:nvPr/>
        </p:nvSpPr>
        <p:spPr>
          <a:xfrm>
            <a:off x="14135100" y="5419725"/>
            <a:ext cx="361950" cy="361950"/>
          </a:xfrm>
          <a:prstGeom prst="roundRect">
            <a:avLst>
              <a:gd name="adj" fmla="val 13158"/>
            </a:avLst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14230350" y="5610225"/>
            <a:ext cx="19050" cy="95250"/>
          </a:xfrm>
          <a:prstGeom prst="rect">
            <a:avLst/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14297025" y="5562600"/>
            <a:ext cx="19050" cy="142875"/>
          </a:xfrm>
          <a:prstGeom prst="rect">
            <a:avLst/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4363700" y="5514975"/>
            <a:ext cx="19050" cy="190500"/>
          </a:xfrm>
          <a:prstGeom prst="rect">
            <a:avLst/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14430375" y="5467350"/>
            <a:ext cx="19050" cy="238125"/>
          </a:xfrm>
          <a:prstGeom prst="rect">
            <a:avLst/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2" name="Text 80"/>
          <p:cNvSpPr txBox="1"/>
          <p:nvPr/>
        </p:nvSpPr>
        <p:spPr>
          <a:xfrm>
            <a:off x="14687550" y="5419725"/>
            <a:ext cx="2095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 수요 예측</a:t>
            </a:r>
            <a:endParaRPr lang="en-US" sz="1575"/>
          </a:p>
        </p:txBody>
      </p:sp>
      <p:sp>
        <p:nvSpPr>
          <p:cNvPr id="83" name="Shape 81"/>
          <p:cNvSpPr/>
          <p:nvPr/>
        </p:nvSpPr>
        <p:spPr>
          <a:xfrm>
            <a:off x="13830300" y="6191250"/>
            <a:ext cx="3448050" cy="1447800"/>
          </a:xfrm>
          <a:prstGeom prst="roundRect">
            <a:avLst>
              <a:gd name="adj" fmla="val 5263"/>
            </a:avLst>
          </a:prstGeom>
          <a:solidFill>
            <a:srgbClr val="FFF8F8"/>
          </a:solidFill>
          <a:ln w="13970">
            <a:solidFill>
              <a:srgbClr val="E3B7B7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5" name="Text 83"/>
          <p:cNvSpPr txBox="1"/>
          <p:nvPr/>
        </p:nvSpPr>
        <p:spPr>
          <a:xfrm>
            <a:off x="14135100" y="6362700"/>
            <a:ext cx="1809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C845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불가</a:t>
            </a:r>
            <a:endParaRPr lang="en-US" sz="1350"/>
          </a:p>
        </p:txBody>
      </p:sp>
      <p:sp>
        <p:nvSpPr>
          <p:cNvPr id="86" name="Text 84"/>
          <p:cNvSpPr txBox="1"/>
          <p:nvPr/>
        </p:nvSpPr>
        <p:spPr>
          <a:xfrm>
            <a:off x="14135100" y="6715125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차단</a:t>
            </a:r>
            <a:endParaRPr lang="en-US" sz="1800"/>
          </a:p>
        </p:txBody>
      </p:sp>
      <p:sp>
        <p:nvSpPr>
          <p:cNvPr id="87" name="Text 85"/>
          <p:cNvSpPr txBox="1"/>
          <p:nvPr/>
        </p:nvSpPr>
        <p:spPr>
          <a:xfrm>
            <a:off x="14135100" y="7105650"/>
            <a:ext cx="266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임의의 기능으로 우회하지 않음</a:t>
            </a:r>
            <a:endParaRPr lang="en-US" sz="1275"/>
          </a:p>
        </p:txBody>
      </p:sp>
      <p:sp>
        <p:nvSpPr>
          <p:cNvPr id="88" name="Shape 86"/>
          <p:cNvSpPr/>
          <p:nvPr/>
        </p:nvSpPr>
        <p:spPr>
          <a:xfrm>
            <a:off x="1009650" y="8020050"/>
            <a:ext cx="16268700" cy="590550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9" name="Text 87"/>
          <p:cNvSpPr txBox="1"/>
          <p:nvPr/>
        </p:nvSpPr>
        <p:spPr>
          <a:xfrm>
            <a:off x="1314450" y="8105775"/>
            <a:ext cx="1619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 CONTROL</a:t>
            </a:r>
            <a:endParaRPr lang="en-US" sz="1200"/>
          </a:p>
        </p:txBody>
      </p:sp>
      <p:sp>
        <p:nvSpPr>
          <p:cNvPr id="90" name="Text 88"/>
          <p:cNvSpPr txBox="1"/>
          <p:nvPr/>
        </p:nvSpPr>
        <p:spPr>
          <a:xfrm>
            <a:off x="3124200" y="8105775"/>
            <a:ext cx="6572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분기 · 실행 · 실패 처리 · 결과 추적은 서버가 담당</a:t>
            </a:r>
            <a:endParaRPr lang="en-US" sz="1350"/>
          </a:p>
        </p:txBody>
      </p:sp>
      <p:sp>
        <p:nvSpPr>
          <p:cNvPr id="91" name="Text 89"/>
          <p:cNvSpPr txBox="1"/>
          <p:nvPr/>
        </p:nvSpPr>
        <p:spPr>
          <a:xfrm>
            <a:off x="12382500" y="8105775"/>
            <a:ext cx="45910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conversation_orchestrator.py · routing_service.py</a:t>
            </a:r>
            <a:endParaRPr lang="en-US" sz="1125"/>
          </a:p>
        </p:txBody>
      </p:sp>
      <p:sp>
        <p:nvSpPr>
          <p:cNvPr id="92" name="Shape 90"/>
          <p:cNvSpPr/>
          <p:nvPr/>
        </p:nvSpPr>
        <p:spPr>
          <a:xfrm>
            <a:off x="1009650" y="9048750"/>
            <a:ext cx="162687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3" name="Text 91"/>
          <p:cNvSpPr txBox="1"/>
          <p:nvPr/>
        </p:nvSpPr>
        <p:spPr>
          <a:xfrm>
            <a:off x="1009650" y="929640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1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SUPERVISOR</a:t>
            </a:r>
            <a:endParaRPr lang="en-US" sz="1200"/>
          </a:p>
        </p:txBody>
      </p:sp>
      <p:sp>
        <p:nvSpPr>
          <p:cNvPr id="94" name="Text 92"/>
          <p:cNvSpPr txBox="1"/>
          <p:nvPr/>
        </p:nvSpPr>
        <p:spPr>
          <a:xfrm>
            <a:off x="2848387" y="9297640"/>
            <a:ext cx="5259457" cy="458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Terra는 </a:t>
            </a:r>
            <a:r>
              <a:rPr lang="en-US" sz="22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계획하고</a:t>
            </a:r>
            <a:r>
              <a:rPr lang="en-US" sz="22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, </a:t>
            </a:r>
            <a:r>
              <a:rPr lang="ko-KR" altLang="en-US" sz="2200" b="1">
                <a:solidFill>
                  <a:srgbClr val="176FE5"/>
                </a:solidFill>
                <a:ea typeface="+mn-lt"/>
                <a:cs typeface="+mn-lt"/>
              </a:rPr>
              <a:t>서버는</a:t>
            </a:r>
            <a:r>
              <a:rPr lang="en-US" sz="2200" b="1">
                <a:solidFill>
                  <a:srgbClr val="176FE5"/>
                </a:solidFill>
                <a:ea typeface="+mn-lt"/>
                <a:cs typeface="+mn-lt"/>
              </a:rPr>
              <a:t> </a:t>
            </a:r>
            <a:r>
              <a:rPr lang="ko-KR" altLang="en-US" sz="2200" b="1">
                <a:solidFill>
                  <a:srgbClr val="176FE5"/>
                </a:solidFill>
                <a:ea typeface="+mn-lt"/>
                <a:cs typeface="+mn-lt"/>
              </a:rPr>
              <a:t>검증하고</a:t>
            </a:r>
            <a:r>
              <a:rPr lang="en-US" sz="2200" b="1">
                <a:solidFill>
                  <a:srgbClr val="176FE5"/>
                </a:solidFill>
                <a:ea typeface="+mn-lt"/>
                <a:cs typeface="+mn-lt"/>
              </a:rPr>
              <a:t> </a:t>
            </a:r>
            <a:r>
              <a:rPr lang="ko-KR" altLang="en-US" sz="2200" b="1">
                <a:solidFill>
                  <a:srgbClr val="176FE5"/>
                </a:solidFill>
                <a:ea typeface="+mn-lt"/>
                <a:cs typeface="+mn-lt"/>
              </a:rPr>
              <a:t>실행</a:t>
            </a:r>
            <a:endParaRPr lang="en-US" sz="22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3CDFF09-4E9B-C4A4-19BE-87EC3B770C94}"/>
              </a:ext>
            </a:extLst>
          </p:cNvPr>
          <p:cNvSpPr txBox="1"/>
          <p:nvPr/>
        </p:nvSpPr>
        <p:spPr>
          <a:xfrm>
            <a:off x="1005840" y="1234658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 err="1">
                <a:solidFill>
                  <a:srgbClr val="1D334F"/>
                </a:solidFill>
                <a:latin typeface="Pretendard"/>
                <a:ea typeface="맑은 고딕"/>
              </a:rPr>
              <a:t>Supervisor</a:t>
            </a:r>
            <a:r>
              <a:rPr lang="ko-KR" altLang="en-US" sz="3600" b="1">
                <a:solidFill>
                  <a:srgbClr val="1D334F"/>
                </a:solidFill>
                <a:latin typeface="Pretendard"/>
                <a:ea typeface="맑은 고딕"/>
              </a:rPr>
              <a:t> 실행 조율</a:t>
            </a:r>
            <a:endParaRPr lang="en-US" altLang="ko-KR"/>
          </a:p>
        </p:txBody>
      </p:sp>
      <p:sp>
        <p:nvSpPr>
          <p:cNvPr id="67" name="Shape 0">
            <a:extLst>
              <a:ext uri="{FF2B5EF4-FFF2-40B4-BE49-F238E27FC236}">
                <a16:creationId xmlns:a16="http://schemas.microsoft.com/office/drawing/2014/main" id="{AAEE74CD-D5FD-C87F-BB7E-DF0E7D6DB1FF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5" name="Text 1">
            <a:extLst>
              <a:ext uri="{FF2B5EF4-FFF2-40B4-BE49-F238E27FC236}">
                <a16:creationId xmlns:a16="http://schemas.microsoft.com/office/drawing/2014/main" id="{3F7853AF-4A9A-4881-C191-E3FC360624EB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24 · SUPERVISOR</a:t>
            </a:r>
            <a:endParaRPr lang="en-US" sz="1100">
              <a:latin typeface="Pretendar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1009650" y="2114550"/>
            <a:ext cx="16268700" cy="819150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352550" y="2219325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1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NATURAL LANGUAGE QUESTION</a:t>
            </a:r>
            <a:endParaRPr lang="en-US" sz="1200"/>
          </a:p>
        </p:txBody>
      </p:sp>
      <p:sp>
        <p:nvSpPr>
          <p:cNvPr id="9" name="Text 7"/>
          <p:cNvSpPr txBox="1"/>
          <p:nvPr/>
        </p:nvSpPr>
        <p:spPr>
          <a:xfrm>
            <a:off x="1352550" y="2476500"/>
            <a:ext cx="1047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“5월과 6월 </a:t>
            </a:r>
            <a:r>
              <a:rPr lang="en-US" sz="2025" b="1" err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객실과</a:t>
            </a:r>
            <a:r>
              <a:rPr lang="en-US" sz="20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식음료 매출을 비교해 줘.”</a:t>
            </a:r>
            <a:endParaRPr lang="en-US" sz="2025"/>
          </a:p>
        </p:txBody>
      </p:sp>
      <p:sp>
        <p:nvSpPr>
          <p:cNvPr id="10" name="Shape 8"/>
          <p:cNvSpPr/>
          <p:nvPr/>
        </p:nvSpPr>
        <p:spPr>
          <a:xfrm>
            <a:off x="9144000" y="2933700"/>
            <a:ext cx="0" cy="43815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09650" y="3238500"/>
            <a:ext cx="3333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2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ANALYSIS AGENT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1009650" y="3667125"/>
            <a:ext cx="1626870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905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09650" y="3667125"/>
            <a:ext cx="16268700" cy="552450"/>
          </a:xfrm>
          <a:prstGeom prst="rect">
            <a:avLst/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352550" y="3724275"/>
            <a:ext cx="723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75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질문을 네 단계로 나누어 처리</a:t>
            </a:r>
            <a:endParaRPr lang="en-US" sz="1875"/>
          </a:p>
        </p:txBody>
      </p:sp>
      <p:sp>
        <p:nvSpPr>
          <p:cNvPr id="15" name="Shape 13"/>
          <p:cNvSpPr/>
          <p:nvPr/>
        </p:nvSpPr>
        <p:spPr>
          <a:xfrm>
            <a:off x="4343400" y="4219575"/>
            <a:ext cx="1047750" cy="3543300"/>
          </a:xfrm>
          <a:prstGeom prst="rect">
            <a:avLst/>
          </a:prstGeom>
          <a:solidFill>
            <a:srgbClr val="EAF8F6"/>
          </a:solidFill>
          <a:ln w="12700">
            <a:solidFill>
              <a:srgbClr val="EAF8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43400" y="4219575"/>
            <a:ext cx="9525" cy="3543300"/>
          </a:xfrm>
          <a:prstGeom prst="rect">
            <a:avLst/>
          </a:prstGeom>
          <a:solidFill>
            <a:srgbClr val="B9DFDB"/>
          </a:solidFill>
          <a:ln w="12700">
            <a:solidFill>
              <a:srgbClr val="B9D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81625" y="4219575"/>
            <a:ext cx="9525" cy="3543300"/>
          </a:xfrm>
          <a:prstGeom prst="rect">
            <a:avLst/>
          </a:prstGeom>
          <a:solidFill>
            <a:srgbClr val="B9DFDB"/>
          </a:solidFill>
          <a:ln w="12700">
            <a:solidFill>
              <a:srgbClr val="B9D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724900" y="4219575"/>
            <a:ext cx="1047750" cy="3543300"/>
          </a:xfrm>
          <a:prstGeom prst="rect">
            <a:avLst/>
          </a:prstGeom>
          <a:solidFill>
            <a:srgbClr val="EAF8F6"/>
          </a:solidFill>
          <a:ln w="12700">
            <a:solidFill>
              <a:srgbClr val="EAF8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724900" y="4219575"/>
            <a:ext cx="9525" cy="3543300"/>
          </a:xfrm>
          <a:prstGeom prst="rect">
            <a:avLst/>
          </a:prstGeom>
          <a:solidFill>
            <a:srgbClr val="B9DFDB"/>
          </a:solidFill>
          <a:ln w="12700">
            <a:solidFill>
              <a:srgbClr val="B9D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763125" y="4219575"/>
            <a:ext cx="9525" cy="3543300"/>
          </a:xfrm>
          <a:prstGeom prst="rect">
            <a:avLst/>
          </a:prstGeom>
          <a:solidFill>
            <a:srgbClr val="B9DFDB"/>
          </a:solidFill>
          <a:ln w="12700">
            <a:solidFill>
              <a:srgbClr val="B9D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3106400" y="4219575"/>
            <a:ext cx="1047750" cy="3543300"/>
          </a:xfrm>
          <a:prstGeom prst="rect">
            <a:avLst/>
          </a:prstGeom>
          <a:solidFill>
            <a:srgbClr val="EAF8F6"/>
          </a:solidFill>
          <a:ln w="12700">
            <a:solidFill>
              <a:srgbClr val="EAF8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3106400" y="4219575"/>
            <a:ext cx="9525" cy="3543300"/>
          </a:xfrm>
          <a:prstGeom prst="rect">
            <a:avLst/>
          </a:prstGeom>
          <a:solidFill>
            <a:srgbClr val="B9DFDB"/>
          </a:solidFill>
          <a:ln w="12700">
            <a:solidFill>
              <a:srgbClr val="B9D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4144625" y="4219575"/>
            <a:ext cx="9525" cy="3543300"/>
          </a:xfrm>
          <a:prstGeom prst="rect">
            <a:avLst/>
          </a:prstGeom>
          <a:solidFill>
            <a:srgbClr val="B9DFDB"/>
          </a:solidFill>
          <a:ln w="12700">
            <a:solidFill>
              <a:srgbClr val="B9D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295400" y="43815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CONTEXT</a:t>
            </a:r>
            <a:endParaRPr lang="en-US" sz="1200"/>
          </a:p>
        </p:txBody>
      </p:sp>
      <p:sp>
        <p:nvSpPr>
          <p:cNvPr id="28" name="Text 26"/>
          <p:cNvSpPr txBox="1"/>
          <p:nvPr/>
        </p:nvSpPr>
        <p:spPr>
          <a:xfrm>
            <a:off x="1295400" y="4695825"/>
            <a:ext cx="2952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범위 확정</a:t>
            </a:r>
            <a:endParaRPr lang="en-US" sz="2025"/>
          </a:p>
        </p:txBody>
      </p:sp>
      <p:sp>
        <p:nvSpPr>
          <p:cNvPr id="29" name="Shape 27"/>
          <p:cNvSpPr/>
          <p:nvPr/>
        </p:nvSpPr>
        <p:spPr>
          <a:xfrm>
            <a:off x="1295400" y="5314950"/>
            <a:ext cx="685800" cy="685800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457325" y="5429250"/>
            <a:ext cx="323850" cy="381000"/>
          </a:xfrm>
          <a:prstGeom prst="can">
            <a:avLst/>
          </a:prstGeom>
          <a:solidFill>
            <a:srgbClr val="EAF3FF">
              <a:alpha val="0"/>
            </a:srgbClr>
          </a:solidFill>
          <a:ln w="2159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743075" y="5724525"/>
            <a:ext cx="152400" cy="152400"/>
          </a:xfrm>
          <a:prstGeom prst="ellipse">
            <a:avLst/>
          </a:prstGeom>
          <a:solidFill>
            <a:srgbClr val="EAF3FF"/>
          </a:solidFill>
          <a:ln w="2159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857375" y="5857875"/>
            <a:ext cx="85725" cy="85725"/>
          </a:xfrm>
          <a:prstGeom prst="line">
            <a:avLst/>
          </a:prstGeom>
          <a:noFill/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295400" y="6162675"/>
            <a:ext cx="2952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· 권한</a:t>
            </a:r>
            <a:endParaRPr lang="en-US" sz="1500"/>
          </a:p>
        </p:txBody>
      </p:sp>
      <p:sp>
        <p:nvSpPr>
          <p:cNvPr id="34" name="Text 32"/>
          <p:cNvSpPr txBox="1"/>
          <p:nvPr/>
        </p:nvSpPr>
        <p:spPr>
          <a:xfrm>
            <a:off x="1295400" y="6496050"/>
            <a:ext cx="2952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· 기간</a:t>
            </a:r>
            <a:endParaRPr lang="en-US" sz="1500"/>
          </a:p>
        </p:txBody>
      </p:sp>
      <p:sp>
        <p:nvSpPr>
          <p:cNvPr id="35" name="Text 33"/>
          <p:cNvSpPr txBox="1"/>
          <p:nvPr/>
        </p:nvSpPr>
        <p:spPr>
          <a:xfrm>
            <a:off x="1295400" y="6829425"/>
            <a:ext cx="2952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데이터</a:t>
            </a:r>
            <a:endParaRPr lang="en-US" sz="1500"/>
          </a:p>
        </p:txBody>
      </p:sp>
      <p:sp>
        <p:nvSpPr>
          <p:cNvPr id="36" name="Shape 34"/>
          <p:cNvSpPr/>
          <p:nvPr/>
        </p:nvSpPr>
        <p:spPr>
          <a:xfrm>
            <a:off x="1295400" y="7324725"/>
            <a:ext cx="276225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295400" y="7381875"/>
            <a:ext cx="2762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DataHub · Node 1</a:t>
            </a:r>
            <a:endParaRPr lang="en-US" sz="1275"/>
          </a:p>
        </p:txBody>
      </p:sp>
      <p:sp>
        <p:nvSpPr>
          <p:cNvPr id="38" name="Text 36"/>
          <p:cNvSpPr txBox="1"/>
          <p:nvPr/>
        </p:nvSpPr>
        <p:spPr>
          <a:xfrm>
            <a:off x="4343400" y="4448175"/>
            <a:ext cx="1047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확인</a:t>
            </a:r>
            <a:endParaRPr lang="en-US" sz="1500"/>
          </a:p>
        </p:txBody>
      </p:sp>
      <p:sp>
        <p:nvSpPr>
          <p:cNvPr id="39" name="Shape 37"/>
          <p:cNvSpPr/>
          <p:nvPr/>
        </p:nvSpPr>
        <p:spPr>
          <a:xfrm>
            <a:off x="4638675" y="4933950"/>
            <a:ext cx="4572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4638675" y="4953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G1</a:t>
            </a:r>
            <a:endParaRPr lang="en-US" sz="975"/>
          </a:p>
        </p:txBody>
      </p:sp>
      <p:sp>
        <p:nvSpPr>
          <p:cNvPr id="41" name="Shape 39"/>
          <p:cNvSpPr/>
          <p:nvPr/>
        </p:nvSpPr>
        <p:spPr>
          <a:xfrm>
            <a:off x="4591050" y="5438775"/>
            <a:ext cx="552450" cy="552450"/>
          </a:xfrm>
          <a:prstGeom prst="ellipse">
            <a:avLst/>
          </a:prstGeom>
          <a:solidFill>
            <a:srgbClr val="159C98"/>
          </a:solidFill>
          <a:ln w="12700">
            <a:solidFill>
              <a:srgbClr val="159C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638675" y="548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0" y="228600"/>
                </a:moveTo>
                <a:lnTo>
                  <a:pt x="180975" y="333375"/>
                </a:lnTo>
                <a:lnTo>
                  <a:pt x="400050" y="85725"/>
                </a:lnTo>
              </a:path>
            </a:pathLst>
          </a:custGeom>
          <a:solidFill>
            <a:srgbClr val="FFFFFF">
              <a:alpha val="0"/>
            </a:srgbClr>
          </a:solidFill>
          <a:ln w="2921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4343400" y="6153150"/>
            <a:ext cx="104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통과</a:t>
            </a:r>
            <a:endParaRPr lang="en-US" sz="1275"/>
          </a:p>
        </p:txBody>
      </p:sp>
      <p:sp>
        <p:nvSpPr>
          <p:cNvPr id="44" name="Text 42"/>
          <p:cNvSpPr txBox="1"/>
          <p:nvPr/>
        </p:nvSpPr>
        <p:spPr>
          <a:xfrm>
            <a:off x="5676900" y="43815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PLAN</a:t>
            </a:r>
            <a:endParaRPr lang="en-US" sz="1200"/>
          </a:p>
        </p:txBody>
      </p:sp>
      <p:sp>
        <p:nvSpPr>
          <p:cNvPr id="45" name="Text 43"/>
          <p:cNvSpPr txBox="1"/>
          <p:nvPr/>
        </p:nvSpPr>
        <p:spPr>
          <a:xfrm>
            <a:off x="5676900" y="4695825"/>
            <a:ext cx="2952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계획 확정</a:t>
            </a:r>
            <a:endParaRPr lang="en-US" sz="2025"/>
          </a:p>
        </p:txBody>
      </p:sp>
      <p:sp>
        <p:nvSpPr>
          <p:cNvPr id="46" name="Shape 44"/>
          <p:cNvSpPr/>
          <p:nvPr/>
        </p:nvSpPr>
        <p:spPr>
          <a:xfrm>
            <a:off x="5676900" y="5314950"/>
            <a:ext cx="685800" cy="685800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676900" y="531495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180975" y="161925"/>
                </a:moveTo>
                <a:lnTo>
                  <a:pt x="504825" y="161925"/>
                </a:lnTo>
                <a:lnTo>
                  <a:pt x="504825" y="523875"/>
                </a:lnTo>
                <a:lnTo>
                  <a:pt x="180975" y="523875"/>
                </a:lnTo>
                <a:close/>
                <a:moveTo>
                  <a:pt x="238125" y="247650"/>
                </a:moveTo>
                <a:lnTo>
                  <a:pt x="447675" y="247650"/>
                </a:lnTo>
                <a:moveTo>
                  <a:pt x="238125" y="333375"/>
                </a:moveTo>
                <a:lnTo>
                  <a:pt x="409575" y="333375"/>
                </a:lnTo>
                <a:moveTo>
                  <a:pt x="238125" y="419100"/>
                </a:moveTo>
                <a:lnTo>
                  <a:pt x="371475" y="419100"/>
                </a:lnTo>
                <a:moveTo>
                  <a:pt x="457200" y="114300"/>
                </a:moveTo>
                <a:lnTo>
                  <a:pt x="533400" y="190500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5676900" y="6162675"/>
            <a:ext cx="2952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· 차원</a:t>
            </a:r>
            <a:endParaRPr lang="en-US" sz="1500"/>
          </a:p>
        </p:txBody>
      </p:sp>
      <p:sp>
        <p:nvSpPr>
          <p:cNvPr id="49" name="Text 47"/>
          <p:cNvSpPr txBox="1"/>
          <p:nvPr/>
        </p:nvSpPr>
        <p:spPr>
          <a:xfrm>
            <a:off x="5676900" y="6496050"/>
            <a:ext cx="2952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 · 조인</a:t>
            </a:r>
            <a:endParaRPr lang="en-US" sz="1500"/>
          </a:p>
        </p:txBody>
      </p:sp>
      <p:sp>
        <p:nvSpPr>
          <p:cNvPr id="50" name="Text 48"/>
          <p:cNvSpPr txBox="1"/>
          <p:nvPr/>
        </p:nvSpPr>
        <p:spPr>
          <a:xfrm>
            <a:off x="5676900" y="6829425"/>
            <a:ext cx="2952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후보</a:t>
            </a:r>
            <a:endParaRPr lang="en-US" sz="1500"/>
          </a:p>
        </p:txBody>
      </p:sp>
      <p:sp>
        <p:nvSpPr>
          <p:cNvPr id="51" name="Shape 49"/>
          <p:cNvSpPr/>
          <p:nvPr/>
        </p:nvSpPr>
        <p:spPr>
          <a:xfrm>
            <a:off x="5676900" y="7324725"/>
            <a:ext cx="276225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5676900" y="7381875"/>
            <a:ext cx="2762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sLLM · Compiler</a:t>
            </a:r>
            <a:endParaRPr lang="en-US" sz="1275"/>
          </a:p>
        </p:txBody>
      </p:sp>
      <p:sp>
        <p:nvSpPr>
          <p:cNvPr id="53" name="Text 51"/>
          <p:cNvSpPr txBox="1"/>
          <p:nvPr/>
        </p:nvSpPr>
        <p:spPr>
          <a:xfrm>
            <a:off x="8724900" y="4448175"/>
            <a:ext cx="1047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검증</a:t>
            </a:r>
            <a:endParaRPr lang="en-US" sz="1500"/>
          </a:p>
        </p:txBody>
      </p:sp>
      <p:sp>
        <p:nvSpPr>
          <p:cNvPr id="54" name="Shape 52"/>
          <p:cNvSpPr/>
          <p:nvPr/>
        </p:nvSpPr>
        <p:spPr>
          <a:xfrm>
            <a:off x="9020175" y="4933950"/>
            <a:ext cx="4572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9020175" y="4953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G2</a:t>
            </a:r>
            <a:endParaRPr lang="en-US" sz="975"/>
          </a:p>
        </p:txBody>
      </p:sp>
      <p:sp>
        <p:nvSpPr>
          <p:cNvPr id="56" name="Shape 54"/>
          <p:cNvSpPr/>
          <p:nvPr/>
        </p:nvSpPr>
        <p:spPr>
          <a:xfrm>
            <a:off x="8972550" y="5438775"/>
            <a:ext cx="552450" cy="552450"/>
          </a:xfrm>
          <a:prstGeom prst="ellipse">
            <a:avLst/>
          </a:prstGeom>
          <a:solidFill>
            <a:srgbClr val="159C98"/>
          </a:solidFill>
          <a:ln w="12700">
            <a:solidFill>
              <a:srgbClr val="159C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020175" y="548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0" y="228600"/>
                </a:moveTo>
                <a:lnTo>
                  <a:pt x="180975" y="333375"/>
                </a:lnTo>
                <a:lnTo>
                  <a:pt x="400050" y="85725"/>
                </a:lnTo>
              </a:path>
            </a:pathLst>
          </a:custGeom>
          <a:solidFill>
            <a:srgbClr val="FFFFFF">
              <a:alpha val="0"/>
            </a:srgbClr>
          </a:solidFill>
          <a:ln w="2921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8724900" y="6153150"/>
            <a:ext cx="104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통과</a:t>
            </a:r>
            <a:endParaRPr lang="en-US" sz="1275"/>
          </a:p>
        </p:txBody>
      </p:sp>
      <p:sp>
        <p:nvSpPr>
          <p:cNvPr id="59" name="Text 57"/>
          <p:cNvSpPr txBox="1"/>
          <p:nvPr/>
        </p:nvSpPr>
        <p:spPr>
          <a:xfrm>
            <a:off x="10058400" y="43815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QUERY</a:t>
            </a:r>
            <a:endParaRPr lang="en-US" sz="1200"/>
          </a:p>
        </p:txBody>
      </p:sp>
      <p:sp>
        <p:nvSpPr>
          <p:cNvPr id="60" name="Text 58"/>
          <p:cNvSpPr txBox="1"/>
          <p:nvPr/>
        </p:nvSpPr>
        <p:spPr>
          <a:xfrm>
            <a:off x="10058400" y="4695825"/>
            <a:ext cx="2952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데이터 조회</a:t>
            </a:r>
            <a:endParaRPr lang="en-US" sz="2025"/>
          </a:p>
        </p:txBody>
      </p:sp>
      <p:sp>
        <p:nvSpPr>
          <p:cNvPr id="61" name="Shape 59"/>
          <p:cNvSpPr/>
          <p:nvPr/>
        </p:nvSpPr>
        <p:spPr>
          <a:xfrm>
            <a:off x="10058400" y="5314950"/>
            <a:ext cx="685800" cy="685800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0058400" y="531495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171450" y="180975"/>
                </a:moveTo>
                <a:lnTo>
                  <a:pt x="514350" y="180975"/>
                </a:lnTo>
                <a:moveTo>
                  <a:pt x="171450" y="285750"/>
                </a:moveTo>
                <a:lnTo>
                  <a:pt x="514350" y="285750"/>
                </a:lnTo>
                <a:moveTo>
                  <a:pt x="171450" y="390525"/>
                </a:moveTo>
                <a:lnTo>
                  <a:pt x="400050" y="390525"/>
                </a:lnTo>
                <a:moveTo>
                  <a:pt x="457200" y="514350"/>
                </a:moveTo>
                <a:lnTo>
                  <a:pt x="542925" y="428625"/>
                </a:lnTo>
                <a:lnTo>
                  <a:pt x="457200" y="342900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3" name="Text 61"/>
          <p:cNvSpPr txBox="1"/>
          <p:nvPr/>
        </p:nvSpPr>
        <p:spPr>
          <a:xfrm>
            <a:off x="10058400" y="6162675"/>
            <a:ext cx="2952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SQL</a:t>
            </a:r>
            <a:endParaRPr lang="en-US" sz="1500"/>
          </a:p>
        </p:txBody>
      </p:sp>
      <p:sp>
        <p:nvSpPr>
          <p:cNvPr id="64" name="Text 62"/>
          <p:cNvSpPr txBox="1"/>
          <p:nvPr/>
        </p:nvSpPr>
        <p:spPr>
          <a:xfrm>
            <a:off x="10058400" y="6496050"/>
            <a:ext cx="2952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DB 통합 조회</a:t>
            </a:r>
            <a:endParaRPr lang="en-US" sz="1500"/>
          </a:p>
        </p:txBody>
      </p:sp>
      <p:sp>
        <p:nvSpPr>
          <p:cNvPr id="65" name="Text 63"/>
          <p:cNvSpPr txBox="1"/>
          <p:nvPr/>
        </p:nvSpPr>
        <p:spPr>
          <a:xfrm>
            <a:off x="10058400" y="6829425"/>
            <a:ext cx="2952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 전용 실행</a:t>
            </a:r>
            <a:endParaRPr lang="en-US" sz="1500"/>
          </a:p>
        </p:txBody>
      </p:sp>
      <p:sp>
        <p:nvSpPr>
          <p:cNvPr id="66" name="Shape 64"/>
          <p:cNvSpPr/>
          <p:nvPr/>
        </p:nvSpPr>
        <p:spPr>
          <a:xfrm>
            <a:off x="10058400" y="7324725"/>
            <a:ext cx="276225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7" name="Text 65"/>
          <p:cNvSpPr txBox="1"/>
          <p:nvPr/>
        </p:nvSpPr>
        <p:spPr>
          <a:xfrm>
            <a:off x="10058400" y="7381875"/>
            <a:ext cx="2762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Trino</a:t>
            </a:r>
            <a:endParaRPr lang="en-US" sz="1275"/>
          </a:p>
        </p:txBody>
      </p:sp>
      <p:sp>
        <p:nvSpPr>
          <p:cNvPr id="68" name="Text 66"/>
          <p:cNvSpPr txBox="1"/>
          <p:nvPr/>
        </p:nvSpPr>
        <p:spPr>
          <a:xfrm>
            <a:off x="13106400" y="4448175"/>
            <a:ext cx="1047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확인</a:t>
            </a:r>
            <a:endParaRPr lang="en-US" sz="1500"/>
          </a:p>
        </p:txBody>
      </p:sp>
      <p:sp>
        <p:nvSpPr>
          <p:cNvPr id="69" name="Shape 67"/>
          <p:cNvSpPr/>
          <p:nvPr/>
        </p:nvSpPr>
        <p:spPr>
          <a:xfrm>
            <a:off x="13401675" y="4933950"/>
            <a:ext cx="4572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0" name="Text 68"/>
          <p:cNvSpPr txBox="1"/>
          <p:nvPr/>
        </p:nvSpPr>
        <p:spPr>
          <a:xfrm>
            <a:off x="13401675" y="4953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G3</a:t>
            </a:r>
            <a:endParaRPr lang="en-US" sz="975"/>
          </a:p>
        </p:txBody>
      </p:sp>
      <p:sp>
        <p:nvSpPr>
          <p:cNvPr id="71" name="Shape 69"/>
          <p:cNvSpPr/>
          <p:nvPr/>
        </p:nvSpPr>
        <p:spPr>
          <a:xfrm>
            <a:off x="13354050" y="5438775"/>
            <a:ext cx="552450" cy="552450"/>
          </a:xfrm>
          <a:prstGeom prst="ellipse">
            <a:avLst/>
          </a:prstGeom>
          <a:solidFill>
            <a:srgbClr val="159C98"/>
          </a:solidFill>
          <a:ln w="12700">
            <a:solidFill>
              <a:srgbClr val="159C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13401675" y="548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0" y="228600"/>
                </a:moveTo>
                <a:lnTo>
                  <a:pt x="180975" y="333375"/>
                </a:lnTo>
                <a:lnTo>
                  <a:pt x="400050" y="85725"/>
                </a:lnTo>
              </a:path>
            </a:pathLst>
          </a:custGeom>
          <a:solidFill>
            <a:srgbClr val="FFFFFF">
              <a:alpha val="0"/>
            </a:srgbClr>
          </a:solidFill>
          <a:ln w="2921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3" name="Text 71"/>
          <p:cNvSpPr txBox="1"/>
          <p:nvPr/>
        </p:nvSpPr>
        <p:spPr>
          <a:xfrm>
            <a:off x="13106400" y="6153150"/>
            <a:ext cx="104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통과</a:t>
            </a:r>
            <a:endParaRPr lang="en-US" sz="1275"/>
          </a:p>
        </p:txBody>
      </p:sp>
      <p:sp>
        <p:nvSpPr>
          <p:cNvPr id="74" name="Text 72"/>
          <p:cNvSpPr txBox="1"/>
          <p:nvPr/>
        </p:nvSpPr>
        <p:spPr>
          <a:xfrm>
            <a:off x="14439900" y="43815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RESULT</a:t>
            </a:r>
            <a:endParaRPr lang="en-US" sz="1200"/>
          </a:p>
        </p:txBody>
      </p:sp>
      <p:sp>
        <p:nvSpPr>
          <p:cNvPr id="75" name="Text 73"/>
          <p:cNvSpPr txBox="1"/>
          <p:nvPr/>
        </p:nvSpPr>
        <p:spPr>
          <a:xfrm>
            <a:off x="14439900" y="4695825"/>
            <a:ext cx="2952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결과·근거 저장</a:t>
            </a:r>
            <a:endParaRPr lang="en-US" sz="2025"/>
          </a:p>
        </p:txBody>
      </p:sp>
      <p:sp>
        <p:nvSpPr>
          <p:cNvPr id="76" name="Shape 74"/>
          <p:cNvSpPr/>
          <p:nvPr/>
        </p:nvSpPr>
        <p:spPr>
          <a:xfrm>
            <a:off x="14439900" y="5314950"/>
            <a:ext cx="685800" cy="685800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4439900" y="531495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171450" y="171450"/>
                </a:moveTo>
                <a:lnTo>
                  <a:pt x="447675" y="171450"/>
                </a:lnTo>
                <a:lnTo>
                  <a:pt x="533400" y="257175"/>
                </a:lnTo>
                <a:lnTo>
                  <a:pt x="533400" y="542925"/>
                </a:lnTo>
                <a:lnTo>
                  <a:pt x="171450" y="542925"/>
                </a:lnTo>
                <a:close/>
                <a:moveTo>
                  <a:pt x="447675" y="171450"/>
                </a:moveTo>
                <a:lnTo>
                  <a:pt x="447675" y="266700"/>
                </a:lnTo>
                <a:lnTo>
                  <a:pt x="533400" y="266700"/>
                </a:lnTo>
                <a:moveTo>
                  <a:pt x="238125" y="361950"/>
                </a:moveTo>
                <a:lnTo>
                  <a:pt x="466725" y="361950"/>
                </a:lnTo>
                <a:moveTo>
                  <a:pt x="238125" y="447675"/>
                </a:moveTo>
                <a:lnTo>
                  <a:pt x="400050" y="447675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8" name="Text 76"/>
          <p:cNvSpPr txBox="1"/>
          <p:nvPr/>
        </p:nvSpPr>
        <p:spPr>
          <a:xfrm>
            <a:off x="14439900" y="6162675"/>
            <a:ext cx="2952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· 표 · 차트</a:t>
            </a:r>
            <a:endParaRPr lang="en-US" sz="1500"/>
          </a:p>
        </p:txBody>
      </p:sp>
      <p:sp>
        <p:nvSpPr>
          <p:cNvPr id="79" name="Text 77"/>
          <p:cNvSpPr txBox="1"/>
          <p:nvPr/>
        </p:nvSpPr>
        <p:spPr>
          <a:xfrm>
            <a:off x="14439900" y="6496050"/>
            <a:ext cx="2952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데이터</a:t>
            </a:r>
            <a:endParaRPr lang="en-US" sz="1500"/>
          </a:p>
        </p:txBody>
      </p:sp>
      <p:sp>
        <p:nvSpPr>
          <p:cNvPr id="80" name="Text 78"/>
          <p:cNvSpPr txBox="1"/>
          <p:nvPr/>
        </p:nvSpPr>
        <p:spPr>
          <a:xfrm>
            <a:off x="14439900" y="6829425"/>
            <a:ext cx="2952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근거</a:t>
            </a:r>
            <a:endParaRPr lang="en-US" sz="1500"/>
          </a:p>
        </p:txBody>
      </p:sp>
      <p:sp>
        <p:nvSpPr>
          <p:cNvPr id="81" name="Shape 79"/>
          <p:cNvSpPr/>
          <p:nvPr/>
        </p:nvSpPr>
        <p:spPr>
          <a:xfrm>
            <a:off x="14439900" y="7324725"/>
            <a:ext cx="25527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2" name="Text 80"/>
          <p:cNvSpPr txBox="1"/>
          <p:nvPr/>
        </p:nvSpPr>
        <p:spPr>
          <a:xfrm>
            <a:off x="14439900" y="7381875"/>
            <a:ext cx="2552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 3 · Artifact</a:t>
            </a:r>
            <a:endParaRPr lang="en-US" sz="1275"/>
          </a:p>
        </p:txBody>
      </p:sp>
      <p:sp>
        <p:nvSpPr>
          <p:cNvPr id="83" name="Shape 81"/>
          <p:cNvSpPr/>
          <p:nvPr/>
        </p:nvSpPr>
        <p:spPr>
          <a:xfrm>
            <a:off x="1009650" y="8020050"/>
            <a:ext cx="16268700" cy="590550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4" name="Text 82"/>
          <p:cNvSpPr txBox="1"/>
          <p:nvPr/>
        </p:nvSpPr>
        <p:spPr>
          <a:xfrm>
            <a:off x="1314450" y="8105775"/>
            <a:ext cx="17145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GOVERNED PIPELINE</a:t>
            </a:r>
            <a:endParaRPr lang="en-US" sz="1200"/>
          </a:p>
        </p:txBody>
      </p:sp>
      <p:sp>
        <p:nvSpPr>
          <p:cNvPr id="85" name="Text 83"/>
          <p:cNvSpPr txBox="1"/>
          <p:nvPr/>
        </p:nvSpPr>
        <p:spPr>
          <a:xfrm>
            <a:off x="3314700" y="8105775"/>
            <a:ext cx="4953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검증을 통과한 단계만 다음 처리로 이동</a:t>
            </a:r>
            <a:endParaRPr lang="en-US" sz="1350"/>
          </a:p>
        </p:txBody>
      </p:sp>
      <p:sp>
        <p:nvSpPr>
          <p:cNvPr id="86" name="Text 84"/>
          <p:cNvSpPr txBox="1"/>
          <p:nvPr/>
        </p:nvSpPr>
        <p:spPr>
          <a:xfrm>
            <a:off x="12192000" y="8105775"/>
            <a:ext cx="47815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analysis_pipeline.py · context · plan · query · result</a:t>
            </a:r>
            <a:endParaRPr lang="en-US" sz="1125"/>
          </a:p>
        </p:txBody>
      </p:sp>
      <p:sp>
        <p:nvSpPr>
          <p:cNvPr id="87" name="Shape 85"/>
          <p:cNvSpPr/>
          <p:nvPr/>
        </p:nvSpPr>
        <p:spPr>
          <a:xfrm>
            <a:off x="1009650" y="9048750"/>
            <a:ext cx="162687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8" name="Text 86"/>
          <p:cNvSpPr txBox="1"/>
          <p:nvPr/>
        </p:nvSpPr>
        <p:spPr>
          <a:xfrm>
            <a:off x="1009650" y="9296400"/>
            <a:ext cx="1809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1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 PIPELINE</a:t>
            </a:r>
            <a:endParaRPr lang="en-US" sz="1200"/>
          </a:p>
        </p:txBody>
      </p:sp>
      <p:sp>
        <p:nvSpPr>
          <p:cNvPr id="89" name="Text 87"/>
          <p:cNvSpPr txBox="1"/>
          <p:nvPr/>
        </p:nvSpPr>
        <p:spPr>
          <a:xfrm>
            <a:off x="3068707" y="9272794"/>
            <a:ext cx="5532782" cy="458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자연어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질문을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네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단계로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나누어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300" b="1" err="1">
                <a:solidFill>
                  <a:srgbClr val="159C98"/>
                </a:solidFill>
                <a:ea typeface="+mn-lt"/>
                <a:cs typeface="+mn-lt"/>
              </a:rPr>
              <a:t>검증</a:t>
            </a:r>
            <a:r>
              <a:rPr lang="en-US" sz="2300" b="1">
                <a:solidFill>
                  <a:srgbClr val="159C98"/>
                </a:solidFill>
                <a:ea typeface="+mn-lt"/>
                <a:cs typeface="+mn-lt"/>
              </a:rPr>
              <a:t> </a:t>
            </a:r>
            <a:r>
              <a:rPr lang="ko-KR" altLang="en-US" sz="2300" b="1">
                <a:solidFill>
                  <a:srgbClr val="159C98"/>
                </a:solidFill>
                <a:ea typeface="+mn-lt"/>
                <a:cs typeface="+mn-lt"/>
              </a:rPr>
              <a:t>후</a:t>
            </a:r>
            <a:r>
              <a:rPr lang="en-US" sz="2300" b="1">
                <a:solidFill>
                  <a:srgbClr val="159C98"/>
                </a:solidFill>
                <a:ea typeface="+mn-lt"/>
                <a:cs typeface="+mn-lt"/>
              </a:rPr>
              <a:t> </a:t>
            </a:r>
            <a:r>
              <a:rPr lang="ko-KR" altLang="en-US" sz="2300" b="1">
                <a:solidFill>
                  <a:srgbClr val="159C98"/>
                </a:solidFill>
                <a:ea typeface="+mn-lt"/>
                <a:cs typeface="+mn-lt"/>
              </a:rPr>
              <a:t>실행</a:t>
            </a:r>
            <a:endParaRPr lang="en-US" sz="23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92F3A0A-8519-2050-958C-A74BF0308EBC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latin typeface="Pretendard"/>
                <a:ea typeface="맑은 고딕"/>
              </a:rPr>
              <a:t>데이터 분석 전체 흐름</a:t>
            </a:r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C16D098E-09E2-FC74-83A8-843A4C1B941F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0" name="Text 1">
            <a:extLst>
              <a:ext uri="{FF2B5EF4-FFF2-40B4-BE49-F238E27FC236}">
                <a16:creationId xmlns:a16="http://schemas.microsoft.com/office/drawing/2014/main" id="{B6364A80-147D-6F50-52F9-7640C02D6183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25 · DATA ANALYSYS</a:t>
            </a:r>
            <a:endParaRPr lang="en-US" sz="1100">
              <a:latin typeface="Pretendar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1009650" y="8915400"/>
            <a:ext cx="16268700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009650" y="9267825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CATALOG</a:t>
            </a:r>
            <a:endParaRPr lang="en-US" sz="1200"/>
          </a:p>
        </p:txBody>
      </p:sp>
      <p:sp>
        <p:nvSpPr>
          <p:cNvPr id="8" name="Text 6"/>
          <p:cNvSpPr txBox="1"/>
          <p:nvPr/>
        </p:nvSpPr>
        <p:spPr>
          <a:xfrm>
            <a:off x="2857500" y="9163050"/>
            <a:ext cx="1234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다른 데이터베이스를 </a:t>
            </a:r>
            <a:r>
              <a:rPr lang="en-US" sz="22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분석 카탈로그로 통합</a:t>
            </a:r>
            <a:endParaRPr lang="en-US" sz="2250"/>
          </a:p>
        </p:txBody>
      </p:sp>
      <p:sp>
        <p:nvSpPr>
          <p:cNvPr id="10" name="Shape 8"/>
          <p:cNvSpPr/>
          <p:nvPr/>
        </p:nvSpPr>
        <p:spPr>
          <a:xfrm>
            <a:off x="1005840" y="2468880"/>
            <a:ext cx="3913632" cy="5248656"/>
          </a:xfrm>
          <a:prstGeom prst="roundRect">
            <a:avLst>
              <a:gd name="adj" fmla="val 2103"/>
            </a:avLst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280160" y="269748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/>
          </a:p>
        </p:txBody>
      </p:sp>
      <p:sp>
        <p:nvSpPr>
          <p:cNvPr id="12" name="Text 10"/>
          <p:cNvSpPr txBox="1"/>
          <p:nvPr/>
        </p:nvSpPr>
        <p:spPr>
          <a:xfrm>
            <a:off x="1755648" y="2688336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구성</a:t>
            </a:r>
            <a:endParaRPr lang="en-US" sz="1900"/>
          </a:p>
        </p:txBody>
      </p:sp>
      <p:sp>
        <p:nvSpPr>
          <p:cNvPr id="13" name="Shape 11"/>
          <p:cNvSpPr/>
          <p:nvPr/>
        </p:nvSpPr>
        <p:spPr>
          <a:xfrm>
            <a:off x="1261872" y="3209544"/>
            <a:ext cx="3401568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261872" y="3401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원천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1261872" y="3840480"/>
            <a:ext cx="347472" cy="237744"/>
          </a:xfrm>
          <a:prstGeom prst="can">
            <a:avLst/>
          </a:prstGeom>
          <a:solidFill>
            <a:srgbClr val="FFFF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737360" y="37490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PMS·연회</a:t>
            </a:r>
            <a:endParaRPr lang="en-US" sz="1420"/>
          </a:p>
        </p:txBody>
      </p:sp>
      <p:sp>
        <p:nvSpPr>
          <p:cNvPr id="17" name="Text 15"/>
          <p:cNvSpPr txBox="1"/>
          <p:nvPr/>
        </p:nvSpPr>
        <p:spPr>
          <a:xfrm>
            <a:off x="3749040" y="38039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1261872" y="4206240"/>
            <a:ext cx="3401568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261872" y="4453128"/>
            <a:ext cx="347472" cy="237744"/>
          </a:xfrm>
          <a:prstGeom prst="can">
            <a:avLst/>
          </a:prstGeom>
          <a:solidFill>
            <a:srgbClr val="FFFF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737360" y="43616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</a:t>
            </a:r>
            <a:endParaRPr lang="en-US" sz="1420"/>
          </a:p>
        </p:txBody>
      </p:sp>
      <p:sp>
        <p:nvSpPr>
          <p:cNvPr id="21" name="Text 19"/>
          <p:cNvSpPr txBox="1"/>
          <p:nvPr/>
        </p:nvSpPr>
        <p:spPr>
          <a:xfrm>
            <a:off x="3749040" y="44165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1261872" y="4818888"/>
            <a:ext cx="3401568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261872" y="5065776"/>
            <a:ext cx="347472" cy="237744"/>
          </a:xfrm>
          <a:prstGeom prst="can">
            <a:avLst/>
          </a:prstGeom>
          <a:solidFill>
            <a:srgbClr val="FFFF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737360" y="49743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</a:t>
            </a:r>
            <a:endParaRPr lang="en-US" sz="1420"/>
          </a:p>
        </p:txBody>
      </p:sp>
      <p:sp>
        <p:nvSpPr>
          <p:cNvPr id="25" name="Text 23"/>
          <p:cNvSpPr txBox="1"/>
          <p:nvPr/>
        </p:nvSpPr>
        <p:spPr>
          <a:xfrm>
            <a:off x="3749040" y="50292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Server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1261872" y="5431536"/>
            <a:ext cx="3401568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261872" y="5678424"/>
            <a:ext cx="347472" cy="237744"/>
          </a:xfrm>
          <a:prstGeom prst="can">
            <a:avLst/>
          </a:prstGeom>
          <a:solidFill>
            <a:srgbClr val="FFFF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1737360" y="55869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</a:t>
            </a:r>
            <a:endParaRPr lang="en-US" sz="1420"/>
          </a:p>
        </p:txBody>
      </p:sp>
      <p:sp>
        <p:nvSpPr>
          <p:cNvPr id="29" name="Text 27"/>
          <p:cNvSpPr txBox="1"/>
          <p:nvPr/>
        </p:nvSpPr>
        <p:spPr>
          <a:xfrm>
            <a:off x="3749040" y="56418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ClickHouse</a:t>
            </a:r>
            <a:endParaRPr lang="en-US" sz="1000"/>
          </a:p>
        </p:txBody>
      </p:sp>
      <p:sp>
        <p:nvSpPr>
          <p:cNvPr id="30" name="Text 28"/>
          <p:cNvSpPr txBox="1"/>
          <p:nvPr/>
        </p:nvSpPr>
        <p:spPr>
          <a:xfrm>
            <a:off x="1261872" y="62910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조회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1261872" y="6528816"/>
            <a:ext cx="3401568" cy="868680"/>
          </a:xfrm>
          <a:prstGeom prst="roundRect">
            <a:avLst>
              <a:gd name="adj" fmla="val 526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463040" y="6848856"/>
            <a:ext cx="347472" cy="237744"/>
          </a:xfrm>
          <a:prstGeom prst="can">
            <a:avLst/>
          </a:prstGeom>
          <a:solidFill>
            <a:srgbClr val="FFFF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938528" y="6693408"/>
            <a:ext cx="2322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Trino 통합 뷰</a:t>
            </a:r>
            <a:endParaRPr lang="en-US" sz="1500"/>
          </a:p>
        </p:txBody>
      </p:sp>
      <p:sp>
        <p:nvSpPr>
          <p:cNvPr id="34" name="Text 32"/>
          <p:cNvSpPr txBox="1"/>
          <p:nvPr/>
        </p:nvSpPr>
        <p:spPr>
          <a:xfrm>
            <a:off x="1938528" y="703173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원천과 분리된 분석 조회 구조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5532120" y="2468880"/>
            <a:ext cx="43891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532120" y="2468880"/>
            <a:ext cx="4389120" cy="640080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5806440" y="269748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/>
          </a:p>
        </p:txBody>
      </p:sp>
      <p:sp>
        <p:nvSpPr>
          <p:cNvPr id="38" name="Text 36"/>
          <p:cNvSpPr txBox="1"/>
          <p:nvPr/>
        </p:nvSpPr>
        <p:spPr>
          <a:xfrm>
            <a:off x="6281928" y="268833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 자동 수집</a:t>
            </a:r>
            <a:endParaRPr lang="en-US" sz="1900"/>
          </a:p>
        </p:txBody>
      </p:sp>
      <p:sp>
        <p:nvSpPr>
          <p:cNvPr id="39" name="Shape 37"/>
          <p:cNvSpPr/>
          <p:nvPr/>
        </p:nvSpPr>
        <p:spPr>
          <a:xfrm>
            <a:off x="5788152" y="3209544"/>
            <a:ext cx="3877056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779008" y="3328416"/>
            <a:ext cx="1892808" cy="566928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5779008" y="332841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테이블·뷰</a:t>
            </a:r>
            <a:endParaRPr lang="en-US" sz="1330"/>
          </a:p>
        </p:txBody>
      </p:sp>
      <p:sp>
        <p:nvSpPr>
          <p:cNvPr id="42" name="Shape 40"/>
          <p:cNvSpPr/>
          <p:nvPr/>
        </p:nvSpPr>
        <p:spPr>
          <a:xfrm>
            <a:off x="7781544" y="3328416"/>
            <a:ext cx="1892808" cy="566928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7781544" y="332841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컬럼·형식</a:t>
            </a:r>
            <a:endParaRPr lang="en-US" sz="1330"/>
          </a:p>
        </p:txBody>
      </p:sp>
      <p:sp>
        <p:nvSpPr>
          <p:cNvPr id="44" name="Shape 42"/>
          <p:cNvSpPr/>
          <p:nvPr/>
        </p:nvSpPr>
        <p:spPr>
          <a:xfrm>
            <a:off x="5779008" y="4005072"/>
            <a:ext cx="1892808" cy="566928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5779008" y="400507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위치</a:t>
            </a:r>
            <a:endParaRPr lang="en-US" sz="1330"/>
          </a:p>
        </p:txBody>
      </p:sp>
      <p:sp>
        <p:nvSpPr>
          <p:cNvPr id="46" name="Shape 44"/>
          <p:cNvSpPr/>
          <p:nvPr/>
        </p:nvSpPr>
        <p:spPr>
          <a:xfrm>
            <a:off x="7781544" y="4005072"/>
            <a:ext cx="1892808" cy="566928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7781544" y="400507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뷰·컬럼 흐름</a:t>
            </a:r>
            <a:endParaRPr lang="en-US" sz="1330"/>
          </a:p>
        </p:txBody>
      </p:sp>
      <p:sp>
        <p:nvSpPr>
          <p:cNvPr id="48" name="Shape 46"/>
          <p:cNvSpPr/>
          <p:nvPr/>
        </p:nvSpPr>
        <p:spPr>
          <a:xfrm>
            <a:off x="5532120" y="5367528"/>
            <a:ext cx="4389120" cy="2350008"/>
          </a:xfrm>
          <a:prstGeom prst="roundRect">
            <a:avLst>
              <a:gd name="adj" fmla="val 3502"/>
            </a:avLst>
          </a:prstGeom>
          <a:solidFill>
            <a:srgbClr val="FFFFFF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532120" y="5367528"/>
            <a:ext cx="4389120" cy="640080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5806440" y="559612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/>
          </a:p>
        </p:txBody>
      </p:sp>
      <p:sp>
        <p:nvSpPr>
          <p:cNvPr id="51" name="Text 49"/>
          <p:cNvSpPr txBox="1"/>
          <p:nvPr/>
        </p:nvSpPr>
        <p:spPr>
          <a:xfrm>
            <a:off x="6281928" y="5586984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기준 보강</a:t>
            </a:r>
            <a:endParaRPr lang="en-US" sz="1900"/>
          </a:p>
        </p:txBody>
      </p:sp>
      <p:sp>
        <p:nvSpPr>
          <p:cNvPr id="52" name="Shape 50"/>
          <p:cNvSpPr/>
          <p:nvPr/>
        </p:nvSpPr>
        <p:spPr>
          <a:xfrm>
            <a:off x="5788152" y="6108192"/>
            <a:ext cx="3877056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5779008" y="6208776"/>
            <a:ext cx="1892808" cy="566928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5779008" y="620877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영역</a:t>
            </a:r>
            <a:endParaRPr lang="en-US" sz="1330"/>
          </a:p>
        </p:txBody>
      </p:sp>
      <p:sp>
        <p:nvSpPr>
          <p:cNvPr id="55" name="Shape 53"/>
          <p:cNvSpPr/>
          <p:nvPr/>
        </p:nvSpPr>
        <p:spPr>
          <a:xfrm>
            <a:off x="7781544" y="6208776"/>
            <a:ext cx="1892808" cy="566928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7781544" y="620877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책임자</a:t>
            </a:r>
            <a:endParaRPr lang="en-US" sz="1330"/>
          </a:p>
        </p:txBody>
      </p:sp>
      <p:sp>
        <p:nvSpPr>
          <p:cNvPr id="57" name="Shape 55"/>
          <p:cNvSpPr/>
          <p:nvPr/>
        </p:nvSpPr>
        <p:spPr>
          <a:xfrm>
            <a:off x="5779008" y="6885432"/>
            <a:ext cx="1892808" cy="566928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5779008" y="688543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설명</a:t>
            </a:r>
            <a:endParaRPr lang="en-US" sz="1330"/>
          </a:p>
        </p:txBody>
      </p:sp>
      <p:sp>
        <p:nvSpPr>
          <p:cNvPr id="59" name="Shape 57"/>
          <p:cNvSpPr/>
          <p:nvPr/>
        </p:nvSpPr>
        <p:spPr>
          <a:xfrm>
            <a:off x="7781544" y="6885432"/>
            <a:ext cx="1892808" cy="566928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7781544" y="688543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품질·사용 상태</a:t>
            </a:r>
            <a:endParaRPr lang="en-US" sz="1330"/>
          </a:p>
        </p:txBody>
      </p:sp>
      <p:sp>
        <p:nvSpPr>
          <p:cNvPr id="61" name="Text 59"/>
          <p:cNvSpPr txBox="1"/>
          <p:nvPr/>
        </p:nvSpPr>
        <p:spPr>
          <a:xfrm>
            <a:off x="5065776" y="324612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</a:t>
            </a:r>
            <a:endParaRPr lang="en-US" sz="950"/>
          </a:p>
        </p:txBody>
      </p:sp>
      <p:sp>
        <p:nvSpPr>
          <p:cNvPr id="62" name="Shape 60"/>
          <p:cNvSpPr/>
          <p:nvPr/>
        </p:nvSpPr>
        <p:spPr>
          <a:xfrm>
            <a:off x="5001768" y="3694176"/>
            <a:ext cx="41148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10012680" y="4617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</a:t>
            </a:r>
            <a:endParaRPr lang="en-US" sz="950"/>
          </a:p>
        </p:txBody>
      </p:sp>
      <p:sp>
        <p:nvSpPr>
          <p:cNvPr id="64" name="Shape 62"/>
          <p:cNvSpPr/>
          <p:nvPr/>
        </p:nvSpPr>
        <p:spPr>
          <a:xfrm>
            <a:off x="9976104" y="5120640"/>
            <a:ext cx="438912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0479024" y="2468880"/>
            <a:ext cx="6803136" cy="5248656"/>
          </a:xfrm>
          <a:prstGeom prst="roundRect">
            <a:avLst>
              <a:gd name="adj" fmla="val 1568"/>
            </a:avLst>
          </a:prstGeom>
          <a:solidFill>
            <a:srgbClr val="FFFF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10479024" y="2468880"/>
            <a:ext cx="6803136" cy="1261872"/>
          </a:xfrm>
          <a:prstGeom prst="rect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10789920" y="2724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7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CATALOG</a:t>
            </a:r>
            <a:endParaRPr lang="en-US" sz="1050"/>
          </a:p>
        </p:txBody>
      </p:sp>
      <p:sp>
        <p:nvSpPr>
          <p:cNvPr id="68" name="Text 66"/>
          <p:cNvSpPr txBox="1"/>
          <p:nvPr/>
        </p:nvSpPr>
        <p:spPr>
          <a:xfrm>
            <a:off x="10789920" y="303580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DataHub</a:t>
            </a:r>
            <a:endParaRPr lang="en-US" sz="2200"/>
          </a:p>
        </p:txBody>
      </p:sp>
      <p:sp>
        <p:nvSpPr>
          <p:cNvPr id="69" name="Text 67"/>
          <p:cNvSpPr txBox="1"/>
          <p:nvPr/>
        </p:nvSpPr>
        <p:spPr>
          <a:xfrm>
            <a:off x="10789920" y="340156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데이터가 아닌 구조·관계·관리 정보 통합</a:t>
            </a:r>
            <a:endParaRPr lang="en-US" sz="1050"/>
          </a:p>
        </p:txBody>
      </p:sp>
      <p:sp>
        <p:nvSpPr>
          <p:cNvPr id="70" name="Shape 68"/>
          <p:cNvSpPr/>
          <p:nvPr/>
        </p:nvSpPr>
        <p:spPr>
          <a:xfrm>
            <a:off x="10789920" y="4050792"/>
            <a:ext cx="292608" cy="292608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 txBox="1"/>
          <p:nvPr/>
        </p:nvSpPr>
        <p:spPr>
          <a:xfrm>
            <a:off x="1078992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500"/>
          </a:p>
        </p:txBody>
      </p:sp>
      <p:sp>
        <p:nvSpPr>
          <p:cNvPr id="72" name="Text 70"/>
          <p:cNvSpPr txBox="1"/>
          <p:nvPr/>
        </p:nvSpPr>
        <p:spPr>
          <a:xfrm>
            <a:off x="11247120" y="403250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위치와 구조 검색</a:t>
            </a:r>
            <a:endParaRPr lang="en-US" sz="1400"/>
          </a:p>
        </p:txBody>
      </p:sp>
      <p:sp>
        <p:nvSpPr>
          <p:cNvPr id="73" name="Shape 71"/>
          <p:cNvSpPr/>
          <p:nvPr/>
        </p:nvSpPr>
        <p:spPr>
          <a:xfrm>
            <a:off x="10789920" y="4480560"/>
            <a:ext cx="6172200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0789920" y="4645152"/>
            <a:ext cx="292608" cy="292608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10789920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500"/>
          </a:p>
        </p:txBody>
      </p:sp>
      <p:sp>
        <p:nvSpPr>
          <p:cNvPr id="76" name="Text 74"/>
          <p:cNvSpPr txBox="1"/>
          <p:nvPr/>
        </p:nvSpPr>
        <p:spPr>
          <a:xfrm>
            <a:off x="11247120" y="462686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원천부터 통합 뷰까지 흐름 확인</a:t>
            </a:r>
            <a:endParaRPr lang="en-US" sz="1400"/>
          </a:p>
        </p:txBody>
      </p:sp>
      <p:sp>
        <p:nvSpPr>
          <p:cNvPr id="77" name="Shape 75"/>
          <p:cNvSpPr/>
          <p:nvPr/>
        </p:nvSpPr>
        <p:spPr>
          <a:xfrm>
            <a:off x="10789920" y="5074920"/>
            <a:ext cx="6172200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0789920" y="5239512"/>
            <a:ext cx="292608" cy="292608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 txBox="1"/>
          <p:nvPr/>
        </p:nvSpPr>
        <p:spPr>
          <a:xfrm>
            <a:off x="10789920" y="5230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500"/>
          </a:p>
        </p:txBody>
      </p:sp>
      <p:sp>
        <p:nvSpPr>
          <p:cNvPr id="80" name="Text 78"/>
          <p:cNvSpPr txBox="1"/>
          <p:nvPr/>
        </p:nvSpPr>
        <p:spPr>
          <a:xfrm>
            <a:off x="11247120" y="522122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정보와 데이터 연결</a:t>
            </a:r>
            <a:endParaRPr lang="en-US" sz="1400"/>
          </a:p>
        </p:txBody>
      </p:sp>
      <p:sp>
        <p:nvSpPr>
          <p:cNvPr id="81" name="Shape 79"/>
          <p:cNvSpPr/>
          <p:nvPr/>
        </p:nvSpPr>
        <p:spPr>
          <a:xfrm>
            <a:off x="10789920" y="5669280"/>
            <a:ext cx="6172200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10789920" y="5833872"/>
            <a:ext cx="292608" cy="292608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10789920" y="5824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500"/>
          </a:p>
        </p:txBody>
      </p:sp>
      <p:sp>
        <p:nvSpPr>
          <p:cNvPr id="84" name="Text 82"/>
          <p:cNvSpPr txBox="1"/>
          <p:nvPr/>
        </p:nvSpPr>
        <p:spPr>
          <a:xfrm>
            <a:off x="11247120" y="581558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가능한 데이터 자산 확인</a:t>
            </a:r>
            <a:endParaRPr lang="en-US" sz="1400"/>
          </a:p>
        </p:txBody>
      </p:sp>
      <p:sp>
        <p:nvSpPr>
          <p:cNvPr id="85" name="Shape 83"/>
          <p:cNvSpPr/>
          <p:nvPr/>
        </p:nvSpPr>
        <p:spPr>
          <a:xfrm>
            <a:off x="10789920" y="6263640"/>
            <a:ext cx="6172200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10789920" y="6510528"/>
            <a:ext cx="6172200" cy="896112"/>
          </a:xfrm>
          <a:prstGeom prst="roundRect">
            <a:avLst>
              <a:gd name="adj" fmla="val 5102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 txBox="1"/>
          <p:nvPr/>
        </p:nvSpPr>
        <p:spPr>
          <a:xfrm>
            <a:off x="10972800" y="67025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8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</a:t>
            </a:r>
            <a:endParaRPr lang="en-US" sz="950"/>
          </a:p>
        </p:txBody>
      </p:sp>
      <p:sp>
        <p:nvSpPr>
          <p:cNvPr id="88" name="Text 86"/>
          <p:cNvSpPr txBox="1"/>
          <p:nvPr/>
        </p:nvSpPr>
        <p:spPr>
          <a:xfrm>
            <a:off x="10972800" y="6995160"/>
            <a:ext cx="5650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원천 → Trino 통합 뷰 → DataHub에서 데이터 흐름 확인</a:t>
            </a:r>
            <a:endParaRPr lang="en-US" sz="1180"/>
          </a:p>
        </p:txBody>
      </p:sp>
      <p:sp>
        <p:nvSpPr>
          <p:cNvPr id="89" name="Shape 87"/>
          <p:cNvSpPr/>
          <p:nvPr/>
        </p:nvSpPr>
        <p:spPr>
          <a:xfrm>
            <a:off x="1005840" y="7918704"/>
            <a:ext cx="11814048" cy="667512"/>
          </a:xfrm>
          <a:prstGeom prst="roundRect">
            <a:avLst>
              <a:gd name="adj" fmla="val 6849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 txBox="1"/>
          <p:nvPr/>
        </p:nvSpPr>
        <p:spPr>
          <a:xfrm>
            <a:off x="1261872" y="811987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CATALOG BUILD</a:t>
            </a:r>
            <a:endParaRPr lang="en-US" sz="1070"/>
          </a:p>
        </p:txBody>
      </p:sp>
      <p:sp>
        <p:nvSpPr>
          <p:cNvPr id="91" name="Text 89"/>
          <p:cNvSpPr txBox="1"/>
          <p:nvPr/>
        </p:nvSpPr>
        <p:spPr>
          <a:xfrm>
            <a:off x="3511296" y="806500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YAML 커넥터 설정</a:t>
            </a:r>
            <a:endParaRPr lang="en-US" sz="1250"/>
          </a:p>
        </p:txBody>
      </p:sp>
      <p:sp>
        <p:nvSpPr>
          <p:cNvPr id="92" name="Text 90"/>
          <p:cNvSpPr txBox="1"/>
          <p:nvPr/>
        </p:nvSpPr>
        <p:spPr>
          <a:xfrm>
            <a:off x="4956048" y="8046720"/>
            <a:ext cx="21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700"/>
          </a:p>
        </p:txBody>
      </p:sp>
      <p:sp>
        <p:nvSpPr>
          <p:cNvPr id="93" name="Text 91"/>
          <p:cNvSpPr txBox="1"/>
          <p:nvPr/>
        </p:nvSpPr>
        <p:spPr>
          <a:xfrm>
            <a:off x="5358384" y="806500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 수집</a:t>
            </a:r>
            <a:endParaRPr lang="en-US" sz="1250"/>
          </a:p>
        </p:txBody>
      </p:sp>
      <p:sp>
        <p:nvSpPr>
          <p:cNvPr id="94" name="Text 92"/>
          <p:cNvSpPr txBox="1"/>
          <p:nvPr/>
        </p:nvSpPr>
        <p:spPr>
          <a:xfrm>
            <a:off x="6803136" y="8046720"/>
            <a:ext cx="21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700"/>
          </a:p>
        </p:txBody>
      </p:sp>
      <p:sp>
        <p:nvSpPr>
          <p:cNvPr id="95" name="Text 93"/>
          <p:cNvSpPr txBox="1"/>
          <p:nvPr/>
        </p:nvSpPr>
        <p:spPr>
          <a:xfrm>
            <a:off x="7205472" y="806500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DataHub 게시</a:t>
            </a:r>
            <a:endParaRPr lang="en-US" sz="1250"/>
          </a:p>
        </p:txBody>
      </p:sp>
      <p:sp>
        <p:nvSpPr>
          <p:cNvPr id="96" name="Text 94"/>
          <p:cNvSpPr txBox="1"/>
          <p:nvPr/>
        </p:nvSpPr>
        <p:spPr>
          <a:xfrm>
            <a:off x="8650224" y="8046720"/>
            <a:ext cx="21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700"/>
          </a:p>
        </p:txBody>
      </p:sp>
      <p:sp>
        <p:nvSpPr>
          <p:cNvPr id="97" name="Text 95"/>
          <p:cNvSpPr txBox="1"/>
          <p:nvPr/>
        </p:nvSpPr>
        <p:spPr>
          <a:xfrm>
            <a:off x="9052560" y="806500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스키마 검증</a:t>
            </a:r>
            <a:endParaRPr lang="en-US" sz="1250"/>
          </a:p>
        </p:txBody>
      </p:sp>
      <p:sp>
        <p:nvSpPr>
          <p:cNvPr id="98" name="Text 96"/>
          <p:cNvSpPr txBox="1"/>
          <p:nvPr/>
        </p:nvSpPr>
        <p:spPr>
          <a:xfrm>
            <a:off x="7406640" y="83393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DataHub ↔ Trino</a:t>
            </a:r>
            <a:endParaRPr lang="en-US" sz="850"/>
          </a:p>
        </p:txBody>
      </p:sp>
      <p:sp>
        <p:nvSpPr>
          <p:cNvPr id="99" name="Shape 97"/>
          <p:cNvSpPr/>
          <p:nvPr/>
        </p:nvSpPr>
        <p:spPr>
          <a:xfrm>
            <a:off x="13075920" y="7918704"/>
            <a:ext cx="4206240" cy="66751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8"/>
          <p:cNvSpPr txBox="1"/>
          <p:nvPr/>
        </p:nvSpPr>
        <p:spPr>
          <a:xfrm>
            <a:off x="13258800" y="8037576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방향</a:t>
            </a:r>
            <a:endParaRPr lang="en-US" sz="850"/>
          </a:p>
        </p:txBody>
      </p:sp>
      <p:sp>
        <p:nvSpPr>
          <p:cNvPr id="101" name="Text 99"/>
          <p:cNvSpPr txBox="1"/>
          <p:nvPr/>
        </p:nvSpPr>
        <p:spPr>
          <a:xfrm>
            <a:off x="13258800" y="8247888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>
                <a:solidFill>
                  <a:srgbClr val="5267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자산과 관계가 대규모로 증가할 경우 Neo4j 기반 메타데이터 그래프 검토</a:t>
            </a:r>
            <a:endParaRPr lang="en-US" sz="810"/>
          </a:p>
        </p:txBody>
      </p:sp>
      <p:sp>
        <p:nvSpPr>
          <p:cNvPr id="109" name="Text 3">
            <a:extLst>
              <a:ext uri="{FF2B5EF4-FFF2-40B4-BE49-F238E27FC236}">
                <a16:creationId xmlns:a16="http://schemas.microsoft.com/office/drawing/2014/main" id="{F0ADBAF8-6264-630E-A5CF-715CD168E3D6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latin typeface="Pretendard"/>
                <a:ea typeface="맑은 고딕"/>
              </a:rPr>
              <a:t>호텔 데이터의 통합 카탈로그 구성</a:t>
            </a:r>
          </a:p>
        </p:txBody>
      </p:sp>
      <p:sp>
        <p:nvSpPr>
          <p:cNvPr id="111" name="Shape 0">
            <a:extLst>
              <a:ext uri="{FF2B5EF4-FFF2-40B4-BE49-F238E27FC236}">
                <a16:creationId xmlns:a16="http://schemas.microsoft.com/office/drawing/2014/main" id="{350A2A8E-E507-BCFE-673A-59F20BC460F9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3" name="Text 1">
            <a:extLst>
              <a:ext uri="{FF2B5EF4-FFF2-40B4-BE49-F238E27FC236}">
                <a16:creationId xmlns:a16="http://schemas.microsoft.com/office/drawing/2014/main" id="{A33FA4FA-CC09-AF39-3C1A-CBB4745B1E0E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26 · DATA CATALOG</a:t>
            </a:r>
            <a:endParaRPr lang="en-US" sz="1100">
              <a:latin typeface="Pretendar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09650" y="8915400"/>
            <a:ext cx="16268700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009650" y="9267825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0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LAYER</a:t>
            </a:r>
            <a:endParaRPr lang="en-US" sz="1200"/>
          </a:p>
        </p:txBody>
      </p:sp>
      <p:sp>
        <p:nvSpPr>
          <p:cNvPr id="9" name="Text 7"/>
          <p:cNvSpPr txBox="1"/>
          <p:nvPr/>
        </p:nvSpPr>
        <p:spPr>
          <a:xfrm>
            <a:off x="2857500" y="9163050"/>
            <a:ext cx="1234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표현이 달라도 </a:t>
            </a:r>
            <a:r>
              <a:rPr lang="en-US" sz="22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지표와 계산 기준으로 해석</a:t>
            </a:r>
            <a:endParaRPr lang="en-US" sz="2250"/>
          </a:p>
        </p:txBody>
      </p:sp>
      <p:sp>
        <p:nvSpPr>
          <p:cNvPr id="11" name="Shape 9"/>
          <p:cNvSpPr/>
          <p:nvPr/>
        </p:nvSpPr>
        <p:spPr>
          <a:xfrm>
            <a:off x="1005840" y="2660904"/>
            <a:ext cx="6291072" cy="5056632"/>
          </a:xfrm>
          <a:prstGeom prst="roundRect">
            <a:avLst>
              <a:gd name="adj" fmla="val 1627"/>
            </a:avLst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280160" y="288950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/>
          </a:p>
        </p:txBody>
      </p:sp>
      <p:sp>
        <p:nvSpPr>
          <p:cNvPr id="13" name="Text 11"/>
          <p:cNvSpPr txBox="1"/>
          <p:nvPr/>
        </p:nvSpPr>
        <p:spPr>
          <a:xfrm>
            <a:off x="1755648" y="2880360"/>
            <a:ext cx="5248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정의한 기준</a:t>
            </a:r>
            <a:endParaRPr lang="en-US" sz="1900"/>
          </a:p>
        </p:txBody>
      </p:sp>
      <p:sp>
        <p:nvSpPr>
          <p:cNvPr id="14" name="Shape 12"/>
          <p:cNvSpPr/>
          <p:nvPr/>
        </p:nvSpPr>
        <p:spPr>
          <a:xfrm>
            <a:off x="1261872" y="3401568"/>
            <a:ext cx="5779008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298448" y="352958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용어</a:t>
            </a:r>
            <a:endParaRPr lang="en-US" sz="1500"/>
          </a:p>
        </p:txBody>
      </p:sp>
      <p:sp>
        <p:nvSpPr>
          <p:cNvPr id="16" name="Text 14"/>
          <p:cNvSpPr txBox="1"/>
          <p:nvPr/>
        </p:nvSpPr>
        <p:spPr>
          <a:xfrm>
            <a:off x="2724912" y="3529584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267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이름 · 동의어 · 업무 정의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1298448" y="4096512"/>
            <a:ext cx="5669280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298448" y="448970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 기준</a:t>
            </a:r>
            <a:endParaRPr lang="en-US" sz="1500"/>
          </a:p>
        </p:txBody>
      </p:sp>
      <p:sp>
        <p:nvSpPr>
          <p:cNvPr id="19" name="Text 17"/>
          <p:cNvSpPr txBox="1"/>
          <p:nvPr/>
        </p:nvSpPr>
        <p:spPr>
          <a:xfrm>
            <a:off x="2724912" y="4489704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267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원천 필드 · 계산식 · 집계 · 단위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1298448" y="5056632"/>
            <a:ext cx="5669280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298448" y="544982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기준</a:t>
            </a:r>
            <a:endParaRPr lang="en-US" sz="1500"/>
          </a:p>
        </p:txBody>
      </p:sp>
      <p:sp>
        <p:nvSpPr>
          <p:cNvPr id="22" name="Text 20"/>
          <p:cNvSpPr txBox="1"/>
          <p:nvPr/>
        </p:nvSpPr>
        <p:spPr>
          <a:xfrm>
            <a:off x="2724912" y="5449824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267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기준 · 집계 단위 · 사용 차원 · 연결 관계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1298448" y="6016752"/>
            <a:ext cx="5669280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298448" y="640994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기준</a:t>
            </a:r>
            <a:endParaRPr lang="en-US" sz="1500"/>
          </a:p>
        </p:txBody>
      </p:sp>
      <p:sp>
        <p:nvSpPr>
          <p:cNvPr id="25" name="Text 23"/>
          <p:cNvSpPr txBox="1"/>
          <p:nvPr/>
        </p:nvSpPr>
        <p:spPr>
          <a:xfrm>
            <a:off x="2724912" y="6409944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267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역할 · 민감정보 · 노출 범위</a:t>
            </a:r>
            <a:endParaRPr lang="en-US" sz="1300"/>
          </a:p>
        </p:txBody>
      </p:sp>
      <p:sp>
        <p:nvSpPr>
          <p:cNvPr id="26" name="Shape 24"/>
          <p:cNvSpPr/>
          <p:nvPr/>
        </p:nvSpPr>
        <p:spPr>
          <a:xfrm>
            <a:off x="7808976" y="2660904"/>
            <a:ext cx="9473184" cy="5056632"/>
          </a:xfrm>
          <a:prstGeom prst="roundRect">
            <a:avLst>
              <a:gd name="adj" fmla="val 1627"/>
            </a:avLst>
          </a:prstGeom>
          <a:solidFill>
            <a:srgbClr val="FFFF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083296" y="288950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/>
          </a:p>
        </p:txBody>
      </p:sp>
      <p:sp>
        <p:nvSpPr>
          <p:cNvPr id="28" name="Text 26"/>
          <p:cNvSpPr txBox="1"/>
          <p:nvPr/>
        </p:nvSpPr>
        <p:spPr>
          <a:xfrm>
            <a:off x="8558784" y="2880360"/>
            <a:ext cx="8430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예시</a:t>
            </a:r>
            <a:endParaRPr lang="en-US" sz="1900"/>
          </a:p>
        </p:txBody>
      </p:sp>
      <p:sp>
        <p:nvSpPr>
          <p:cNvPr id="29" name="Shape 27"/>
          <p:cNvSpPr/>
          <p:nvPr/>
        </p:nvSpPr>
        <p:spPr>
          <a:xfrm>
            <a:off x="8065008" y="3401568"/>
            <a:ext cx="8961120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119872" y="3538728"/>
            <a:ext cx="8851392" cy="749808"/>
          </a:xfrm>
          <a:prstGeom prst="roundRect">
            <a:avLst>
              <a:gd name="adj" fmla="val 6098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8321040" y="3694176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8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METRIC</a:t>
            </a:r>
            <a:endParaRPr lang="en-US" sz="950"/>
          </a:p>
        </p:txBody>
      </p:sp>
      <p:sp>
        <p:nvSpPr>
          <p:cNvPr id="32" name="Text 30"/>
          <p:cNvSpPr txBox="1"/>
          <p:nvPr/>
        </p:nvSpPr>
        <p:spPr>
          <a:xfrm>
            <a:off x="8321040" y="393192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 매출</a:t>
            </a:r>
            <a:endParaRPr lang="en-US" sz="1700"/>
          </a:p>
        </p:txBody>
      </p:sp>
      <p:sp>
        <p:nvSpPr>
          <p:cNvPr id="33" name="Text 31"/>
          <p:cNvSpPr txBox="1"/>
          <p:nvPr/>
        </p:nvSpPr>
        <p:spPr>
          <a:xfrm>
            <a:off x="9546336" y="3941064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5267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 매출 · 룸 매출 · Room Revenue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8119872" y="4453128"/>
            <a:ext cx="8851392" cy="54864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8321040" y="45902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</a:t>
            </a:r>
            <a:endParaRPr lang="en-US" sz="1200"/>
          </a:p>
        </p:txBody>
      </p:sp>
      <p:sp>
        <p:nvSpPr>
          <p:cNvPr id="36" name="Text 34"/>
          <p:cNvSpPr txBox="1"/>
          <p:nvPr/>
        </p:nvSpPr>
        <p:spPr>
          <a:xfrm>
            <a:off x="8851392" y="45902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기간의 객실 운영에서 인식된 매출 합계</a:t>
            </a:r>
            <a:endParaRPr lang="en-US" sz="1250"/>
          </a:p>
        </p:txBody>
      </p:sp>
      <p:sp>
        <p:nvSpPr>
          <p:cNvPr id="37" name="Shape 35"/>
          <p:cNvSpPr/>
          <p:nvPr/>
        </p:nvSpPr>
        <p:spPr>
          <a:xfrm>
            <a:off x="8119872" y="5166360"/>
            <a:ext cx="435254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8302752" y="5285232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</a:t>
            </a:r>
            <a:endParaRPr lang="en-US" sz="950"/>
          </a:p>
        </p:txBody>
      </p:sp>
      <p:sp>
        <p:nvSpPr>
          <p:cNvPr id="39" name="Text 37"/>
          <p:cNvSpPr txBox="1"/>
          <p:nvPr/>
        </p:nvSpPr>
        <p:spPr>
          <a:xfrm>
            <a:off x="8302752" y="550468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 운영 매출 금액 합산</a:t>
            </a:r>
            <a:endParaRPr lang="en-US" sz="1150"/>
          </a:p>
        </p:txBody>
      </p:sp>
      <p:sp>
        <p:nvSpPr>
          <p:cNvPr id="40" name="Shape 38"/>
          <p:cNvSpPr/>
          <p:nvPr/>
        </p:nvSpPr>
        <p:spPr>
          <a:xfrm>
            <a:off x="12609576" y="5166360"/>
            <a:ext cx="435254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12792456" y="5285232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단위</a:t>
            </a:r>
            <a:endParaRPr lang="en-US" sz="950"/>
          </a:p>
        </p:txBody>
      </p:sp>
      <p:sp>
        <p:nvSpPr>
          <p:cNvPr id="42" name="Text 40"/>
          <p:cNvSpPr txBox="1"/>
          <p:nvPr/>
        </p:nvSpPr>
        <p:spPr>
          <a:xfrm>
            <a:off x="12792456" y="550468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영업일 × 호텔</a:t>
            </a:r>
            <a:endParaRPr lang="en-US" sz="1150"/>
          </a:p>
        </p:txBody>
      </p:sp>
      <p:sp>
        <p:nvSpPr>
          <p:cNvPr id="43" name="Shape 41"/>
          <p:cNvSpPr/>
          <p:nvPr/>
        </p:nvSpPr>
        <p:spPr>
          <a:xfrm>
            <a:off x="8119872" y="5943600"/>
            <a:ext cx="435254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8302752" y="6062472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기준</a:t>
            </a:r>
            <a:endParaRPr lang="en-US" sz="950"/>
          </a:p>
        </p:txBody>
      </p:sp>
      <p:sp>
        <p:nvSpPr>
          <p:cNvPr id="45" name="Text 43"/>
          <p:cNvSpPr txBox="1"/>
          <p:nvPr/>
        </p:nvSpPr>
        <p:spPr>
          <a:xfrm>
            <a:off x="8302752" y="628192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시작일 포함 · 종료일 제외</a:t>
            </a:r>
            <a:endParaRPr lang="en-US" sz="1150"/>
          </a:p>
        </p:txBody>
      </p:sp>
      <p:sp>
        <p:nvSpPr>
          <p:cNvPr id="46" name="Shape 44"/>
          <p:cNvSpPr/>
          <p:nvPr/>
        </p:nvSpPr>
        <p:spPr>
          <a:xfrm>
            <a:off x="12609576" y="5943600"/>
            <a:ext cx="435254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12792456" y="6062472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범위</a:t>
            </a:r>
            <a:endParaRPr lang="en-US" sz="950"/>
          </a:p>
        </p:txBody>
      </p:sp>
      <p:sp>
        <p:nvSpPr>
          <p:cNvPr id="48" name="Text 46"/>
          <p:cNvSpPr txBox="1"/>
          <p:nvPr/>
        </p:nvSpPr>
        <p:spPr>
          <a:xfrm>
            <a:off x="12792456" y="628192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권한 사용자</a:t>
            </a:r>
            <a:endParaRPr lang="en-US" sz="1150"/>
          </a:p>
        </p:txBody>
      </p:sp>
      <p:sp>
        <p:nvSpPr>
          <p:cNvPr id="49" name="Shape 47"/>
          <p:cNvSpPr/>
          <p:nvPr/>
        </p:nvSpPr>
        <p:spPr>
          <a:xfrm>
            <a:off x="8119872" y="6793992"/>
            <a:ext cx="8851392" cy="630936"/>
          </a:xfrm>
          <a:prstGeom prst="roundRect">
            <a:avLst>
              <a:gd name="adj" fmla="val 5797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8321040" y="6903720"/>
            <a:ext cx="6126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 운영 매출 합계 · 원화 · 영업일 × 호텔</a:t>
            </a:r>
            <a:endParaRPr lang="en-US" sz="1150"/>
          </a:p>
        </p:txBody>
      </p:sp>
      <p:sp>
        <p:nvSpPr>
          <p:cNvPr id="51" name="Text 49"/>
          <p:cNvSpPr txBox="1"/>
          <p:nvPr/>
        </p:nvSpPr>
        <p:spPr>
          <a:xfrm>
            <a:off x="8321040" y="7150608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Technical mapping: room_revenue_krw</a:t>
            </a:r>
            <a:endParaRPr lang="en-US" sz="850"/>
          </a:p>
        </p:txBody>
      </p:sp>
      <p:sp>
        <p:nvSpPr>
          <p:cNvPr id="52" name="Shape 50"/>
          <p:cNvSpPr/>
          <p:nvPr/>
        </p:nvSpPr>
        <p:spPr>
          <a:xfrm>
            <a:off x="1005840" y="7918704"/>
            <a:ext cx="16276320" cy="667512"/>
          </a:xfrm>
          <a:prstGeom prst="roundRect">
            <a:avLst>
              <a:gd name="adj" fmla="val 6849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1261872" y="811987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GOVERNANCE</a:t>
            </a:r>
            <a:endParaRPr lang="en-US" sz="1070"/>
          </a:p>
        </p:txBody>
      </p:sp>
      <p:sp>
        <p:nvSpPr>
          <p:cNvPr id="54" name="Text 52"/>
          <p:cNvSpPr txBox="1"/>
          <p:nvPr/>
        </p:nvSpPr>
        <p:spPr>
          <a:xfrm>
            <a:off x="3511296" y="806500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YAML 표준 정의</a:t>
            </a:r>
            <a:endParaRPr lang="en-US" sz="1250"/>
          </a:p>
        </p:txBody>
      </p:sp>
      <p:sp>
        <p:nvSpPr>
          <p:cNvPr id="55" name="Text 53"/>
          <p:cNvSpPr txBox="1"/>
          <p:nvPr/>
        </p:nvSpPr>
        <p:spPr>
          <a:xfrm>
            <a:off x="4956048" y="8046720"/>
            <a:ext cx="21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700"/>
          </a:p>
        </p:txBody>
      </p:sp>
      <p:sp>
        <p:nvSpPr>
          <p:cNvPr id="56" name="Text 54"/>
          <p:cNvSpPr txBox="1"/>
          <p:nvPr/>
        </p:nvSpPr>
        <p:spPr>
          <a:xfrm>
            <a:off x="5358384" y="806500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구조·계산 규칙 검증</a:t>
            </a:r>
            <a:endParaRPr lang="en-US" sz="1250"/>
          </a:p>
        </p:txBody>
      </p:sp>
      <p:sp>
        <p:nvSpPr>
          <p:cNvPr id="57" name="Text 55"/>
          <p:cNvSpPr txBox="1"/>
          <p:nvPr/>
        </p:nvSpPr>
        <p:spPr>
          <a:xfrm>
            <a:off x="6803136" y="8046720"/>
            <a:ext cx="21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700"/>
          </a:p>
        </p:txBody>
      </p:sp>
      <p:sp>
        <p:nvSpPr>
          <p:cNvPr id="58" name="Text 56"/>
          <p:cNvSpPr txBox="1"/>
          <p:nvPr/>
        </p:nvSpPr>
        <p:spPr>
          <a:xfrm>
            <a:off x="7205472" y="806500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DataHub 게시</a:t>
            </a:r>
            <a:endParaRPr lang="en-US" sz="1250"/>
          </a:p>
        </p:txBody>
      </p:sp>
      <p:sp>
        <p:nvSpPr>
          <p:cNvPr id="59" name="Text 57"/>
          <p:cNvSpPr txBox="1"/>
          <p:nvPr/>
        </p:nvSpPr>
        <p:spPr>
          <a:xfrm>
            <a:off x="8650224" y="8046720"/>
            <a:ext cx="21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700"/>
          </a:p>
        </p:txBody>
      </p:sp>
      <p:sp>
        <p:nvSpPr>
          <p:cNvPr id="60" name="Text 58"/>
          <p:cNvSpPr txBox="1"/>
          <p:nvPr/>
        </p:nvSpPr>
        <p:spPr>
          <a:xfrm>
            <a:off x="9052560" y="806500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버전 활성화</a:t>
            </a:r>
            <a:endParaRPr lang="en-US" sz="1250"/>
          </a:p>
        </p:txBody>
      </p:sp>
      <p:sp>
        <p:nvSpPr>
          <p:cNvPr id="61" name="Text 59"/>
          <p:cNvSpPr txBox="1"/>
          <p:nvPr/>
        </p:nvSpPr>
        <p:spPr>
          <a:xfrm>
            <a:off x="3474720" y="8366760"/>
            <a:ext cx="5120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분석에는 DataHub에 현재 활성화된 승인 기준을 사용</a:t>
            </a:r>
            <a:endParaRPr lang="en-US" sz="85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36C57A3-2E4B-2A08-1671-F381AFBE8E5A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latin typeface="Pretendard"/>
                <a:ea typeface="맑은 고딕"/>
              </a:rPr>
              <a:t>업무 지표의 </a:t>
            </a:r>
            <a:r>
              <a:rPr lang="ko-KR" altLang="en-US" sz="3600" b="1" err="1">
                <a:solidFill>
                  <a:srgbClr val="1D334F"/>
                </a:solidFill>
                <a:latin typeface="Pretendard"/>
                <a:ea typeface="맑은 고딕"/>
              </a:rPr>
              <a:t>시맨틱</a:t>
            </a:r>
            <a:r>
              <a:rPr lang="ko-KR" altLang="en-US" sz="3600" b="1">
                <a:solidFill>
                  <a:srgbClr val="1D334F"/>
                </a:solidFill>
                <a:latin typeface="Pretendard"/>
                <a:ea typeface="맑은 고딕"/>
              </a:rPr>
              <a:t> 레이어 구성</a:t>
            </a:r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B8AC7E13-3E71-77EF-285A-E4C36809AB6C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4" name="Text 1">
            <a:extLst>
              <a:ext uri="{FF2B5EF4-FFF2-40B4-BE49-F238E27FC236}">
                <a16:creationId xmlns:a16="http://schemas.microsoft.com/office/drawing/2014/main" id="{B385407E-87CD-387E-D71D-D52F1A61CC24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27 · SEMANTIC LAYER</a:t>
            </a:r>
            <a:endParaRPr lang="en-US" sz="1100">
              <a:latin typeface="Pretendar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1009650" y="21717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1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QUESTION</a:t>
            </a:r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5105400" y="21717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1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RANGE FILTER</a:t>
            </a:r>
            <a:endParaRPr lang="en-US" sz="1200"/>
          </a:p>
        </p:txBody>
      </p:sp>
      <p:sp>
        <p:nvSpPr>
          <p:cNvPr id="8" name="Text 6"/>
          <p:cNvSpPr txBox="1"/>
          <p:nvPr/>
        </p:nvSpPr>
        <p:spPr>
          <a:xfrm>
            <a:off x="14097000" y="21717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1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 PACKAGE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1009650" y="2571750"/>
            <a:ext cx="3333750" cy="49530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524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52550" y="2971800"/>
            <a:ext cx="685800" cy="685800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52550" y="29718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190500" y="200025"/>
                </a:moveTo>
                <a:lnTo>
                  <a:pt x="495300" y="200025"/>
                </a:lnTo>
                <a:lnTo>
                  <a:pt x="495300" y="428625"/>
                </a:lnTo>
                <a:lnTo>
                  <a:pt x="333375" y="428625"/>
                </a:lnTo>
                <a:lnTo>
                  <a:pt x="228600" y="514350"/>
                </a:lnTo>
                <a:lnTo>
                  <a:pt x="228600" y="428625"/>
                </a:lnTo>
                <a:lnTo>
                  <a:pt x="190500" y="4286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609725" y="3276600"/>
            <a:ext cx="38100" cy="38100"/>
          </a:xfrm>
          <a:prstGeom prst="ellipse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695450" y="3276600"/>
            <a:ext cx="38100" cy="38100"/>
          </a:xfrm>
          <a:prstGeom prst="ellipse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781175" y="3276600"/>
            <a:ext cx="38100" cy="38100"/>
          </a:xfrm>
          <a:prstGeom prst="ellipse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352550" y="3752850"/>
            <a:ext cx="2724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“5월과 6월</a:t>
            </a:r>
            <a:endParaRPr lang="en-US" sz="2025"/>
          </a:p>
        </p:txBody>
      </p:sp>
      <p:sp>
        <p:nvSpPr>
          <p:cNvPr id="17" name="Text 15"/>
          <p:cNvSpPr txBox="1"/>
          <p:nvPr/>
        </p:nvSpPr>
        <p:spPr>
          <a:xfrm>
            <a:off x="1352550" y="4181475"/>
            <a:ext cx="2724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GOLD 고객의</a:t>
            </a:r>
            <a:endParaRPr lang="en-US" sz="2025"/>
          </a:p>
        </p:txBody>
      </p:sp>
      <p:sp>
        <p:nvSpPr>
          <p:cNvPr id="18" name="Text 16"/>
          <p:cNvSpPr txBox="1"/>
          <p:nvPr/>
        </p:nvSpPr>
        <p:spPr>
          <a:xfrm>
            <a:off x="1352550" y="4610100"/>
            <a:ext cx="2724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객실과 식음료 매출을</a:t>
            </a:r>
            <a:endParaRPr lang="en-US" sz="2025"/>
          </a:p>
        </p:txBody>
      </p:sp>
      <p:sp>
        <p:nvSpPr>
          <p:cNvPr id="19" name="Text 17"/>
          <p:cNvSpPr txBox="1"/>
          <p:nvPr/>
        </p:nvSpPr>
        <p:spPr>
          <a:xfrm>
            <a:off x="1352550" y="5038725"/>
            <a:ext cx="2724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비교해 줘.”</a:t>
            </a:r>
            <a:endParaRPr lang="en-US" sz="2025"/>
          </a:p>
        </p:txBody>
      </p:sp>
      <p:sp>
        <p:nvSpPr>
          <p:cNvPr id="20" name="Shape 18"/>
          <p:cNvSpPr/>
          <p:nvPr/>
        </p:nvSpPr>
        <p:spPr>
          <a:xfrm>
            <a:off x="1352550" y="6038850"/>
            <a:ext cx="264795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352550" y="6172200"/>
            <a:ext cx="26479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아직 사용할 데이터와</a:t>
            </a:r>
            <a:endParaRPr lang="en-US" sz="1500"/>
          </a:p>
        </p:txBody>
      </p:sp>
      <p:sp>
        <p:nvSpPr>
          <p:cNvPr id="22" name="Text 20"/>
          <p:cNvSpPr txBox="1"/>
          <p:nvPr/>
        </p:nvSpPr>
        <p:spPr>
          <a:xfrm>
            <a:off x="1352550" y="6505575"/>
            <a:ext cx="26479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기준은 정해지지 않음</a:t>
            </a:r>
            <a:endParaRPr lang="en-US" sz="1500"/>
          </a:p>
        </p:txBody>
      </p:sp>
      <p:sp>
        <p:nvSpPr>
          <p:cNvPr id="23" name="Shape 21"/>
          <p:cNvSpPr/>
          <p:nvPr/>
        </p:nvSpPr>
        <p:spPr>
          <a:xfrm>
            <a:off x="4438650" y="5048250"/>
            <a:ext cx="47625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105400" y="2571750"/>
            <a:ext cx="68961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153451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105400" y="2571750"/>
            <a:ext cx="6896100" cy="590550"/>
          </a:xfrm>
          <a:prstGeom prst="rect">
            <a:avLst/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5429250" y="2647950"/>
            <a:ext cx="5905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75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질문에 필요한 범위만 선별</a:t>
            </a:r>
            <a:endParaRPr lang="en-US" sz="1875"/>
          </a:p>
        </p:txBody>
      </p:sp>
      <p:sp>
        <p:nvSpPr>
          <p:cNvPr id="27" name="Text 25"/>
          <p:cNvSpPr txBox="1"/>
          <p:nvPr/>
        </p:nvSpPr>
        <p:spPr>
          <a:xfrm>
            <a:off x="5429250" y="3286125"/>
            <a:ext cx="3048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해석 · Node 1</a:t>
            </a:r>
            <a:endParaRPr lang="en-US" sz="1275"/>
          </a:p>
        </p:txBody>
      </p:sp>
      <p:sp>
        <p:nvSpPr>
          <p:cNvPr id="28" name="Shape 26"/>
          <p:cNvSpPr/>
          <p:nvPr/>
        </p:nvSpPr>
        <p:spPr>
          <a:xfrm>
            <a:off x="5429250" y="3771900"/>
            <a:ext cx="1428750" cy="666750"/>
          </a:xfrm>
          <a:prstGeom prst="roundRect">
            <a:avLst>
              <a:gd name="adj" fmla="val 857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5429250" y="3819525"/>
            <a:ext cx="1428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</a:t>
            </a:r>
            <a:endParaRPr lang="en-US" sz="1050"/>
          </a:p>
        </p:txBody>
      </p:sp>
      <p:sp>
        <p:nvSpPr>
          <p:cNvPr id="30" name="Text 28"/>
          <p:cNvSpPr txBox="1"/>
          <p:nvPr/>
        </p:nvSpPr>
        <p:spPr>
          <a:xfrm>
            <a:off x="5429250" y="4048125"/>
            <a:ext cx="1428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</a:t>
            </a:r>
            <a:endParaRPr lang="en-US" sz="1650"/>
          </a:p>
        </p:txBody>
      </p:sp>
      <p:sp>
        <p:nvSpPr>
          <p:cNvPr id="31" name="Shape 29"/>
          <p:cNvSpPr/>
          <p:nvPr/>
        </p:nvSpPr>
        <p:spPr>
          <a:xfrm>
            <a:off x="6991350" y="3771900"/>
            <a:ext cx="1428750" cy="666750"/>
          </a:xfrm>
          <a:prstGeom prst="roundRect">
            <a:avLst>
              <a:gd name="adj" fmla="val 857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991350" y="3819525"/>
            <a:ext cx="1428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1050"/>
          </a:p>
        </p:txBody>
      </p:sp>
      <p:sp>
        <p:nvSpPr>
          <p:cNvPr id="33" name="Text 31"/>
          <p:cNvSpPr txBox="1"/>
          <p:nvPr/>
        </p:nvSpPr>
        <p:spPr>
          <a:xfrm>
            <a:off x="6991350" y="4048125"/>
            <a:ext cx="1428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5월·6월</a:t>
            </a:r>
            <a:endParaRPr lang="en-US" sz="1650"/>
          </a:p>
        </p:txBody>
      </p:sp>
      <p:sp>
        <p:nvSpPr>
          <p:cNvPr id="34" name="Shape 32"/>
          <p:cNvSpPr/>
          <p:nvPr/>
        </p:nvSpPr>
        <p:spPr>
          <a:xfrm>
            <a:off x="8553450" y="3771900"/>
            <a:ext cx="1428750" cy="666750"/>
          </a:xfrm>
          <a:prstGeom prst="roundRect">
            <a:avLst>
              <a:gd name="adj" fmla="val 857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8553450" y="3819525"/>
            <a:ext cx="1428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</a:t>
            </a:r>
            <a:endParaRPr lang="en-US" sz="1050"/>
          </a:p>
        </p:txBody>
      </p:sp>
      <p:sp>
        <p:nvSpPr>
          <p:cNvPr id="36" name="Text 34"/>
          <p:cNvSpPr txBox="1"/>
          <p:nvPr/>
        </p:nvSpPr>
        <p:spPr>
          <a:xfrm>
            <a:off x="8553450" y="4048125"/>
            <a:ext cx="1428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GOLD</a:t>
            </a:r>
            <a:endParaRPr lang="en-US" sz="1650"/>
          </a:p>
        </p:txBody>
      </p:sp>
      <p:sp>
        <p:nvSpPr>
          <p:cNvPr id="37" name="Shape 35"/>
          <p:cNvSpPr/>
          <p:nvPr/>
        </p:nvSpPr>
        <p:spPr>
          <a:xfrm>
            <a:off x="10115550" y="3771900"/>
            <a:ext cx="1562100" cy="666750"/>
          </a:xfrm>
          <a:prstGeom prst="roundRect">
            <a:avLst>
              <a:gd name="adj" fmla="val 857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10115550" y="3819525"/>
            <a:ext cx="1562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</a:t>
            </a:r>
            <a:endParaRPr lang="en-US" sz="1050"/>
          </a:p>
        </p:txBody>
      </p:sp>
      <p:sp>
        <p:nvSpPr>
          <p:cNvPr id="39" name="Text 37"/>
          <p:cNvSpPr txBox="1"/>
          <p:nvPr/>
        </p:nvSpPr>
        <p:spPr>
          <a:xfrm>
            <a:off x="10115550" y="4048125"/>
            <a:ext cx="1562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객실·식음료</a:t>
            </a:r>
            <a:endParaRPr lang="en-US" sz="1650"/>
          </a:p>
        </p:txBody>
      </p:sp>
      <p:sp>
        <p:nvSpPr>
          <p:cNvPr id="40" name="Shape 38"/>
          <p:cNvSpPr/>
          <p:nvPr/>
        </p:nvSpPr>
        <p:spPr>
          <a:xfrm>
            <a:off x="5429250" y="4724400"/>
            <a:ext cx="62484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429250" y="5010150"/>
            <a:ext cx="2952750" cy="2076450"/>
          </a:xfrm>
          <a:prstGeom prst="roundRect">
            <a:avLst>
              <a:gd name="adj" fmla="val 3211"/>
            </a:avLst>
          </a:prstGeom>
          <a:solidFill>
            <a:srgbClr val="F8FAFC"/>
          </a:solidFill>
          <a:ln w="1524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657850" y="5238750"/>
            <a:ext cx="552450" cy="552450"/>
          </a:xfrm>
          <a:prstGeom prst="roundRect">
            <a:avLst>
              <a:gd name="adj" fmla="val 12069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657850" y="523875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171450" y="142875"/>
                </a:moveTo>
                <a:lnTo>
                  <a:pt x="381000" y="142875"/>
                </a:lnTo>
                <a:lnTo>
                  <a:pt x="381000" y="409575"/>
                </a:lnTo>
                <a:lnTo>
                  <a:pt x="171450" y="409575"/>
                </a:lnTo>
                <a:close/>
                <a:moveTo>
                  <a:pt x="219075" y="209550"/>
                </a:moveTo>
                <a:lnTo>
                  <a:pt x="333375" y="209550"/>
                </a:lnTo>
                <a:moveTo>
                  <a:pt x="219075" y="276225"/>
                </a:moveTo>
                <a:lnTo>
                  <a:pt x="333375" y="276225"/>
                </a:lnTo>
                <a:moveTo>
                  <a:pt x="219075" y="342900"/>
                </a:moveTo>
                <a:lnTo>
                  <a:pt x="295275" y="342900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6381750" y="5200650"/>
            <a:ext cx="1809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카탈로그</a:t>
            </a:r>
            <a:endParaRPr lang="en-US" sz="1800"/>
          </a:p>
        </p:txBody>
      </p:sp>
      <p:sp>
        <p:nvSpPr>
          <p:cNvPr id="45" name="Text 43"/>
          <p:cNvSpPr txBox="1"/>
          <p:nvPr/>
        </p:nvSpPr>
        <p:spPr>
          <a:xfrm>
            <a:off x="6381750" y="55435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DataHub</a:t>
            </a:r>
            <a:endParaRPr lang="en-US" sz="1200"/>
          </a:p>
        </p:txBody>
      </p:sp>
      <p:sp>
        <p:nvSpPr>
          <p:cNvPr id="46" name="Text 44"/>
          <p:cNvSpPr txBox="1"/>
          <p:nvPr/>
        </p:nvSpPr>
        <p:spPr>
          <a:xfrm>
            <a:off x="5657850" y="5943600"/>
            <a:ext cx="2381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위치</a:t>
            </a:r>
            <a:endParaRPr lang="en-US" sz="1500"/>
          </a:p>
        </p:txBody>
      </p:sp>
      <p:sp>
        <p:nvSpPr>
          <p:cNvPr id="47" name="Text 45"/>
          <p:cNvSpPr txBox="1"/>
          <p:nvPr/>
        </p:nvSpPr>
        <p:spPr>
          <a:xfrm>
            <a:off x="5657850" y="6257925"/>
            <a:ext cx="2381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err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</a:t>
            </a: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b="1" err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</a:t>
            </a: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(Semantic Layer)</a:t>
            </a:r>
            <a:endParaRPr lang="en-US" sz="1500"/>
          </a:p>
        </p:txBody>
      </p:sp>
      <p:sp>
        <p:nvSpPr>
          <p:cNvPr id="48" name="Text 46"/>
          <p:cNvSpPr txBox="1"/>
          <p:nvPr/>
        </p:nvSpPr>
        <p:spPr>
          <a:xfrm>
            <a:off x="5657850" y="6572250"/>
            <a:ext cx="2381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기준</a:t>
            </a:r>
            <a:endParaRPr lang="en-US" sz="1500"/>
          </a:p>
        </p:txBody>
      </p:sp>
      <p:sp>
        <p:nvSpPr>
          <p:cNvPr id="49" name="Shape 47"/>
          <p:cNvSpPr/>
          <p:nvPr/>
        </p:nvSpPr>
        <p:spPr>
          <a:xfrm>
            <a:off x="8724900" y="5010150"/>
            <a:ext cx="2952750" cy="2076450"/>
          </a:xfrm>
          <a:prstGeom prst="roundRect">
            <a:avLst>
              <a:gd name="adj" fmla="val 3211"/>
            </a:avLst>
          </a:prstGeom>
          <a:solidFill>
            <a:srgbClr val="F8FAFC"/>
          </a:solidFill>
          <a:ln w="1524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953500" y="5238750"/>
            <a:ext cx="552450" cy="552450"/>
          </a:xfrm>
          <a:prstGeom prst="roundRect">
            <a:avLst>
              <a:gd name="adj" fmla="val 12069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953500" y="523875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171450" y="266700"/>
                </a:moveTo>
                <a:lnTo>
                  <a:pt x="171450" y="200025"/>
                </a:lnTo>
                <a:lnTo>
                  <a:pt x="180975" y="161925"/>
                </a:lnTo>
                <a:lnTo>
                  <a:pt x="200025" y="133350"/>
                </a:lnTo>
                <a:lnTo>
                  <a:pt x="238125" y="104775"/>
                </a:lnTo>
                <a:lnTo>
                  <a:pt x="276225" y="95250"/>
                </a:lnTo>
                <a:lnTo>
                  <a:pt x="314325" y="104775"/>
                </a:lnTo>
                <a:lnTo>
                  <a:pt x="352425" y="133350"/>
                </a:lnTo>
                <a:lnTo>
                  <a:pt x="371475" y="161925"/>
                </a:lnTo>
                <a:lnTo>
                  <a:pt x="381000" y="200025"/>
                </a:lnTo>
                <a:lnTo>
                  <a:pt x="381000" y="266700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9086850" y="5505450"/>
            <a:ext cx="285750" cy="190500"/>
          </a:xfrm>
          <a:prstGeom prst="rect">
            <a:avLst/>
          </a:prstGeom>
          <a:solidFill>
            <a:srgbClr val="EAF3FF"/>
          </a:solidFill>
          <a:ln w="2159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9677400" y="5200650"/>
            <a:ext cx="1809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권한</a:t>
            </a:r>
            <a:endParaRPr lang="en-US" sz="1800"/>
          </a:p>
        </p:txBody>
      </p:sp>
      <p:sp>
        <p:nvSpPr>
          <p:cNvPr id="54" name="Text 52"/>
          <p:cNvSpPr txBox="1"/>
          <p:nvPr/>
        </p:nvSpPr>
        <p:spPr>
          <a:xfrm>
            <a:off x="9677400" y="55435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 &amp; Permission</a:t>
            </a:r>
            <a:endParaRPr lang="en-US" sz="1200"/>
          </a:p>
        </p:txBody>
      </p:sp>
      <p:sp>
        <p:nvSpPr>
          <p:cNvPr id="55" name="Text 53"/>
          <p:cNvSpPr txBox="1"/>
          <p:nvPr/>
        </p:nvSpPr>
        <p:spPr>
          <a:xfrm>
            <a:off x="8953500" y="5943600"/>
            <a:ext cx="2381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가능한 데이터</a:t>
            </a:r>
            <a:endParaRPr lang="en-US" sz="1500"/>
          </a:p>
        </p:txBody>
      </p:sp>
      <p:sp>
        <p:nvSpPr>
          <p:cNvPr id="56" name="Text 54"/>
          <p:cNvSpPr txBox="1"/>
          <p:nvPr/>
        </p:nvSpPr>
        <p:spPr>
          <a:xfrm>
            <a:off x="8953500" y="6257925"/>
            <a:ext cx="2381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허용된 컬럼</a:t>
            </a:r>
            <a:endParaRPr lang="en-US" sz="1500"/>
          </a:p>
        </p:txBody>
      </p:sp>
      <p:sp>
        <p:nvSpPr>
          <p:cNvPr id="57" name="Text 55"/>
          <p:cNvSpPr txBox="1"/>
          <p:nvPr/>
        </p:nvSpPr>
        <p:spPr>
          <a:xfrm>
            <a:off x="8953500" y="6572250"/>
            <a:ext cx="23812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개인정보 제한</a:t>
            </a:r>
            <a:endParaRPr lang="en-US" sz="1500"/>
          </a:p>
        </p:txBody>
      </p:sp>
      <p:sp>
        <p:nvSpPr>
          <p:cNvPr id="58" name="Shape 56"/>
          <p:cNvSpPr/>
          <p:nvPr/>
        </p:nvSpPr>
        <p:spPr>
          <a:xfrm>
            <a:off x="12096750" y="5048250"/>
            <a:ext cx="381000" cy="0"/>
          </a:xfrm>
          <a:prstGeom prst="line">
            <a:avLst/>
          </a:prstGeom>
          <a:noFill/>
          <a:ln w="22860">
            <a:solidFill>
              <a:srgbClr val="159C9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2573000" y="2571750"/>
            <a:ext cx="1104900" cy="4953000"/>
          </a:xfrm>
          <a:prstGeom prst="roundRect">
            <a:avLst>
              <a:gd name="adj" fmla="val 6034"/>
            </a:avLst>
          </a:prstGeom>
          <a:solidFill>
            <a:srgbClr val="EAF8F6"/>
          </a:solidFill>
          <a:ln w="15240">
            <a:solidFill>
              <a:srgbClr val="78C8C1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1" name="Text 59"/>
          <p:cNvSpPr txBox="1"/>
          <p:nvPr/>
        </p:nvSpPr>
        <p:spPr>
          <a:xfrm>
            <a:off x="12573000" y="3343275"/>
            <a:ext cx="110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확인</a:t>
            </a:r>
            <a:endParaRPr lang="en-US" sz="1500"/>
          </a:p>
        </p:txBody>
      </p:sp>
      <p:sp>
        <p:nvSpPr>
          <p:cNvPr id="62" name="Shape 60"/>
          <p:cNvSpPr/>
          <p:nvPr/>
        </p:nvSpPr>
        <p:spPr>
          <a:xfrm>
            <a:off x="12896850" y="3857625"/>
            <a:ext cx="4572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3" name="Text 61"/>
          <p:cNvSpPr txBox="1"/>
          <p:nvPr/>
        </p:nvSpPr>
        <p:spPr>
          <a:xfrm>
            <a:off x="12896850" y="387667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G1</a:t>
            </a:r>
            <a:endParaRPr lang="en-US" sz="975"/>
          </a:p>
        </p:txBody>
      </p:sp>
      <p:sp>
        <p:nvSpPr>
          <p:cNvPr id="64" name="Shape 62"/>
          <p:cNvSpPr/>
          <p:nvPr/>
        </p:nvSpPr>
        <p:spPr>
          <a:xfrm>
            <a:off x="12830175" y="4638675"/>
            <a:ext cx="590550" cy="590550"/>
          </a:xfrm>
          <a:prstGeom prst="ellipse">
            <a:avLst/>
          </a:prstGeom>
          <a:solidFill>
            <a:srgbClr val="159C98"/>
          </a:solidFill>
          <a:ln w="12700">
            <a:solidFill>
              <a:srgbClr val="159C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12896850" y="4705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6675" y="228600"/>
                </a:moveTo>
                <a:lnTo>
                  <a:pt x="180975" y="342900"/>
                </a:lnTo>
                <a:lnTo>
                  <a:pt x="409575" y="85725"/>
                </a:lnTo>
              </a:path>
            </a:pathLst>
          </a:custGeom>
          <a:solidFill>
            <a:srgbClr val="FFFFFF">
              <a:alpha val="0"/>
            </a:srgbClr>
          </a:solidFill>
          <a:ln w="2921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6" name="Text 64"/>
          <p:cNvSpPr txBox="1"/>
          <p:nvPr/>
        </p:nvSpPr>
        <p:spPr>
          <a:xfrm>
            <a:off x="12573000" y="5314950"/>
            <a:ext cx="11049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통과</a:t>
            </a:r>
            <a:endParaRPr lang="en-US" sz="1275"/>
          </a:p>
        </p:txBody>
      </p:sp>
      <p:sp>
        <p:nvSpPr>
          <p:cNvPr id="67" name="Text 65"/>
          <p:cNvSpPr txBox="1"/>
          <p:nvPr/>
        </p:nvSpPr>
        <p:spPr>
          <a:xfrm>
            <a:off x="12573000" y="5781675"/>
            <a:ext cx="110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단계로</a:t>
            </a:r>
            <a:endParaRPr lang="en-US" sz="1125"/>
          </a:p>
        </p:txBody>
      </p:sp>
      <p:sp>
        <p:nvSpPr>
          <p:cNvPr id="68" name="Text 66"/>
          <p:cNvSpPr txBox="1"/>
          <p:nvPr/>
        </p:nvSpPr>
        <p:spPr>
          <a:xfrm>
            <a:off x="12573000" y="6019800"/>
            <a:ext cx="110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전달 가능</a:t>
            </a:r>
            <a:endParaRPr lang="en-US" sz="1125"/>
          </a:p>
        </p:txBody>
      </p:sp>
      <p:sp>
        <p:nvSpPr>
          <p:cNvPr id="69" name="Shape 67"/>
          <p:cNvSpPr/>
          <p:nvPr/>
        </p:nvSpPr>
        <p:spPr>
          <a:xfrm>
            <a:off x="13773150" y="5048250"/>
            <a:ext cx="228600" cy="0"/>
          </a:xfrm>
          <a:prstGeom prst="line">
            <a:avLst/>
          </a:prstGeom>
          <a:noFill/>
          <a:ln w="22860">
            <a:solidFill>
              <a:srgbClr val="159C9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4097000" y="2571750"/>
            <a:ext cx="3181350" cy="4953000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2" name="Text 70"/>
          <p:cNvSpPr txBox="1"/>
          <p:nvPr/>
        </p:nvSpPr>
        <p:spPr>
          <a:xfrm>
            <a:off x="14458950" y="2724150"/>
            <a:ext cx="2457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확정된 분석 범위</a:t>
            </a:r>
            <a:endParaRPr lang="en-US" sz="2025"/>
          </a:p>
        </p:txBody>
      </p:sp>
      <p:sp>
        <p:nvSpPr>
          <p:cNvPr id="73" name="Shape 71"/>
          <p:cNvSpPr/>
          <p:nvPr/>
        </p:nvSpPr>
        <p:spPr>
          <a:xfrm>
            <a:off x="14458950" y="3314700"/>
            <a:ext cx="245745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4" name="Text 72"/>
          <p:cNvSpPr txBox="1"/>
          <p:nvPr/>
        </p:nvSpPr>
        <p:spPr>
          <a:xfrm>
            <a:off x="14458950" y="3619500"/>
            <a:ext cx="590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PMS</a:t>
            </a:r>
            <a:endParaRPr lang="en-US" sz="1350"/>
          </a:p>
        </p:txBody>
      </p:sp>
      <p:sp>
        <p:nvSpPr>
          <p:cNvPr id="75" name="Text 73"/>
          <p:cNvSpPr txBox="1"/>
          <p:nvPr/>
        </p:nvSpPr>
        <p:spPr>
          <a:xfrm>
            <a:off x="15144750" y="3619500"/>
            <a:ext cx="1771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객실·투숙</a:t>
            </a:r>
            <a:endParaRPr lang="en-US" sz="1500"/>
          </a:p>
        </p:txBody>
      </p:sp>
      <p:sp>
        <p:nvSpPr>
          <p:cNvPr id="76" name="Text 74"/>
          <p:cNvSpPr txBox="1"/>
          <p:nvPr/>
        </p:nvSpPr>
        <p:spPr>
          <a:xfrm>
            <a:off x="14458950" y="4095750"/>
            <a:ext cx="590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</a:t>
            </a:r>
            <a:endParaRPr lang="en-US" sz="1350"/>
          </a:p>
        </p:txBody>
      </p:sp>
      <p:sp>
        <p:nvSpPr>
          <p:cNvPr id="77" name="Text 75"/>
          <p:cNvSpPr txBox="1"/>
          <p:nvPr/>
        </p:nvSpPr>
        <p:spPr>
          <a:xfrm>
            <a:off x="15144750" y="4095750"/>
            <a:ext cx="1771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식음 주문·결제</a:t>
            </a:r>
            <a:endParaRPr lang="en-US" sz="1500"/>
          </a:p>
        </p:txBody>
      </p:sp>
      <p:sp>
        <p:nvSpPr>
          <p:cNvPr id="78" name="Text 76"/>
          <p:cNvSpPr txBox="1"/>
          <p:nvPr/>
        </p:nvSpPr>
        <p:spPr>
          <a:xfrm>
            <a:off x="14458950" y="4572000"/>
            <a:ext cx="590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</a:t>
            </a:r>
            <a:endParaRPr lang="en-US" sz="1350"/>
          </a:p>
        </p:txBody>
      </p:sp>
      <p:sp>
        <p:nvSpPr>
          <p:cNvPr id="79" name="Text 77"/>
          <p:cNvSpPr txBox="1"/>
          <p:nvPr/>
        </p:nvSpPr>
        <p:spPr>
          <a:xfrm>
            <a:off x="15144750" y="4572000"/>
            <a:ext cx="1771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GOLD 회원</a:t>
            </a:r>
            <a:endParaRPr lang="en-US" sz="1500"/>
          </a:p>
        </p:txBody>
      </p:sp>
      <p:sp>
        <p:nvSpPr>
          <p:cNvPr id="80" name="Shape 78"/>
          <p:cNvSpPr/>
          <p:nvPr/>
        </p:nvSpPr>
        <p:spPr>
          <a:xfrm>
            <a:off x="14458950" y="5057775"/>
            <a:ext cx="245745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1" name="Text 79"/>
          <p:cNvSpPr txBox="1"/>
          <p:nvPr/>
        </p:nvSpPr>
        <p:spPr>
          <a:xfrm>
            <a:off x="14458950" y="5314950"/>
            <a:ext cx="590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1350"/>
          </a:p>
        </p:txBody>
      </p:sp>
      <p:sp>
        <p:nvSpPr>
          <p:cNvPr id="82" name="Text 80"/>
          <p:cNvSpPr txBox="1"/>
          <p:nvPr/>
        </p:nvSpPr>
        <p:spPr>
          <a:xfrm>
            <a:off x="15144750" y="5314950"/>
            <a:ext cx="1771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5월·6월</a:t>
            </a:r>
            <a:endParaRPr lang="en-US" sz="1500"/>
          </a:p>
        </p:txBody>
      </p:sp>
      <p:sp>
        <p:nvSpPr>
          <p:cNvPr id="83" name="Text 81"/>
          <p:cNvSpPr txBox="1"/>
          <p:nvPr/>
        </p:nvSpPr>
        <p:spPr>
          <a:xfrm>
            <a:off x="14458950" y="5791200"/>
            <a:ext cx="590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1350"/>
          </a:p>
        </p:txBody>
      </p:sp>
      <p:sp>
        <p:nvSpPr>
          <p:cNvPr id="84" name="Text 82"/>
          <p:cNvSpPr txBox="1"/>
          <p:nvPr/>
        </p:nvSpPr>
        <p:spPr>
          <a:xfrm>
            <a:off x="15144750" y="5791200"/>
            <a:ext cx="1771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고객키·투숙 ID</a:t>
            </a:r>
            <a:endParaRPr lang="en-US" sz="1500"/>
          </a:p>
        </p:txBody>
      </p:sp>
      <p:sp>
        <p:nvSpPr>
          <p:cNvPr id="85" name="Shape 83"/>
          <p:cNvSpPr/>
          <p:nvPr/>
        </p:nvSpPr>
        <p:spPr>
          <a:xfrm>
            <a:off x="14458950" y="6267450"/>
            <a:ext cx="2457450" cy="952500"/>
          </a:xfrm>
          <a:prstGeom prst="roundRect">
            <a:avLst>
              <a:gd name="adj" fmla="val 6000"/>
            </a:avLst>
          </a:prstGeom>
          <a:solidFill>
            <a:srgbClr val="F1FAF8"/>
          </a:solidFill>
          <a:ln w="12700">
            <a:solidFill>
              <a:srgbClr val="F1FA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14582775" y="6362700"/>
            <a:ext cx="762000" cy="7620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14639925" y="6419850"/>
            <a:ext cx="647700" cy="6477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8" name="Text 86"/>
          <p:cNvSpPr txBox="1"/>
          <p:nvPr/>
        </p:nvSpPr>
        <p:spPr>
          <a:xfrm>
            <a:off x="14582775" y="6501945"/>
            <a:ext cx="762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G1</a:t>
            </a:r>
            <a:endParaRPr lang="en-US" sz="1200"/>
          </a:p>
        </p:txBody>
      </p:sp>
      <p:sp>
        <p:nvSpPr>
          <p:cNvPr id="89" name="Text 87"/>
          <p:cNvSpPr txBox="1"/>
          <p:nvPr/>
        </p:nvSpPr>
        <p:spPr>
          <a:xfrm>
            <a:off x="14582775" y="6724650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확인</a:t>
            </a:r>
            <a:endParaRPr lang="en-US" sz="900"/>
          </a:p>
        </p:txBody>
      </p:sp>
      <p:sp>
        <p:nvSpPr>
          <p:cNvPr id="90" name="Text 88"/>
          <p:cNvSpPr txBox="1"/>
          <p:nvPr/>
        </p:nvSpPr>
        <p:spPr>
          <a:xfrm>
            <a:off x="14582775" y="68580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825"/>
          </a:p>
        </p:txBody>
      </p:sp>
      <p:sp>
        <p:nvSpPr>
          <p:cNvPr id="91" name="Text 89"/>
          <p:cNvSpPr txBox="1"/>
          <p:nvPr/>
        </p:nvSpPr>
        <p:spPr>
          <a:xfrm>
            <a:off x="15525750" y="6410325"/>
            <a:ext cx="1314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완료</a:t>
            </a:r>
            <a:endParaRPr lang="en-US" sz="1425"/>
          </a:p>
        </p:txBody>
      </p:sp>
      <p:sp>
        <p:nvSpPr>
          <p:cNvPr id="92" name="Text 90"/>
          <p:cNvSpPr txBox="1"/>
          <p:nvPr/>
        </p:nvSpPr>
        <p:spPr>
          <a:xfrm>
            <a:off x="15525750" y="6724650"/>
            <a:ext cx="1314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· SQL 생성 →</a:t>
            </a:r>
            <a:endParaRPr lang="en-US" sz="1275"/>
          </a:p>
        </p:txBody>
      </p:sp>
      <p:sp>
        <p:nvSpPr>
          <p:cNvPr id="93" name="Shape 91"/>
          <p:cNvSpPr/>
          <p:nvPr/>
        </p:nvSpPr>
        <p:spPr>
          <a:xfrm>
            <a:off x="1009650" y="7934325"/>
            <a:ext cx="162687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4" name="Text 92"/>
          <p:cNvSpPr txBox="1"/>
          <p:nvPr/>
        </p:nvSpPr>
        <p:spPr>
          <a:xfrm>
            <a:off x="1314450" y="8058150"/>
            <a:ext cx="1809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GOVERNED CONTEXT</a:t>
            </a:r>
            <a:endParaRPr lang="en-US" sz="1275"/>
          </a:p>
        </p:txBody>
      </p:sp>
      <p:sp>
        <p:nvSpPr>
          <p:cNvPr id="95" name="Text 93"/>
          <p:cNvSpPr txBox="1"/>
          <p:nvPr/>
        </p:nvSpPr>
        <p:spPr>
          <a:xfrm>
            <a:off x="3429000" y="805815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조건과 카탈로그·권한을 대조해 이번 분석의 범위를 만든다</a:t>
            </a:r>
            <a:endParaRPr lang="en-US" sz="1575"/>
          </a:p>
        </p:txBody>
      </p:sp>
      <p:sp>
        <p:nvSpPr>
          <p:cNvPr id="96" name="Shape 94"/>
          <p:cNvSpPr/>
          <p:nvPr/>
        </p:nvSpPr>
        <p:spPr>
          <a:xfrm>
            <a:off x="1009650" y="9048750"/>
            <a:ext cx="162687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7" name="Text 95"/>
          <p:cNvSpPr txBox="1"/>
          <p:nvPr/>
        </p:nvSpPr>
        <p:spPr>
          <a:xfrm>
            <a:off x="1009650" y="9296400"/>
            <a:ext cx="1238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 kern="0" spc="11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</a:t>
            </a:r>
            <a:endParaRPr lang="en-US" sz="1275"/>
          </a:p>
        </p:txBody>
      </p:sp>
      <p:sp>
        <p:nvSpPr>
          <p:cNvPr id="98" name="Text 96"/>
          <p:cNvSpPr txBox="1"/>
          <p:nvPr/>
        </p:nvSpPr>
        <p:spPr>
          <a:xfrm>
            <a:off x="2476500" y="9285217"/>
            <a:ext cx="5068956" cy="446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2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허용된</a:t>
            </a:r>
            <a:r>
              <a:rPr lang="en-US" sz="22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2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데이터만</a:t>
            </a:r>
            <a:r>
              <a:rPr lang="en-US" sz="22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200" b="1" err="1">
                <a:solidFill>
                  <a:srgbClr val="159C98"/>
                </a:solidFill>
                <a:ea typeface="+mn-lt"/>
                <a:cs typeface="+mn-lt"/>
              </a:rPr>
              <a:t>다음</a:t>
            </a:r>
            <a:r>
              <a:rPr lang="en-US" sz="2200" b="1">
                <a:solidFill>
                  <a:srgbClr val="159C98"/>
                </a:solidFill>
                <a:ea typeface="+mn-lt"/>
                <a:cs typeface="+mn-lt"/>
              </a:rPr>
              <a:t> SQL </a:t>
            </a:r>
            <a:r>
              <a:rPr lang="ko-KR" altLang="en-US" sz="2200" b="1" err="1">
                <a:solidFill>
                  <a:srgbClr val="159C98"/>
                </a:solidFill>
                <a:ea typeface="+mn-lt"/>
                <a:cs typeface="+mn-lt"/>
              </a:rPr>
              <a:t>계획으로</a:t>
            </a:r>
            <a:r>
              <a:rPr lang="en-US" sz="2200" b="1">
                <a:solidFill>
                  <a:srgbClr val="159C98"/>
                </a:solidFill>
                <a:ea typeface="+mn-lt"/>
                <a:cs typeface="+mn-lt"/>
              </a:rPr>
              <a:t> </a:t>
            </a:r>
            <a:r>
              <a:rPr lang="ko-KR" altLang="en-US" sz="2200" b="1">
                <a:solidFill>
                  <a:srgbClr val="159C98"/>
                </a:solidFill>
                <a:ea typeface="+mn-lt"/>
                <a:cs typeface="+mn-lt"/>
              </a:rPr>
              <a:t>전달</a:t>
            </a:r>
            <a:endParaRPr lang="en-US" sz="22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7EFC61E-686E-3D74-F33F-FDF540CBDEED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ea typeface="맑은 고딕"/>
                <a:cs typeface="Calibri"/>
              </a:rPr>
              <a:t>데이터 범위 확정</a:t>
            </a:r>
            <a:endParaRPr lang="ko-KR" altLang="en-US" sz="3600" b="1">
              <a:solidFill>
                <a:srgbClr val="1D334F"/>
              </a:solidFill>
              <a:ea typeface="맑은 고딕"/>
            </a:endParaRPr>
          </a:p>
        </p:txBody>
      </p:sp>
      <p:sp>
        <p:nvSpPr>
          <p:cNvPr id="71" name="Shape 0">
            <a:extLst>
              <a:ext uri="{FF2B5EF4-FFF2-40B4-BE49-F238E27FC236}">
                <a16:creationId xmlns:a16="http://schemas.microsoft.com/office/drawing/2014/main" id="{9E8D9FE7-F73F-8A33-DEC5-B72280299BF7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0" name="Text 1">
            <a:extLst>
              <a:ext uri="{FF2B5EF4-FFF2-40B4-BE49-F238E27FC236}">
                <a16:creationId xmlns:a16="http://schemas.microsoft.com/office/drawing/2014/main" id="{CA92210C-73B8-6456-DA7F-D5806709076A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28 · CONTEXT</a:t>
            </a:r>
            <a:endParaRPr lang="en-US" sz="1100">
              <a:latin typeface="Pretendar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1009650" y="2333625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1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MAIN PATH · MODEL FIRST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1009650" y="2857500"/>
            <a:ext cx="28575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314450" y="299085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 PACKAGE</a:t>
            </a:r>
            <a:endParaRPr lang="en-US" sz="1125"/>
          </a:p>
        </p:txBody>
      </p:sp>
      <p:sp>
        <p:nvSpPr>
          <p:cNvPr id="10" name="Text 8"/>
          <p:cNvSpPr txBox="1"/>
          <p:nvPr/>
        </p:nvSpPr>
        <p:spPr>
          <a:xfrm>
            <a:off x="1314450" y="3314700"/>
            <a:ext cx="2247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확정된 분석 범위</a:t>
            </a:r>
            <a:endParaRPr lang="en-US" sz="1875"/>
          </a:p>
        </p:txBody>
      </p:sp>
      <p:sp>
        <p:nvSpPr>
          <p:cNvPr id="11" name="Shape 9"/>
          <p:cNvSpPr/>
          <p:nvPr/>
        </p:nvSpPr>
        <p:spPr>
          <a:xfrm>
            <a:off x="1314450" y="3829050"/>
            <a:ext cx="22479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314450" y="3914775"/>
            <a:ext cx="22479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· 기간 · 차원</a:t>
            </a:r>
            <a:endParaRPr lang="en-US" sz="1350"/>
          </a:p>
        </p:txBody>
      </p:sp>
      <p:sp>
        <p:nvSpPr>
          <p:cNvPr id="13" name="Text 11"/>
          <p:cNvSpPr txBox="1"/>
          <p:nvPr/>
        </p:nvSpPr>
        <p:spPr>
          <a:xfrm>
            <a:off x="1314450" y="4219575"/>
            <a:ext cx="22479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필터 · 조인 기준</a:t>
            </a:r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3000375" y="4438650"/>
            <a:ext cx="647700" cy="6477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057525" y="4495800"/>
            <a:ext cx="533400" cy="5334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000375" y="4532085"/>
            <a:ext cx="647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G1</a:t>
            </a:r>
            <a:endParaRPr lang="en-US" sz="1050"/>
          </a:p>
        </p:txBody>
      </p:sp>
      <p:sp>
        <p:nvSpPr>
          <p:cNvPr id="17" name="Text 15"/>
          <p:cNvSpPr txBox="1"/>
          <p:nvPr/>
        </p:nvSpPr>
        <p:spPr>
          <a:xfrm>
            <a:off x="3000375" y="4743450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확인</a:t>
            </a:r>
            <a:endParaRPr lang="en-US" sz="750"/>
          </a:p>
        </p:txBody>
      </p:sp>
      <p:sp>
        <p:nvSpPr>
          <p:cNvPr id="18" name="Text 16"/>
          <p:cNvSpPr txBox="1"/>
          <p:nvPr/>
        </p:nvSpPr>
        <p:spPr>
          <a:xfrm>
            <a:off x="3000375" y="4867275"/>
            <a:ext cx="647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675"/>
          </a:p>
        </p:txBody>
      </p:sp>
      <p:sp>
        <p:nvSpPr>
          <p:cNvPr id="19" name="Shape 17"/>
          <p:cNvSpPr/>
          <p:nvPr/>
        </p:nvSpPr>
        <p:spPr>
          <a:xfrm>
            <a:off x="3962400" y="4048125"/>
            <a:ext cx="28575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43400" y="2857500"/>
            <a:ext cx="2857500" cy="2381250"/>
          </a:xfrm>
          <a:prstGeom prst="roundRect">
            <a:avLst>
              <a:gd name="adj" fmla="val 3200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48200" y="3162300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48200" y="3162300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161925" y="161925"/>
                </a:moveTo>
                <a:lnTo>
                  <a:pt x="428625" y="161925"/>
                </a:lnTo>
                <a:moveTo>
                  <a:pt x="161925" y="266700"/>
                </a:moveTo>
                <a:lnTo>
                  <a:pt x="428625" y="266700"/>
                </a:lnTo>
                <a:moveTo>
                  <a:pt x="161925" y="371475"/>
                </a:moveTo>
                <a:lnTo>
                  <a:pt x="333375" y="371475"/>
                </a:lnTo>
                <a:moveTo>
                  <a:pt x="381000" y="466725"/>
                </a:moveTo>
                <a:lnTo>
                  <a:pt x="457200" y="390525"/>
                </a:lnTo>
                <a:lnTo>
                  <a:pt x="381000" y="314325"/>
                </a:lnTo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648200" y="3781425"/>
            <a:ext cx="22479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생성 모델</a:t>
            </a:r>
            <a:endParaRPr lang="en-US" sz="2100"/>
          </a:p>
        </p:txBody>
      </p:sp>
      <p:sp>
        <p:nvSpPr>
          <p:cNvPr id="24" name="Text 22"/>
          <p:cNvSpPr txBox="1"/>
          <p:nvPr/>
        </p:nvSpPr>
        <p:spPr>
          <a:xfrm>
            <a:off x="4648200" y="4229100"/>
            <a:ext cx="2247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5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sLLM</a:t>
            </a:r>
            <a:endParaRPr lang="en-US" sz="1425"/>
          </a:p>
        </p:txBody>
      </p:sp>
      <p:sp>
        <p:nvSpPr>
          <p:cNvPr id="25" name="Shape 23"/>
          <p:cNvSpPr/>
          <p:nvPr/>
        </p:nvSpPr>
        <p:spPr>
          <a:xfrm>
            <a:off x="4648200" y="4676775"/>
            <a:ext cx="2247900" cy="9525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648200" y="4733925"/>
            <a:ext cx="22479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5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범위를 SQL 후보로 변환</a:t>
            </a:r>
            <a:endParaRPr lang="en-US" sz="1425"/>
          </a:p>
        </p:txBody>
      </p:sp>
      <p:sp>
        <p:nvSpPr>
          <p:cNvPr id="27" name="Shape 25"/>
          <p:cNvSpPr/>
          <p:nvPr/>
        </p:nvSpPr>
        <p:spPr>
          <a:xfrm>
            <a:off x="7296150" y="4048125"/>
            <a:ext cx="28575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677150" y="2857500"/>
            <a:ext cx="2476500" cy="2381250"/>
          </a:xfrm>
          <a:prstGeom prst="roundRect">
            <a:avLst>
              <a:gd name="adj" fmla="val 3200"/>
            </a:avLst>
          </a:prstGeom>
          <a:solidFill>
            <a:srgbClr val="EAF8F6"/>
          </a:solidFill>
          <a:ln w="15240">
            <a:solidFill>
              <a:srgbClr val="78C8C1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7981950" y="3019425"/>
            <a:ext cx="133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검증</a:t>
            </a:r>
            <a:endParaRPr lang="en-US" sz="1875"/>
          </a:p>
        </p:txBody>
      </p:sp>
      <p:sp>
        <p:nvSpPr>
          <p:cNvPr id="31" name="Shape 29"/>
          <p:cNvSpPr/>
          <p:nvPr/>
        </p:nvSpPr>
        <p:spPr>
          <a:xfrm>
            <a:off x="9391650" y="3105150"/>
            <a:ext cx="4572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9391650" y="3124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G2</a:t>
            </a:r>
            <a:endParaRPr lang="en-US" sz="975"/>
          </a:p>
        </p:txBody>
      </p:sp>
      <p:sp>
        <p:nvSpPr>
          <p:cNvPr id="33" name="Shape 31"/>
          <p:cNvSpPr/>
          <p:nvPr/>
        </p:nvSpPr>
        <p:spPr>
          <a:xfrm>
            <a:off x="7981950" y="3552825"/>
            <a:ext cx="1866900" cy="9525"/>
          </a:xfrm>
          <a:prstGeom prst="rect">
            <a:avLst/>
          </a:prstGeom>
          <a:solidFill>
            <a:srgbClr val="B9DFDB"/>
          </a:solidFill>
          <a:ln w="12700">
            <a:solidFill>
              <a:srgbClr val="B9D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981950" y="3714750"/>
            <a:ext cx="1809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안전한 SQL</a:t>
            </a:r>
            <a:endParaRPr lang="en-US" sz="1425"/>
          </a:p>
        </p:txBody>
      </p:sp>
      <p:sp>
        <p:nvSpPr>
          <p:cNvPr id="35" name="Text 33"/>
          <p:cNvSpPr txBox="1"/>
          <p:nvPr/>
        </p:nvSpPr>
        <p:spPr>
          <a:xfrm>
            <a:off x="7981950" y="4038600"/>
            <a:ext cx="1809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권한</a:t>
            </a:r>
            <a:endParaRPr lang="en-US" sz="1425"/>
          </a:p>
        </p:txBody>
      </p:sp>
      <p:sp>
        <p:nvSpPr>
          <p:cNvPr id="36" name="Text 34"/>
          <p:cNvSpPr txBox="1"/>
          <p:nvPr/>
        </p:nvSpPr>
        <p:spPr>
          <a:xfrm>
            <a:off x="7981950" y="4362450"/>
            <a:ext cx="1809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 전용</a:t>
            </a:r>
            <a:endParaRPr lang="en-US" sz="1425"/>
          </a:p>
        </p:txBody>
      </p:sp>
      <p:sp>
        <p:nvSpPr>
          <p:cNvPr id="37" name="Text 35"/>
          <p:cNvSpPr txBox="1"/>
          <p:nvPr/>
        </p:nvSpPr>
        <p:spPr>
          <a:xfrm>
            <a:off x="7981950" y="4733925"/>
            <a:ext cx="1809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 시 실행</a:t>
            </a:r>
            <a:endParaRPr lang="en-US" sz="1275"/>
          </a:p>
        </p:txBody>
      </p:sp>
      <p:sp>
        <p:nvSpPr>
          <p:cNvPr id="38" name="Shape 36"/>
          <p:cNvSpPr/>
          <p:nvPr/>
        </p:nvSpPr>
        <p:spPr>
          <a:xfrm>
            <a:off x="10248900" y="4048125"/>
            <a:ext cx="3124200" cy="0"/>
          </a:xfrm>
          <a:prstGeom prst="line">
            <a:avLst/>
          </a:prstGeom>
          <a:noFill/>
          <a:ln w="22860">
            <a:solidFill>
              <a:srgbClr val="159C9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11049000" y="3590925"/>
            <a:ext cx="1524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통과</a:t>
            </a:r>
            <a:endParaRPr lang="en-US" sz="1275"/>
          </a:p>
        </p:txBody>
      </p:sp>
      <p:sp>
        <p:nvSpPr>
          <p:cNvPr id="40" name="Shape 38"/>
          <p:cNvSpPr/>
          <p:nvPr/>
        </p:nvSpPr>
        <p:spPr>
          <a:xfrm>
            <a:off x="13468350" y="2857500"/>
            <a:ext cx="38100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13792200" y="299085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SQL</a:t>
            </a:r>
            <a:endParaRPr lang="en-US" sz="1125"/>
          </a:p>
        </p:txBody>
      </p:sp>
      <p:sp>
        <p:nvSpPr>
          <p:cNvPr id="43" name="Text 41"/>
          <p:cNvSpPr txBox="1"/>
          <p:nvPr/>
        </p:nvSpPr>
        <p:spPr>
          <a:xfrm>
            <a:off x="13792200" y="3314700"/>
            <a:ext cx="3162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SQL 실행</a:t>
            </a:r>
            <a:endParaRPr lang="en-US" sz="2025"/>
          </a:p>
        </p:txBody>
      </p:sp>
      <p:sp>
        <p:nvSpPr>
          <p:cNvPr id="44" name="Shape 42"/>
          <p:cNvSpPr/>
          <p:nvPr/>
        </p:nvSpPr>
        <p:spPr>
          <a:xfrm>
            <a:off x="13792200" y="3848100"/>
            <a:ext cx="31623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13792200" y="3943350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7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Trino</a:t>
            </a:r>
            <a:endParaRPr lang="en-US" sz="1875"/>
          </a:p>
        </p:txBody>
      </p:sp>
      <p:sp>
        <p:nvSpPr>
          <p:cNvPr id="46" name="Text 44"/>
          <p:cNvSpPr txBox="1"/>
          <p:nvPr/>
        </p:nvSpPr>
        <p:spPr>
          <a:xfrm>
            <a:off x="13792200" y="4314825"/>
            <a:ext cx="1619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 전용 조회</a:t>
            </a:r>
            <a:endParaRPr lang="en-US" sz="1350"/>
          </a:p>
        </p:txBody>
      </p:sp>
      <p:sp>
        <p:nvSpPr>
          <p:cNvPr id="47" name="Text 45"/>
          <p:cNvSpPr txBox="1"/>
          <p:nvPr/>
        </p:nvSpPr>
        <p:spPr>
          <a:xfrm>
            <a:off x="15659100" y="3829050"/>
            <a:ext cx="129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5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인증</a:t>
            </a:r>
            <a:endParaRPr lang="en-US" sz="975"/>
          </a:p>
        </p:txBody>
      </p:sp>
      <p:sp>
        <p:nvSpPr>
          <p:cNvPr id="48" name="Shape 46"/>
          <p:cNvSpPr/>
          <p:nvPr/>
        </p:nvSpPr>
        <p:spPr>
          <a:xfrm>
            <a:off x="15716250" y="4267200"/>
            <a:ext cx="647700" cy="6477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5773400" y="4324350"/>
            <a:ext cx="533400" cy="5334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15716250" y="4360635"/>
            <a:ext cx="647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G1</a:t>
            </a:r>
            <a:endParaRPr lang="en-US" sz="1050"/>
          </a:p>
        </p:txBody>
      </p:sp>
      <p:sp>
        <p:nvSpPr>
          <p:cNvPr id="51" name="Text 49"/>
          <p:cNvSpPr txBox="1"/>
          <p:nvPr/>
        </p:nvSpPr>
        <p:spPr>
          <a:xfrm>
            <a:off x="15716250" y="4572000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확인</a:t>
            </a:r>
            <a:endParaRPr lang="en-US" sz="750"/>
          </a:p>
        </p:txBody>
      </p:sp>
      <p:sp>
        <p:nvSpPr>
          <p:cNvPr id="52" name="Text 50"/>
          <p:cNvSpPr txBox="1"/>
          <p:nvPr/>
        </p:nvSpPr>
        <p:spPr>
          <a:xfrm>
            <a:off x="15716250" y="4695825"/>
            <a:ext cx="647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675"/>
          </a:p>
        </p:txBody>
      </p:sp>
      <p:sp>
        <p:nvSpPr>
          <p:cNvPr id="53" name="Shape 51"/>
          <p:cNvSpPr/>
          <p:nvPr/>
        </p:nvSpPr>
        <p:spPr>
          <a:xfrm>
            <a:off x="16440150" y="4267200"/>
            <a:ext cx="647700" cy="6477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6497300" y="4324350"/>
            <a:ext cx="533400" cy="5334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16440150" y="4360635"/>
            <a:ext cx="647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G2</a:t>
            </a:r>
            <a:endParaRPr lang="en-US" sz="1050"/>
          </a:p>
        </p:txBody>
      </p:sp>
      <p:sp>
        <p:nvSpPr>
          <p:cNvPr id="56" name="Text 54"/>
          <p:cNvSpPr txBox="1"/>
          <p:nvPr/>
        </p:nvSpPr>
        <p:spPr>
          <a:xfrm>
            <a:off x="16440150" y="4572000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검증</a:t>
            </a:r>
            <a:endParaRPr lang="en-US" sz="750"/>
          </a:p>
        </p:txBody>
      </p:sp>
      <p:sp>
        <p:nvSpPr>
          <p:cNvPr id="57" name="Text 55"/>
          <p:cNvSpPr txBox="1"/>
          <p:nvPr/>
        </p:nvSpPr>
        <p:spPr>
          <a:xfrm>
            <a:off x="16440150" y="4695825"/>
            <a:ext cx="647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675"/>
          </a:p>
        </p:txBody>
      </p:sp>
      <p:sp>
        <p:nvSpPr>
          <p:cNvPr id="59" name="Shape 57"/>
          <p:cNvSpPr/>
          <p:nvPr/>
        </p:nvSpPr>
        <p:spPr>
          <a:xfrm>
            <a:off x="8915400" y="5334000"/>
            <a:ext cx="0" cy="571500"/>
          </a:xfrm>
          <a:prstGeom prst="line">
            <a:avLst/>
          </a:prstGeom>
          <a:noFill/>
          <a:ln w="15240">
            <a:solidFill>
              <a:srgbClr val="71869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0" name="Text 58"/>
          <p:cNvSpPr txBox="1"/>
          <p:nvPr/>
        </p:nvSpPr>
        <p:spPr>
          <a:xfrm>
            <a:off x="9105900" y="5381625"/>
            <a:ext cx="161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시 복구</a:t>
            </a:r>
            <a:endParaRPr lang="en-US" sz="1200"/>
          </a:p>
        </p:txBody>
      </p:sp>
      <p:sp>
        <p:nvSpPr>
          <p:cNvPr id="61" name="Shape 59"/>
          <p:cNvSpPr/>
          <p:nvPr/>
        </p:nvSpPr>
        <p:spPr>
          <a:xfrm>
            <a:off x="7677150" y="6000750"/>
            <a:ext cx="2857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7981950" y="63055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981950" y="6305550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151478" y="151478"/>
                </a:moveTo>
                <a:lnTo>
                  <a:pt x="400972" y="151478"/>
                </a:lnTo>
                <a:moveTo>
                  <a:pt x="151478" y="249494"/>
                </a:moveTo>
                <a:lnTo>
                  <a:pt x="400972" y="249494"/>
                </a:lnTo>
                <a:moveTo>
                  <a:pt x="151478" y="347509"/>
                </a:moveTo>
                <a:lnTo>
                  <a:pt x="311867" y="347509"/>
                </a:lnTo>
                <a:moveTo>
                  <a:pt x="356419" y="436614"/>
                </a:moveTo>
                <a:lnTo>
                  <a:pt x="427703" y="365330"/>
                </a:lnTo>
                <a:lnTo>
                  <a:pt x="356419" y="294046"/>
                </a:lnTo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5" name="Text 63"/>
          <p:cNvSpPr txBox="1"/>
          <p:nvPr/>
        </p:nvSpPr>
        <p:spPr>
          <a:xfrm>
            <a:off x="8724900" y="6134100"/>
            <a:ext cx="152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기반</a:t>
            </a:r>
            <a:endParaRPr lang="en-US" sz="1725"/>
          </a:p>
        </p:txBody>
      </p:sp>
      <p:sp>
        <p:nvSpPr>
          <p:cNvPr id="66" name="Text 64"/>
          <p:cNvSpPr txBox="1"/>
          <p:nvPr/>
        </p:nvSpPr>
        <p:spPr>
          <a:xfrm>
            <a:off x="8724900" y="6429375"/>
            <a:ext cx="152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생성기</a:t>
            </a:r>
            <a:endParaRPr lang="en-US" sz="1725"/>
          </a:p>
        </p:txBody>
      </p:sp>
      <p:sp>
        <p:nvSpPr>
          <p:cNvPr id="67" name="Text 65"/>
          <p:cNvSpPr txBox="1"/>
          <p:nvPr/>
        </p:nvSpPr>
        <p:spPr>
          <a:xfrm>
            <a:off x="8724900" y="6772275"/>
            <a:ext cx="1524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Compiler</a:t>
            </a:r>
            <a:endParaRPr lang="en-US" sz="1200"/>
          </a:p>
        </p:txBody>
      </p:sp>
      <p:sp>
        <p:nvSpPr>
          <p:cNvPr id="68" name="Shape 66"/>
          <p:cNvSpPr/>
          <p:nvPr/>
        </p:nvSpPr>
        <p:spPr>
          <a:xfrm>
            <a:off x="7981950" y="7267575"/>
            <a:ext cx="22479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9" name="Text 67"/>
          <p:cNvSpPr txBox="1"/>
          <p:nvPr/>
        </p:nvSpPr>
        <p:spPr>
          <a:xfrm>
            <a:off x="7981950" y="7315200"/>
            <a:ext cx="22479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안에서 SQL 복구</a:t>
            </a:r>
            <a:endParaRPr lang="en-US" sz="1350"/>
          </a:p>
        </p:txBody>
      </p:sp>
      <p:sp>
        <p:nvSpPr>
          <p:cNvPr id="70" name="Shape 68"/>
          <p:cNvSpPr/>
          <p:nvPr/>
        </p:nvSpPr>
        <p:spPr>
          <a:xfrm>
            <a:off x="10629900" y="6905625"/>
            <a:ext cx="28575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1010900" y="6000750"/>
            <a:ext cx="2095500" cy="1809750"/>
          </a:xfrm>
          <a:prstGeom prst="roundRect">
            <a:avLst>
              <a:gd name="adj" fmla="val 4211"/>
            </a:avLst>
          </a:prstGeom>
          <a:solidFill>
            <a:srgbClr val="EAF8F6"/>
          </a:solidFill>
          <a:ln w="15240">
            <a:solidFill>
              <a:srgbClr val="78C8C1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12344400" y="6191250"/>
            <a:ext cx="4572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3" name="Text 71"/>
          <p:cNvSpPr txBox="1"/>
          <p:nvPr/>
        </p:nvSpPr>
        <p:spPr>
          <a:xfrm>
            <a:off x="12344400" y="621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G2</a:t>
            </a:r>
            <a:endParaRPr lang="en-US" sz="975"/>
          </a:p>
        </p:txBody>
      </p:sp>
      <p:sp>
        <p:nvSpPr>
          <p:cNvPr id="74" name="Text 72"/>
          <p:cNvSpPr txBox="1"/>
          <p:nvPr/>
        </p:nvSpPr>
        <p:spPr>
          <a:xfrm>
            <a:off x="11277600" y="6343650"/>
            <a:ext cx="1571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기준으로</a:t>
            </a:r>
            <a:endParaRPr lang="en-US" sz="1650"/>
          </a:p>
        </p:txBody>
      </p:sp>
      <p:sp>
        <p:nvSpPr>
          <p:cNvPr id="75" name="Text 73"/>
          <p:cNvSpPr txBox="1"/>
          <p:nvPr/>
        </p:nvSpPr>
        <p:spPr>
          <a:xfrm>
            <a:off x="11277600" y="6657975"/>
            <a:ext cx="1571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재검증</a:t>
            </a:r>
            <a:endParaRPr lang="en-US" sz="1650"/>
          </a:p>
        </p:txBody>
      </p:sp>
      <p:sp>
        <p:nvSpPr>
          <p:cNvPr id="76" name="Text 74"/>
          <p:cNvSpPr txBox="1"/>
          <p:nvPr/>
        </p:nvSpPr>
        <p:spPr>
          <a:xfrm>
            <a:off x="11277600" y="7181850"/>
            <a:ext cx="1571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 시 실행</a:t>
            </a:r>
            <a:endParaRPr lang="en-US" sz="1275"/>
          </a:p>
        </p:txBody>
      </p:sp>
      <p:sp>
        <p:nvSpPr>
          <p:cNvPr id="77" name="Shape 75"/>
          <p:cNvSpPr/>
          <p:nvPr/>
        </p:nvSpPr>
        <p:spPr>
          <a:xfrm>
            <a:off x="13201650" y="5143500"/>
            <a:ext cx="171450" cy="1762125"/>
          </a:xfrm>
          <a:custGeom>
            <a:avLst/>
            <a:gdLst/>
            <a:ahLst/>
            <a:cxnLst/>
            <a:rect l="l" t="t" r="r" b="b"/>
            <a:pathLst>
              <a:path w="171450" h="1762125">
                <a:moveTo>
                  <a:pt x="0" y="1762125"/>
                </a:moveTo>
                <a:lnTo>
                  <a:pt x="76200" y="1762125"/>
                </a:lnTo>
                <a:lnTo>
                  <a:pt x="76200" y="0"/>
                </a:lnTo>
                <a:lnTo>
                  <a:pt x="171450" y="0"/>
                </a:lnTo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159C9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12058650" y="7905750"/>
            <a:ext cx="0" cy="95250"/>
          </a:xfrm>
          <a:prstGeom prst="line">
            <a:avLst/>
          </a:prstGeom>
          <a:noFill/>
          <a:ln w="15240">
            <a:solidFill>
              <a:srgbClr val="71869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11010900" y="8096250"/>
            <a:ext cx="2095500" cy="514350"/>
          </a:xfrm>
          <a:prstGeom prst="roundRect">
            <a:avLst>
              <a:gd name="adj" fmla="val 11111"/>
            </a:avLst>
          </a:prstGeom>
          <a:solidFill>
            <a:srgbClr val="FFF7F6"/>
          </a:solidFill>
          <a:ln w="12700">
            <a:solidFill>
              <a:srgbClr val="D8A3A0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0" name="Text 78"/>
          <p:cNvSpPr txBox="1"/>
          <p:nvPr/>
        </p:nvSpPr>
        <p:spPr>
          <a:xfrm>
            <a:off x="11010900" y="8172450"/>
            <a:ext cx="2095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B6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차단</a:t>
            </a:r>
            <a:endParaRPr lang="en-US" sz="1425"/>
          </a:p>
        </p:txBody>
      </p:sp>
      <p:sp>
        <p:nvSpPr>
          <p:cNvPr id="81" name="Shape 79"/>
          <p:cNvSpPr/>
          <p:nvPr/>
        </p:nvSpPr>
        <p:spPr>
          <a:xfrm>
            <a:off x="1009650" y="9048750"/>
            <a:ext cx="162687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2" name="Text 80"/>
          <p:cNvSpPr txBox="1"/>
          <p:nvPr/>
        </p:nvSpPr>
        <p:spPr>
          <a:xfrm>
            <a:off x="1009650" y="929640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 kern="0" spc="11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STRATEGY</a:t>
            </a:r>
            <a:endParaRPr lang="en-US" sz="1275"/>
          </a:p>
        </p:txBody>
      </p:sp>
      <p:sp>
        <p:nvSpPr>
          <p:cNvPr id="83" name="Text 81"/>
          <p:cNvSpPr txBox="1"/>
          <p:nvPr/>
        </p:nvSpPr>
        <p:spPr>
          <a:xfrm>
            <a:off x="2781300" y="9210675"/>
            <a:ext cx="238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 먼저 만들고,</a:t>
            </a:r>
            <a:endParaRPr lang="en-US" sz="2250"/>
          </a:p>
        </p:txBody>
      </p:sp>
      <p:sp>
        <p:nvSpPr>
          <p:cNvPr id="84" name="Text 82"/>
          <p:cNvSpPr txBox="1"/>
          <p:nvPr/>
        </p:nvSpPr>
        <p:spPr>
          <a:xfrm>
            <a:off x="5410200" y="9210675"/>
            <a:ext cx="3905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Compiler가 안전하게 복구</a:t>
            </a:r>
            <a:endParaRPr lang="en-US" sz="2250"/>
          </a:p>
        </p:txBody>
      </p:sp>
      <p:sp>
        <p:nvSpPr>
          <p:cNvPr id="86" name="Text 3">
            <a:extLst>
              <a:ext uri="{FF2B5EF4-FFF2-40B4-BE49-F238E27FC236}">
                <a16:creationId xmlns:a16="http://schemas.microsoft.com/office/drawing/2014/main" id="{B9375A58-0E97-C866-C0DD-5663498CC95D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ea typeface="맑은 고딕"/>
                <a:cs typeface="Calibri"/>
              </a:rPr>
              <a:t>SQL 생성과 복구</a:t>
            </a:r>
          </a:p>
        </p:txBody>
      </p:sp>
      <p:sp>
        <p:nvSpPr>
          <p:cNvPr id="88" name="Shape 0">
            <a:extLst>
              <a:ext uri="{FF2B5EF4-FFF2-40B4-BE49-F238E27FC236}">
                <a16:creationId xmlns:a16="http://schemas.microsoft.com/office/drawing/2014/main" id="{19D1E165-577B-4F42-4EA4-58641534E5C4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0" name="Text 1">
            <a:extLst>
              <a:ext uri="{FF2B5EF4-FFF2-40B4-BE49-F238E27FC236}">
                <a16:creationId xmlns:a16="http://schemas.microsoft.com/office/drawing/2014/main" id="{252FE84F-953E-383C-8FCC-0B667626E927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29 · SQL PLAN</a:t>
            </a:r>
            <a:endParaRPr lang="en-US" sz="1100">
              <a:latin typeface="Pretendar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785DD-081F-CC01-A251-9D05A50E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E3D3F17A-120F-0C0F-9647-DB6A7B84C952}"/>
              </a:ext>
            </a:extLst>
          </p:cNvPr>
          <p:cNvSpPr/>
          <p:nvPr/>
        </p:nvSpPr>
        <p:spPr>
          <a:xfrm>
            <a:off x="1005840" y="8915400"/>
            <a:ext cx="16276320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2DBF3DF-1292-D629-C71F-C148DDA2EC7B}"/>
              </a:ext>
            </a:extLst>
          </p:cNvPr>
          <p:cNvSpPr txBox="1"/>
          <p:nvPr/>
        </p:nvSpPr>
        <p:spPr>
          <a:xfrm>
            <a:off x="1005840" y="92080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150" b="1" kern="0" spc="14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TRAINING RESULT</a:t>
            </a:r>
            <a:endParaRPr lang="en-US" sz="11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585D5A3-5CA8-0468-4AAE-F0AD8D8A2FB0}"/>
              </a:ext>
            </a:extLst>
          </p:cNvPr>
          <p:cNvSpPr txBox="1"/>
          <p:nvPr/>
        </p:nvSpPr>
        <p:spPr>
          <a:xfrm>
            <a:off x="2651760" y="9089136"/>
            <a:ext cx="1261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생성 역할 집중 · 안전 검증 통과율 개선 · 결과 일치율 향상</a:t>
            </a:r>
            <a:endParaRPr lang="en-US" sz="21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C37178F-23BB-ACA5-6CED-5EBD07A8C7A1}"/>
              </a:ext>
            </a:extLst>
          </p:cNvPr>
          <p:cNvSpPr/>
          <p:nvPr/>
        </p:nvSpPr>
        <p:spPr>
          <a:xfrm>
            <a:off x="1005840" y="2468880"/>
            <a:ext cx="7242048" cy="5998464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39C5129-2C32-91E6-2B99-586690A842FE}"/>
              </a:ext>
            </a:extLst>
          </p:cNvPr>
          <p:cNvSpPr txBox="1"/>
          <p:nvPr/>
        </p:nvSpPr>
        <p:spPr>
          <a:xfrm>
            <a:off x="1316736" y="274320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80AF8C8-AAFF-2669-8B0B-06609545D052}"/>
              </a:ext>
            </a:extLst>
          </p:cNvPr>
          <p:cNvSpPr txBox="1"/>
          <p:nvPr/>
        </p:nvSpPr>
        <p:spPr>
          <a:xfrm>
            <a:off x="1773936" y="2724912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학습·선정 방법</a:t>
            </a:r>
            <a:endParaRPr lang="en-US" sz="20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606B5A8-8672-ECDD-2B2C-4ACC34C8B90F}"/>
              </a:ext>
            </a:extLst>
          </p:cNvPr>
          <p:cNvSpPr/>
          <p:nvPr/>
        </p:nvSpPr>
        <p:spPr>
          <a:xfrm>
            <a:off x="1316736" y="3227832"/>
            <a:ext cx="6620256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005CA2E-8B4C-FCDB-8A57-1285A37B50FB}"/>
              </a:ext>
            </a:extLst>
          </p:cNvPr>
          <p:cNvSpPr/>
          <p:nvPr/>
        </p:nvSpPr>
        <p:spPr>
          <a:xfrm>
            <a:off x="1316736" y="3447288"/>
            <a:ext cx="6620256" cy="886968"/>
          </a:xfrm>
          <a:prstGeom prst="roundRect">
            <a:avLst>
              <a:gd name="adj" fmla="val 9278"/>
            </a:avLst>
          </a:prstGeom>
          <a:solidFill>
            <a:srgbClr val="F7F9FC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7154E79-7060-809F-4828-08DEEB4CC029}"/>
              </a:ext>
            </a:extLst>
          </p:cNvPr>
          <p:cNvSpPr/>
          <p:nvPr/>
        </p:nvSpPr>
        <p:spPr>
          <a:xfrm>
            <a:off x="1481328" y="3721608"/>
            <a:ext cx="320040" cy="320040"/>
          </a:xfrm>
          <a:prstGeom prst="ellipse">
            <a:avLst/>
          </a:prstGeom>
          <a:solidFill>
            <a:srgbClr val="176FE5"/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66BC642-9D0B-54E6-07CF-E2894B885840}"/>
              </a:ext>
            </a:extLst>
          </p:cNvPr>
          <p:cNvSpPr txBox="1"/>
          <p:nvPr/>
        </p:nvSpPr>
        <p:spPr>
          <a:xfrm>
            <a:off x="1481328" y="3721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6AF58D2-88F7-2158-F1B3-CFA2BF08A06A}"/>
              </a:ext>
            </a:extLst>
          </p:cNvPr>
          <p:cNvSpPr txBox="1"/>
          <p:nvPr/>
        </p:nvSpPr>
        <p:spPr>
          <a:xfrm>
            <a:off x="1883664" y="362102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기준선 평가</a:t>
            </a:r>
            <a:endParaRPr lang="en-US" sz="16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B99EE82-9D33-5F93-BC3F-34BB28D6C466}"/>
              </a:ext>
            </a:extLst>
          </p:cNvPr>
          <p:cNvSpPr/>
          <p:nvPr/>
        </p:nvSpPr>
        <p:spPr>
          <a:xfrm>
            <a:off x="4361688" y="3584448"/>
            <a:ext cx="0" cy="612648"/>
          </a:xfrm>
          <a:prstGeom prst="line">
            <a:avLst/>
          </a:prstGeom>
          <a:noFill/>
          <a:ln w="8890">
            <a:solidFill>
              <a:srgbClr val="C7D9E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AE72637-835F-0B32-8EFC-CF6C8C42EFE5}"/>
              </a:ext>
            </a:extLst>
          </p:cNvPr>
          <p:cNvSpPr txBox="1"/>
          <p:nvPr/>
        </p:nvSpPr>
        <p:spPr>
          <a:xfrm>
            <a:off x="4544568" y="3584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Qwen3.5-2B·4B</a:t>
            </a:r>
            <a:endParaRPr lang="en-US" sz="13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C408588-1183-86D9-6D62-00F5325C4529}"/>
              </a:ext>
            </a:extLst>
          </p:cNvPr>
          <p:cNvSpPr txBox="1"/>
          <p:nvPr/>
        </p:nvSpPr>
        <p:spPr>
          <a:xfrm>
            <a:off x="4544568" y="38770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튜닝 전 성능 확인</a:t>
            </a:r>
            <a:endParaRPr lang="en-US" sz="13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8C07019-5A2C-66AE-9899-9A0929F6B3D7}"/>
              </a:ext>
            </a:extLst>
          </p:cNvPr>
          <p:cNvSpPr/>
          <p:nvPr/>
        </p:nvSpPr>
        <p:spPr>
          <a:xfrm>
            <a:off x="1316736" y="4443984"/>
            <a:ext cx="6620256" cy="886968"/>
          </a:xfrm>
          <a:prstGeom prst="roundRect">
            <a:avLst>
              <a:gd name="adj" fmla="val 9278"/>
            </a:avLst>
          </a:prstGeom>
          <a:solidFill>
            <a:srgbClr val="F7F9FC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0B181B8-10C8-7F78-B46F-332A3EA81F75}"/>
              </a:ext>
            </a:extLst>
          </p:cNvPr>
          <p:cNvSpPr/>
          <p:nvPr/>
        </p:nvSpPr>
        <p:spPr>
          <a:xfrm>
            <a:off x="1481328" y="4718304"/>
            <a:ext cx="320040" cy="320040"/>
          </a:xfrm>
          <a:prstGeom prst="ellipse">
            <a:avLst/>
          </a:prstGeom>
          <a:solidFill>
            <a:srgbClr val="176FE5"/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F84A96C-14CA-D926-9147-B2D438028DF2}"/>
              </a:ext>
            </a:extLst>
          </p:cNvPr>
          <p:cNvSpPr txBox="1"/>
          <p:nvPr/>
        </p:nvSpPr>
        <p:spPr>
          <a:xfrm>
            <a:off x="1481328" y="4718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7181E7D-57AC-C7C1-7368-31AB7E26B6B8}"/>
              </a:ext>
            </a:extLst>
          </p:cNvPr>
          <p:cNvSpPr txBox="1"/>
          <p:nvPr/>
        </p:nvSpPr>
        <p:spPr>
          <a:xfrm>
            <a:off x="1883664" y="46177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 검증</a:t>
            </a:r>
            <a:endParaRPr lang="en-US" sz="165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3D15329-60B2-ED5F-15FC-04DE2591BAAC}"/>
              </a:ext>
            </a:extLst>
          </p:cNvPr>
          <p:cNvSpPr/>
          <p:nvPr/>
        </p:nvSpPr>
        <p:spPr>
          <a:xfrm>
            <a:off x="4361688" y="4581144"/>
            <a:ext cx="0" cy="612648"/>
          </a:xfrm>
          <a:prstGeom prst="line">
            <a:avLst/>
          </a:prstGeom>
          <a:noFill/>
          <a:ln w="8890">
            <a:solidFill>
              <a:srgbClr val="C7D9E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02EAEF1-38E1-A76A-1474-B4C0AA4DA847}"/>
              </a:ext>
            </a:extLst>
          </p:cNvPr>
          <p:cNvSpPr txBox="1"/>
          <p:nvPr/>
        </p:nvSpPr>
        <p:spPr>
          <a:xfrm>
            <a:off x="4544568" y="4581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1,440건</a:t>
            </a:r>
            <a:endParaRPr lang="en-US" sz="13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2E54FE5-027A-B379-5AF0-3752009C3FB4}"/>
              </a:ext>
            </a:extLst>
          </p:cNvPr>
          <p:cNvSpPr txBox="1"/>
          <p:nvPr/>
        </p:nvSpPr>
        <p:spPr>
          <a:xfrm>
            <a:off x="4544568" y="4873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중복·데이터 누수 확인</a:t>
            </a:r>
            <a:endParaRPr lang="en-US" sz="13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9EE186A-D94C-484C-8AEA-63393E2A2497}"/>
              </a:ext>
            </a:extLst>
          </p:cNvPr>
          <p:cNvSpPr/>
          <p:nvPr/>
        </p:nvSpPr>
        <p:spPr>
          <a:xfrm>
            <a:off x="1316736" y="5440680"/>
            <a:ext cx="6620256" cy="886968"/>
          </a:xfrm>
          <a:prstGeom prst="roundRect">
            <a:avLst>
              <a:gd name="adj" fmla="val 9278"/>
            </a:avLst>
          </a:prstGeom>
          <a:solidFill>
            <a:srgbClr val="F7F9FC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2EA81A0-3202-EBC7-FE14-10C5C563E805}"/>
              </a:ext>
            </a:extLst>
          </p:cNvPr>
          <p:cNvSpPr/>
          <p:nvPr/>
        </p:nvSpPr>
        <p:spPr>
          <a:xfrm>
            <a:off x="1481328" y="5715000"/>
            <a:ext cx="320040" cy="320040"/>
          </a:xfrm>
          <a:prstGeom prst="ellipse">
            <a:avLst/>
          </a:prstGeom>
          <a:solidFill>
            <a:srgbClr val="176FE5"/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7044A12-94B6-95F2-02EE-E120907500ED}"/>
              </a:ext>
            </a:extLst>
          </p:cNvPr>
          <p:cNvSpPr txBox="1"/>
          <p:nvPr/>
        </p:nvSpPr>
        <p:spPr>
          <a:xfrm>
            <a:off x="1481328" y="5715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73FE76C-B405-2EC1-F2D5-3BF1494F7456}"/>
              </a:ext>
            </a:extLst>
          </p:cNvPr>
          <p:cNvSpPr txBox="1"/>
          <p:nvPr/>
        </p:nvSpPr>
        <p:spPr>
          <a:xfrm>
            <a:off x="1883664" y="561441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성능 비교</a:t>
            </a:r>
            <a:endParaRPr lang="en-US" sz="165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5FF9F99-2AB5-8E74-ED88-24131BE0F79E}"/>
              </a:ext>
            </a:extLst>
          </p:cNvPr>
          <p:cNvSpPr/>
          <p:nvPr/>
        </p:nvSpPr>
        <p:spPr>
          <a:xfrm>
            <a:off x="4361688" y="5577840"/>
            <a:ext cx="0" cy="612648"/>
          </a:xfrm>
          <a:prstGeom prst="line">
            <a:avLst/>
          </a:prstGeom>
          <a:noFill/>
          <a:ln w="8890">
            <a:solidFill>
              <a:srgbClr val="C7D9E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80CE331-245A-7C7E-6C21-A69130F2CBB9}"/>
              </a:ext>
            </a:extLst>
          </p:cNvPr>
          <p:cNvSpPr txBox="1"/>
          <p:nvPr/>
        </p:nvSpPr>
        <p:spPr>
          <a:xfrm>
            <a:off x="4544568" y="5577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체크포인트 비교</a:t>
            </a:r>
            <a:endParaRPr lang="en-US" sz="135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F342117-F06B-1C44-20F9-A64C20D69979}"/>
              </a:ext>
            </a:extLst>
          </p:cNvPr>
          <p:cNvSpPr txBox="1"/>
          <p:nvPr/>
        </p:nvSpPr>
        <p:spPr>
          <a:xfrm>
            <a:off x="4544568" y="5870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cp90 · cp135</a:t>
            </a:r>
            <a:endParaRPr lang="en-US" sz="13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B828927-ACD3-4F2C-056D-626C85BCE895}"/>
              </a:ext>
            </a:extLst>
          </p:cNvPr>
          <p:cNvSpPr/>
          <p:nvPr/>
        </p:nvSpPr>
        <p:spPr>
          <a:xfrm>
            <a:off x="1316736" y="6437376"/>
            <a:ext cx="6620256" cy="886968"/>
          </a:xfrm>
          <a:prstGeom prst="roundRect">
            <a:avLst>
              <a:gd name="adj" fmla="val 9278"/>
            </a:avLst>
          </a:prstGeom>
          <a:solidFill>
            <a:srgbClr val="F7F9FC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F9DC86D-BDC7-2A59-AC1F-DEFD3E2F3984}"/>
              </a:ext>
            </a:extLst>
          </p:cNvPr>
          <p:cNvSpPr/>
          <p:nvPr/>
        </p:nvSpPr>
        <p:spPr>
          <a:xfrm>
            <a:off x="1481328" y="6711696"/>
            <a:ext cx="320040" cy="320040"/>
          </a:xfrm>
          <a:prstGeom prst="ellipse">
            <a:avLst/>
          </a:prstGeom>
          <a:solidFill>
            <a:srgbClr val="176FE5"/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F8BFB4F-04F4-FE70-04AE-AEF28C016450}"/>
              </a:ext>
            </a:extLst>
          </p:cNvPr>
          <p:cNvSpPr txBox="1"/>
          <p:nvPr/>
        </p:nvSpPr>
        <p:spPr>
          <a:xfrm>
            <a:off x="1481328" y="6711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A175BEF-7DCF-F1C4-52B9-3488DA5B4E95}"/>
              </a:ext>
            </a:extLst>
          </p:cNvPr>
          <p:cNvSpPr txBox="1"/>
          <p:nvPr/>
        </p:nvSpPr>
        <p:spPr>
          <a:xfrm>
            <a:off x="1883664" y="66111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튜닝 모델 선정</a:t>
            </a:r>
            <a:endParaRPr lang="en-US" sz="165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0C5C2A1-A7F7-DE55-4BCB-CD0F430E4DC2}"/>
              </a:ext>
            </a:extLst>
          </p:cNvPr>
          <p:cNvSpPr/>
          <p:nvPr/>
        </p:nvSpPr>
        <p:spPr>
          <a:xfrm>
            <a:off x="4361688" y="6574536"/>
            <a:ext cx="0" cy="612648"/>
          </a:xfrm>
          <a:prstGeom prst="line">
            <a:avLst/>
          </a:prstGeom>
          <a:noFill/>
          <a:ln w="8890">
            <a:solidFill>
              <a:srgbClr val="C7D9E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7D79C0E9-9C38-7B04-A437-99E948AB610A}"/>
              </a:ext>
            </a:extLst>
          </p:cNvPr>
          <p:cNvSpPr txBox="1"/>
          <p:nvPr/>
        </p:nvSpPr>
        <p:spPr>
          <a:xfrm>
            <a:off x="4544568" y="6574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생성 역할에</a:t>
            </a:r>
            <a:endParaRPr lang="en-US" sz="135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2E4CFD8-E738-1D6C-C380-A188FD747F89}"/>
              </a:ext>
            </a:extLst>
          </p:cNvPr>
          <p:cNvSpPr txBox="1"/>
          <p:nvPr/>
        </p:nvSpPr>
        <p:spPr>
          <a:xfrm>
            <a:off x="4544568" y="68671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집중해 학습</a:t>
            </a:r>
            <a:endParaRPr lang="en-US" sz="130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62527F5-37F3-2990-CE80-BA4FC2959002}"/>
              </a:ext>
            </a:extLst>
          </p:cNvPr>
          <p:cNvSpPr/>
          <p:nvPr/>
        </p:nvSpPr>
        <p:spPr>
          <a:xfrm>
            <a:off x="1316736" y="7662672"/>
            <a:ext cx="6620256" cy="539496"/>
          </a:xfrm>
          <a:prstGeom prst="roundRect">
            <a:avLst>
              <a:gd name="adj" fmla="val 1186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4CCA25E-4D0A-1564-77F6-890655870AC8}"/>
              </a:ext>
            </a:extLst>
          </p:cNvPr>
          <p:cNvSpPr txBox="1"/>
          <p:nvPr/>
        </p:nvSpPr>
        <p:spPr>
          <a:xfrm>
            <a:off x="1527048" y="778154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FOCUS</a:t>
            </a:r>
            <a:endParaRPr lang="en-US" sz="130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FE4F71B-9E1E-F83C-F5A0-F443B3CF00E3}"/>
              </a:ext>
            </a:extLst>
          </p:cNvPr>
          <p:cNvSpPr txBox="1"/>
          <p:nvPr/>
        </p:nvSpPr>
        <p:spPr>
          <a:xfrm>
            <a:off x="2286000" y="7744968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범용 답변이 아닌 SQL 생성 역할에 집중</a:t>
            </a:r>
            <a:endParaRPr lang="en-US" sz="142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37D18E4A-D082-94AB-3DBB-66889EAAFB9C}"/>
              </a:ext>
            </a:extLst>
          </p:cNvPr>
          <p:cNvSpPr/>
          <p:nvPr/>
        </p:nvSpPr>
        <p:spPr>
          <a:xfrm>
            <a:off x="8577072" y="2468880"/>
            <a:ext cx="8705088" cy="5998464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71D76EC8-93BF-C18D-5596-E3BC7F6C2F32}"/>
              </a:ext>
            </a:extLst>
          </p:cNvPr>
          <p:cNvSpPr txBox="1"/>
          <p:nvPr/>
        </p:nvSpPr>
        <p:spPr>
          <a:xfrm>
            <a:off x="8887968" y="274320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AB69DD68-F6BA-50C1-EFE3-30F590CCB2C6}"/>
              </a:ext>
            </a:extLst>
          </p:cNvPr>
          <p:cNvSpPr txBox="1"/>
          <p:nvPr/>
        </p:nvSpPr>
        <p:spPr>
          <a:xfrm>
            <a:off x="9345168" y="2724912"/>
            <a:ext cx="7626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 개선 결과</a:t>
            </a:r>
            <a:endParaRPr lang="en-US" sz="205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3FA788C9-E441-BF63-2067-EFF8A20920D9}"/>
              </a:ext>
            </a:extLst>
          </p:cNvPr>
          <p:cNvSpPr/>
          <p:nvPr/>
        </p:nvSpPr>
        <p:spPr>
          <a:xfrm>
            <a:off x="8887968" y="3227832"/>
            <a:ext cx="8083296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31170792-8533-362E-BDC8-52B832393784}"/>
              </a:ext>
            </a:extLst>
          </p:cNvPr>
          <p:cNvSpPr txBox="1"/>
          <p:nvPr/>
        </p:nvSpPr>
        <p:spPr>
          <a:xfrm>
            <a:off x="8906256" y="3447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G2 안전 검증 통과</a:t>
            </a:r>
            <a:endParaRPr lang="en-US" sz="180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5914BBB-ECD0-0D16-85DB-0F33896AFE2D}"/>
              </a:ext>
            </a:extLst>
          </p:cNvPr>
          <p:cNvSpPr txBox="1"/>
          <p:nvPr/>
        </p:nvSpPr>
        <p:spPr>
          <a:xfrm>
            <a:off x="15755112" y="3474720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144건</a:t>
            </a:r>
            <a:endParaRPr lang="en-US" sz="100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D9E2055B-68EC-C19F-0A54-6710820AC423}"/>
              </a:ext>
            </a:extLst>
          </p:cNvPr>
          <p:cNvSpPr txBox="1"/>
          <p:nvPr/>
        </p:nvSpPr>
        <p:spPr>
          <a:xfrm>
            <a:off x="8906256" y="40507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 Base</a:t>
            </a:r>
            <a:endParaRPr lang="en-US" sz="130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6B3716D5-F86A-FD21-0A6F-77690E08AB20}"/>
              </a:ext>
            </a:extLst>
          </p:cNvPr>
          <p:cNvSpPr/>
          <p:nvPr/>
        </p:nvSpPr>
        <p:spPr>
          <a:xfrm>
            <a:off x="10826496" y="4078224"/>
            <a:ext cx="5257800" cy="228600"/>
          </a:xfrm>
          <a:prstGeom prst="roundRect">
            <a:avLst>
              <a:gd name="adj" fmla="val 16000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9C5885B-FF77-0FE6-E44C-29A1CF68928B}"/>
              </a:ext>
            </a:extLst>
          </p:cNvPr>
          <p:cNvSpPr txBox="1"/>
          <p:nvPr/>
        </p:nvSpPr>
        <p:spPr>
          <a:xfrm>
            <a:off x="16203168" y="40416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</a:t>
            </a:r>
            <a:endParaRPr lang="en-US" sz="130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CD099922-B47D-79CC-4EF1-7CD22F93310C}"/>
              </a:ext>
            </a:extLst>
          </p:cNvPr>
          <p:cNvSpPr txBox="1"/>
          <p:nvPr/>
        </p:nvSpPr>
        <p:spPr>
          <a:xfrm>
            <a:off x="8906256" y="44988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GPT-5.4-mini</a:t>
            </a:r>
            <a:endParaRPr lang="en-US" sz="130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C5C2B2AA-DA11-7F1B-F0FF-36EAC96D8F76}"/>
              </a:ext>
            </a:extLst>
          </p:cNvPr>
          <p:cNvSpPr/>
          <p:nvPr/>
        </p:nvSpPr>
        <p:spPr>
          <a:xfrm>
            <a:off x="10826496" y="4526280"/>
            <a:ext cx="5257800" cy="228600"/>
          </a:xfrm>
          <a:prstGeom prst="roundRect">
            <a:avLst>
              <a:gd name="adj" fmla="val 16000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A8D789E3-E244-DF23-4EF9-B058635164D9}"/>
              </a:ext>
            </a:extLst>
          </p:cNvPr>
          <p:cNvSpPr/>
          <p:nvPr/>
        </p:nvSpPr>
        <p:spPr>
          <a:xfrm>
            <a:off x="10826496" y="4526280"/>
            <a:ext cx="1056818" cy="228600"/>
          </a:xfrm>
          <a:prstGeom prst="roundRect">
            <a:avLst>
              <a:gd name="adj" fmla="val 16000"/>
            </a:avLst>
          </a:prstGeom>
          <a:solidFill>
            <a:srgbClr val="77A8E7"/>
          </a:solidFill>
          <a:ln w="12700">
            <a:solidFill>
              <a:srgbClr val="77A8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401CE04F-E902-0858-1D5C-6F8A3F0094D8}"/>
              </a:ext>
            </a:extLst>
          </p:cNvPr>
          <p:cNvSpPr txBox="1"/>
          <p:nvPr/>
        </p:nvSpPr>
        <p:spPr>
          <a:xfrm>
            <a:off x="16203168" y="44897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20.1%</a:t>
            </a:r>
            <a:endParaRPr lang="en-US" sz="130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9EE56F63-17AA-7EAA-BFCF-7955CAAA2C14}"/>
              </a:ext>
            </a:extLst>
          </p:cNvPr>
          <p:cNvSpPr txBox="1"/>
          <p:nvPr/>
        </p:nvSpPr>
        <p:spPr>
          <a:xfrm>
            <a:off x="8906256" y="49469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생성 sLLM</a:t>
            </a:r>
            <a:endParaRPr lang="en-US" sz="130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10F04BAF-E5EE-E857-6FCB-448DE3E86D68}"/>
              </a:ext>
            </a:extLst>
          </p:cNvPr>
          <p:cNvSpPr/>
          <p:nvPr/>
        </p:nvSpPr>
        <p:spPr>
          <a:xfrm>
            <a:off x="10826496" y="4974336"/>
            <a:ext cx="5257800" cy="228600"/>
          </a:xfrm>
          <a:prstGeom prst="roundRect">
            <a:avLst>
              <a:gd name="adj" fmla="val 16000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03F79CEE-E1A9-9485-284A-AAE08DB50273}"/>
              </a:ext>
            </a:extLst>
          </p:cNvPr>
          <p:cNvSpPr/>
          <p:nvPr/>
        </p:nvSpPr>
        <p:spPr>
          <a:xfrm>
            <a:off x="10826496" y="4974336"/>
            <a:ext cx="3759327" cy="228600"/>
          </a:xfrm>
          <a:prstGeom prst="roundRect">
            <a:avLst>
              <a:gd name="adj" fmla="val 16000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CEA8794F-FC5E-FDFE-B4EA-8AFB3FC18060}"/>
              </a:ext>
            </a:extLst>
          </p:cNvPr>
          <p:cNvSpPr txBox="1"/>
          <p:nvPr/>
        </p:nvSpPr>
        <p:spPr>
          <a:xfrm>
            <a:off x="16203168" y="49377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71.5%</a:t>
            </a:r>
            <a:endParaRPr lang="en-US" sz="130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0CB34D63-BCA7-D790-17A6-68976549BCCC}"/>
              </a:ext>
            </a:extLst>
          </p:cNvPr>
          <p:cNvSpPr/>
          <p:nvPr/>
        </p:nvSpPr>
        <p:spPr>
          <a:xfrm>
            <a:off x="8906256" y="5440680"/>
            <a:ext cx="8028432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5F53A1F0-756E-4760-470B-A7A072E04B9C}"/>
              </a:ext>
            </a:extLst>
          </p:cNvPr>
          <p:cNvSpPr txBox="1"/>
          <p:nvPr/>
        </p:nvSpPr>
        <p:spPr>
          <a:xfrm>
            <a:off x="8906256" y="56327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카탈로그 결과 일치</a:t>
            </a:r>
            <a:endParaRPr lang="en-US" sz="180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D869FCF6-BBAC-C3B0-5137-42BBEB09DA95}"/>
              </a:ext>
            </a:extLst>
          </p:cNvPr>
          <p:cNvSpPr txBox="1"/>
          <p:nvPr/>
        </p:nvSpPr>
        <p:spPr>
          <a:xfrm>
            <a:off x="15681960" y="5669280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범위 24건</a:t>
            </a:r>
            <a:endParaRPr lang="en-US" sz="100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F32F74FD-3B2E-C18E-6EE8-A6AA18FBE020}"/>
              </a:ext>
            </a:extLst>
          </p:cNvPr>
          <p:cNvSpPr txBox="1"/>
          <p:nvPr/>
        </p:nvSpPr>
        <p:spPr>
          <a:xfrm>
            <a:off x="8906256" y="6236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 Base</a:t>
            </a:r>
            <a:endParaRPr lang="en-US" sz="130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9FEC5B2E-3E95-AB63-D0F3-91DFA44EDA3F}"/>
              </a:ext>
            </a:extLst>
          </p:cNvPr>
          <p:cNvSpPr/>
          <p:nvPr/>
        </p:nvSpPr>
        <p:spPr>
          <a:xfrm>
            <a:off x="10826496" y="6263640"/>
            <a:ext cx="5257800" cy="228600"/>
          </a:xfrm>
          <a:prstGeom prst="roundRect">
            <a:avLst>
              <a:gd name="adj" fmla="val 16000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85D02805-01CA-48C5-E0B8-AF5D8FCD0DDF}"/>
              </a:ext>
            </a:extLst>
          </p:cNvPr>
          <p:cNvSpPr txBox="1"/>
          <p:nvPr/>
        </p:nvSpPr>
        <p:spPr>
          <a:xfrm>
            <a:off x="16203168" y="622706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</a:t>
            </a:r>
            <a:endParaRPr lang="en-US" sz="130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6317C753-D7FF-9A40-81AE-C24A6E336FDD}"/>
              </a:ext>
            </a:extLst>
          </p:cNvPr>
          <p:cNvSpPr txBox="1"/>
          <p:nvPr/>
        </p:nvSpPr>
        <p:spPr>
          <a:xfrm>
            <a:off x="8906256" y="66842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GPT-5.4-mini</a:t>
            </a:r>
            <a:endParaRPr lang="en-US" sz="130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E4688666-1857-A0C8-5CDF-3434F7F3027B}"/>
              </a:ext>
            </a:extLst>
          </p:cNvPr>
          <p:cNvSpPr/>
          <p:nvPr/>
        </p:nvSpPr>
        <p:spPr>
          <a:xfrm>
            <a:off x="10826496" y="6711696"/>
            <a:ext cx="5257800" cy="228600"/>
          </a:xfrm>
          <a:prstGeom prst="roundRect">
            <a:avLst>
              <a:gd name="adj" fmla="val 16000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B4D018D2-8EE1-7059-C222-F4FCC2400A6D}"/>
              </a:ext>
            </a:extLst>
          </p:cNvPr>
          <p:cNvSpPr/>
          <p:nvPr/>
        </p:nvSpPr>
        <p:spPr>
          <a:xfrm>
            <a:off x="10826496" y="6711696"/>
            <a:ext cx="1535278" cy="228600"/>
          </a:xfrm>
          <a:prstGeom prst="roundRect">
            <a:avLst>
              <a:gd name="adj" fmla="val 16000"/>
            </a:avLst>
          </a:prstGeom>
          <a:solidFill>
            <a:srgbClr val="77A8E7"/>
          </a:solidFill>
          <a:ln w="12700">
            <a:solidFill>
              <a:srgbClr val="77A8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FC03796A-4E2D-16C8-9267-0DC8E9590364}"/>
              </a:ext>
            </a:extLst>
          </p:cNvPr>
          <p:cNvSpPr txBox="1"/>
          <p:nvPr/>
        </p:nvSpPr>
        <p:spPr>
          <a:xfrm>
            <a:off x="16203168" y="66751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29.2%</a:t>
            </a:r>
            <a:endParaRPr lang="en-US" sz="130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23E81CCE-4E13-9DAD-0027-F6BFB68D72EF}"/>
              </a:ext>
            </a:extLst>
          </p:cNvPr>
          <p:cNvSpPr txBox="1"/>
          <p:nvPr/>
        </p:nvSpPr>
        <p:spPr>
          <a:xfrm>
            <a:off x="8906256" y="7132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생성 sLLM</a:t>
            </a:r>
            <a:endParaRPr lang="en-US" sz="130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761C1DFF-2C04-4CCB-6424-2EB711EE1B77}"/>
              </a:ext>
            </a:extLst>
          </p:cNvPr>
          <p:cNvSpPr/>
          <p:nvPr/>
        </p:nvSpPr>
        <p:spPr>
          <a:xfrm>
            <a:off x="10826496" y="7159752"/>
            <a:ext cx="5257800" cy="228600"/>
          </a:xfrm>
          <a:prstGeom prst="roundRect">
            <a:avLst>
              <a:gd name="adj" fmla="val 16000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4A73F374-8CAF-FFE9-9AF6-29E3A7AFE7DB}"/>
              </a:ext>
            </a:extLst>
          </p:cNvPr>
          <p:cNvSpPr/>
          <p:nvPr/>
        </p:nvSpPr>
        <p:spPr>
          <a:xfrm>
            <a:off x="10826496" y="7159752"/>
            <a:ext cx="4379747" cy="228600"/>
          </a:xfrm>
          <a:prstGeom prst="roundRect">
            <a:avLst>
              <a:gd name="adj" fmla="val 16000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73B804B9-B481-14A0-DBAE-3BD48284CB32}"/>
              </a:ext>
            </a:extLst>
          </p:cNvPr>
          <p:cNvSpPr txBox="1"/>
          <p:nvPr/>
        </p:nvSpPr>
        <p:spPr>
          <a:xfrm>
            <a:off x="16203168" y="71231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83.3%</a:t>
            </a:r>
            <a:endParaRPr lang="en-US" sz="130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1039AF3F-AFA3-85D7-E34B-24920ABFC7B8}"/>
              </a:ext>
            </a:extLst>
          </p:cNvPr>
          <p:cNvSpPr/>
          <p:nvPr/>
        </p:nvSpPr>
        <p:spPr>
          <a:xfrm>
            <a:off x="8906256" y="7388352"/>
            <a:ext cx="8028432" cy="82296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45A1D7D3-8757-6FDE-B3CF-2F29A89476BE}"/>
              </a:ext>
            </a:extLst>
          </p:cNvPr>
          <p:cNvSpPr txBox="1"/>
          <p:nvPr/>
        </p:nvSpPr>
        <p:spPr>
          <a:xfrm>
            <a:off x="9125712" y="755294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조건 통일</a:t>
            </a:r>
            <a:endParaRPr lang="en-US" sz="1340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9D7D849C-FA7E-D03C-E27A-8B7FB395925F}"/>
              </a:ext>
            </a:extLst>
          </p:cNvPr>
          <p:cNvSpPr txBox="1"/>
          <p:nvPr/>
        </p:nvSpPr>
        <p:spPr>
          <a:xfrm>
            <a:off x="9125712" y="7836408"/>
            <a:ext cx="7342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스키마 Context와 데이터 기준 적용 · GPT 결과는 안전 보정 후 비교</a:t>
            </a:r>
            <a:endParaRPr lang="en-US" sz="112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0130417-30DA-B815-0128-3E8FC5018F08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latin typeface="PRE"/>
                <a:ea typeface="맑은 고딕"/>
                <a:cs typeface="Calibri"/>
              </a:rPr>
              <a:t>SQL 생성 모델 성능 검증</a:t>
            </a:r>
          </a:p>
        </p:txBody>
      </p:sp>
      <p:sp>
        <p:nvSpPr>
          <p:cNvPr id="81" name="Shape 0">
            <a:extLst>
              <a:ext uri="{FF2B5EF4-FFF2-40B4-BE49-F238E27FC236}">
                <a16:creationId xmlns:a16="http://schemas.microsoft.com/office/drawing/2014/main" id="{2091EB2A-F69D-273A-F92F-CB9A6578F896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3" name="Text 1">
            <a:extLst>
              <a:ext uri="{FF2B5EF4-FFF2-40B4-BE49-F238E27FC236}">
                <a16:creationId xmlns:a16="http://schemas.microsoft.com/office/drawing/2014/main" id="{32830F04-818A-CE87-7A58-C0FF492AE576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30 · SQL MODEL</a:t>
            </a:r>
            <a:endParaRPr lang="en-US" sz="1100"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4060180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1009650" y="217170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SQL · 앞 장에서 전달</a:t>
            </a:r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4857750" y="21717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FEDERATED QUERY</a:t>
            </a:r>
            <a:endParaRPr lang="en-US" sz="1200"/>
          </a:p>
        </p:txBody>
      </p:sp>
      <p:sp>
        <p:nvSpPr>
          <p:cNvPr id="8" name="Text 6"/>
          <p:cNvSpPr txBox="1"/>
          <p:nvPr/>
        </p:nvSpPr>
        <p:spPr>
          <a:xfrm>
            <a:off x="12573000" y="2171700"/>
            <a:ext cx="3333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 ARTIFACT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1009650" y="2667000"/>
            <a:ext cx="3048000" cy="4953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14450" y="3028950"/>
            <a:ext cx="647700" cy="647700"/>
          </a:xfrm>
          <a:prstGeom prst="roundRect">
            <a:avLst>
              <a:gd name="adj" fmla="val 11765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14450" y="3028950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171450" y="152400"/>
                </a:moveTo>
                <a:lnTo>
                  <a:pt x="457200" y="152400"/>
                </a:lnTo>
                <a:lnTo>
                  <a:pt x="542925" y="238125"/>
                </a:lnTo>
                <a:lnTo>
                  <a:pt x="542925" y="514350"/>
                </a:lnTo>
                <a:lnTo>
                  <a:pt x="171450" y="514350"/>
                </a:lnTo>
                <a:close/>
                <a:moveTo>
                  <a:pt x="457200" y="152400"/>
                </a:moveTo>
                <a:lnTo>
                  <a:pt x="457200" y="247650"/>
                </a:lnTo>
                <a:lnTo>
                  <a:pt x="542925" y="247650"/>
                </a:lnTo>
                <a:moveTo>
                  <a:pt x="238125" y="342900"/>
                </a:moveTo>
                <a:lnTo>
                  <a:pt x="466725" y="342900"/>
                </a:lnTo>
                <a:moveTo>
                  <a:pt x="238125" y="428625"/>
                </a:moveTo>
                <a:lnTo>
                  <a:pt x="409575" y="428625"/>
                </a:lnTo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314450" y="3790950"/>
            <a:ext cx="2286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SQL</a:t>
            </a:r>
            <a:endParaRPr lang="en-US" sz="1200"/>
          </a:p>
        </p:txBody>
      </p:sp>
      <p:sp>
        <p:nvSpPr>
          <p:cNvPr id="14" name="Text 12"/>
          <p:cNvSpPr txBox="1"/>
          <p:nvPr/>
        </p:nvSpPr>
        <p:spPr>
          <a:xfrm>
            <a:off x="1314450" y="4105275"/>
            <a:ext cx="2400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SQL</a:t>
            </a:r>
            <a:endParaRPr lang="en-US" sz="2100"/>
          </a:p>
        </p:txBody>
      </p:sp>
      <p:sp>
        <p:nvSpPr>
          <p:cNvPr id="15" name="Shape 13"/>
          <p:cNvSpPr/>
          <p:nvPr/>
        </p:nvSpPr>
        <p:spPr>
          <a:xfrm>
            <a:off x="1314450" y="4676775"/>
            <a:ext cx="24003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314450" y="4800600"/>
            <a:ext cx="2400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조회 전용</a:t>
            </a:r>
            <a:endParaRPr lang="en-US" sz="1500"/>
          </a:p>
        </p:txBody>
      </p:sp>
      <p:sp>
        <p:nvSpPr>
          <p:cNvPr id="17" name="Text 15"/>
          <p:cNvSpPr txBox="1"/>
          <p:nvPr/>
        </p:nvSpPr>
        <p:spPr>
          <a:xfrm>
            <a:off x="1314450" y="5162550"/>
            <a:ext cx="2400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승인된 데이터</a:t>
            </a:r>
            <a:endParaRPr lang="en-US" sz="1500"/>
          </a:p>
        </p:txBody>
      </p:sp>
      <p:sp>
        <p:nvSpPr>
          <p:cNvPr id="18" name="Shape 16"/>
          <p:cNvSpPr/>
          <p:nvPr/>
        </p:nvSpPr>
        <p:spPr>
          <a:xfrm>
            <a:off x="1314450" y="5857875"/>
            <a:ext cx="24003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314450" y="5953125"/>
            <a:ext cx="2400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인증</a:t>
            </a:r>
            <a:endParaRPr lang="en-US" sz="1125"/>
          </a:p>
        </p:txBody>
      </p:sp>
      <p:sp>
        <p:nvSpPr>
          <p:cNvPr id="20" name="Shape 18"/>
          <p:cNvSpPr/>
          <p:nvPr/>
        </p:nvSpPr>
        <p:spPr>
          <a:xfrm>
            <a:off x="1905000" y="6629400"/>
            <a:ext cx="723900" cy="7239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962150" y="6686550"/>
            <a:ext cx="609600" cy="6096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905000" y="6757670"/>
            <a:ext cx="723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G1</a:t>
            </a:r>
            <a:endParaRPr lang="en-US" sz="1050"/>
          </a:p>
        </p:txBody>
      </p:sp>
      <p:sp>
        <p:nvSpPr>
          <p:cNvPr id="23" name="Text 21"/>
          <p:cNvSpPr txBox="1"/>
          <p:nvPr/>
        </p:nvSpPr>
        <p:spPr>
          <a:xfrm>
            <a:off x="1905000" y="6972300"/>
            <a:ext cx="723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확인</a:t>
            </a:r>
            <a:endParaRPr lang="en-US" sz="750"/>
          </a:p>
        </p:txBody>
      </p:sp>
      <p:sp>
        <p:nvSpPr>
          <p:cNvPr id="24" name="Text 22"/>
          <p:cNvSpPr txBox="1"/>
          <p:nvPr/>
        </p:nvSpPr>
        <p:spPr>
          <a:xfrm>
            <a:off x="1905000" y="7096125"/>
            <a:ext cx="7239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675"/>
          </a:p>
        </p:txBody>
      </p:sp>
      <p:sp>
        <p:nvSpPr>
          <p:cNvPr id="25" name="Shape 23"/>
          <p:cNvSpPr/>
          <p:nvPr/>
        </p:nvSpPr>
        <p:spPr>
          <a:xfrm>
            <a:off x="2800350" y="6629400"/>
            <a:ext cx="723900" cy="7239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857500" y="6686550"/>
            <a:ext cx="609600" cy="6096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2800350" y="6757670"/>
            <a:ext cx="723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G2</a:t>
            </a:r>
            <a:endParaRPr lang="en-US" sz="1050"/>
          </a:p>
        </p:txBody>
      </p:sp>
      <p:sp>
        <p:nvSpPr>
          <p:cNvPr id="28" name="Text 26"/>
          <p:cNvSpPr txBox="1"/>
          <p:nvPr/>
        </p:nvSpPr>
        <p:spPr>
          <a:xfrm>
            <a:off x="2800350" y="6972300"/>
            <a:ext cx="723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검증</a:t>
            </a:r>
            <a:endParaRPr lang="en-US" sz="750"/>
          </a:p>
        </p:txBody>
      </p:sp>
      <p:sp>
        <p:nvSpPr>
          <p:cNvPr id="29" name="Text 27"/>
          <p:cNvSpPr txBox="1"/>
          <p:nvPr/>
        </p:nvSpPr>
        <p:spPr>
          <a:xfrm>
            <a:off x="2800350" y="7096125"/>
            <a:ext cx="7239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675"/>
          </a:p>
        </p:txBody>
      </p:sp>
      <p:sp>
        <p:nvSpPr>
          <p:cNvPr id="30" name="Shape 28"/>
          <p:cNvSpPr/>
          <p:nvPr/>
        </p:nvSpPr>
        <p:spPr>
          <a:xfrm>
            <a:off x="4152900" y="4191000"/>
            <a:ext cx="207645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4572000" y="3695700"/>
            <a:ext cx="1238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요청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6324600" y="3181350"/>
            <a:ext cx="2019300" cy="2019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048500" y="3562350"/>
            <a:ext cx="571500" cy="685800"/>
          </a:xfrm>
          <a:prstGeom prst="can">
            <a:avLst/>
          </a:pr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6324600" y="4305300"/>
            <a:ext cx="2019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2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Trino</a:t>
            </a:r>
            <a:endParaRPr lang="en-US" sz="2325"/>
          </a:p>
        </p:txBody>
      </p:sp>
      <p:sp>
        <p:nvSpPr>
          <p:cNvPr id="35" name="Text 33"/>
          <p:cNvSpPr txBox="1"/>
          <p:nvPr/>
        </p:nvSpPr>
        <p:spPr>
          <a:xfrm>
            <a:off x="6324600" y="4714875"/>
            <a:ext cx="2019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조회</a:t>
            </a:r>
            <a:endParaRPr lang="en-US" sz="1350"/>
          </a:p>
        </p:txBody>
      </p:sp>
      <p:sp>
        <p:nvSpPr>
          <p:cNvPr id="36" name="Shape 34"/>
          <p:cNvSpPr/>
          <p:nvPr/>
        </p:nvSpPr>
        <p:spPr>
          <a:xfrm>
            <a:off x="4724400" y="5200650"/>
            <a:ext cx="5219700" cy="628650"/>
          </a:xfrm>
          <a:custGeom>
            <a:avLst/>
            <a:gdLst/>
            <a:ahLst/>
            <a:cxnLst/>
            <a:rect l="l" t="t" r="r" b="b"/>
            <a:pathLst>
              <a:path w="5219700" h="628650">
                <a:moveTo>
                  <a:pt x="2609850" y="0"/>
                </a:moveTo>
                <a:lnTo>
                  <a:pt x="2609850" y="323850"/>
                </a:lnTo>
                <a:lnTo>
                  <a:pt x="457200" y="323850"/>
                </a:lnTo>
                <a:lnTo>
                  <a:pt x="4762500" y="323850"/>
                </a:lnTo>
                <a:moveTo>
                  <a:pt x="457200" y="323850"/>
                </a:moveTo>
                <a:lnTo>
                  <a:pt x="457200" y="628650"/>
                </a:lnTo>
                <a:moveTo>
                  <a:pt x="1533525" y="323850"/>
                </a:moveTo>
                <a:lnTo>
                  <a:pt x="1533525" y="628650"/>
                </a:lnTo>
                <a:moveTo>
                  <a:pt x="2609850" y="323850"/>
                </a:moveTo>
                <a:lnTo>
                  <a:pt x="2609850" y="628650"/>
                </a:lnTo>
                <a:moveTo>
                  <a:pt x="3686175" y="323850"/>
                </a:moveTo>
                <a:lnTo>
                  <a:pt x="3686175" y="628650"/>
                </a:lnTo>
                <a:moveTo>
                  <a:pt x="4762500" y="323850"/>
                </a:moveTo>
                <a:lnTo>
                  <a:pt x="4762500" y="628650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724400" y="5829300"/>
            <a:ext cx="914400" cy="87630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038725" y="5981700"/>
            <a:ext cx="285750" cy="361950"/>
          </a:xfrm>
          <a:prstGeom prst="can">
            <a:avLst/>
          </a:pr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4724400" y="6334125"/>
            <a:ext cx="914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PMS</a:t>
            </a:r>
            <a:endParaRPr lang="en-US" sz="1275"/>
          </a:p>
        </p:txBody>
      </p:sp>
      <p:sp>
        <p:nvSpPr>
          <p:cNvPr id="40" name="Shape 38"/>
          <p:cNvSpPr/>
          <p:nvPr/>
        </p:nvSpPr>
        <p:spPr>
          <a:xfrm>
            <a:off x="5800725" y="5829300"/>
            <a:ext cx="914400" cy="87630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15050" y="5981700"/>
            <a:ext cx="285750" cy="361950"/>
          </a:xfrm>
          <a:prstGeom prst="can">
            <a:avLst/>
          </a:pr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5800725" y="6334125"/>
            <a:ext cx="914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</a:t>
            </a:r>
            <a:endParaRPr lang="en-US" sz="1275"/>
          </a:p>
        </p:txBody>
      </p:sp>
      <p:sp>
        <p:nvSpPr>
          <p:cNvPr id="43" name="Shape 41"/>
          <p:cNvSpPr/>
          <p:nvPr/>
        </p:nvSpPr>
        <p:spPr>
          <a:xfrm>
            <a:off x="6877050" y="5829300"/>
            <a:ext cx="914400" cy="87630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191375" y="5981700"/>
            <a:ext cx="285750" cy="361950"/>
          </a:xfrm>
          <a:prstGeom prst="can">
            <a:avLst/>
          </a:pr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6877050" y="6334125"/>
            <a:ext cx="914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</a:t>
            </a:r>
            <a:endParaRPr lang="en-US" sz="1275"/>
          </a:p>
        </p:txBody>
      </p:sp>
      <p:sp>
        <p:nvSpPr>
          <p:cNvPr id="46" name="Shape 44"/>
          <p:cNvSpPr/>
          <p:nvPr/>
        </p:nvSpPr>
        <p:spPr>
          <a:xfrm>
            <a:off x="7953375" y="5829300"/>
            <a:ext cx="914400" cy="87630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267700" y="5981700"/>
            <a:ext cx="285750" cy="361950"/>
          </a:xfrm>
          <a:prstGeom prst="can">
            <a:avLst/>
          </a:pr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7953375" y="6334125"/>
            <a:ext cx="914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연회</a:t>
            </a:r>
            <a:endParaRPr lang="en-US" sz="1275"/>
          </a:p>
        </p:txBody>
      </p:sp>
      <p:sp>
        <p:nvSpPr>
          <p:cNvPr id="49" name="Shape 47"/>
          <p:cNvSpPr/>
          <p:nvPr/>
        </p:nvSpPr>
        <p:spPr>
          <a:xfrm>
            <a:off x="9029700" y="5829300"/>
            <a:ext cx="914400" cy="87630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344025" y="5981700"/>
            <a:ext cx="285750" cy="361950"/>
          </a:xfrm>
          <a:prstGeom prst="can">
            <a:avLst/>
          </a:pr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9029700" y="6334125"/>
            <a:ext cx="914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</a:t>
            </a:r>
            <a:endParaRPr lang="en-US" sz="1275"/>
          </a:p>
        </p:txBody>
      </p:sp>
      <p:sp>
        <p:nvSpPr>
          <p:cNvPr id="52" name="Shape 50"/>
          <p:cNvSpPr/>
          <p:nvPr/>
        </p:nvSpPr>
        <p:spPr>
          <a:xfrm>
            <a:off x="5753100" y="7086600"/>
            <a:ext cx="3162300" cy="4953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5753100" y="7153275"/>
            <a:ext cx="3162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호텔 업무 데이터 · 읽기 전용</a:t>
            </a:r>
            <a:endParaRPr lang="en-US" sz="1350"/>
          </a:p>
        </p:txBody>
      </p:sp>
      <p:sp>
        <p:nvSpPr>
          <p:cNvPr id="54" name="Shape 52"/>
          <p:cNvSpPr/>
          <p:nvPr/>
        </p:nvSpPr>
        <p:spPr>
          <a:xfrm>
            <a:off x="8439150" y="4191000"/>
            <a:ext cx="194310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8763000" y="3695700"/>
            <a:ext cx="1295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결과</a:t>
            </a:r>
            <a:endParaRPr lang="en-US" sz="1200"/>
          </a:p>
        </p:txBody>
      </p:sp>
      <p:sp>
        <p:nvSpPr>
          <p:cNvPr id="56" name="Shape 54"/>
          <p:cNvSpPr/>
          <p:nvPr/>
        </p:nvSpPr>
        <p:spPr>
          <a:xfrm>
            <a:off x="10477500" y="2667000"/>
            <a:ext cx="1333500" cy="4953000"/>
          </a:xfrm>
          <a:prstGeom prst="roundRect">
            <a:avLst>
              <a:gd name="adj" fmla="val 5000"/>
            </a:avLst>
          </a:prstGeom>
          <a:solidFill>
            <a:srgbClr val="EAF8F6"/>
          </a:solidFill>
          <a:ln w="15240">
            <a:solidFill>
              <a:srgbClr val="78C8C1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10477500" y="3228975"/>
            <a:ext cx="1333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확인</a:t>
            </a:r>
            <a:endParaRPr lang="en-US" sz="1575"/>
          </a:p>
        </p:txBody>
      </p:sp>
      <p:sp>
        <p:nvSpPr>
          <p:cNvPr id="59" name="Shape 57"/>
          <p:cNvSpPr/>
          <p:nvPr/>
        </p:nvSpPr>
        <p:spPr>
          <a:xfrm>
            <a:off x="10915650" y="3771900"/>
            <a:ext cx="4572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0" name="Text 58"/>
          <p:cNvSpPr txBox="1"/>
          <p:nvPr/>
        </p:nvSpPr>
        <p:spPr>
          <a:xfrm>
            <a:off x="10915650" y="37909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G3</a:t>
            </a:r>
            <a:endParaRPr lang="en-US" sz="975"/>
          </a:p>
        </p:txBody>
      </p:sp>
      <p:sp>
        <p:nvSpPr>
          <p:cNvPr id="61" name="Shape 59"/>
          <p:cNvSpPr/>
          <p:nvPr/>
        </p:nvSpPr>
        <p:spPr>
          <a:xfrm>
            <a:off x="10848975" y="4410075"/>
            <a:ext cx="590550" cy="590550"/>
          </a:xfrm>
          <a:prstGeom prst="ellipse">
            <a:avLst/>
          </a:prstGeom>
          <a:solidFill>
            <a:srgbClr val="159C98"/>
          </a:solidFill>
          <a:ln w="12700">
            <a:solidFill>
              <a:srgbClr val="159C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0915650" y="4476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6675" y="228600"/>
                </a:moveTo>
                <a:lnTo>
                  <a:pt x="180975" y="342900"/>
                </a:lnTo>
                <a:lnTo>
                  <a:pt x="409575" y="85725"/>
                </a:lnTo>
              </a:path>
            </a:pathLst>
          </a:custGeom>
          <a:solidFill>
            <a:srgbClr val="FFFFFF">
              <a:alpha val="0"/>
            </a:srgbClr>
          </a:solidFill>
          <a:ln w="2921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3" name="Text 61"/>
          <p:cNvSpPr txBox="1"/>
          <p:nvPr/>
        </p:nvSpPr>
        <p:spPr>
          <a:xfrm>
            <a:off x="10477500" y="5067300"/>
            <a:ext cx="133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통과</a:t>
            </a:r>
            <a:endParaRPr lang="en-US" sz="1275"/>
          </a:p>
        </p:txBody>
      </p:sp>
      <p:sp>
        <p:nvSpPr>
          <p:cNvPr id="64" name="Shape 62"/>
          <p:cNvSpPr/>
          <p:nvPr/>
        </p:nvSpPr>
        <p:spPr>
          <a:xfrm>
            <a:off x="10687050" y="5657850"/>
            <a:ext cx="914400" cy="9525"/>
          </a:xfrm>
          <a:prstGeom prst="rect">
            <a:avLst/>
          </a:prstGeom>
          <a:solidFill>
            <a:srgbClr val="B9DFDB"/>
          </a:solidFill>
          <a:ln w="12700">
            <a:solidFill>
              <a:srgbClr val="B9D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5" name="Text 63"/>
          <p:cNvSpPr txBox="1"/>
          <p:nvPr/>
        </p:nvSpPr>
        <p:spPr>
          <a:xfrm>
            <a:off x="10477500" y="588645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범위</a:t>
            </a:r>
            <a:endParaRPr lang="en-US" sz="1200"/>
          </a:p>
        </p:txBody>
      </p:sp>
      <p:sp>
        <p:nvSpPr>
          <p:cNvPr id="66" name="Text 64"/>
          <p:cNvSpPr txBox="1"/>
          <p:nvPr/>
        </p:nvSpPr>
        <p:spPr>
          <a:xfrm>
            <a:off x="10477500" y="630555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연결</a:t>
            </a:r>
            <a:endParaRPr lang="en-US" sz="1200"/>
          </a:p>
        </p:txBody>
      </p:sp>
      <p:sp>
        <p:nvSpPr>
          <p:cNvPr id="67" name="Shape 65"/>
          <p:cNvSpPr/>
          <p:nvPr/>
        </p:nvSpPr>
        <p:spPr>
          <a:xfrm>
            <a:off x="11906250" y="4191000"/>
            <a:ext cx="571500" cy="0"/>
          </a:xfrm>
          <a:prstGeom prst="line">
            <a:avLst/>
          </a:prstGeom>
          <a:noFill/>
          <a:ln w="22860">
            <a:solidFill>
              <a:srgbClr val="159C9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8" name="Text 66"/>
          <p:cNvSpPr txBox="1"/>
          <p:nvPr/>
        </p:nvSpPr>
        <p:spPr>
          <a:xfrm>
            <a:off x="11858625" y="3638550"/>
            <a:ext cx="666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 3</a:t>
            </a:r>
            <a:endParaRPr lang="en-US" sz="1050"/>
          </a:p>
        </p:txBody>
      </p:sp>
      <p:sp>
        <p:nvSpPr>
          <p:cNvPr id="69" name="Shape 67"/>
          <p:cNvSpPr/>
          <p:nvPr/>
        </p:nvSpPr>
        <p:spPr>
          <a:xfrm>
            <a:off x="12573000" y="2667000"/>
            <a:ext cx="4705350" cy="4953000"/>
          </a:xfrm>
          <a:prstGeom prst="roundRect">
            <a:avLst>
              <a:gd name="adj" fmla="val 1619"/>
            </a:avLst>
          </a:prstGeom>
          <a:solidFill>
            <a:srgbClr val="FFFFFF"/>
          </a:solidFill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1" name="Text 69"/>
          <p:cNvSpPr txBox="1"/>
          <p:nvPr/>
        </p:nvSpPr>
        <p:spPr>
          <a:xfrm>
            <a:off x="12896850" y="2800350"/>
            <a:ext cx="2381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 ARTIFACT</a:t>
            </a:r>
            <a:endParaRPr lang="en-US" sz="1200"/>
          </a:p>
        </p:txBody>
      </p:sp>
      <p:sp>
        <p:nvSpPr>
          <p:cNvPr id="72" name="Text 70"/>
          <p:cNvSpPr txBox="1"/>
          <p:nvPr/>
        </p:nvSpPr>
        <p:spPr>
          <a:xfrm>
            <a:off x="12896850" y="3124200"/>
            <a:ext cx="40576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분석 결과</a:t>
            </a:r>
            <a:endParaRPr lang="en-US" sz="2100"/>
          </a:p>
        </p:txBody>
      </p:sp>
      <p:sp>
        <p:nvSpPr>
          <p:cNvPr id="73" name="Shape 71"/>
          <p:cNvSpPr/>
          <p:nvPr/>
        </p:nvSpPr>
        <p:spPr>
          <a:xfrm>
            <a:off x="12896850" y="3705225"/>
            <a:ext cx="405765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12896850" y="4019550"/>
            <a:ext cx="1714500" cy="1428750"/>
          </a:xfrm>
          <a:prstGeom prst="roundRect">
            <a:avLst>
              <a:gd name="adj" fmla="val 4667"/>
            </a:avLst>
          </a:prstGeom>
          <a:solidFill>
            <a:srgbClr val="F8FAFC"/>
          </a:solidFill>
          <a:ln w="12700">
            <a:solidFill>
              <a:srgbClr val="D2E0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13163550" y="4762500"/>
            <a:ext cx="209550" cy="419100"/>
          </a:xfrm>
          <a:prstGeom prst="rect">
            <a:avLst/>
          </a:prstGeom>
          <a:solidFill>
            <a:srgbClr val="78AEF0"/>
          </a:solidFill>
          <a:ln w="12700">
            <a:solidFill>
              <a:srgbClr val="78AE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13515975" y="4476750"/>
            <a:ext cx="209550" cy="704850"/>
          </a:xfrm>
          <a:prstGeom prst="rect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3868400" y="4257675"/>
            <a:ext cx="209550" cy="923925"/>
          </a:xfrm>
          <a:prstGeom prst="rect">
            <a:avLst/>
          </a:prstGeom>
          <a:solidFill>
            <a:srgbClr val="0F5EC4"/>
          </a:solidFill>
          <a:ln w="12700">
            <a:solidFill>
              <a:srgbClr val="0F5E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13106400" y="5181600"/>
            <a:ext cx="1238250" cy="0"/>
          </a:xfrm>
          <a:prstGeom prst="line">
            <a:avLst/>
          </a:prstGeom>
          <a:noFill/>
          <a:ln w="12700">
            <a:solidFill>
              <a:srgbClr val="B9D1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9" name="Text 77"/>
          <p:cNvSpPr txBox="1"/>
          <p:nvPr/>
        </p:nvSpPr>
        <p:spPr>
          <a:xfrm>
            <a:off x="12896850" y="51816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표·차트</a:t>
            </a:r>
            <a:endParaRPr lang="en-US" sz="900"/>
          </a:p>
        </p:txBody>
      </p:sp>
      <p:sp>
        <p:nvSpPr>
          <p:cNvPr id="80" name="Text 78"/>
          <p:cNvSpPr txBox="1"/>
          <p:nvPr/>
        </p:nvSpPr>
        <p:spPr>
          <a:xfrm>
            <a:off x="14954250" y="3781425"/>
            <a:ext cx="190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 3 · 결과 설명</a:t>
            </a:r>
            <a:endParaRPr lang="en-US" sz="1125"/>
          </a:p>
        </p:txBody>
      </p:sp>
      <p:sp>
        <p:nvSpPr>
          <p:cNvPr id="81" name="Text 79"/>
          <p:cNvSpPr txBox="1"/>
          <p:nvPr/>
        </p:nvSpPr>
        <p:spPr>
          <a:xfrm>
            <a:off x="14954250" y="4181475"/>
            <a:ext cx="171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1500"/>
          </a:p>
        </p:txBody>
      </p:sp>
      <p:sp>
        <p:nvSpPr>
          <p:cNvPr id="82" name="Text 80"/>
          <p:cNvSpPr txBox="1"/>
          <p:nvPr/>
        </p:nvSpPr>
        <p:spPr>
          <a:xfrm>
            <a:off x="14954250" y="4543425"/>
            <a:ext cx="171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표·차트</a:t>
            </a:r>
            <a:endParaRPr lang="en-US" sz="1500"/>
          </a:p>
        </p:txBody>
      </p:sp>
      <p:sp>
        <p:nvSpPr>
          <p:cNvPr id="83" name="Text 81"/>
          <p:cNvSpPr txBox="1"/>
          <p:nvPr/>
        </p:nvSpPr>
        <p:spPr>
          <a:xfrm>
            <a:off x="14954250" y="4905375"/>
            <a:ext cx="171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데이터</a:t>
            </a:r>
            <a:endParaRPr lang="en-US" sz="1500"/>
          </a:p>
        </p:txBody>
      </p:sp>
      <p:sp>
        <p:nvSpPr>
          <p:cNvPr id="84" name="Text 82"/>
          <p:cNvSpPr txBox="1"/>
          <p:nvPr/>
        </p:nvSpPr>
        <p:spPr>
          <a:xfrm>
            <a:off x="14954250" y="5267325"/>
            <a:ext cx="171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근거</a:t>
            </a:r>
            <a:endParaRPr lang="en-US" sz="1500"/>
          </a:p>
        </p:txBody>
      </p:sp>
      <p:sp>
        <p:nvSpPr>
          <p:cNvPr id="85" name="Shape 83"/>
          <p:cNvSpPr/>
          <p:nvPr/>
        </p:nvSpPr>
        <p:spPr>
          <a:xfrm>
            <a:off x="12896850" y="5810250"/>
            <a:ext cx="4057650" cy="590550"/>
          </a:xfrm>
          <a:prstGeom prst="roundRect">
            <a:avLst>
              <a:gd name="adj" fmla="val 9677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6" name="Text 84"/>
          <p:cNvSpPr txBox="1"/>
          <p:nvPr/>
        </p:nvSpPr>
        <p:spPr>
          <a:xfrm>
            <a:off x="12896850" y="5895975"/>
            <a:ext cx="40576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Artifact 저장 · App PostgreSQL</a:t>
            </a:r>
            <a:endParaRPr lang="en-US" sz="1500"/>
          </a:p>
        </p:txBody>
      </p:sp>
      <p:sp>
        <p:nvSpPr>
          <p:cNvPr id="87" name="Text 85"/>
          <p:cNvSpPr txBox="1"/>
          <p:nvPr/>
        </p:nvSpPr>
        <p:spPr>
          <a:xfrm>
            <a:off x="12896850" y="6486525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인증</a:t>
            </a:r>
            <a:endParaRPr lang="en-US" sz="1125"/>
          </a:p>
        </p:txBody>
      </p:sp>
      <p:sp>
        <p:nvSpPr>
          <p:cNvPr id="88" name="Shape 86"/>
          <p:cNvSpPr/>
          <p:nvPr/>
        </p:nvSpPr>
        <p:spPr>
          <a:xfrm>
            <a:off x="13858875" y="6791325"/>
            <a:ext cx="666750" cy="66675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13916025" y="6848475"/>
            <a:ext cx="552450" cy="55245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0" name="Text 88"/>
          <p:cNvSpPr txBox="1"/>
          <p:nvPr/>
        </p:nvSpPr>
        <p:spPr>
          <a:xfrm>
            <a:off x="13858875" y="6919595"/>
            <a:ext cx="66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G1</a:t>
            </a:r>
            <a:endParaRPr lang="en-US" sz="1050"/>
          </a:p>
        </p:txBody>
      </p:sp>
      <p:sp>
        <p:nvSpPr>
          <p:cNvPr id="91" name="Text 89"/>
          <p:cNvSpPr txBox="1"/>
          <p:nvPr/>
        </p:nvSpPr>
        <p:spPr>
          <a:xfrm>
            <a:off x="13858875" y="7105650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확인</a:t>
            </a:r>
            <a:endParaRPr lang="en-US" sz="750"/>
          </a:p>
        </p:txBody>
      </p:sp>
      <p:sp>
        <p:nvSpPr>
          <p:cNvPr id="92" name="Text 90"/>
          <p:cNvSpPr txBox="1"/>
          <p:nvPr/>
        </p:nvSpPr>
        <p:spPr>
          <a:xfrm>
            <a:off x="13858875" y="7229475"/>
            <a:ext cx="666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675"/>
          </a:p>
        </p:txBody>
      </p:sp>
      <p:sp>
        <p:nvSpPr>
          <p:cNvPr id="93" name="Shape 91"/>
          <p:cNvSpPr/>
          <p:nvPr/>
        </p:nvSpPr>
        <p:spPr>
          <a:xfrm>
            <a:off x="14735175" y="6791325"/>
            <a:ext cx="666750" cy="66675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14792325" y="6848475"/>
            <a:ext cx="552450" cy="55245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5" name="Text 93"/>
          <p:cNvSpPr txBox="1"/>
          <p:nvPr/>
        </p:nvSpPr>
        <p:spPr>
          <a:xfrm>
            <a:off x="14735175" y="6919595"/>
            <a:ext cx="66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G2</a:t>
            </a:r>
            <a:endParaRPr lang="en-US" sz="1050"/>
          </a:p>
        </p:txBody>
      </p:sp>
      <p:sp>
        <p:nvSpPr>
          <p:cNvPr id="96" name="Text 94"/>
          <p:cNvSpPr txBox="1"/>
          <p:nvPr/>
        </p:nvSpPr>
        <p:spPr>
          <a:xfrm>
            <a:off x="14735175" y="7105650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검증</a:t>
            </a:r>
            <a:endParaRPr lang="en-US" sz="750"/>
          </a:p>
        </p:txBody>
      </p:sp>
      <p:sp>
        <p:nvSpPr>
          <p:cNvPr id="97" name="Text 95"/>
          <p:cNvSpPr txBox="1"/>
          <p:nvPr/>
        </p:nvSpPr>
        <p:spPr>
          <a:xfrm>
            <a:off x="14735175" y="7229475"/>
            <a:ext cx="666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675"/>
          </a:p>
        </p:txBody>
      </p:sp>
      <p:sp>
        <p:nvSpPr>
          <p:cNvPr id="98" name="Shape 96"/>
          <p:cNvSpPr/>
          <p:nvPr/>
        </p:nvSpPr>
        <p:spPr>
          <a:xfrm>
            <a:off x="15611475" y="6791325"/>
            <a:ext cx="666750" cy="66675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15668625" y="6848475"/>
            <a:ext cx="552450" cy="55245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0" name="Text 98"/>
          <p:cNvSpPr txBox="1"/>
          <p:nvPr/>
        </p:nvSpPr>
        <p:spPr>
          <a:xfrm>
            <a:off x="15611475" y="6919595"/>
            <a:ext cx="66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G3</a:t>
            </a:r>
            <a:endParaRPr lang="en-US" sz="1050"/>
          </a:p>
        </p:txBody>
      </p:sp>
      <p:sp>
        <p:nvSpPr>
          <p:cNvPr id="101" name="Text 99"/>
          <p:cNvSpPr txBox="1"/>
          <p:nvPr/>
        </p:nvSpPr>
        <p:spPr>
          <a:xfrm>
            <a:off x="15611475" y="7105650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확인</a:t>
            </a:r>
            <a:endParaRPr lang="en-US" sz="750"/>
          </a:p>
        </p:txBody>
      </p:sp>
      <p:sp>
        <p:nvSpPr>
          <p:cNvPr id="102" name="Text 100"/>
          <p:cNvSpPr txBox="1"/>
          <p:nvPr/>
        </p:nvSpPr>
        <p:spPr>
          <a:xfrm>
            <a:off x="15611475" y="7229475"/>
            <a:ext cx="666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675"/>
          </a:p>
        </p:txBody>
      </p:sp>
      <p:sp>
        <p:nvSpPr>
          <p:cNvPr id="103" name="Shape 101"/>
          <p:cNvSpPr/>
          <p:nvPr/>
        </p:nvSpPr>
        <p:spPr>
          <a:xfrm>
            <a:off x="1009650" y="7943850"/>
            <a:ext cx="162687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4" name="Text 102"/>
          <p:cNvSpPr txBox="1"/>
          <p:nvPr/>
        </p:nvSpPr>
        <p:spPr>
          <a:xfrm>
            <a:off x="1314450" y="8067675"/>
            <a:ext cx="1809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GOVERNED RESULT</a:t>
            </a:r>
            <a:endParaRPr lang="en-US" sz="1275"/>
          </a:p>
        </p:txBody>
      </p:sp>
      <p:sp>
        <p:nvSpPr>
          <p:cNvPr id="105" name="Text 103"/>
          <p:cNvSpPr txBox="1"/>
          <p:nvPr/>
        </p:nvSpPr>
        <p:spPr>
          <a:xfrm>
            <a:off x="3371850" y="8067675"/>
            <a:ext cx="781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G1·G2·G3 검증 기록을 결과와 함께 보관한다</a:t>
            </a:r>
            <a:endParaRPr lang="en-US" sz="1575"/>
          </a:p>
        </p:txBody>
      </p:sp>
      <p:sp>
        <p:nvSpPr>
          <p:cNvPr id="106" name="Shape 104"/>
          <p:cNvSpPr/>
          <p:nvPr/>
        </p:nvSpPr>
        <p:spPr>
          <a:xfrm>
            <a:off x="1009650" y="9048750"/>
            <a:ext cx="162687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7" name="Text 105"/>
          <p:cNvSpPr txBox="1"/>
          <p:nvPr/>
        </p:nvSpPr>
        <p:spPr>
          <a:xfrm>
            <a:off x="1009650" y="92964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QUERY &amp; RESULT</a:t>
            </a:r>
            <a:endParaRPr lang="en-US" sz="1275"/>
          </a:p>
        </p:txBody>
      </p:sp>
      <p:sp>
        <p:nvSpPr>
          <p:cNvPr id="108" name="Text 106"/>
          <p:cNvSpPr txBox="1"/>
          <p:nvPr/>
        </p:nvSpPr>
        <p:spPr>
          <a:xfrm>
            <a:off x="3086100" y="9271635"/>
            <a:ext cx="634365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검증된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SQL만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실행하고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300" b="1" err="1">
                <a:solidFill>
                  <a:srgbClr val="176FE5"/>
                </a:solidFill>
                <a:ea typeface="+mn-lt"/>
                <a:cs typeface="+mn-lt"/>
              </a:rPr>
              <a:t>결과</a:t>
            </a:r>
            <a:r>
              <a:rPr lang="en-US" sz="2300" b="1" err="1">
                <a:solidFill>
                  <a:srgbClr val="176FE5"/>
                </a:solidFill>
                <a:ea typeface="+mn-lt"/>
                <a:cs typeface="+mn-lt"/>
              </a:rPr>
              <a:t>·</a:t>
            </a:r>
            <a:r>
              <a:rPr lang="ko-KR" altLang="en-US" sz="2300" b="1" err="1">
                <a:solidFill>
                  <a:srgbClr val="176FE5"/>
                </a:solidFill>
                <a:ea typeface="+mn-lt"/>
                <a:cs typeface="+mn-lt"/>
              </a:rPr>
              <a:t>근거를</a:t>
            </a:r>
            <a:r>
              <a:rPr lang="en-US" sz="2300" b="1">
                <a:solidFill>
                  <a:srgbClr val="176FE5"/>
                </a:solidFill>
                <a:ea typeface="+mn-lt"/>
                <a:cs typeface="+mn-lt"/>
              </a:rPr>
              <a:t> </a:t>
            </a:r>
            <a:r>
              <a:rPr lang="ko-KR" altLang="en-US" sz="2300" b="1">
                <a:solidFill>
                  <a:srgbClr val="176FE5"/>
                </a:solidFill>
                <a:ea typeface="+mn-lt"/>
                <a:cs typeface="+mn-lt"/>
              </a:rPr>
              <a:t>함께</a:t>
            </a:r>
            <a:r>
              <a:rPr lang="en-US" sz="2300" b="1">
                <a:solidFill>
                  <a:srgbClr val="176FE5"/>
                </a:solidFill>
                <a:ea typeface="+mn-lt"/>
                <a:cs typeface="+mn-lt"/>
              </a:rPr>
              <a:t> </a:t>
            </a:r>
            <a:r>
              <a:rPr lang="ko-KR" altLang="en-US" sz="2300" b="1">
                <a:solidFill>
                  <a:srgbClr val="176FE5"/>
                </a:solidFill>
                <a:ea typeface="+mn-lt"/>
                <a:cs typeface="+mn-lt"/>
              </a:rPr>
              <a:t>저장</a:t>
            </a:r>
            <a:endParaRPr lang="en-US" sz="23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12" name="Text 3">
            <a:extLst>
              <a:ext uri="{FF2B5EF4-FFF2-40B4-BE49-F238E27FC236}">
                <a16:creationId xmlns:a16="http://schemas.microsoft.com/office/drawing/2014/main" id="{178A66DA-53DD-26B5-7F40-6C8281FAA0F0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SQL 실행과 결과 저장</a:t>
            </a:r>
          </a:p>
        </p:txBody>
      </p:sp>
      <p:sp>
        <p:nvSpPr>
          <p:cNvPr id="114" name="Shape 0">
            <a:extLst>
              <a:ext uri="{FF2B5EF4-FFF2-40B4-BE49-F238E27FC236}">
                <a16:creationId xmlns:a16="http://schemas.microsoft.com/office/drawing/2014/main" id="{CFA99018-D207-36D1-6B7E-E4A96F6C40FA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6" name="Text 1">
            <a:extLst>
              <a:ext uri="{FF2B5EF4-FFF2-40B4-BE49-F238E27FC236}">
                <a16:creationId xmlns:a16="http://schemas.microsoft.com/office/drawing/2014/main" id="{553AE7DA-7C94-424B-57C8-CF1258F0DD8E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31 · SQL QUERY &amp; RESULT</a:t>
            </a:r>
            <a:endParaRPr lang="en-US" sz="1100">
              <a:latin typeface="Pretendar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1005840" y="8915400"/>
            <a:ext cx="16276320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05840" y="92080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kern="0" spc="14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PERFORMANCE</a:t>
            </a:r>
            <a:endParaRPr lang="en-US" sz="115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651760" y="9089136"/>
            <a:ext cx="1261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RAG는 근거 있는 답변, ML은 정확하고 빠른 예측을 지원</a:t>
            </a:r>
            <a:endParaRPr lang="en-US" sz="2150">
              <a:latin typeface="Pretendard"/>
              <a:ea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05840" y="2468880"/>
            <a:ext cx="7333488" cy="5998464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316736" y="274320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01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773936" y="2724912"/>
            <a:ext cx="6254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RAG Agent · 문서 기반 답변</a:t>
            </a:r>
            <a:endParaRPr lang="en-US" sz="2050">
              <a:latin typeface="Pretendard"/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316736" y="3227832"/>
            <a:ext cx="6711696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68512" y="2468880"/>
            <a:ext cx="8613648" cy="5998464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979408" y="274320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02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436608" y="2724912"/>
            <a:ext cx="7534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ML Agent · 객실 수요 예측</a:t>
            </a:r>
            <a:endParaRPr lang="en-US" sz="2050">
              <a:latin typeface="Pretendard"/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979408" y="3227832"/>
            <a:ext cx="7991856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16736" y="3529584"/>
            <a:ext cx="6711696" cy="1664208"/>
          </a:xfrm>
          <a:prstGeom prst="roundRect">
            <a:avLst>
              <a:gd name="adj" fmla="val 3297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883664" y="3730752"/>
            <a:ext cx="704088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86000" y="4014216"/>
            <a:ext cx="704088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29968" y="4151376"/>
            <a:ext cx="246888" cy="0"/>
          </a:xfrm>
          <a:prstGeom prst="line">
            <a:avLst/>
          </a:prstGeom>
          <a:noFill/>
          <a:ln w="1270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029968" y="4462272"/>
            <a:ext cx="246888" cy="0"/>
          </a:xfrm>
          <a:prstGeom prst="line">
            <a:avLst/>
          </a:prstGeom>
          <a:noFill/>
          <a:ln w="1270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029968" y="4764024"/>
            <a:ext cx="246888" cy="0"/>
          </a:xfrm>
          <a:prstGeom prst="line">
            <a:avLst/>
          </a:prstGeom>
          <a:noFill/>
          <a:ln w="1270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3675888" y="3703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내부 문서</a:t>
            </a:r>
            <a:endParaRPr lang="en-US" sz="1550">
              <a:latin typeface="Pretendard"/>
              <a:ea typeface="Pretendard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3675888" y="409651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5A6D80"/>
                </a:solidFill>
                <a:latin typeface="Pretendard"/>
                <a:ea typeface="Pretendard"/>
                <a:cs typeface="Pretendard" pitchFamily="34" charset="-120"/>
              </a:rPr>
              <a:t>내부지침 PDF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675888" y="437083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5A6D80"/>
                </a:solidFill>
                <a:latin typeface="Pretendard"/>
                <a:ea typeface="Pretendard"/>
                <a:cs typeface="Pretendard" pitchFamily="34" charset="-120"/>
              </a:rPr>
              <a:t>내부 운영보고서 DOCX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3675888" y="4736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41종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316736" y="5404104"/>
            <a:ext cx="3273552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517904" y="5632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임베딩 모델</a:t>
            </a:r>
            <a:endParaRPr lang="en-US" sz="1320">
              <a:latin typeface="Pretendard"/>
              <a:ea typeface="Pretendard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517904" y="60533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5A6D80"/>
                </a:solidFill>
                <a:latin typeface="Pretendard" pitchFamily="34" charset="0"/>
                <a:ea typeface="Pretendard"/>
                <a:cs typeface="Pretendard" pitchFamily="34" charset="-120"/>
              </a:rPr>
              <a:t>OpenAI</a:t>
            </a:r>
            <a:endParaRPr lang="en-US" sz="1150">
              <a:ea typeface="Pretendard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1517904" y="630936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5A6D80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text-embedding-3-large</a:t>
            </a:r>
            <a:endParaRPr lang="en-US" sz="1150">
              <a:latin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54880" y="5404104"/>
            <a:ext cx="3273552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4956048" y="5632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검색 정확도 · Recall@5</a:t>
            </a:r>
            <a:endParaRPr lang="en-US" sz="1320">
              <a:ea typeface="Pretendard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4956048" y="6062472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5A6D80"/>
                </a:solidFill>
                <a:latin typeface="Pretendard"/>
                <a:ea typeface="Pretendard"/>
                <a:cs typeface="Pretendard" pitchFamily="34" charset="-120"/>
              </a:rPr>
              <a:t>BM25 Hybrid 검색 반영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4956048" y="637336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95.3%</a:t>
            </a:r>
            <a:endParaRPr lang="en-US" sz="2600">
              <a:latin typeface="Pretendard"/>
              <a:ea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316736" y="7452360"/>
            <a:ext cx="6711696" cy="731520"/>
          </a:xfrm>
          <a:prstGeom prst="roundRect">
            <a:avLst>
              <a:gd name="adj" fmla="val 7500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536192" y="769010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kern="0" spc="8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CHUNKING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2743200" y="7662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10" b="1">
                <a:solidFill>
                  <a:srgbClr val="5A6D80"/>
                </a:solidFill>
                <a:latin typeface="Pretendard"/>
                <a:ea typeface="Pretendard"/>
                <a:cs typeface="Pretendard" pitchFamily="34" charset="-120"/>
              </a:rPr>
              <a:t>본문·표 추출 → 청크 분할 → 1024차원 임베딩 → pgvector 저장</a:t>
            </a:r>
            <a:endParaRPr lang="en-US" sz="1110">
              <a:latin typeface="Pretendard"/>
              <a:ea typeface="Pretendard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979408" y="3483864"/>
            <a:ext cx="7991856" cy="1664208"/>
          </a:xfrm>
          <a:prstGeom prst="roundRect">
            <a:avLst>
              <a:gd name="adj" fmla="val 3297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464040" y="4599432"/>
            <a:ext cx="749808" cy="0"/>
          </a:xfrm>
          <a:prstGeom prst="line">
            <a:avLst/>
          </a:prstGeom>
          <a:noFill/>
          <a:ln w="317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1" name="Shape 39"/>
          <p:cNvSpPr/>
          <p:nvPr/>
        </p:nvSpPr>
        <p:spPr>
          <a:xfrm flipV="1">
            <a:off x="9464040" y="4050792"/>
            <a:ext cx="0" cy="548640"/>
          </a:xfrm>
          <a:prstGeom prst="line">
            <a:avLst/>
          </a:prstGeom>
          <a:noFill/>
          <a:ln w="317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2" name="Shape 40"/>
          <p:cNvSpPr/>
          <p:nvPr/>
        </p:nvSpPr>
        <p:spPr>
          <a:xfrm flipV="1">
            <a:off x="9573768" y="4279392"/>
            <a:ext cx="219456" cy="192024"/>
          </a:xfrm>
          <a:prstGeom prst="line">
            <a:avLst/>
          </a:prstGeom>
          <a:noFill/>
          <a:ln w="317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793224" y="4279392"/>
            <a:ext cx="182880" cy="155448"/>
          </a:xfrm>
          <a:prstGeom prst="line">
            <a:avLst/>
          </a:prstGeom>
          <a:noFill/>
          <a:ln w="317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4" name="Shape 42"/>
          <p:cNvSpPr/>
          <p:nvPr/>
        </p:nvSpPr>
        <p:spPr>
          <a:xfrm flipV="1">
            <a:off x="9976104" y="4160520"/>
            <a:ext cx="228600" cy="274320"/>
          </a:xfrm>
          <a:prstGeom prst="line">
            <a:avLst/>
          </a:prstGeom>
          <a:noFill/>
          <a:ln w="317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0698480" y="3913632"/>
            <a:ext cx="0" cy="795528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2801600" y="3913632"/>
            <a:ext cx="0" cy="795528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4904720" y="3913632"/>
            <a:ext cx="0" cy="795528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10954512" y="3977640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505건</a:t>
            </a:r>
            <a:endParaRPr lang="en-US" sz="2500">
              <a:latin typeface="Pretendard"/>
              <a:ea typeface="Pretendard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10954512" y="450799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5A6D80"/>
                </a:solidFill>
                <a:latin typeface="Pretendard"/>
                <a:ea typeface="Pretendard"/>
                <a:cs typeface="Pretendard" pitchFamily="34" charset="-120"/>
              </a:rPr>
              <a:t>D+1 전체 객실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13057632" y="3977640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383건</a:t>
            </a:r>
            <a:endParaRPr lang="en-US" sz="2500">
              <a:latin typeface="Pretendard"/>
              <a:ea typeface="Pretendard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13057632" y="450799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5A6D80"/>
                </a:solidFill>
                <a:latin typeface="Pretendard"/>
                <a:ea typeface="Pretendard"/>
                <a:cs typeface="Pretendard" pitchFamily="34" charset="-120"/>
              </a:rPr>
              <a:t>D+1 예약 객실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15160752" y="3977640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75.8%</a:t>
            </a:r>
            <a:endParaRPr lang="en-US" sz="2500">
              <a:latin typeface="Pretendard"/>
              <a:ea typeface="Pretendard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15160752" y="450799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5A6D80"/>
                </a:solidFill>
                <a:latin typeface="Pretendard"/>
                <a:ea typeface="Pretendard"/>
                <a:cs typeface="Pretendard" pitchFamily="34" charset="-120"/>
              </a:rPr>
              <a:t>예상 수요율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979408" y="5394960"/>
            <a:ext cx="3611880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9198864" y="5614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학습 효율 비교</a:t>
            </a:r>
            <a:endParaRPr lang="en-US" sz="1550">
              <a:latin typeface="Pretendard"/>
              <a:ea typeface="Pretendard"/>
            </a:endParaRPr>
          </a:p>
        </p:txBody>
      </p:sp>
      <p:sp>
        <p:nvSpPr>
          <p:cNvPr id="56" name="Text 54"/>
          <p:cNvSpPr txBox="1"/>
          <p:nvPr/>
        </p:nvSpPr>
        <p:spPr>
          <a:xfrm>
            <a:off x="9198864" y="59618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75899E"/>
                </a:solidFill>
                <a:latin typeface="Pretendard"/>
                <a:ea typeface="Pretendard"/>
                <a:cs typeface="Pretendard" pitchFamily="34" charset="-120"/>
              </a:rPr>
              <a:t>전체 36개월 · HGBR 기준</a:t>
            </a:r>
            <a:endParaRPr lang="en-US" sz="1000">
              <a:latin typeface="Pretendard"/>
              <a:ea typeface="Pretendard"/>
            </a:endParaRPr>
          </a:p>
        </p:txBody>
      </p:sp>
      <p:sp>
        <p:nvSpPr>
          <p:cNvPr id="57" name="Text 55"/>
          <p:cNvSpPr txBox="1"/>
          <p:nvPr/>
        </p:nvSpPr>
        <p:spPr>
          <a:xfrm>
            <a:off x="9198864" y="640080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1.0×</a:t>
            </a:r>
            <a:endParaRPr lang="en-US" sz="1250">
              <a:latin typeface="Pretendard"/>
              <a:ea typeface="Pretendard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9893808" y="64008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5A6D80"/>
                </a:solidFill>
                <a:latin typeface="Pretendard"/>
                <a:ea typeface="Pretendard"/>
                <a:cs typeface="Pretendard" pitchFamily="34" charset="-120"/>
              </a:rPr>
              <a:t>HGBR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0991088" y="6419088"/>
            <a:ext cx="1298448" cy="192024"/>
          </a:xfrm>
          <a:prstGeom prst="roundRect">
            <a:avLst>
              <a:gd name="adj" fmla="val 19048"/>
            </a:avLst>
          </a:prstGeom>
          <a:solidFill>
            <a:srgbClr val="E6ECF4"/>
          </a:solidFill>
          <a:ln w="12700">
            <a:solidFill>
              <a:srgbClr val="E6EC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0991088" y="6419088"/>
            <a:ext cx="129845" cy="192024"/>
          </a:xfrm>
          <a:prstGeom prst="roundRect">
            <a:avLst>
              <a:gd name="adj" fmla="val 28169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1" name="Text 59"/>
          <p:cNvSpPr txBox="1"/>
          <p:nvPr/>
        </p:nvSpPr>
        <p:spPr>
          <a:xfrm>
            <a:off x="9198864" y="689457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11.6×</a:t>
            </a:r>
            <a:endParaRPr lang="en-US" sz="1250">
              <a:latin typeface="Pretendard"/>
              <a:ea typeface="Pretendard"/>
            </a:endParaRPr>
          </a:p>
        </p:txBody>
      </p:sp>
      <p:sp>
        <p:nvSpPr>
          <p:cNvPr id="62" name="Text 60"/>
          <p:cNvSpPr txBox="1"/>
          <p:nvPr/>
        </p:nvSpPr>
        <p:spPr>
          <a:xfrm>
            <a:off x="9893808" y="689457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5A6D80"/>
                </a:solidFill>
                <a:latin typeface="Pretendard"/>
                <a:ea typeface="Pretendard"/>
                <a:cs typeface="Pretendard" pitchFamily="34" charset="-120"/>
              </a:rPr>
              <a:t>XGBoost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0991088" y="6912864"/>
            <a:ext cx="1298448" cy="192024"/>
          </a:xfrm>
          <a:prstGeom prst="roundRect">
            <a:avLst>
              <a:gd name="adj" fmla="val 19048"/>
            </a:avLst>
          </a:prstGeom>
          <a:solidFill>
            <a:srgbClr val="E6ECF4"/>
          </a:solidFill>
          <a:ln w="12700">
            <a:solidFill>
              <a:srgbClr val="E6EC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0991088" y="6912864"/>
            <a:ext cx="1298448" cy="192024"/>
          </a:xfrm>
          <a:prstGeom prst="roundRect">
            <a:avLst>
              <a:gd name="adj" fmla="val 19048"/>
            </a:avLst>
          </a:prstGeom>
          <a:solidFill>
            <a:srgbClr val="77A8E7"/>
          </a:solidFill>
          <a:ln w="12700">
            <a:solidFill>
              <a:srgbClr val="77A8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5" name="Text 63"/>
          <p:cNvSpPr txBox="1"/>
          <p:nvPr/>
        </p:nvSpPr>
        <p:spPr>
          <a:xfrm>
            <a:off x="9198864" y="738835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3.6×</a:t>
            </a:r>
            <a:endParaRPr lang="en-US" sz="1250">
              <a:latin typeface="Pretendard"/>
              <a:ea typeface="Pretendard"/>
            </a:endParaRPr>
          </a:p>
        </p:txBody>
      </p:sp>
      <p:sp>
        <p:nvSpPr>
          <p:cNvPr id="66" name="Text 64"/>
          <p:cNvSpPr txBox="1"/>
          <p:nvPr/>
        </p:nvSpPr>
        <p:spPr>
          <a:xfrm>
            <a:off x="9893808" y="738835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5A6D80"/>
                </a:solidFill>
                <a:latin typeface="Pretendard"/>
                <a:ea typeface="Pretendard"/>
                <a:cs typeface="Pretendard" pitchFamily="34" charset="-120"/>
              </a:rPr>
              <a:t>LightGBM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0991088" y="7406640"/>
            <a:ext cx="1298448" cy="192024"/>
          </a:xfrm>
          <a:prstGeom prst="roundRect">
            <a:avLst>
              <a:gd name="adj" fmla="val 19048"/>
            </a:avLst>
          </a:prstGeom>
          <a:solidFill>
            <a:srgbClr val="E6ECF4"/>
          </a:solidFill>
          <a:ln w="12700">
            <a:solidFill>
              <a:srgbClr val="E6EC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0991088" y="7406640"/>
            <a:ext cx="415503" cy="192024"/>
          </a:xfrm>
          <a:prstGeom prst="roundRect">
            <a:avLst>
              <a:gd name="adj" fmla="val 19048"/>
            </a:avLst>
          </a:prstGeom>
          <a:solidFill>
            <a:srgbClr val="77A8E7"/>
          </a:solidFill>
          <a:ln w="12700">
            <a:solidFill>
              <a:srgbClr val="77A8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12765024" y="5394960"/>
            <a:ext cx="4206240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0" name="Text 68"/>
          <p:cNvSpPr txBox="1"/>
          <p:nvPr/>
        </p:nvSpPr>
        <p:spPr>
          <a:xfrm>
            <a:off x="12966192" y="56144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모델 비교</a:t>
            </a:r>
            <a:endParaRPr lang="en-US" sz="1550">
              <a:latin typeface="Pretendard"/>
              <a:ea typeface="Pretendard"/>
            </a:endParaRPr>
          </a:p>
        </p:txBody>
      </p:sp>
      <p:sp>
        <p:nvSpPr>
          <p:cNvPr id="71" name="Text 69"/>
          <p:cNvSpPr txBox="1"/>
          <p:nvPr/>
        </p:nvSpPr>
        <p:spPr>
          <a:xfrm>
            <a:off x="12966192" y="5961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75899E"/>
                </a:solidFill>
                <a:latin typeface="Pretendard"/>
                <a:ea typeface="Pretendard"/>
                <a:cs typeface="Pretendard" pitchFamily="34" charset="-120"/>
              </a:rPr>
              <a:t>D+7 예측 성능 · 낮을수록 우수</a:t>
            </a:r>
            <a:endParaRPr lang="en-US" sz="1000">
              <a:latin typeface="Pretendard"/>
              <a:ea typeface="Pretendard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12966192" y="6272784"/>
            <a:ext cx="1115568" cy="457200"/>
          </a:xfrm>
          <a:prstGeom prst="rect">
            <a:avLst/>
          </a:prstGeom>
          <a:solidFill>
            <a:srgbClr val="EAF3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3" name="Text 71"/>
          <p:cNvSpPr txBox="1"/>
          <p:nvPr/>
        </p:nvSpPr>
        <p:spPr>
          <a:xfrm>
            <a:off x="12966192" y="6272784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모델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14081760" y="6272784"/>
            <a:ext cx="877824" cy="457200"/>
          </a:xfrm>
          <a:prstGeom prst="rect">
            <a:avLst/>
          </a:prstGeom>
          <a:solidFill>
            <a:srgbClr val="EAF3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5" name="Text 73"/>
          <p:cNvSpPr txBox="1"/>
          <p:nvPr/>
        </p:nvSpPr>
        <p:spPr>
          <a:xfrm>
            <a:off x="14081760" y="6272784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MAE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14959584" y="6272784"/>
            <a:ext cx="877824" cy="457200"/>
          </a:xfrm>
          <a:prstGeom prst="rect">
            <a:avLst/>
          </a:prstGeom>
          <a:solidFill>
            <a:srgbClr val="EAF3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7" name="Text 75"/>
          <p:cNvSpPr txBox="1"/>
          <p:nvPr/>
        </p:nvSpPr>
        <p:spPr>
          <a:xfrm>
            <a:off x="14959584" y="6272784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RMSE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15837408" y="6272784"/>
            <a:ext cx="877824" cy="457200"/>
          </a:xfrm>
          <a:prstGeom prst="rect">
            <a:avLst/>
          </a:prstGeom>
          <a:solidFill>
            <a:srgbClr val="EAF3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9" name="Text 77"/>
          <p:cNvSpPr txBox="1"/>
          <p:nvPr/>
        </p:nvSpPr>
        <p:spPr>
          <a:xfrm>
            <a:off x="15837408" y="6272784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MAPE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2966192" y="6729984"/>
            <a:ext cx="1115568" cy="457200"/>
          </a:xfrm>
          <a:prstGeom prst="rect">
            <a:avLst/>
          </a:prstGeom>
          <a:solidFill>
            <a:srgbClr val="EFF5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1" name="Text 79"/>
          <p:cNvSpPr txBox="1"/>
          <p:nvPr/>
        </p:nvSpPr>
        <p:spPr>
          <a:xfrm>
            <a:off x="12966192" y="6729984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HGBR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14081760" y="6729984"/>
            <a:ext cx="877824" cy="457200"/>
          </a:xfrm>
          <a:prstGeom prst="rect">
            <a:avLst/>
          </a:prstGeom>
          <a:solidFill>
            <a:srgbClr val="EFF5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3" name="Text 81"/>
          <p:cNvSpPr txBox="1"/>
          <p:nvPr/>
        </p:nvSpPr>
        <p:spPr>
          <a:xfrm>
            <a:off x="14081760" y="6729984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28.41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14959584" y="6729984"/>
            <a:ext cx="877824" cy="457200"/>
          </a:xfrm>
          <a:prstGeom prst="rect">
            <a:avLst/>
          </a:prstGeom>
          <a:solidFill>
            <a:srgbClr val="EFF5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5" name="Text 83"/>
          <p:cNvSpPr txBox="1"/>
          <p:nvPr/>
        </p:nvSpPr>
        <p:spPr>
          <a:xfrm>
            <a:off x="14959584" y="6729984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41.36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15837408" y="6729984"/>
            <a:ext cx="877824" cy="457200"/>
          </a:xfrm>
          <a:prstGeom prst="rect">
            <a:avLst/>
          </a:prstGeom>
          <a:solidFill>
            <a:srgbClr val="EFF5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7" name="Text 85"/>
          <p:cNvSpPr txBox="1"/>
          <p:nvPr/>
        </p:nvSpPr>
        <p:spPr>
          <a:xfrm>
            <a:off x="15837408" y="6729984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6.82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12966192" y="7187184"/>
            <a:ext cx="111556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9" name="Text 87"/>
          <p:cNvSpPr txBox="1"/>
          <p:nvPr/>
        </p:nvSpPr>
        <p:spPr>
          <a:xfrm>
            <a:off x="12966192" y="7187184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XGBoost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14081760" y="7187184"/>
            <a:ext cx="877824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1" name="Text 89"/>
          <p:cNvSpPr txBox="1"/>
          <p:nvPr/>
        </p:nvSpPr>
        <p:spPr>
          <a:xfrm>
            <a:off x="14081760" y="7187184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28.52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4959584" y="7187184"/>
            <a:ext cx="877824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3" name="Text 91"/>
          <p:cNvSpPr txBox="1"/>
          <p:nvPr/>
        </p:nvSpPr>
        <p:spPr>
          <a:xfrm>
            <a:off x="14959584" y="7187184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41.52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15837408" y="7187184"/>
            <a:ext cx="877824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5" name="Text 93"/>
          <p:cNvSpPr txBox="1"/>
          <p:nvPr/>
        </p:nvSpPr>
        <p:spPr>
          <a:xfrm>
            <a:off x="15837408" y="7187184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6.84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12966192" y="7644384"/>
            <a:ext cx="111556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7" name="Text 95"/>
          <p:cNvSpPr txBox="1"/>
          <p:nvPr/>
        </p:nvSpPr>
        <p:spPr>
          <a:xfrm>
            <a:off x="12966192" y="7644384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LightGBM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14081760" y="7644384"/>
            <a:ext cx="877824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9" name="Text 97"/>
          <p:cNvSpPr txBox="1"/>
          <p:nvPr/>
        </p:nvSpPr>
        <p:spPr>
          <a:xfrm>
            <a:off x="14081760" y="7644384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29.32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14959584" y="7644384"/>
            <a:ext cx="877824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1" name="Text 99"/>
          <p:cNvSpPr txBox="1"/>
          <p:nvPr/>
        </p:nvSpPr>
        <p:spPr>
          <a:xfrm>
            <a:off x="14959584" y="7644384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42.76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15837408" y="7644384"/>
            <a:ext cx="877824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3" name="Text 101"/>
          <p:cNvSpPr txBox="1"/>
          <p:nvPr/>
        </p:nvSpPr>
        <p:spPr>
          <a:xfrm>
            <a:off x="15837408" y="7644384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7.28</a:t>
            </a:r>
            <a:endParaRPr lang="en-US" sz="950">
              <a:latin typeface="Pretendard"/>
              <a:ea typeface="Pretendard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480C481-4EC2-EB11-7769-91938CC932C2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latin typeface="Pretendard"/>
                <a:ea typeface="Pretendard"/>
                <a:cs typeface="Calibri"/>
              </a:rPr>
              <a:t>RAG </a:t>
            </a:r>
            <a:r>
              <a:rPr lang="en-US" altLang="ko-KR" sz="3600" b="1">
                <a:solidFill>
                  <a:srgbClr val="153451"/>
                </a:solidFill>
                <a:latin typeface="Pretendard"/>
                <a:ea typeface="Pretendard"/>
                <a:cs typeface="+mn-lt"/>
              </a:rPr>
              <a:t>·</a:t>
            </a:r>
            <a:r>
              <a:rPr lang="ko-KR" altLang="en-US" sz="3600" b="1">
                <a:solidFill>
                  <a:srgbClr val="1D334F"/>
                </a:solidFill>
                <a:latin typeface="Pretendard"/>
                <a:ea typeface="Pretendard"/>
                <a:cs typeface="Calibri"/>
              </a:rPr>
              <a:t> ML 성능 분석</a:t>
            </a:r>
          </a:p>
        </p:txBody>
      </p:sp>
      <p:sp>
        <p:nvSpPr>
          <p:cNvPr id="106" name="Shape 0">
            <a:extLst>
              <a:ext uri="{FF2B5EF4-FFF2-40B4-BE49-F238E27FC236}">
                <a16:creationId xmlns:a16="http://schemas.microsoft.com/office/drawing/2014/main" id="{D078F9E5-190E-CC37-BD4A-C31A83461A66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8" name="Text 1">
            <a:extLst>
              <a:ext uri="{FF2B5EF4-FFF2-40B4-BE49-F238E27FC236}">
                <a16:creationId xmlns:a16="http://schemas.microsoft.com/office/drawing/2014/main" id="{F28855D6-D2D9-5D59-BE28-AA33EF5BACDA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32 · RAG </a:t>
            </a: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+mn-lt"/>
              </a:rPr>
              <a:t>·</a:t>
            </a: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 ML PERFORMANCE</a:t>
            </a:r>
            <a:endParaRPr lang="en-US" sz="110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348928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1005840" y="8915400"/>
            <a:ext cx="16276320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05840" y="92080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150" b="1" kern="0" spc="14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SPECIALIZED FLOW</a:t>
            </a:r>
            <a:endParaRPr lang="en-US" sz="1150"/>
          </a:p>
        </p:txBody>
      </p:sp>
      <p:sp>
        <p:nvSpPr>
          <p:cNvPr id="8" name="Text 6"/>
          <p:cNvSpPr txBox="1"/>
          <p:nvPr/>
        </p:nvSpPr>
        <p:spPr>
          <a:xfrm>
            <a:off x="2651760" y="9089136"/>
            <a:ext cx="1261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질문은 RAG, 수요 예측은 ML로 처리</a:t>
            </a:r>
            <a:endParaRPr lang="en-US" sz="2150"/>
          </a:p>
        </p:txBody>
      </p:sp>
      <p:sp>
        <p:nvSpPr>
          <p:cNvPr id="10" name="Shape 8"/>
          <p:cNvSpPr/>
          <p:nvPr/>
        </p:nvSpPr>
        <p:spPr>
          <a:xfrm>
            <a:off x="1005840" y="2468880"/>
            <a:ext cx="7845552" cy="5998464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316736" y="274320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/>
          </a:p>
        </p:txBody>
      </p:sp>
      <p:sp>
        <p:nvSpPr>
          <p:cNvPr id="12" name="Text 10"/>
          <p:cNvSpPr txBox="1"/>
          <p:nvPr/>
        </p:nvSpPr>
        <p:spPr>
          <a:xfrm>
            <a:off x="1773936" y="27249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Agent · 문서 기반 답변</a:t>
            </a:r>
            <a:endParaRPr lang="en-US" sz="2050"/>
          </a:p>
        </p:txBody>
      </p:sp>
      <p:sp>
        <p:nvSpPr>
          <p:cNvPr id="13" name="Shape 11"/>
          <p:cNvSpPr/>
          <p:nvPr/>
        </p:nvSpPr>
        <p:spPr>
          <a:xfrm>
            <a:off x="1316736" y="3227832"/>
            <a:ext cx="7223760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436608" y="2468880"/>
            <a:ext cx="7845552" cy="5998464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747504" y="274320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/>
          </a:p>
        </p:txBody>
      </p:sp>
      <p:sp>
        <p:nvSpPr>
          <p:cNvPr id="16" name="Text 14"/>
          <p:cNvSpPr txBox="1"/>
          <p:nvPr/>
        </p:nvSpPr>
        <p:spPr>
          <a:xfrm>
            <a:off x="10204704" y="27249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 Agent · 객실 수요 예측</a:t>
            </a:r>
            <a:endParaRPr lang="en-US" sz="2050"/>
          </a:p>
        </p:txBody>
      </p:sp>
      <p:sp>
        <p:nvSpPr>
          <p:cNvPr id="17" name="Shape 15"/>
          <p:cNvSpPr/>
          <p:nvPr/>
        </p:nvSpPr>
        <p:spPr>
          <a:xfrm>
            <a:off x="9747504" y="3227832"/>
            <a:ext cx="7223760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16736" y="3264408"/>
            <a:ext cx="7223760" cy="594360"/>
          </a:xfrm>
          <a:prstGeom prst="roundRect">
            <a:avLst>
              <a:gd name="adj" fmla="val 10769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517904" y="3401568"/>
            <a:ext cx="6784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“분실물 처리 절차를 알려줘.”</a:t>
            </a:r>
            <a:endParaRPr lang="en-US" sz="1450"/>
          </a:p>
        </p:txBody>
      </p:sp>
      <p:sp>
        <p:nvSpPr>
          <p:cNvPr id="20" name="Shape 18"/>
          <p:cNvSpPr/>
          <p:nvPr/>
        </p:nvSpPr>
        <p:spPr>
          <a:xfrm>
            <a:off x="9747504" y="3264408"/>
            <a:ext cx="7223760" cy="594360"/>
          </a:xfrm>
          <a:prstGeom prst="roundRect">
            <a:avLst>
              <a:gd name="adj" fmla="val 10769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9948672" y="3401568"/>
            <a:ext cx="6784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“향후 7일 객실 수요를 예측해줘.”</a:t>
            </a:r>
            <a:endParaRPr lang="en-US" sz="1450"/>
          </a:p>
        </p:txBody>
      </p:sp>
      <p:sp>
        <p:nvSpPr>
          <p:cNvPr id="22" name="Shape 20"/>
          <p:cNvSpPr/>
          <p:nvPr/>
        </p:nvSpPr>
        <p:spPr>
          <a:xfrm>
            <a:off x="1316736" y="4169664"/>
            <a:ext cx="2185416" cy="758952"/>
          </a:xfrm>
          <a:prstGeom prst="roundRect">
            <a:avLst>
              <a:gd name="adj" fmla="val 8434"/>
            </a:avLst>
          </a:prstGeom>
          <a:solidFill>
            <a:srgbClr val="F7F9FC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426464" y="427939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문서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</a:t>
            </a:r>
            <a:endParaRPr lang="en-US" sz="1350"/>
          </a:p>
        </p:txBody>
      </p:sp>
      <p:sp>
        <p:nvSpPr>
          <p:cNvPr id="24" name="Shape 22"/>
          <p:cNvSpPr/>
          <p:nvPr/>
        </p:nvSpPr>
        <p:spPr>
          <a:xfrm>
            <a:off x="3575304" y="4549140"/>
            <a:ext cx="173736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22192" y="4169664"/>
            <a:ext cx="2185416" cy="758952"/>
          </a:xfrm>
          <a:prstGeom prst="roundRect">
            <a:avLst>
              <a:gd name="adj" fmla="val 8434"/>
            </a:avLst>
          </a:prstGeom>
          <a:solidFill>
            <a:srgbClr val="F7F9FC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931920" y="427939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문단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</a:t>
            </a:r>
            <a:endParaRPr lang="en-US" sz="1350"/>
          </a:p>
        </p:txBody>
      </p:sp>
      <p:sp>
        <p:nvSpPr>
          <p:cNvPr id="27" name="Shape 25"/>
          <p:cNvSpPr/>
          <p:nvPr/>
        </p:nvSpPr>
        <p:spPr>
          <a:xfrm>
            <a:off x="6080760" y="4549140"/>
            <a:ext cx="173736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27648" y="4169664"/>
            <a:ext cx="2185416" cy="758952"/>
          </a:xfrm>
          <a:prstGeom prst="roundRect">
            <a:avLst>
              <a:gd name="adj" fmla="val 8434"/>
            </a:avLst>
          </a:prstGeom>
          <a:solidFill>
            <a:srgbClr val="F7F9FC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437376" y="427939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기반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생성</a:t>
            </a:r>
            <a:endParaRPr lang="en-US" sz="1350"/>
          </a:p>
        </p:txBody>
      </p:sp>
      <p:sp>
        <p:nvSpPr>
          <p:cNvPr id="30" name="Shape 28"/>
          <p:cNvSpPr/>
          <p:nvPr/>
        </p:nvSpPr>
        <p:spPr>
          <a:xfrm>
            <a:off x="9747504" y="4169664"/>
            <a:ext cx="2185416" cy="758952"/>
          </a:xfrm>
          <a:prstGeom prst="roundRect">
            <a:avLst>
              <a:gd name="adj" fmla="val 8434"/>
            </a:avLst>
          </a:prstGeom>
          <a:solidFill>
            <a:srgbClr val="F7F9FC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9857232" y="427939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시계열 모델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</a:t>
            </a:r>
            <a:endParaRPr lang="en-US" sz="1350"/>
          </a:p>
        </p:txBody>
      </p:sp>
      <p:sp>
        <p:nvSpPr>
          <p:cNvPr id="32" name="Shape 30"/>
          <p:cNvSpPr/>
          <p:nvPr/>
        </p:nvSpPr>
        <p:spPr>
          <a:xfrm>
            <a:off x="12006072" y="4549140"/>
            <a:ext cx="173736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2252960" y="4169664"/>
            <a:ext cx="2185416" cy="758952"/>
          </a:xfrm>
          <a:prstGeom prst="roundRect">
            <a:avLst>
              <a:gd name="adj" fmla="val 8434"/>
            </a:avLst>
          </a:prstGeom>
          <a:solidFill>
            <a:srgbClr val="F7F9FC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12362688" y="427939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D+7 수요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</a:t>
            </a:r>
            <a:endParaRPr lang="en-US" sz="1350"/>
          </a:p>
        </p:txBody>
      </p:sp>
      <p:sp>
        <p:nvSpPr>
          <p:cNvPr id="35" name="Shape 33"/>
          <p:cNvSpPr/>
          <p:nvPr/>
        </p:nvSpPr>
        <p:spPr>
          <a:xfrm>
            <a:off x="14511528" y="4549140"/>
            <a:ext cx="173736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4758416" y="4169664"/>
            <a:ext cx="2185416" cy="758952"/>
          </a:xfrm>
          <a:prstGeom prst="roundRect">
            <a:avLst>
              <a:gd name="adj" fmla="val 8434"/>
            </a:avLst>
          </a:prstGeom>
          <a:solidFill>
            <a:srgbClr val="F7F9FC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4868144" y="427939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결과</a:t>
            </a:r>
            <a:endParaRPr lang="en-US" sz="1350"/>
          </a:p>
          <a:p>
            <a:pPr marL="0" indent="0" algn="ctr">
              <a:buNone/>
            </a:pPr>
            <a:r>
              <a:rPr lang="en-US" sz="13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제공</a:t>
            </a:r>
            <a:endParaRPr lang="en-US" sz="1350"/>
          </a:p>
        </p:txBody>
      </p:sp>
      <p:sp>
        <p:nvSpPr>
          <p:cNvPr id="38" name="Shape 36"/>
          <p:cNvSpPr/>
          <p:nvPr/>
        </p:nvSpPr>
        <p:spPr>
          <a:xfrm>
            <a:off x="1316736" y="5266944"/>
            <a:ext cx="72237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1591056" y="55412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kern="0" spc="12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ANSWER EXAMPLE</a:t>
            </a:r>
            <a:endParaRPr lang="en-US" sz="1120"/>
          </a:p>
        </p:txBody>
      </p:sp>
      <p:sp>
        <p:nvSpPr>
          <p:cNvPr id="40" name="Text 38"/>
          <p:cNvSpPr txBox="1"/>
          <p:nvPr/>
        </p:nvSpPr>
        <p:spPr>
          <a:xfrm>
            <a:off x="1591056" y="5870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분실물 처리 절차</a:t>
            </a:r>
            <a:endParaRPr lang="en-US" sz="1800"/>
          </a:p>
        </p:txBody>
      </p:sp>
      <p:sp>
        <p:nvSpPr>
          <p:cNvPr id="41" name="Shape 39"/>
          <p:cNvSpPr/>
          <p:nvPr/>
        </p:nvSpPr>
        <p:spPr>
          <a:xfrm>
            <a:off x="1591056" y="6428232"/>
            <a:ext cx="6656832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1591056" y="6638544"/>
            <a:ext cx="6355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습득 장소와 시간을 기록한다.</a:t>
            </a:r>
            <a:endParaRPr lang="en-US" sz="1250"/>
          </a:p>
        </p:txBody>
      </p:sp>
      <p:sp>
        <p:nvSpPr>
          <p:cNvPr id="43" name="Text 41"/>
          <p:cNvSpPr txBox="1"/>
          <p:nvPr/>
        </p:nvSpPr>
        <p:spPr>
          <a:xfrm>
            <a:off x="1591056" y="6949440"/>
            <a:ext cx="6355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보관 담당자에게 인계한다.</a:t>
            </a:r>
            <a:endParaRPr lang="en-US" sz="1250"/>
          </a:p>
        </p:txBody>
      </p:sp>
      <p:sp>
        <p:nvSpPr>
          <p:cNvPr id="44" name="Text 42"/>
          <p:cNvSpPr txBox="1"/>
          <p:nvPr/>
        </p:nvSpPr>
        <p:spPr>
          <a:xfrm>
            <a:off x="1591056" y="7260336"/>
            <a:ext cx="6355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>
                <a:solidFill>
                  <a:srgbClr val="5A6D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고객 확인 후 반환 절차를 진행한다.</a:t>
            </a:r>
            <a:endParaRPr lang="en-US" sz="1250"/>
          </a:p>
        </p:txBody>
      </p:sp>
      <p:sp>
        <p:nvSpPr>
          <p:cNvPr id="45" name="Shape 43"/>
          <p:cNvSpPr/>
          <p:nvPr/>
        </p:nvSpPr>
        <p:spPr>
          <a:xfrm>
            <a:off x="1591056" y="7589520"/>
            <a:ext cx="2157984" cy="3931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1591056" y="7589520"/>
            <a:ext cx="2157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· 시설 운영 지침.pdf</a:t>
            </a:r>
            <a:endParaRPr lang="en-US" sz="1130"/>
          </a:p>
        </p:txBody>
      </p:sp>
      <p:sp>
        <p:nvSpPr>
          <p:cNvPr id="47" name="Shape 45"/>
          <p:cNvSpPr/>
          <p:nvPr/>
        </p:nvSpPr>
        <p:spPr>
          <a:xfrm>
            <a:off x="9747504" y="5266944"/>
            <a:ext cx="72237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10021824" y="55412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kern="0" spc="12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FORECAST EXAMPLE</a:t>
            </a:r>
            <a:endParaRPr lang="en-US" sz="1120"/>
          </a:p>
        </p:txBody>
      </p:sp>
      <p:sp>
        <p:nvSpPr>
          <p:cNvPr id="49" name="Shape 47"/>
          <p:cNvSpPr/>
          <p:nvPr/>
        </p:nvSpPr>
        <p:spPr>
          <a:xfrm>
            <a:off x="10021824" y="5916168"/>
            <a:ext cx="2121408" cy="850392"/>
          </a:xfrm>
          <a:prstGeom prst="roundRect">
            <a:avLst>
              <a:gd name="adj" fmla="val 5376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10021824" y="601675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</a:t>
            </a:r>
            <a:endParaRPr lang="en-US" sz="1050"/>
          </a:p>
        </p:txBody>
      </p:sp>
      <p:sp>
        <p:nvSpPr>
          <p:cNvPr id="51" name="Text 49"/>
          <p:cNvSpPr txBox="1"/>
          <p:nvPr/>
        </p:nvSpPr>
        <p:spPr>
          <a:xfrm>
            <a:off x="10021824" y="630021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D+1</a:t>
            </a:r>
            <a:endParaRPr lang="en-US" sz="2000"/>
          </a:p>
        </p:txBody>
      </p:sp>
      <p:sp>
        <p:nvSpPr>
          <p:cNvPr id="52" name="Shape 50"/>
          <p:cNvSpPr/>
          <p:nvPr/>
        </p:nvSpPr>
        <p:spPr>
          <a:xfrm>
            <a:off x="12271248" y="5916168"/>
            <a:ext cx="2121408" cy="850392"/>
          </a:xfrm>
          <a:prstGeom prst="roundRect">
            <a:avLst>
              <a:gd name="adj" fmla="val 5376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12271248" y="601675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객실</a:t>
            </a:r>
            <a:endParaRPr lang="en-US" sz="1050"/>
          </a:p>
        </p:txBody>
      </p:sp>
      <p:sp>
        <p:nvSpPr>
          <p:cNvPr id="54" name="Text 52"/>
          <p:cNvSpPr txBox="1"/>
          <p:nvPr/>
        </p:nvSpPr>
        <p:spPr>
          <a:xfrm>
            <a:off x="12271248" y="630021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505건</a:t>
            </a:r>
            <a:endParaRPr lang="en-US" sz="2000"/>
          </a:p>
        </p:txBody>
      </p:sp>
      <p:sp>
        <p:nvSpPr>
          <p:cNvPr id="55" name="Shape 53"/>
          <p:cNvSpPr/>
          <p:nvPr/>
        </p:nvSpPr>
        <p:spPr>
          <a:xfrm>
            <a:off x="14520672" y="5916168"/>
            <a:ext cx="2121408" cy="850392"/>
          </a:xfrm>
          <a:prstGeom prst="roundRect">
            <a:avLst>
              <a:gd name="adj" fmla="val 5376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6" name="Text 54"/>
          <p:cNvSpPr txBox="1"/>
          <p:nvPr/>
        </p:nvSpPr>
        <p:spPr>
          <a:xfrm>
            <a:off x="14520672" y="601675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객실</a:t>
            </a:r>
            <a:endParaRPr lang="en-US" sz="1050"/>
          </a:p>
        </p:txBody>
      </p:sp>
      <p:sp>
        <p:nvSpPr>
          <p:cNvPr id="57" name="Text 55"/>
          <p:cNvSpPr txBox="1"/>
          <p:nvPr/>
        </p:nvSpPr>
        <p:spPr>
          <a:xfrm>
            <a:off x="14520672" y="630021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383건</a:t>
            </a:r>
            <a:endParaRPr lang="en-US" sz="2000"/>
          </a:p>
        </p:txBody>
      </p:sp>
      <p:sp>
        <p:nvSpPr>
          <p:cNvPr id="58" name="Shape 56"/>
          <p:cNvSpPr/>
          <p:nvPr/>
        </p:nvSpPr>
        <p:spPr>
          <a:xfrm>
            <a:off x="10021824" y="6867144"/>
            <a:ext cx="6620256" cy="429768"/>
          </a:xfrm>
          <a:prstGeom prst="roundRect">
            <a:avLst>
              <a:gd name="adj" fmla="val 851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9" name="Text 57"/>
          <p:cNvSpPr txBox="1"/>
          <p:nvPr/>
        </p:nvSpPr>
        <p:spPr>
          <a:xfrm>
            <a:off x="10021824" y="6931152"/>
            <a:ext cx="6620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수요율 75.8%</a:t>
            </a:r>
            <a:endParaRPr lang="en-US" sz="1550"/>
          </a:p>
        </p:txBody>
      </p:sp>
      <p:sp>
        <p:nvSpPr>
          <p:cNvPr id="60" name="Shape 58"/>
          <p:cNvSpPr/>
          <p:nvPr/>
        </p:nvSpPr>
        <p:spPr>
          <a:xfrm flipV="1">
            <a:off x="10457688" y="7653528"/>
            <a:ext cx="1040892" cy="118872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1" name="Shape 59"/>
          <p:cNvSpPr/>
          <p:nvPr/>
        </p:nvSpPr>
        <p:spPr>
          <a:xfrm flipV="1">
            <a:off x="12545568" y="7470646"/>
            <a:ext cx="1071372" cy="18289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10393680" y="7763255"/>
            <a:ext cx="64008" cy="64008"/>
          </a:xfrm>
          <a:prstGeom prst="ellipse">
            <a:avLst/>
          </a:prstGeom>
          <a:solidFill>
            <a:srgbClr val="176FE5"/>
          </a:solidFill>
          <a:ln w="63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1434572" y="7618477"/>
            <a:ext cx="64008" cy="64008"/>
          </a:xfrm>
          <a:prstGeom prst="ellipse">
            <a:avLst/>
          </a:prstGeom>
          <a:solidFill>
            <a:srgbClr val="176FE5"/>
          </a:solidFill>
          <a:ln w="63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2513564" y="7450836"/>
            <a:ext cx="64008" cy="64008"/>
          </a:xfrm>
          <a:prstGeom prst="ellipse">
            <a:avLst/>
          </a:prstGeom>
          <a:solidFill>
            <a:srgbClr val="176FE5"/>
          </a:solidFill>
          <a:ln w="63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13555980" y="7443216"/>
            <a:ext cx="64008" cy="64008"/>
          </a:xfrm>
          <a:prstGeom prst="ellipse">
            <a:avLst/>
          </a:prstGeom>
          <a:solidFill>
            <a:srgbClr val="176FE5"/>
          </a:solidFill>
          <a:ln w="63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4653260" y="7639813"/>
            <a:ext cx="64008" cy="64008"/>
          </a:xfrm>
          <a:prstGeom prst="ellipse">
            <a:avLst/>
          </a:prstGeom>
          <a:solidFill>
            <a:srgbClr val="176FE5"/>
          </a:solidFill>
          <a:ln w="63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5713964" y="7770876"/>
            <a:ext cx="64008" cy="64008"/>
          </a:xfrm>
          <a:prstGeom prst="ellipse">
            <a:avLst/>
          </a:prstGeom>
          <a:solidFill>
            <a:srgbClr val="176FE5"/>
          </a:solidFill>
          <a:ln w="63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16785336" y="7851647"/>
            <a:ext cx="64008" cy="64008"/>
          </a:xfrm>
          <a:prstGeom prst="ellipse">
            <a:avLst/>
          </a:prstGeom>
          <a:solidFill>
            <a:srgbClr val="176FE5"/>
          </a:solidFill>
          <a:ln w="63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3" name="Text 71"/>
          <p:cNvSpPr txBox="1"/>
          <p:nvPr/>
        </p:nvSpPr>
        <p:spPr>
          <a:xfrm>
            <a:off x="9893808" y="79735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+1일</a:t>
            </a:r>
            <a:endParaRPr lang="en-US" sz="850"/>
          </a:p>
        </p:txBody>
      </p:sp>
      <p:sp>
        <p:nvSpPr>
          <p:cNvPr id="74" name="Text 72"/>
          <p:cNvSpPr txBox="1"/>
          <p:nvPr/>
        </p:nvSpPr>
        <p:spPr>
          <a:xfrm>
            <a:off x="10963656" y="79735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+2일</a:t>
            </a:r>
            <a:endParaRPr lang="en-US" sz="850"/>
          </a:p>
        </p:txBody>
      </p:sp>
      <p:sp>
        <p:nvSpPr>
          <p:cNvPr id="75" name="Text 73"/>
          <p:cNvSpPr txBox="1"/>
          <p:nvPr/>
        </p:nvSpPr>
        <p:spPr>
          <a:xfrm>
            <a:off x="12033504" y="79735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+3일</a:t>
            </a:r>
            <a:endParaRPr lang="en-US" sz="850"/>
          </a:p>
        </p:txBody>
      </p:sp>
      <p:sp>
        <p:nvSpPr>
          <p:cNvPr id="76" name="Text 74"/>
          <p:cNvSpPr txBox="1"/>
          <p:nvPr/>
        </p:nvSpPr>
        <p:spPr>
          <a:xfrm>
            <a:off x="13103352" y="79735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+4일</a:t>
            </a:r>
            <a:endParaRPr lang="en-US" sz="850"/>
          </a:p>
        </p:txBody>
      </p:sp>
      <p:sp>
        <p:nvSpPr>
          <p:cNvPr id="77" name="Text 75"/>
          <p:cNvSpPr txBox="1"/>
          <p:nvPr/>
        </p:nvSpPr>
        <p:spPr>
          <a:xfrm>
            <a:off x="14173200" y="79735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+5일</a:t>
            </a:r>
            <a:endParaRPr lang="en-US" sz="850"/>
          </a:p>
        </p:txBody>
      </p:sp>
      <p:sp>
        <p:nvSpPr>
          <p:cNvPr id="78" name="Text 76"/>
          <p:cNvSpPr txBox="1"/>
          <p:nvPr/>
        </p:nvSpPr>
        <p:spPr>
          <a:xfrm>
            <a:off x="15243048" y="79735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+6일</a:t>
            </a:r>
            <a:endParaRPr lang="en-US" sz="850"/>
          </a:p>
        </p:txBody>
      </p:sp>
      <p:sp>
        <p:nvSpPr>
          <p:cNvPr id="79" name="Text 77"/>
          <p:cNvSpPr txBox="1"/>
          <p:nvPr/>
        </p:nvSpPr>
        <p:spPr>
          <a:xfrm>
            <a:off x="16312896" y="79735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7589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+7일</a:t>
            </a:r>
            <a:endParaRPr lang="en-US" sz="850"/>
          </a:p>
        </p:txBody>
      </p:sp>
      <p:sp>
        <p:nvSpPr>
          <p:cNvPr id="81" name="Shape 58">
            <a:extLst>
              <a:ext uri="{FF2B5EF4-FFF2-40B4-BE49-F238E27FC236}">
                <a16:creationId xmlns:a16="http://schemas.microsoft.com/office/drawing/2014/main" id="{871C9923-BC17-BF85-6F14-D0C15EB07B7B}"/>
              </a:ext>
            </a:extLst>
          </p:cNvPr>
          <p:cNvSpPr/>
          <p:nvPr/>
        </p:nvSpPr>
        <p:spPr>
          <a:xfrm flipV="1">
            <a:off x="11474196" y="7496555"/>
            <a:ext cx="1039368" cy="147829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3" name="Shape 59">
            <a:extLst>
              <a:ext uri="{FF2B5EF4-FFF2-40B4-BE49-F238E27FC236}">
                <a16:creationId xmlns:a16="http://schemas.microsoft.com/office/drawing/2014/main" id="{0A3ED827-D9BE-E371-8A52-21B99DA16EA0}"/>
              </a:ext>
            </a:extLst>
          </p:cNvPr>
          <p:cNvSpPr/>
          <p:nvPr/>
        </p:nvSpPr>
        <p:spPr>
          <a:xfrm>
            <a:off x="13606272" y="7475983"/>
            <a:ext cx="1110996" cy="195832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5" name="Shape 59">
            <a:extLst>
              <a:ext uri="{FF2B5EF4-FFF2-40B4-BE49-F238E27FC236}">
                <a16:creationId xmlns:a16="http://schemas.microsoft.com/office/drawing/2014/main" id="{002A2B52-BCF7-A7AC-873A-069E041BFBBB}"/>
              </a:ext>
            </a:extLst>
          </p:cNvPr>
          <p:cNvSpPr/>
          <p:nvPr/>
        </p:nvSpPr>
        <p:spPr>
          <a:xfrm>
            <a:off x="14673072" y="7671815"/>
            <a:ext cx="1072896" cy="138684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7" name="Shape 59">
            <a:extLst>
              <a:ext uri="{FF2B5EF4-FFF2-40B4-BE49-F238E27FC236}">
                <a16:creationId xmlns:a16="http://schemas.microsoft.com/office/drawing/2014/main" id="{1C37C75C-822D-EDB6-9A94-69E2617BC285}"/>
              </a:ext>
            </a:extLst>
          </p:cNvPr>
          <p:cNvSpPr/>
          <p:nvPr/>
        </p:nvSpPr>
        <p:spPr>
          <a:xfrm>
            <a:off x="15742920" y="7805928"/>
            <a:ext cx="1042416" cy="7620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C70E71E-A6EB-8C81-253F-E685B6CAF86C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ea typeface="맑은 고딕"/>
                <a:cs typeface="Calibri"/>
              </a:rPr>
              <a:t>질문 처리 방식 분리</a:t>
            </a:r>
          </a:p>
        </p:txBody>
      </p:sp>
      <p:sp>
        <p:nvSpPr>
          <p:cNvPr id="63" name="Shape 0">
            <a:extLst>
              <a:ext uri="{FF2B5EF4-FFF2-40B4-BE49-F238E27FC236}">
                <a16:creationId xmlns:a16="http://schemas.microsoft.com/office/drawing/2014/main" id="{F1B2E7B1-AD94-8EFB-5453-8256C3176E89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5" name="Text 1">
            <a:extLst>
              <a:ext uri="{FF2B5EF4-FFF2-40B4-BE49-F238E27FC236}">
                <a16:creationId xmlns:a16="http://schemas.microsoft.com/office/drawing/2014/main" id="{5F9B21CD-8367-D196-EC0F-90D6309B1E90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33 · SPECIALIZED AGENTS</a:t>
            </a:r>
            <a:endParaRPr lang="en-US" sz="1100" b="1" kern="0" spc="100">
              <a:solidFill>
                <a:srgbClr val="176FE5"/>
              </a:solidFill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555188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1009650" y="21717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VERIFIED ARTIFACT</a:t>
            </a:r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6572250" y="217170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A4 REPORT BUILDER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1009650" y="2667000"/>
            <a:ext cx="4000500" cy="49530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14450" y="3028950"/>
            <a:ext cx="628650" cy="628650"/>
          </a:xfrm>
          <a:prstGeom prst="roundRect">
            <a:avLst>
              <a:gd name="adj" fmla="val 1212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14450" y="3028950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628650" h="628650">
                <a:moveTo>
                  <a:pt x="161925" y="152400"/>
                </a:moveTo>
                <a:lnTo>
                  <a:pt x="438150" y="152400"/>
                </a:lnTo>
                <a:lnTo>
                  <a:pt x="523875" y="238125"/>
                </a:lnTo>
                <a:lnTo>
                  <a:pt x="523875" y="504825"/>
                </a:lnTo>
                <a:lnTo>
                  <a:pt x="161925" y="504825"/>
                </a:lnTo>
                <a:close/>
                <a:moveTo>
                  <a:pt x="438150" y="152400"/>
                </a:moveTo>
                <a:lnTo>
                  <a:pt x="438150" y="247650"/>
                </a:lnTo>
                <a:lnTo>
                  <a:pt x="523875" y="247650"/>
                </a:lnTo>
                <a:moveTo>
                  <a:pt x="228600" y="333375"/>
                </a:moveTo>
                <a:lnTo>
                  <a:pt x="447675" y="333375"/>
                </a:lnTo>
                <a:moveTo>
                  <a:pt x="228600" y="419100"/>
                </a:moveTo>
                <a:lnTo>
                  <a:pt x="400050" y="419100"/>
                </a:lnTo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152650" y="3145155"/>
            <a:ext cx="2552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분석 결과</a:t>
            </a:r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1314450" y="3905250"/>
            <a:ext cx="33909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343025" y="4200525"/>
            <a:ext cx="323850" cy="32385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343025" y="4200525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95250" y="171450"/>
                </a:moveTo>
                <a:lnTo>
                  <a:pt x="142875" y="219075"/>
                </a:lnTo>
                <a:lnTo>
                  <a:pt x="238125" y="104775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809750" y="419100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1575"/>
          </a:p>
        </p:txBody>
      </p:sp>
      <p:sp>
        <p:nvSpPr>
          <p:cNvPr id="18" name="Shape 16"/>
          <p:cNvSpPr/>
          <p:nvPr/>
        </p:nvSpPr>
        <p:spPr>
          <a:xfrm>
            <a:off x="1343025" y="4752975"/>
            <a:ext cx="323850" cy="32385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343025" y="4752975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95250" y="171450"/>
                </a:moveTo>
                <a:lnTo>
                  <a:pt x="142875" y="219075"/>
                </a:lnTo>
                <a:lnTo>
                  <a:pt x="238125" y="104775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809750" y="474345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표·차트</a:t>
            </a:r>
            <a:endParaRPr lang="en-US" sz="1575"/>
          </a:p>
        </p:txBody>
      </p:sp>
      <p:sp>
        <p:nvSpPr>
          <p:cNvPr id="21" name="Shape 19"/>
          <p:cNvSpPr/>
          <p:nvPr/>
        </p:nvSpPr>
        <p:spPr>
          <a:xfrm>
            <a:off x="1343025" y="5305425"/>
            <a:ext cx="323850" cy="32385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343025" y="5305425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95250" y="171450"/>
                </a:moveTo>
                <a:lnTo>
                  <a:pt x="142875" y="219075"/>
                </a:lnTo>
                <a:lnTo>
                  <a:pt x="238125" y="104775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809750" y="529590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데이터</a:t>
            </a:r>
            <a:endParaRPr lang="en-US" sz="1575"/>
          </a:p>
        </p:txBody>
      </p:sp>
      <p:sp>
        <p:nvSpPr>
          <p:cNvPr id="24" name="Shape 22"/>
          <p:cNvSpPr/>
          <p:nvPr/>
        </p:nvSpPr>
        <p:spPr>
          <a:xfrm>
            <a:off x="1343025" y="5857875"/>
            <a:ext cx="323850" cy="32385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343025" y="5857875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95250" y="171450"/>
                </a:moveTo>
                <a:lnTo>
                  <a:pt x="142875" y="219075"/>
                </a:lnTo>
                <a:lnTo>
                  <a:pt x="238125" y="104775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1809750" y="584835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근거</a:t>
            </a:r>
            <a:endParaRPr lang="en-US" sz="1575"/>
          </a:p>
        </p:txBody>
      </p:sp>
      <p:sp>
        <p:nvSpPr>
          <p:cNvPr id="27" name="Text 25"/>
          <p:cNvSpPr txBox="1"/>
          <p:nvPr/>
        </p:nvSpPr>
        <p:spPr>
          <a:xfrm>
            <a:off x="1314450" y="6334125"/>
            <a:ext cx="1714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인증</a:t>
            </a:r>
            <a:endParaRPr lang="en-US" sz="1125"/>
          </a:p>
        </p:txBody>
      </p:sp>
      <p:sp>
        <p:nvSpPr>
          <p:cNvPr id="28" name="Shape 26"/>
          <p:cNvSpPr/>
          <p:nvPr/>
        </p:nvSpPr>
        <p:spPr>
          <a:xfrm>
            <a:off x="1866900" y="6762750"/>
            <a:ext cx="647700" cy="6477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924050" y="6819900"/>
            <a:ext cx="533400" cy="5334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866900" y="6917055"/>
            <a:ext cx="647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G1</a:t>
            </a:r>
            <a:endParaRPr lang="en-US" sz="1050"/>
          </a:p>
        </p:txBody>
      </p:sp>
      <p:sp>
        <p:nvSpPr>
          <p:cNvPr id="31" name="Text 29"/>
          <p:cNvSpPr txBox="1"/>
          <p:nvPr/>
        </p:nvSpPr>
        <p:spPr>
          <a:xfrm>
            <a:off x="1866900" y="7067550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확인</a:t>
            </a:r>
            <a:endParaRPr lang="en-US" sz="750"/>
          </a:p>
        </p:txBody>
      </p:sp>
      <p:sp>
        <p:nvSpPr>
          <p:cNvPr id="32" name="Text 30"/>
          <p:cNvSpPr txBox="1"/>
          <p:nvPr/>
        </p:nvSpPr>
        <p:spPr>
          <a:xfrm>
            <a:off x="1866900" y="7191375"/>
            <a:ext cx="647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675"/>
          </a:p>
        </p:txBody>
      </p:sp>
      <p:sp>
        <p:nvSpPr>
          <p:cNvPr id="33" name="Shape 31"/>
          <p:cNvSpPr/>
          <p:nvPr/>
        </p:nvSpPr>
        <p:spPr>
          <a:xfrm>
            <a:off x="2686050" y="6762750"/>
            <a:ext cx="647700" cy="6477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43200" y="6819900"/>
            <a:ext cx="533400" cy="5334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2686050" y="6917055"/>
            <a:ext cx="647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G2</a:t>
            </a:r>
            <a:endParaRPr lang="en-US" sz="1050"/>
          </a:p>
        </p:txBody>
      </p:sp>
      <p:sp>
        <p:nvSpPr>
          <p:cNvPr id="36" name="Text 34"/>
          <p:cNvSpPr txBox="1"/>
          <p:nvPr/>
        </p:nvSpPr>
        <p:spPr>
          <a:xfrm>
            <a:off x="2686050" y="7067550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검증</a:t>
            </a:r>
            <a:endParaRPr lang="en-US" sz="750"/>
          </a:p>
        </p:txBody>
      </p:sp>
      <p:sp>
        <p:nvSpPr>
          <p:cNvPr id="37" name="Text 35"/>
          <p:cNvSpPr txBox="1"/>
          <p:nvPr/>
        </p:nvSpPr>
        <p:spPr>
          <a:xfrm>
            <a:off x="2686050" y="7191375"/>
            <a:ext cx="647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675"/>
          </a:p>
        </p:txBody>
      </p:sp>
      <p:sp>
        <p:nvSpPr>
          <p:cNvPr id="38" name="Shape 36"/>
          <p:cNvSpPr/>
          <p:nvPr/>
        </p:nvSpPr>
        <p:spPr>
          <a:xfrm>
            <a:off x="3505200" y="6762750"/>
            <a:ext cx="647700" cy="6477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562350" y="6819900"/>
            <a:ext cx="533400" cy="5334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159C98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3505200" y="6917055"/>
            <a:ext cx="647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G3</a:t>
            </a:r>
            <a:endParaRPr lang="en-US" sz="1050"/>
          </a:p>
        </p:txBody>
      </p:sp>
      <p:sp>
        <p:nvSpPr>
          <p:cNvPr id="41" name="Text 39"/>
          <p:cNvSpPr txBox="1"/>
          <p:nvPr/>
        </p:nvSpPr>
        <p:spPr>
          <a:xfrm>
            <a:off x="3505200" y="7067550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확인</a:t>
            </a:r>
            <a:endParaRPr lang="en-US" sz="750"/>
          </a:p>
        </p:txBody>
      </p:sp>
      <p:sp>
        <p:nvSpPr>
          <p:cNvPr id="42" name="Text 40"/>
          <p:cNvSpPr txBox="1"/>
          <p:nvPr/>
        </p:nvSpPr>
        <p:spPr>
          <a:xfrm>
            <a:off x="3505200" y="7191375"/>
            <a:ext cx="647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5" b="1">
                <a:solidFill>
                  <a:srgbClr val="159C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endParaRPr lang="en-US" sz="675"/>
          </a:p>
        </p:txBody>
      </p:sp>
      <p:sp>
        <p:nvSpPr>
          <p:cNvPr id="43" name="Shape 41"/>
          <p:cNvSpPr/>
          <p:nvPr/>
        </p:nvSpPr>
        <p:spPr>
          <a:xfrm>
            <a:off x="5105400" y="4953000"/>
            <a:ext cx="137160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5219700" y="4267200"/>
            <a:ext cx="114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err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보고서에</a:t>
            </a:r>
            <a:r>
              <a:rPr lang="en-US" sz="14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b="1" err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추가</a:t>
            </a:r>
            <a:endParaRPr lang="en-US" sz="1400">
              <a:latin typeface="Pretendard"/>
              <a:ea typeface="Calibri"/>
              <a:cs typeface="Calibri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572250" y="2667000"/>
            <a:ext cx="10706100" cy="495300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587490" y="2697480"/>
            <a:ext cx="10690860" cy="781050"/>
          </a:xfrm>
          <a:prstGeom prst="roundRect">
            <a:avLst>
              <a:gd name="adj" fmla="val 1081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877050" y="2847975"/>
            <a:ext cx="361950" cy="361950"/>
          </a:xfrm>
          <a:prstGeom prst="roundRect">
            <a:avLst>
              <a:gd name="adj" fmla="val 15789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934200" y="2905125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934200" y="29051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63789" y="60036"/>
                </a:moveTo>
                <a:lnTo>
                  <a:pt x="172605" y="60036"/>
                </a:lnTo>
                <a:lnTo>
                  <a:pt x="206375" y="93807"/>
                </a:lnTo>
                <a:lnTo>
                  <a:pt x="206375" y="198870"/>
                </a:lnTo>
                <a:lnTo>
                  <a:pt x="63789" y="198870"/>
                </a:lnTo>
                <a:close/>
                <a:moveTo>
                  <a:pt x="172605" y="60036"/>
                </a:moveTo>
                <a:lnTo>
                  <a:pt x="172605" y="97559"/>
                </a:lnTo>
                <a:lnTo>
                  <a:pt x="206375" y="97559"/>
                </a:lnTo>
                <a:moveTo>
                  <a:pt x="90055" y="131330"/>
                </a:moveTo>
                <a:lnTo>
                  <a:pt x="176357" y="131330"/>
                </a:lnTo>
                <a:moveTo>
                  <a:pt x="90055" y="165100"/>
                </a:moveTo>
                <a:lnTo>
                  <a:pt x="157595" y="165100"/>
                </a:lnTo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7429500" y="2887980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운영 보고서</a:t>
            </a:r>
            <a:endParaRPr lang="en-US" sz="2000"/>
          </a:p>
        </p:txBody>
      </p:sp>
      <p:sp>
        <p:nvSpPr>
          <p:cNvPr id="53" name="Shape 51"/>
          <p:cNvSpPr/>
          <p:nvPr/>
        </p:nvSpPr>
        <p:spPr>
          <a:xfrm>
            <a:off x="6858000" y="3638550"/>
            <a:ext cx="2114550" cy="3600450"/>
          </a:xfrm>
          <a:prstGeom prst="roundRect">
            <a:avLst>
              <a:gd name="adj" fmla="val 3153"/>
            </a:avLst>
          </a:prstGeom>
          <a:solidFill>
            <a:srgbClr val="FFFFFF"/>
          </a:solidFill>
          <a:ln w="12700">
            <a:solidFill>
              <a:srgbClr val="CADCED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4" name="Text 52"/>
          <p:cNvSpPr txBox="1"/>
          <p:nvPr/>
        </p:nvSpPr>
        <p:spPr>
          <a:xfrm>
            <a:off x="7086600" y="3724275"/>
            <a:ext cx="16573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 블록</a:t>
            </a:r>
            <a:endParaRPr lang="en-US" sz="1575"/>
          </a:p>
        </p:txBody>
      </p:sp>
      <p:sp>
        <p:nvSpPr>
          <p:cNvPr id="55" name="Shape 53"/>
          <p:cNvSpPr/>
          <p:nvPr/>
        </p:nvSpPr>
        <p:spPr>
          <a:xfrm>
            <a:off x="7086600" y="4257675"/>
            <a:ext cx="1657350" cy="74295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258050" y="4457700"/>
            <a:ext cx="333375" cy="333375"/>
          </a:xfrm>
          <a:prstGeom prst="roundRect">
            <a:avLst>
              <a:gd name="adj" fmla="val 1714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258050" y="4457700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85725" y="95250"/>
                </a:moveTo>
                <a:lnTo>
                  <a:pt x="247650" y="95250"/>
                </a:lnTo>
                <a:moveTo>
                  <a:pt x="85725" y="171450"/>
                </a:moveTo>
                <a:lnTo>
                  <a:pt x="209550" y="171450"/>
                </a:lnTo>
                <a:moveTo>
                  <a:pt x="85725" y="247650"/>
                </a:moveTo>
                <a:lnTo>
                  <a:pt x="238125" y="247650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7715250" y="4429125"/>
            <a:ext cx="95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요약</a:t>
            </a:r>
            <a:endParaRPr lang="en-US" sz="1425"/>
          </a:p>
        </p:txBody>
      </p:sp>
      <p:sp>
        <p:nvSpPr>
          <p:cNvPr id="59" name="Shape 57"/>
          <p:cNvSpPr/>
          <p:nvPr/>
        </p:nvSpPr>
        <p:spPr>
          <a:xfrm>
            <a:off x="7086600" y="5153025"/>
            <a:ext cx="1657350" cy="74295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258050" y="5353050"/>
            <a:ext cx="333375" cy="333375"/>
          </a:xfrm>
          <a:prstGeom prst="roundRect">
            <a:avLst>
              <a:gd name="adj" fmla="val 1714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258050" y="5353050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76200" y="257175"/>
                </a:moveTo>
                <a:lnTo>
                  <a:pt x="76200" y="161925"/>
                </a:lnTo>
                <a:lnTo>
                  <a:pt x="123825" y="161925"/>
                </a:lnTo>
                <a:lnTo>
                  <a:pt x="123825" y="257175"/>
                </a:lnTo>
                <a:moveTo>
                  <a:pt x="161925" y="257175"/>
                </a:moveTo>
                <a:lnTo>
                  <a:pt x="161925" y="95250"/>
                </a:lnTo>
                <a:lnTo>
                  <a:pt x="209550" y="95250"/>
                </a:lnTo>
                <a:lnTo>
                  <a:pt x="209550" y="257175"/>
                </a:lnTo>
                <a:moveTo>
                  <a:pt x="247650" y="257175"/>
                </a:moveTo>
                <a:lnTo>
                  <a:pt x="247650" y="57150"/>
                </a:lnTo>
                <a:lnTo>
                  <a:pt x="295275" y="57150"/>
                </a:lnTo>
                <a:lnTo>
                  <a:pt x="295275" y="257175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2" name="Text 60"/>
          <p:cNvSpPr txBox="1"/>
          <p:nvPr/>
        </p:nvSpPr>
        <p:spPr>
          <a:xfrm>
            <a:off x="7715250" y="5324475"/>
            <a:ext cx="95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</a:t>
            </a:r>
            <a:endParaRPr lang="en-US" sz="1425"/>
          </a:p>
        </p:txBody>
      </p:sp>
      <p:sp>
        <p:nvSpPr>
          <p:cNvPr id="63" name="Shape 61"/>
          <p:cNvSpPr/>
          <p:nvPr/>
        </p:nvSpPr>
        <p:spPr>
          <a:xfrm>
            <a:off x="7086600" y="6048375"/>
            <a:ext cx="1657350" cy="74295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258050" y="6248400"/>
            <a:ext cx="333375" cy="333375"/>
          </a:xfrm>
          <a:prstGeom prst="roundRect">
            <a:avLst>
              <a:gd name="adj" fmla="val 1714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7258050" y="6248400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76200" y="76200"/>
                </a:moveTo>
                <a:lnTo>
                  <a:pt x="257175" y="76200"/>
                </a:lnTo>
                <a:lnTo>
                  <a:pt x="257175" y="247650"/>
                </a:lnTo>
                <a:lnTo>
                  <a:pt x="76200" y="247650"/>
                </a:lnTo>
                <a:close/>
                <a:moveTo>
                  <a:pt x="76200" y="161925"/>
                </a:moveTo>
                <a:lnTo>
                  <a:pt x="257175" y="161925"/>
                </a:lnTo>
                <a:moveTo>
                  <a:pt x="161925" y="76200"/>
                </a:moveTo>
                <a:lnTo>
                  <a:pt x="161925" y="247650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6" name="Text 64"/>
          <p:cNvSpPr txBox="1"/>
          <p:nvPr/>
        </p:nvSpPr>
        <p:spPr>
          <a:xfrm>
            <a:off x="7715250" y="6219825"/>
            <a:ext cx="95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표</a:t>
            </a:r>
            <a:endParaRPr lang="en-US" sz="1425"/>
          </a:p>
        </p:txBody>
      </p:sp>
      <p:sp>
        <p:nvSpPr>
          <p:cNvPr id="67" name="Shape 65"/>
          <p:cNvSpPr/>
          <p:nvPr/>
        </p:nvSpPr>
        <p:spPr>
          <a:xfrm>
            <a:off x="9201150" y="3638550"/>
            <a:ext cx="0" cy="360045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9029700" y="5429250"/>
            <a:ext cx="40005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9" name="Text 67"/>
          <p:cNvSpPr txBox="1"/>
          <p:nvPr/>
        </p:nvSpPr>
        <p:spPr>
          <a:xfrm>
            <a:off x="8991600" y="48577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배치</a:t>
            </a:r>
            <a:endParaRPr lang="en-US" sz="1050"/>
          </a:p>
        </p:txBody>
      </p:sp>
      <p:sp>
        <p:nvSpPr>
          <p:cNvPr id="70" name="Shape 68"/>
          <p:cNvSpPr/>
          <p:nvPr/>
        </p:nvSpPr>
        <p:spPr>
          <a:xfrm>
            <a:off x="9525000" y="3638550"/>
            <a:ext cx="7334250" cy="3600450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 w="1397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2" name="Text 70"/>
          <p:cNvSpPr txBox="1"/>
          <p:nvPr/>
        </p:nvSpPr>
        <p:spPr>
          <a:xfrm>
            <a:off x="9829800" y="3762375"/>
            <a:ext cx="209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5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 PREVIEW</a:t>
            </a:r>
            <a:endParaRPr lang="en-US" sz="975"/>
          </a:p>
        </p:txBody>
      </p:sp>
      <p:sp>
        <p:nvSpPr>
          <p:cNvPr id="73" name="Text 71"/>
          <p:cNvSpPr txBox="1"/>
          <p:nvPr/>
        </p:nvSpPr>
        <p:spPr>
          <a:xfrm>
            <a:off x="9829800" y="4010025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운영 보고서</a:t>
            </a:r>
            <a:endParaRPr lang="en-US" sz="1875"/>
          </a:p>
        </p:txBody>
      </p:sp>
      <p:sp>
        <p:nvSpPr>
          <p:cNvPr id="74" name="Shape 72"/>
          <p:cNvSpPr/>
          <p:nvPr/>
        </p:nvSpPr>
        <p:spPr>
          <a:xfrm>
            <a:off x="9829800" y="4476750"/>
            <a:ext cx="6724650" cy="6477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5" name="Text 73"/>
          <p:cNvSpPr txBox="1"/>
          <p:nvPr/>
        </p:nvSpPr>
        <p:spPr>
          <a:xfrm>
            <a:off x="10058400" y="4543425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요약</a:t>
            </a:r>
            <a:endParaRPr lang="en-US" sz="1125"/>
          </a:p>
        </p:txBody>
      </p:sp>
      <p:sp>
        <p:nvSpPr>
          <p:cNvPr id="76" name="Text 74"/>
          <p:cNvSpPr txBox="1"/>
          <p:nvPr/>
        </p:nvSpPr>
        <p:spPr>
          <a:xfrm>
            <a:off x="10058400" y="4772025"/>
            <a:ext cx="590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객실과 식음 매출 흐름을 한눈에 정리</a:t>
            </a:r>
            <a:endParaRPr lang="en-US" sz="1425"/>
          </a:p>
        </p:txBody>
      </p:sp>
      <p:sp>
        <p:nvSpPr>
          <p:cNvPr id="77" name="Shape 75"/>
          <p:cNvSpPr/>
          <p:nvPr/>
        </p:nvSpPr>
        <p:spPr>
          <a:xfrm>
            <a:off x="9829800" y="5276850"/>
            <a:ext cx="3009900" cy="16192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ADCED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8" name="Text 76"/>
          <p:cNvSpPr txBox="1"/>
          <p:nvPr/>
        </p:nvSpPr>
        <p:spPr>
          <a:xfrm>
            <a:off x="10039350" y="5314950"/>
            <a:ext cx="152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추이</a:t>
            </a:r>
            <a:endParaRPr lang="en-US" sz="1350"/>
          </a:p>
        </p:txBody>
      </p:sp>
      <p:sp>
        <p:nvSpPr>
          <p:cNvPr id="79" name="Shape 77"/>
          <p:cNvSpPr/>
          <p:nvPr/>
        </p:nvSpPr>
        <p:spPr>
          <a:xfrm>
            <a:off x="10096500" y="6553200"/>
            <a:ext cx="2457450" cy="0"/>
          </a:xfrm>
          <a:prstGeom prst="line">
            <a:avLst/>
          </a:prstGeom>
          <a:noFill/>
          <a:ln w="12700">
            <a:solidFill>
              <a:srgbClr val="C4D8E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0334625" y="6115050"/>
            <a:ext cx="285750" cy="438150"/>
          </a:xfrm>
          <a:prstGeom prst="rect">
            <a:avLst/>
          </a:prstGeom>
          <a:solidFill>
            <a:srgbClr val="78AEF0"/>
          </a:solidFill>
          <a:ln w="12700">
            <a:solidFill>
              <a:srgbClr val="78AE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10810875" y="5867400"/>
            <a:ext cx="285750" cy="685800"/>
          </a:xfrm>
          <a:prstGeom prst="rect">
            <a:avLst/>
          </a:prstGeom>
          <a:solidFill>
            <a:srgbClr val="4B91EA"/>
          </a:solidFill>
          <a:ln w="12700">
            <a:solidFill>
              <a:srgbClr val="4B91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11287125" y="5695950"/>
            <a:ext cx="285750" cy="857250"/>
          </a:xfrm>
          <a:prstGeom prst="rect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11763375" y="5953125"/>
            <a:ext cx="285750" cy="600075"/>
          </a:xfrm>
          <a:prstGeom prst="rect">
            <a:avLst/>
          </a:prstGeom>
          <a:solidFill>
            <a:srgbClr val="0F5EC4"/>
          </a:solidFill>
          <a:ln w="12700">
            <a:solidFill>
              <a:srgbClr val="0F5E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12239625" y="5572125"/>
            <a:ext cx="285750" cy="981075"/>
          </a:xfrm>
          <a:prstGeom prst="rect">
            <a:avLst/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13011150" y="5276850"/>
            <a:ext cx="3543300" cy="16192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ADCED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6" name="Text 84"/>
          <p:cNvSpPr txBox="1"/>
          <p:nvPr/>
        </p:nvSpPr>
        <p:spPr>
          <a:xfrm>
            <a:off x="13220700" y="5314950"/>
            <a:ext cx="152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표</a:t>
            </a:r>
            <a:endParaRPr lang="en-US" sz="1350"/>
          </a:p>
        </p:txBody>
      </p:sp>
      <p:sp>
        <p:nvSpPr>
          <p:cNvPr id="87" name="Shape 85"/>
          <p:cNvSpPr/>
          <p:nvPr/>
        </p:nvSpPr>
        <p:spPr>
          <a:xfrm>
            <a:off x="13220700" y="5695950"/>
            <a:ext cx="3124200" cy="285750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13220700" y="5981700"/>
            <a:ext cx="3124200" cy="0"/>
          </a:xfrm>
          <a:prstGeom prst="line">
            <a:avLst/>
          </a:prstGeom>
          <a:noFill/>
          <a:ln w="10160">
            <a:solidFill>
              <a:srgbClr val="CADCE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13220700" y="6248400"/>
            <a:ext cx="3124200" cy="0"/>
          </a:xfrm>
          <a:prstGeom prst="line">
            <a:avLst/>
          </a:prstGeom>
          <a:noFill/>
          <a:ln w="10160">
            <a:solidFill>
              <a:srgbClr val="CADCE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13220700" y="6515100"/>
            <a:ext cx="3124200" cy="0"/>
          </a:xfrm>
          <a:prstGeom prst="line">
            <a:avLst/>
          </a:prstGeom>
          <a:noFill/>
          <a:ln w="10160">
            <a:solidFill>
              <a:srgbClr val="CADCE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14020800" y="5695950"/>
            <a:ext cx="0" cy="1085850"/>
          </a:xfrm>
          <a:prstGeom prst="line">
            <a:avLst/>
          </a:prstGeom>
          <a:noFill/>
          <a:ln w="10160">
            <a:solidFill>
              <a:srgbClr val="CADCE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5163800" y="5695950"/>
            <a:ext cx="0" cy="1085850"/>
          </a:xfrm>
          <a:prstGeom prst="line">
            <a:avLst/>
          </a:prstGeom>
          <a:noFill/>
          <a:ln w="10160">
            <a:solidFill>
              <a:srgbClr val="CADCE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1009650" y="7943850"/>
            <a:ext cx="79248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4" name="Text 92"/>
          <p:cNvSpPr txBox="1"/>
          <p:nvPr/>
        </p:nvSpPr>
        <p:spPr>
          <a:xfrm>
            <a:off x="1314450" y="8058150"/>
            <a:ext cx="238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표·차트 표현 변경</a:t>
            </a:r>
            <a:endParaRPr lang="en-US" sz="1575"/>
          </a:p>
        </p:txBody>
      </p:sp>
      <p:sp>
        <p:nvSpPr>
          <p:cNvPr id="95" name="Text 93"/>
          <p:cNvSpPr txBox="1"/>
          <p:nvPr/>
        </p:nvSpPr>
        <p:spPr>
          <a:xfrm>
            <a:off x="4095750" y="80581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기존 결과 재사용</a:t>
            </a:r>
            <a:endParaRPr lang="en-US" sz="1575"/>
          </a:p>
        </p:txBody>
      </p:sp>
      <p:sp>
        <p:nvSpPr>
          <p:cNvPr id="96" name="Shape 94"/>
          <p:cNvSpPr/>
          <p:nvPr/>
        </p:nvSpPr>
        <p:spPr>
          <a:xfrm>
            <a:off x="9124950" y="7943850"/>
            <a:ext cx="81534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7" name="Text 95"/>
          <p:cNvSpPr txBox="1"/>
          <p:nvPr/>
        </p:nvSpPr>
        <p:spPr>
          <a:xfrm>
            <a:off x="9429750" y="8058150"/>
            <a:ext cx="2571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지표·기간·필터 변경</a:t>
            </a:r>
            <a:endParaRPr lang="en-US" sz="1575"/>
          </a:p>
        </p:txBody>
      </p:sp>
      <p:sp>
        <p:nvSpPr>
          <p:cNvPr id="98" name="Text 96"/>
          <p:cNvSpPr txBox="1"/>
          <p:nvPr/>
        </p:nvSpPr>
        <p:spPr>
          <a:xfrm>
            <a:off x="12382500" y="8058150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새로운 분석 실행</a:t>
            </a:r>
            <a:endParaRPr lang="en-US" sz="1575"/>
          </a:p>
        </p:txBody>
      </p:sp>
      <p:sp>
        <p:nvSpPr>
          <p:cNvPr id="99" name="Shape 97"/>
          <p:cNvSpPr/>
          <p:nvPr/>
        </p:nvSpPr>
        <p:spPr>
          <a:xfrm>
            <a:off x="1009650" y="9048750"/>
            <a:ext cx="162687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0" name="Text 98"/>
          <p:cNvSpPr txBox="1"/>
          <p:nvPr/>
        </p:nvSpPr>
        <p:spPr>
          <a:xfrm>
            <a:off x="1009650" y="929640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 REUSE</a:t>
            </a:r>
            <a:endParaRPr lang="en-US" sz="1275"/>
          </a:p>
        </p:txBody>
      </p:sp>
      <p:sp>
        <p:nvSpPr>
          <p:cNvPr id="101" name="Text 99"/>
          <p:cNvSpPr txBox="1"/>
          <p:nvPr/>
        </p:nvSpPr>
        <p:spPr>
          <a:xfrm>
            <a:off x="2781300" y="9210675"/>
            <a:ext cx="238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분석 결과를</a:t>
            </a:r>
            <a:endParaRPr lang="en-US" sz="2250"/>
          </a:p>
        </p:txBody>
      </p:sp>
      <p:sp>
        <p:nvSpPr>
          <p:cNvPr id="102" name="Text 100"/>
          <p:cNvSpPr txBox="1"/>
          <p:nvPr/>
        </p:nvSpPr>
        <p:spPr>
          <a:xfrm>
            <a:off x="5400675" y="9210675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보고서에서 다시 활용</a:t>
            </a:r>
            <a:endParaRPr lang="en-US" sz="225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B7B3463-56A6-CC48-2337-7BCBA8B40C79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ea typeface="맑은 고딕"/>
                <a:cs typeface="Calibri"/>
              </a:rPr>
              <a:t>분석 결과 재사용</a:t>
            </a:r>
          </a:p>
        </p:txBody>
      </p:sp>
      <p:sp>
        <p:nvSpPr>
          <p:cNvPr id="47" name="Shape 0">
            <a:extLst>
              <a:ext uri="{FF2B5EF4-FFF2-40B4-BE49-F238E27FC236}">
                <a16:creationId xmlns:a16="http://schemas.microsoft.com/office/drawing/2014/main" id="{0D5F8579-14EB-65A9-C479-5A9DB02BC1B6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1" name="Text 1">
            <a:extLst>
              <a:ext uri="{FF2B5EF4-FFF2-40B4-BE49-F238E27FC236}">
                <a16:creationId xmlns:a16="http://schemas.microsoft.com/office/drawing/2014/main" id="{5A01E81E-CFC9-FAC6-0A5D-E1246B37A575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34 · REPORT WORKFLOW</a:t>
            </a:r>
            <a:endParaRPr lang="en-US" sz="1100" b="1" kern="0" spc="100">
              <a:solidFill>
                <a:srgbClr val="176FE5"/>
              </a:solidFill>
              <a:latin typeface="Pretendard"/>
              <a:ea typeface="Pretendar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1009650" y="2309812"/>
            <a:ext cx="4953000" cy="495300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667500" y="2309812"/>
            <a:ext cx="4953000" cy="495300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325350" y="2309812"/>
            <a:ext cx="4953000" cy="495300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52550" y="2671762"/>
            <a:ext cx="742950" cy="742950"/>
          </a:xfrm>
          <a:prstGeom prst="roundRect">
            <a:avLst>
              <a:gd name="adj" fmla="val 10256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352550" y="2671762"/>
            <a:ext cx="742950" cy="742950"/>
          </a:xfrm>
          <a:custGeom>
            <a:avLst/>
            <a:gdLst/>
            <a:ahLst/>
            <a:cxnLst/>
            <a:rect l="l" t="t" r="r" b="b"/>
            <a:pathLst>
              <a:path w="742950" h="742950">
                <a:moveTo>
                  <a:pt x="191366" y="180109"/>
                </a:moveTo>
                <a:lnTo>
                  <a:pt x="506557" y="180109"/>
                </a:lnTo>
                <a:lnTo>
                  <a:pt x="607868" y="281420"/>
                </a:lnTo>
                <a:lnTo>
                  <a:pt x="607868" y="585355"/>
                </a:lnTo>
                <a:lnTo>
                  <a:pt x="191366" y="585355"/>
                </a:lnTo>
                <a:close/>
                <a:moveTo>
                  <a:pt x="506557" y="180109"/>
                </a:moveTo>
                <a:lnTo>
                  <a:pt x="506557" y="292677"/>
                </a:lnTo>
                <a:lnTo>
                  <a:pt x="607868" y="292677"/>
                </a:lnTo>
                <a:moveTo>
                  <a:pt x="281420" y="393989"/>
                </a:moveTo>
                <a:lnTo>
                  <a:pt x="517814" y="393989"/>
                </a:lnTo>
                <a:moveTo>
                  <a:pt x="281420" y="495300"/>
                </a:moveTo>
                <a:lnTo>
                  <a:pt x="472786" y="495300"/>
                </a:lnTo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836593" y="3122035"/>
            <a:ext cx="225136" cy="225136"/>
          </a:xfrm>
          <a:custGeom>
            <a:avLst/>
            <a:gdLst/>
            <a:ahLst/>
            <a:cxnLst/>
            <a:rect l="l" t="t" r="r" b="b"/>
            <a:pathLst>
              <a:path w="225136" h="225136">
                <a:moveTo>
                  <a:pt x="95250" y="9525"/>
                </a:moveTo>
                <a:lnTo>
                  <a:pt x="95250" y="180975"/>
                </a:lnTo>
                <a:moveTo>
                  <a:pt x="9525" y="95250"/>
                </a:moveTo>
                <a:lnTo>
                  <a:pt x="180975" y="95250"/>
                </a:lnTo>
                <a:moveTo>
                  <a:pt x="95250" y="9525"/>
                </a:moveTo>
                <a:lnTo>
                  <a:pt x="66675" y="38100"/>
                </a:lnTo>
                <a:lnTo>
                  <a:pt x="95250" y="9525"/>
                </a:lnTo>
                <a:lnTo>
                  <a:pt x="123825" y="38100"/>
                </a:lnTo>
                <a:moveTo>
                  <a:pt x="180975" y="95250"/>
                </a:moveTo>
                <a:lnTo>
                  <a:pt x="152400" y="66675"/>
                </a:lnTo>
                <a:lnTo>
                  <a:pt x="180975" y="95250"/>
                </a:lnTo>
                <a:lnTo>
                  <a:pt x="152400" y="123825"/>
                </a:lnTo>
              </a:path>
            </a:pathLst>
          </a:custGeom>
          <a:solidFill>
            <a:srgbClr val="FFFFFF">
              <a:alpha val="0"/>
            </a:srgbClr>
          </a:solidFill>
          <a:ln w="1778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2343150" y="2643187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 EDITOR</a:t>
            </a:r>
            <a:endParaRPr lang="en-US" sz="1125"/>
          </a:p>
        </p:txBody>
      </p:sp>
      <p:sp>
        <p:nvSpPr>
          <p:cNvPr id="16" name="Text 14"/>
          <p:cNvSpPr txBox="1"/>
          <p:nvPr/>
        </p:nvSpPr>
        <p:spPr>
          <a:xfrm>
            <a:off x="2343150" y="2947988"/>
            <a:ext cx="3190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Drag &amp; Drop 편집</a:t>
            </a:r>
            <a:endParaRPr lang="en-US" sz="2050"/>
          </a:p>
        </p:txBody>
      </p:sp>
      <p:sp>
        <p:nvSpPr>
          <p:cNvPr id="17" name="Shape 15"/>
          <p:cNvSpPr/>
          <p:nvPr/>
        </p:nvSpPr>
        <p:spPr>
          <a:xfrm>
            <a:off x="1352550" y="3643312"/>
            <a:ext cx="4267200" cy="1504950"/>
          </a:xfrm>
          <a:prstGeom prst="roundRect">
            <a:avLst>
              <a:gd name="adj" fmla="val 3797"/>
            </a:avLst>
          </a:prstGeom>
          <a:solidFill>
            <a:srgbClr val="F8FAFC"/>
          </a:solidFill>
          <a:ln w="1270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600200" y="4012882"/>
            <a:ext cx="1219200" cy="89535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397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764030" y="3757612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블록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1828800" y="4460558"/>
            <a:ext cx="171450" cy="266700"/>
          </a:xfrm>
          <a:prstGeom prst="rect">
            <a:avLst/>
          </a:prstGeom>
          <a:solidFill>
            <a:srgbClr val="78AEF0"/>
          </a:solidFill>
          <a:ln w="12700">
            <a:solidFill>
              <a:srgbClr val="78AE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95500" y="4346257"/>
            <a:ext cx="171450" cy="381000"/>
          </a:xfrm>
          <a:prstGeom prst="rect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362200" y="4241482"/>
            <a:ext cx="171450" cy="485775"/>
          </a:xfrm>
          <a:prstGeom prst="rect">
            <a:avLst/>
          </a:prstGeom>
          <a:solidFill>
            <a:srgbClr val="153451"/>
          </a:solidFill>
          <a:ln w="12700">
            <a:solidFill>
              <a:srgbClr val="1534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81EC5430-92B8-7F4D-989A-4792DAEE6EF0}"/>
              </a:ext>
            </a:extLst>
          </p:cNvPr>
          <p:cNvGrpSpPr/>
          <p:nvPr/>
        </p:nvGrpSpPr>
        <p:grpSpPr>
          <a:xfrm>
            <a:off x="2856738" y="4211764"/>
            <a:ext cx="381000" cy="381000"/>
            <a:chOff x="2838450" y="4495800"/>
            <a:chExt cx="381000" cy="381000"/>
          </a:xfrm>
        </p:grpSpPr>
        <p:sp>
          <p:nvSpPr>
            <p:cNvPr id="23" name="Shape 21"/>
            <p:cNvSpPr/>
            <p:nvPr/>
          </p:nvSpPr>
          <p:spPr>
            <a:xfrm>
              <a:off x="2838450" y="4495800"/>
              <a:ext cx="381000" cy="38100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176FE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 panose="02000503000000020004" pitchFamily="2" charset="-127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3028950" y="4543425"/>
              <a:ext cx="0" cy="285750"/>
            </a:xfrm>
            <a:prstGeom prst="line">
              <a:avLst/>
            </a:prstGeom>
            <a:noFill/>
            <a:ln w="15240">
              <a:solidFill>
                <a:srgbClr val="176FE5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ko-KR" altLang="en-US">
                <a:ea typeface="Pretendard" panose="02000503000000020004" pitchFamily="2" charset="-127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2886075" y="4686300"/>
              <a:ext cx="285750" cy="0"/>
            </a:xfrm>
            <a:prstGeom prst="line">
              <a:avLst/>
            </a:prstGeom>
            <a:noFill/>
            <a:ln w="15240">
              <a:solidFill>
                <a:srgbClr val="176FE5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ko-KR" altLang="en-US"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24"/>
          <p:cNvSpPr/>
          <p:nvPr/>
        </p:nvSpPr>
        <p:spPr>
          <a:xfrm>
            <a:off x="3295650" y="3814762"/>
            <a:ext cx="2076450" cy="1171575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467100" y="3967162"/>
            <a:ext cx="1714500" cy="238125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467100" y="4300537"/>
            <a:ext cx="742950" cy="504825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1016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324350" y="4300537"/>
            <a:ext cx="857250" cy="504825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1016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67300" y="4738687"/>
            <a:ext cx="247650" cy="247650"/>
          </a:xfrm>
          <a:prstGeom prst="ellipse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5067300" y="4738687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500"/>
          </a:p>
        </p:txBody>
      </p:sp>
      <p:sp>
        <p:nvSpPr>
          <p:cNvPr id="32" name="Shape 30"/>
          <p:cNvSpPr/>
          <p:nvPr/>
        </p:nvSpPr>
        <p:spPr>
          <a:xfrm>
            <a:off x="1352550" y="5434013"/>
            <a:ext cx="2000250" cy="552450"/>
          </a:xfrm>
          <a:prstGeom prst="roundRect">
            <a:avLst>
              <a:gd name="adj" fmla="val 862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352550" y="5434013"/>
            <a:ext cx="2000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텍스트·설명</a:t>
            </a:r>
            <a:endParaRPr lang="en-US" sz="1550"/>
          </a:p>
        </p:txBody>
      </p:sp>
      <p:sp>
        <p:nvSpPr>
          <p:cNvPr id="34" name="Shape 32"/>
          <p:cNvSpPr/>
          <p:nvPr/>
        </p:nvSpPr>
        <p:spPr>
          <a:xfrm>
            <a:off x="3486150" y="5434013"/>
            <a:ext cx="2000250" cy="552450"/>
          </a:xfrm>
          <a:prstGeom prst="roundRect">
            <a:avLst>
              <a:gd name="adj" fmla="val 862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3486150" y="5434013"/>
            <a:ext cx="2000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</a:t>
            </a:r>
            <a:endParaRPr lang="en-US" sz="1550"/>
          </a:p>
        </p:txBody>
      </p:sp>
      <p:sp>
        <p:nvSpPr>
          <p:cNvPr id="36" name="Shape 34"/>
          <p:cNvSpPr/>
          <p:nvPr/>
        </p:nvSpPr>
        <p:spPr>
          <a:xfrm>
            <a:off x="1352550" y="6138862"/>
            <a:ext cx="2000250" cy="552450"/>
          </a:xfrm>
          <a:prstGeom prst="roundRect">
            <a:avLst>
              <a:gd name="adj" fmla="val 862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352550" y="6138862"/>
            <a:ext cx="2000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</a:t>
            </a:r>
            <a:endParaRPr lang="en-US" sz="1550"/>
          </a:p>
        </p:txBody>
      </p:sp>
      <p:sp>
        <p:nvSpPr>
          <p:cNvPr id="38" name="Shape 36"/>
          <p:cNvSpPr/>
          <p:nvPr/>
        </p:nvSpPr>
        <p:spPr>
          <a:xfrm>
            <a:off x="3486150" y="6138862"/>
            <a:ext cx="2000250" cy="552450"/>
          </a:xfrm>
          <a:prstGeom prst="roundRect">
            <a:avLst>
              <a:gd name="adj" fmla="val 862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3486150" y="6138862"/>
            <a:ext cx="2000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</a:t>
            </a:r>
            <a:endParaRPr lang="en-US" sz="1550"/>
          </a:p>
        </p:txBody>
      </p:sp>
      <p:sp>
        <p:nvSpPr>
          <p:cNvPr id="40" name="Shape 38"/>
          <p:cNvSpPr/>
          <p:nvPr/>
        </p:nvSpPr>
        <p:spPr>
          <a:xfrm>
            <a:off x="7010400" y="2671762"/>
            <a:ext cx="742950" cy="742950"/>
          </a:xfrm>
          <a:prstGeom prst="roundRect">
            <a:avLst>
              <a:gd name="adj" fmla="val 10256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010400" y="2671762"/>
            <a:ext cx="742950" cy="742950"/>
          </a:xfrm>
          <a:custGeom>
            <a:avLst/>
            <a:gdLst/>
            <a:ahLst/>
            <a:cxnLst/>
            <a:rect l="l" t="t" r="r" b="b"/>
            <a:pathLst>
              <a:path w="742950" h="742950">
                <a:moveTo>
                  <a:pt x="191366" y="180109"/>
                </a:moveTo>
                <a:lnTo>
                  <a:pt x="506557" y="180109"/>
                </a:lnTo>
                <a:lnTo>
                  <a:pt x="607868" y="281420"/>
                </a:lnTo>
                <a:lnTo>
                  <a:pt x="607868" y="585355"/>
                </a:lnTo>
                <a:lnTo>
                  <a:pt x="191366" y="585355"/>
                </a:lnTo>
                <a:close/>
                <a:moveTo>
                  <a:pt x="506557" y="180109"/>
                </a:moveTo>
                <a:lnTo>
                  <a:pt x="506557" y="292677"/>
                </a:lnTo>
                <a:lnTo>
                  <a:pt x="607868" y="292677"/>
                </a:lnTo>
                <a:moveTo>
                  <a:pt x="281420" y="393989"/>
                </a:moveTo>
                <a:lnTo>
                  <a:pt x="517814" y="393989"/>
                </a:lnTo>
                <a:moveTo>
                  <a:pt x="281420" y="495300"/>
                </a:moveTo>
                <a:lnTo>
                  <a:pt x="472786" y="495300"/>
                </a:lnTo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516957" y="2728047"/>
            <a:ext cx="168852" cy="168852"/>
          </a:xfrm>
          <a:prstGeom prst="star5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8001000" y="2643187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 AGENT</a:t>
            </a:r>
            <a:endParaRPr lang="en-US" sz="1125"/>
          </a:p>
        </p:txBody>
      </p:sp>
      <p:sp>
        <p:nvSpPr>
          <p:cNvPr id="44" name="Text 42"/>
          <p:cNvSpPr txBox="1"/>
          <p:nvPr/>
        </p:nvSpPr>
        <p:spPr>
          <a:xfrm>
            <a:off x="8001000" y="2947988"/>
            <a:ext cx="3190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err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</a:t>
            </a:r>
            <a:r>
              <a:rPr lang="en-US" sz="20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0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어시스턴트</a:t>
            </a:r>
            <a:endParaRPr lang="en-US" sz="2050"/>
          </a:p>
        </p:txBody>
      </p:sp>
      <p:sp>
        <p:nvSpPr>
          <p:cNvPr id="45" name="Shape 43"/>
          <p:cNvSpPr/>
          <p:nvPr/>
        </p:nvSpPr>
        <p:spPr>
          <a:xfrm>
            <a:off x="7010400" y="3719513"/>
            <a:ext cx="4267200" cy="981075"/>
          </a:xfrm>
          <a:prstGeom prst="roundRect">
            <a:avLst>
              <a:gd name="adj" fmla="val 4854"/>
            </a:avLst>
          </a:prstGeom>
          <a:solidFill>
            <a:srgbClr val="F8FAFC"/>
          </a:solidFill>
          <a:ln w="1270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181850" y="3948112"/>
            <a:ext cx="514350" cy="514350"/>
          </a:xfrm>
          <a:prstGeom prst="roundRect">
            <a:avLst>
              <a:gd name="adj" fmla="val 1296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181850" y="3948112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142875" y="161925"/>
                </a:moveTo>
                <a:lnTo>
                  <a:pt x="371475" y="161925"/>
                </a:lnTo>
                <a:moveTo>
                  <a:pt x="142875" y="257175"/>
                </a:moveTo>
                <a:lnTo>
                  <a:pt x="323850" y="257175"/>
                </a:lnTo>
                <a:moveTo>
                  <a:pt x="142875" y="352425"/>
                </a:moveTo>
                <a:lnTo>
                  <a:pt x="361950" y="352425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7848600" y="3900487"/>
            <a:ext cx="30099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 수정 제안</a:t>
            </a:r>
            <a:endParaRPr lang="en-US" sz="1650"/>
          </a:p>
        </p:txBody>
      </p:sp>
      <p:sp>
        <p:nvSpPr>
          <p:cNvPr id="49" name="Shape 47"/>
          <p:cNvSpPr/>
          <p:nvPr/>
        </p:nvSpPr>
        <p:spPr>
          <a:xfrm>
            <a:off x="7010400" y="4862513"/>
            <a:ext cx="4267200" cy="981075"/>
          </a:xfrm>
          <a:prstGeom prst="roundRect">
            <a:avLst>
              <a:gd name="adj" fmla="val 4854"/>
            </a:avLst>
          </a:prstGeom>
          <a:solidFill>
            <a:srgbClr val="F8FAFC"/>
          </a:solidFill>
          <a:ln w="1270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181850" y="5091113"/>
            <a:ext cx="514350" cy="514350"/>
          </a:xfrm>
          <a:prstGeom prst="roundRect">
            <a:avLst>
              <a:gd name="adj" fmla="val 12963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324725" y="5405438"/>
            <a:ext cx="47625" cy="76200"/>
          </a:xfrm>
          <a:prstGeom prst="rect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410450" y="5329237"/>
            <a:ext cx="47625" cy="152400"/>
          </a:xfrm>
          <a:prstGeom prst="rect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496175" y="5253037"/>
            <a:ext cx="47625" cy="228600"/>
          </a:xfrm>
          <a:prstGeom prst="rect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4" name="Text 52"/>
          <p:cNvSpPr txBox="1"/>
          <p:nvPr/>
        </p:nvSpPr>
        <p:spPr>
          <a:xfrm>
            <a:off x="7848600" y="5043487"/>
            <a:ext cx="30099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표·차트 변경 제안</a:t>
            </a:r>
            <a:endParaRPr lang="en-US" sz="1650"/>
          </a:p>
        </p:txBody>
      </p:sp>
      <p:sp>
        <p:nvSpPr>
          <p:cNvPr id="55" name="Shape 53"/>
          <p:cNvSpPr/>
          <p:nvPr/>
        </p:nvSpPr>
        <p:spPr>
          <a:xfrm>
            <a:off x="7010400" y="6119813"/>
            <a:ext cx="4267200" cy="695325"/>
          </a:xfrm>
          <a:prstGeom prst="roundRect">
            <a:avLst>
              <a:gd name="adj" fmla="val 6849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229475" y="6281737"/>
            <a:ext cx="361950" cy="3619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229475" y="6281737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95250" y="190500"/>
                </a:moveTo>
                <a:lnTo>
                  <a:pt x="152400" y="247650"/>
                </a:lnTo>
                <a:lnTo>
                  <a:pt x="266700" y="104775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7229475" y="6281737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2100"/>
          </a:p>
        </p:txBody>
      </p:sp>
      <p:sp>
        <p:nvSpPr>
          <p:cNvPr id="59" name="Text 57"/>
          <p:cNvSpPr txBox="1"/>
          <p:nvPr/>
        </p:nvSpPr>
        <p:spPr>
          <a:xfrm>
            <a:off x="7753350" y="6243637"/>
            <a:ext cx="323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확인 후 반영</a:t>
            </a:r>
            <a:endParaRPr lang="en-US" sz="1650"/>
          </a:p>
        </p:txBody>
      </p:sp>
      <p:sp>
        <p:nvSpPr>
          <p:cNvPr id="60" name="Shape 58"/>
          <p:cNvSpPr/>
          <p:nvPr/>
        </p:nvSpPr>
        <p:spPr>
          <a:xfrm>
            <a:off x="12668250" y="2671762"/>
            <a:ext cx="742950" cy="742950"/>
          </a:xfrm>
          <a:prstGeom prst="roundRect">
            <a:avLst>
              <a:gd name="adj" fmla="val 10256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2668250" y="2671762"/>
            <a:ext cx="742950" cy="742950"/>
          </a:xfrm>
          <a:custGeom>
            <a:avLst/>
            <a:gdLst/>
            <a:ahLst/>
            <a:cxnLst/>
            <a:rect l="l" t="t" r="r" b="b"/>
            <a:pathLst>
              <a:path w="742950" h="742950">
                <a:moveTo>
                  <a:pt x="191366" y="180109"/>
                </a:moveTo>
                <a:lnTo>
                  <a:pt x="506557" y="180109"/>
                </a:lnTo>
                <a:lnTo>
                  <a:pt x="607868" y="281420"/>
                </a:lnTo>
                <a:lnTo>
                  <a:pt x="607868" y="585355"/>
                </a:lnTo>
                <a:lnTo>
                  <a:pt x="191366" y="585355"/>
                </a:lnTo>
                <a:close/>
                <a:moveTo>
                  <a:pt x="506557" y="180109"/>
                </a:moveTo>
                <a:lnTo>
                  <a:pt x="506557" y="292677"/>
                </a:lnTo>
                <a:lnTo>
                  <a:pt x="607868" y="292677"/>
                </a:lnTo>
                <a:moveTo>
                  <a:pt x="281420" y="393989"/>
                </a:moveTo>
                <a:lnTo>
                  <a:pt x="517814" y="393989"/>
                </a:lnTo>
                <a:moveTo>
                  <a:pt x="281420" y="495300"/>
                </a:moveTo>
                <a:lnTo>
                  <a:pt x="472786" y="495300"/>
                </a:lnTo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2668250" y="2671762"/>
            <a:ext cx="742950" cy="742950"/>
          </a:xfrm>
          <a:custGeom>
            <a:avLst/>
            <a:gdLst/>
            <a:ahLst/>
            <a:cxnLst/>
            <a:rect l="l" t="t" r="r" b="b"/>
            <a:pathLst>
              <a:path w="742950" h="742950">
                <a:moveTo>
                  <a:pt x="393989" y="337705"/>
                </a:moveTo>
                <a:lnTo>
                  <a:pt x="393989" y="495300"/>
                </a:lnTo>
                <a:moveTo>
                  <a:pt x="315191" y="427759"/>
                </a:moveTo>
                <a:lnTo>
                  <a:pt x="393989" y="506557"/>
                </a:lnTo>
                <a:lnTo>
                  <a:pt x="472786" y="427759"/>
                </a:lnTo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3" name="Text 61"/>
          <p:cNvSpPr txBox="1"/>
          <p:nvPr/>
        </p:nvSpPr>
        <p:spPr>
          <a:xfrm>
            <a:off x="13658850" y="2643187"/>
            <a:ext cx="304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5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DOCUMENT OUTPUT</a:t>
            </a:r>
            <a:endParaRPr lang="en-US" sz="1125"/>
          </a:p>
        </p:txBody>
      </p:sp>
      <p:sp>
        <p:nvSpPr>
          <p:cNvPr id="64" name="Text 62"/>
          <p:cNvSpPr txBox="1"/>
          <p:nvPr/>
        </p:nvSpPr>
        <p:spPr>
          <a:xfrm>
            <a:off x="13658850" y="2947988"/>
            <a:ext cx="31908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PDF·HTML 출력</a:t>
            </a:r>
            <a:endParaRPr lang="en-US" sz="2050"/>
          </a:p>
        </p:txBody>
      </p:sp>
      <p:sp>
        <p:nvSpPr>
          <p:cNvPr id="65" name="Shape 63"/>
          <p:cNvSpPr/>
          <p:nvPr/>
        </p:nvSpPr>
        <p:spPr>
          <a:xfrm>
            <a:off x="12668250" y="3757612"/>
            <a:ext cx="2019300" cy="2105025"/>
          </a:xfrm>
          <a:prstGeom prst="roundRect">
            <a:avLst>
              <a:gd name="adj" fmla="val 2830"/>
            </a:avLst>
          </a:prstGeom>
          <a:solidFill>
            <a:srgbClr val="F8FAFC"/>
          </a:solidFill>
          <a:ln w="1397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14801850" y="3757612"/>
            <a:ext cx="2133600" cy="2105025"/>
          </a:xfrm>
          <a:prstGeom prst="roundRect">
            <a:avLst>
              <a:gd name="adj" fmla="val 2715"/>
            </a:avLst>
          </a:prstGeom>
          <a:solidFill>
            <a:srgbClr val="F8FAFC"/>
          </a:solidFill>
          <a:ln w="1397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3039725" y="3919538"/>
            <a:ext cx="1295400" cy="1257300"/>
          </a:xfrm>
          <a:custGeom>
            <a:avLst/>
            <a:gdLst/>
            <a:ahLst/>
            <a:cxnLst/>
            <a:rect l="l" t="t" r="r" b="b"/>
            <a:pathLst>
              <a:path w="1295400" h="1257300">
                <a:moveTo>
                  <a:pt x="190500" y="142875"/>
                </a:moveTo>
                <a:lnTo>
                  <a:pt x="933450" y="142875"/>
                </a:lnTo>
                <a:lnTo>
                  <a:pt x="1123950" y="333375"/>
                </a:lnTo>
                <a:lnTo>
                  <a:pt x="1123950" y="1114425"/>
                </a:lnTo>
                <a:lnTo>
                  <a:pt x="190500" y="1114425"/>
                </a:lnTo>
                <a:close/>
                <a:moveTo>
                  <a:pt x="933450" y="142875"/>
                </a:moveTo>
                <a:lnTo>
                  <a:pt x="933450" y="333375"/>
                </a:lnTo>
                <a:lnTo>
                  <a:pt x="1123950" y="333375"/>
                </a:lnTo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3373100" y="4414837"/>
            <a:ext cx="628650" cy="304800"/>
          </a:xfrm>
          <a:prstGeom prst="roundRect">
            <a:avLst>
              <a:gd name="adj" fmla="val 12500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9" name="Text 67"/>
          <p:cNvSpPr txBox="1"/>
          <p:nvPr/>
        </p:nvSpPr>
        <p:spPr>
          <a:xfrm>
            <a:off x="13373100" y="4424362"/>
            <a:ext cx="628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</a:t>
            </a:r>
            <a:endParaRPr lang="en-US" sz="1150"/>
          </a:p>
        </p:txBody>
      </p:sp>
      <p:sp>
        <p:nvSpPr>
          <p:cNvPr id="70" name="Shape 68"/>
          <p:cNvSpPr/>
          <p:nvPr/>
        </p:nvSpPr>
        <p:spPr>
          <a:xfrm>
            <a:off x="15220950" y="3919538"/>
            <a:ext cx="1295400" cy="1257300"/>
          </a:xfrm>
          <a:custGeom>
            <a:avLst/>
            <a:gdLst/>
            <a:ahLst/>
            <a:cxnLst/>
            <a:rect l="l" t="t" r="r" b="b"/>
            <a:pathLst>
              <a:path w="1295400" h="1257300">
                <a:moveTo>
                  <a:pt x="190500" y="142875"/>
                </a:moveTo>
                <a:lnTo>
                  <a:pt x="933450" y="142875"/>
                </a:lnTo>
                <a:lnTo>
                  <a:pt x="1123950" y="333375"/>
                </a:lnTo>
                <a:lnTo>
                  <a:pt x="1123950" y="1114425"/>
                </a:lnTo>
                <a:lnTo>
                  <a:pt x="190500" y="1114425"/>
                </a:lnTo>
                <a:close/>
                <a:moveTo>
                  <a:pt x="933450" y="142875"/>
                </a:moveTo>
                <a:lnTo>
                  <a:pt x="933450" y="333375"/>
                </a:lnTo>
                <a:lnTo>
                  <a:pt x="1123950" y="333375"/>
                </a:lnTo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5554325" y="4414837"/>
            <a:ext cx="628650" cy="304800"/>
          </a:xfrm>
          <a:prstGeom prst="roundRect">
            <a:avLst>
              <a:gd name="adj" fmla="val 12500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2" name="Text 70"/>
          <p:cNvSpPr txBox="1"/>
          <p:nvPr/>
        </p:nvSpPr>
        <p:spPr>
          <a:xfrm>
            <a:off x="15554325" y="4424362"/>
            <a:ext cx="628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</a:t>
            </a:r>
            <a:endParaRPr lang="en-US" sz="1150"/>
          </a:p>
        </p:txBody>
      </p:sp>
      <p:sp>
        <p:nvSpPr>
          <p:cNvPr id="73" name="Text 71"/>
          <p:cNvSpPr txBox="1"/>
          <p:nvPr/>
        </p:nvSpPr>
        <p:spPr>
          <a:xfrm>
            <a:off x="12668250" y="5195887"/>
            <a:ext cx="2019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 문서</a:t>
            </a:r>
            <a:endParaRPr lang="en-US" sz="1550"/>
          </a:p>
        </p:txBody>
      </p:sp>
      <p:sp>
        <p:nvSpPr>
          <p:cNvPr id="74" name="Text 72"/>
          <p:cNvSpPr txBox="1"/>
          <p:nvPr/>
        </p:nvSpPr>
        <p:spPr>
          <a:xfrm>
            <a:off x="14801850" y="5195887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문서</a:t>
            </a:r>
            <a:endParaRPr lang="en-US" sz="1550"/>
          </a:p>
        </p:txBody>
      </p:sp>
      <p:sp>
        <p:nvSpPr>
          <p:cNvPr id="75" name="Shape 73"/>
          <p:cNvSpPr/>
          <p:nvPr/>
        </p:nvSpPr>
        <p:spPr>
          <a:xfrm>
            <a:off x="12668250" y="6119813"/>
            <a:ext cx="4267200" cy="695325"/>
          </a:xfrm>
          <a:prstGeom prst="roundRect">
            <a:avLst>
              <a:gd name="adj" fmla="val 6849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12858750" y="6262688"/>
            <a:ext cx="428625" cy="400050"/>
          </a:xfrm>
          <a:custGeom>
            <a:avLst/>
            <a:gdLst/>
            <a:ahLst/>
            <a:cxnLst/>
            <a:rect l="l" t="t" r="r" b="b"/>
            <a:pathLst>
              <a:path w="428625" h="400050">
                <a:moveTo>
                  <a:pt x="209550" y="19050"/>
                </a:moveTo>
                <a:lnTo>
                  <a:pt x="209550" y="228600"/>
                </a:lnTo>
                <a:moveTo>
                  <a:pt x="123825" y="142875"/>
                </a:moveTo>
                <a:lnTo>
                  <a:pt x="209550" y="228600"/>
                </a:lnTo>
                <a:lnTo>
                  <a:pt x="295275" y="142875"/>
                </a:lnTo>
                <a:moveTo>
                  <a:pt x="66675" y="323850"/>
                </a:moveTo>
                <a:lnTo>
                  <a:pt x="352425" y="323850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7" name="Text 75"/>
          <p:cNvSpPr txBox="1"/>
          <p:nvPr/>
        </p:nvSpPr>
        <p:spPr>
          <a:xfrm>
            <a:off x="13430250" y="6234113"/>
            <a:ext cx="3143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다운로드</a:t>
            </a:r>
            <a:endParaRPr lang="en-US" sz="1650"/>
          </a:p>
        </p:txBody>
      </p:sp>
      <p:sp>
        <p:nvSpPr>
          <p:cNvPr id="78" name="Shape 76"/>
          <p:cNvSpPr/>
          <p:nvPr/>
        </p:nvSpPr>
        <p:spPr>
          <a:xfrm>
            <a:off x="1009650" y="7860506"/>
            <a:ext cx="16268700" cy="66675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9" name="Text 77"/>
          <p:cNvSpPr txBox="1"/>
          <p:nvPr/>
        </p:nvSpPr>
        <p:spPr>
          <a:xfrm>
            <a:off x="1314450" y="7984331"/>
            <a:ext cx="2000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 FEATURES</a:t>
            </a:r>
            <a:endParaRPr lang="en-US" sz="1200"/>
          </a:p>
        </p:txBody>
      </p:sp>
      <p:sp>
        <p:nvSpPr>
          <p:cNvPr id="80" name="Text 78"/>
          <p:cNvSpPr txBox="1"/>
          <p:nvPr/>
        </p:nvSpPr>
        <p:spPr>
          <a:xfrm>
            <a:off x="3371850" y="7936706"/>
            <a:ext cx="7620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 작성에 필요한 세 가지 핵심 기능</a:t>
            </a:r>
            <a:endParaRPr lang="en-US" sz="1725"/>
          </a:p>
        </p:txBody>
      </p:sp>
      <p:sp>
        <p:nvSpPr>
          <p:cNvPr id="81" name="Shape 79"/>
          <p:cNvSpPr/>
          <p:nvPr/>
        </p:nvSpPr>
        <p:spPr>
          <a:xfrm>
            <a:off x="1009650" y="9048750"/>
            <a:ext cx="162687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2" name="Text 80"/>
          <p:cNvSpPr txBox="1"/>
          <p:nvPr/>
        </p:nvSpPr>
        <p:spPr>
          <a:xfrm>
            <a:off x="1009650" y="9296400"/>
            <a:ext cx="1143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</a:t>
            </a:r>
            <a:endParaRPr lang="en-US" sz="1275"/>
          </a:p>
        </p:txBody>
      </p:sp>
      <p:sp>
        <p:nvSpPr>
          <p:cNvPr id="83" name="Text 81"/>
          <p:cNvSpPr txBox="1"/>
          <p:nvPr/>
        </p:nvSpPr>
        <p:spPr>
          <a:xfrm>
            <a:off x="2247900" y="9210675"/>
            <a:ext cx="247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편집하고, 제안받고,</a:t>
            </a:r>
            <a:endParaRPr lang="en-US" sz="2250"/>
          </a:p>
        </p:txBody>
      </p:sp>
      <p:sp>
        <p:nvSpPr>
          <p:cNvPr id="84" name="Text 82"/>
          <p:cNvSpPr txBox="1"/>
          <p:nvPr/>
        </p:nvSpPr>
        <p:spPr>
          <a:xfrm>
            <a:off x="4848225" y="9210675"/>
            <a:ext cx="3333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PDF·HTML로 출력</a:t>
            </a:r>
            <a:endParaRPr lang="en-US" sz="225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2353983-B41D-9B4A-9538-27A807E7FE85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ea typeface="맑은 고딕"/>
                <a:cs typeface="Calibri"/>
              </a:rPr>
              <a:t>보고서 기능</a:t>
            </a:r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C5AE6D30-F057-83CA-436E-4B454A652CEB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7" name="Text 1">
            <a:extLst>
              <a:ext uri="{FF2B5EF4-FFF2-40B4-BE49-F238E27FC236}">
                <a16:creationId xmlns:a16="http://schemas.microsoft.com/office/drawing/2014/main" id="{3A26AD4D-99E5-2069-5DC9-B3FFF6F0A058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35 · REPORT FEATURES</a:t>
            </a:r>
            <a:endParaRPr lang="en-US" sz="1100" b="1" kern="0" spc="100">
              <a:solidFill>
                <a:srgbClr val="176FE5"/>
              </a:solidFill>
              <a:latin typeface="Pretendard"/>
              <a:ea typeface="Pretendar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1009650" y="217170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SCREEN · </a:t>
            </a:r>
            <a:r>
              <a:rPr lang="en-US" b="1" kern="0" spc="105" err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</a:t>
            </a:r>
            <a:r>
              <a:rPr lang="en-US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b="1" kern="0" spc="105" err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</a:t>
            </a:r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3544550" y="2171700"/>
            <a:ext cx="3733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CONNECTION CONTROL</a:t>
            </a:r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9650" y="2667000"/>
            <a:ext cx="12192000" cy="520065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pic>
        <p:nvPicPr>
          <p:cNvPr id="9" name="Image 0" descr="C:/Users/Playdata/Documents/파이널 프젝젝젝/Answervice_최종발표_HTML_프로토타입/assets/admin_connection_control_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790" y="2667000"/>
            <a:ext cx="12157720" cy="52006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3544550" y="2667000"/>
            <a:ext cx="3733800" cy="520065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3910310" y="3032760"/>
            <a:ext cx="876300" cy="693420"/>
          </a:xfrm>
          <a:prstGeom prst="roundRect">
            <a:avLst>
              <a:gd name="adj" fmla="val 1029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4001750" y="3238500"/>
            <a:ext cx="685800" cy="361950"/>
          </a:xfrm>
          <a:prstGeom prst="roundRect">
            <a:avLst>
              <a:gd name="adj" fmla="val 50000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4382750" y="3286125"/>
            <a:ext cx="266700" cy="2667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4971395" y="3034665"/>
            <a:ext cx="1350645" cy="681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관리자가</a:t>
            </a:r>
            <a:endParaRPr lang="en-US" sz="1950"/>
          </a:p>
          <a:p>
            <a:pPr marL="0" indent="0">
              <a:buNone/>
            </a:pPr>
            <a:r>
              <a:rPr lang="en-US" sz="19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제어</a:t>
            </a:r>
            <a:endParaRPr lang="en-US" sz="1950"/>
          </a:p>
        </p:txBody>
      </p:sp>
      <p:sp>
        <p:nvSpPr>
          <p:cNvPr id="16" name="Shape 13"/>
          <p:cNvSpPr/>
          <p:nvPr/>
        </p:nvSpPr>
        <p:spPr>
          <a:xfrm>
            <a:off x="13849350" y="3981450"/>
            <a:ext cx="3124200" cy="685800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14097000" y="4095750"/>
            <a:ext cx="1143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1650"/>
          </a:p>
        </p:txBody>
      </p:sp>
      <p:sp>
        <p:nvSpPr>
          <p:cNvPr id="18" name="Shape 15"/>
          <p:cNvSpPr/>
          <p:nvPr/>
        </p:nvSpPr>
        <p:spPr>
          <a:xfrm>
            <a:off x="16021050" y="4143375"/>
            <a:ext cx="685800" cy="361950"/>
          </a:xfrm>
          <a:prstGeom prst="roundRect">
            <a:avLst>
              <a:gd name="adj" fmla="val 50000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6402050" y="4191000"/>
            <a:ext cx="266700" cy="2667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3849350" y="4819650"/>
            <a:ext cx="3124200" cy="685800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14097000" y="4933950"/>
            <a:ext cx="1143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중지</a:t>
            </a:r>
            <a:endParaRPr lang="en-US" sz="1650"/>
          </a:p>
        </p:txBody>
      </p:sp>
      <p:sp>
        <p:nvSpPr>
          <p:cNvPr id="22" name="Shape 19"/>
          <p:cNvSpPr/>
          <p:nvPr/>
        </p:nvSpPr>
        <p:spPr>
          <a:xfrm>
            <a:off x="16021050" y="4981575"/>
            <a:ext cx="685800" cy="361950"/>
          </a:xfrm>
          <a:prstGeom prst="roundRect">
            <a:avLst>
              <a:gd name="adj" fmla="val 50000"/>
            </a:avLst>
          </a:prstGeom>
          <a:solidFill>
            <a:srgbClr val="B8C8D8"/>
          </a:solidFill>
          <a:ln w="12700">
            <a:solidFill>
              <a:srgbClr val="B8C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6078200" y="5029200"/>
            <a:ext cx="266700" cy="2667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3858875" y="5791200"/>
            <a:ext cx="419100" cy="4191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13858875" y="5762625"/>
            <a:ext cx="41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>
                <a:solidFill>
                  <a:srgbClr val="176FE5"/>
                </a:solidFill>
                <a:latin typeface="Arial"/>
                <a:ea typeface="Arial" pitchFamily="34" charset="-122"/>
                <a:cs typeface="Arial"/>
              </a:rPr>
              <a:t>+</a:t>
            </a:r>
            <a:endParaRPr lang="en-US" sz="2800">
              <a:latin typeface="Arial"/>
              <a:ea typeface="Calibri"/>
              <a:cs typeface="Arial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14449425" y="5791200"/>
            <a:ext cx="2238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켜기·끄기</a:t>
            </a:r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3858875" y="6438900"/>
            <a:ext cx="419100" cy="4191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3858875" y="64389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95250" y="219075"/>
                </a:moveTo>
                <a:lnTo>
                  <a:pt x="161925" y="285750"/>
                </a:lnTo>
                <a:lnTo>
                  <a:pt x="323850" y="104775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14449425" y="6438900"/>
            <a:ext cx="2238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상태 확인</a:t>
            </a:r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3858875" y="7086600"/>
            <a:ext cx="419100" cy="4191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3954125" y="7181850"/>
            <a:ext cx="228600" cy="228600"/>
          </a:xfrm>
          <a:prstGeom prst="ellipse">
            <a:avLst/>
          </a:prstGeom>
          <a:solidFill>
            <a:srgbClr val="FFFFFF">
              <a:alpha val="0"/>
            </a:srgbClr>
          </a:solidFill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13954125" y="7181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47625"/>
                </a:moveTo>
                <a:lnTo>
                  <a:pt x="114300" y="123825"/>
                </a:lnTo>
                <a:lnTo>
                  <a:pt x="171450" y="161925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14449425" y="7086600"/>
            <a:ext cx="2238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시간 확인</a:t>
            </a:r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09650" y="8096250"/>
            <a:ext cx="16268700" cy="51435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1314450" y="8172450"/>
            <a:ext cx="190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CONTROL</a:t>
            </a:r>
            <a:endParaRPr lang="en-US" sz="1200"/>
          </a:p>
        </p:txBody>
      </p:sp>
      <p:sp>
        <p:nvSpPr>
          <p:cNvPr id="36" name="Text 33"/>
          <p:cNvSpPr txBox="1"/>
          <p:nvPr/>
        </p:nvSpPr>
        <p:spPr>
          <a:xfrm>
            <a:off x="3324225" y="8134350"/>
            <a:ext cx="9525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데이터와 지원 서비스의 연결 상태를 한 화면에서 확인</a:t>
            </a:r>
            <a:endParaRPr lang="en-US" sz="1650"/>
          </a:p>
        </p:txBody>
      </p:sp>
      <p:sp>
        <p:nvSpPr>
          <p:cNvPr id="37" name="Shape 34"/>
          <p:cNvSpPr/>
          <p:nvPr/>
        </p:nvSpPr>
        <p:spPr>
          <a:xfrm>
            <a:off x="1009650" y="9048750"/>
            <a:ext cx="162687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1009650" y="92964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CONNECTION</a:t>
            </a:r>
            <a:endParaRPr lang="en-US" sz="1275"/>
          </a:p>
        </p:txBody>
      </p:sp>
      <p:sp>
        <p:nvSpPr>
          <p:cNvPr id="39" name="Text 36"/>
          <p:cNvSpPr txBox="1"/>
          <p:nvPr/>
        </p:nvSpPr>
        <p:spPr>
          <a:xfrm>
            <a:off x="2714625" y="9282112"/>
            <a:ext cx="571499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관리자가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데이터와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서비스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연결을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300" b="1">
                <a:solidFill>
                  <a:srgbClr val="176FE5"/>
                </a:solidFill>
                <a:ea typeface="+mn-lt"/>
                <a:cs typeface="+mn-lt"/>
              </a:rPr>
              <a:t>직접</a:t>
            </a:r>
            <a:r>
              <a:rPr lang="en-US" sz="2300" b="1">
                <a:solidFill>
                  <a:srgbClr val="176FE5"/>
                </a:solidFill>
                <a:ea typeface="+mn-lt"/>
                <a:cs typeface="+mn-lt"/>
              </a:rPr>
              <a:t> </a:t>
            </a:r>
            <a:r>
              <a:rPr lang="ko-KR" altLang="en-US" sz="2300" b="1">
                <a:solidFill>
                  <a:srgbClr val="176FE5"/>
                </a:solidFill>
                <a:ea typeface="+mn-lt"/>
                <a:cs typeface="+mn-lt"/>
              </a:rPr>
              <a:t>관리</a:t>
            </a:r>
            <a:endParaRPr lang="en-US" sz="23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2BE1F99-35D3-8FCE-8D5C-9F9DF61932F2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ea typeface="맑은 고딕"/>
                <a:cs typeface="Calibri"/>
              </a:rPr>
              <a:t>연결 관리</a:t>
            </a:r>
          </a:p>
        </p:txBody>
      </p:sp>
      <p:sp>
        <p:nvSpPr>
          <p:cNvPr id="42" name="Shape 0">
            <a:extLst>
              <a:ext uri="{FF2B5EF4-FFF2-40B4-BE49-F238E27FC236}">
                <a16:creationId xmlns:a16="http://schemas.microsoft.com/office/drawing/2014/main" id="{08289AED-27E3-A8D4-241C-14B28AACC621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4" name="Text 1">
            <a:extLst>
              <a:ext uri="{FF2B5EF4-FFF2-40B4-BE49-F238E27FC236}">
                <a16:creationId xmlns:a16="http://schemas.microsoft.com/office/drawing/2014/main" id="{C201D495-4708-AFCC-C6F9-E33758B3A530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36 · ADMIN CONTROL</a:t>
            </a:r>
            <a:endParaRPr lang="en-US" sz="1100" b="1" kern="0" spc="100">
              <a:solidFill>
                <a:srgbClr val="176FE5"/>
              </a:solidFill>
              <a:latin typeface="Pretendard"/>
              <a:ea typeface="Pretendar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1009650" y="217170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AUDIT TRAIL · </a:t>
            </a:r>
            <a:r>
              <a:rPr lang="en-US" b="1" kern="0" spc="105" err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</a:t>
            </a:r>
            <a:r>
              <a:rPr lang="en-US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b="1" kern="0" spc="105" err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</a:t>
            </a:r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3544550" y="2171700"/>
            <a:ext cx="3733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SCENARIO RECORD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1009650" y="2667000"/>
            <a:ext cx="12192000" cy="4819650"/>
          </a:xfrm>
          <a:prstGeom prst="roundRect">
            <a:avLst>
              <a:gd name="adj" fmla="val 1383"/>
            </a:avLst>
          </a:prstGeom>
          <a:solidFill>
            <a:srgbClr val="FFFFFF"/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pic>
        <p:nvPicPr>
          <p:cNvPr id="9" name="Image 0" descr="C:/Users/Playdata/Documents/파이널 프젝젝젝/Answervice_최종발표_HTML_프로토타입/assets/admin_audit_log_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2670423"/>
            <a:ext cx="12192000" cy="481280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3544550" y="2667000"/>
            <a:ext cx="3733800" cy="481965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3544550" y="2667000"/>
            <a:ext cx="3733800" cy="57150"/>
          </a:xfrm>
          <a:prstGeom prst="rect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3849350" y="2981325"/>
            <a:ext cx="619125" cy="619125"/>
          </a:xfrm>
          <a:prstGeom prst="roundRect">
            <a:avLst>
              <a:gd name="adj" fmla="val 10769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3849350" y="2981325"/>
            <a:ext cx="619125" cy="619125"/>
          </a:xfrm>
          <a:custGeom>
            <a:avLst/>
            <a:gdLst/>
            <a:ahLst/>
            <a:cxnLst/>
            <a:rect l="l" t="t" r="r" b="b"/>
            <a:pathLst>
              <a:path w="619125" h="619125">
                <a:moveTo>
                  <a:pt x="172991" y="127467"/>
                </a:moveTo>
                <a:lnTo>
                  <a:pt x="437029" y="127467"/>
                </a:lnTo>
                <a:lnTo>
                  <a:pt x="437029" y="464344"/>
                </a:lnTo>
                <a:lnTo>
                  <a:pt x="172991" y="464344"/>
                </a:lnTo>
                <a:close/>
                <a:moveTo>
                  <a:pt x="245829" y="227619"/>
                </a:moveTo>
                <a:lnTo>
                  <a:pt x="373296" y="227619"/>
                </a:lnTo>
                <a:moveTo>
                  <a:pt x="245829" y="309562"/>
                </a:moveTo>
                <a:lnTo>
                  <a:pt x="373296" y="309562"/>
                </a:lnTo>
                <a:moveTo>
                  <a:pt x="245829" y="391506"/>
                </a:moveTo>
                <a:lnTo>
                  <a:pt x="336877" y="391506"/>
                </a:lnTo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4222646" y="3345516"/>
            <a:ext cx="154781" cy="154781"/>
          </a:xfrm>
          <a:prstGeom prst="ellipse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4222646" y="3345516"/>
            <a:ext cx="154781" cy="154781"/>
          </a:xfrm>
          <a:custGeom>
            <a:avLst/>
            <a:gdLst/>
            <a:ahLst/>
            <a:cxnLst/>
            <a:rect l="l" t="t" r="r" b="b"/>
            <a:pathLst>
              <a:path w="154781" h="154781">
                <a:moveTo>
                  <a:pt x="38100" y="85725"/>
                </a:moveTo>
                <a:lnTo>
                  <a:pt x="66675" y="114300"/>
                </a:lnTo>
                <a:lnTo>
                  <a:pt x="123825" y="47625"/>
                </a:lnTo>
              </a:path>
            </a:pathLst>
          </a:custGeom>
          <a:solidFill>
            <a:srgbClr val="FFFFFF">
              <a:alpha val="0"/>
            </a:srgbClr>
          </a:solidFill>
          <a:ln w="1778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4668500" y="2943225"/>
            <a:ext cx="214312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</a:t>
            </a:r>
            <a:endParaRPr lang="en-US" sz="1950"/>
          </a:p>
          <a:p>
            <a:pPr marL="0" indent="0">
              <a:buNone/>
            </a:pPr>
            <a:r>
              <a:rPr lang="en-US" sz="19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기록</a:t>
            </a:r>
            <a:endParaRPr lang="en-US" sz="1950"/>
          </a:p>
        </p:txBody>
      </p:sp>
      <p:sp>
        <p:nvSpPr>
          <p:cNvPr id="17" name="Shape 14"/>
          <p:cNvSpPr/>
          <p:nvPr/>
        </p:nvSpPr>
        <p:spPr>
          <a:xfrm>
            <a:off x="13849350" y="3876675"/>
            <a:ext cx="3124200" cy="923925"/>
          </a:xfrm>
          <a:prstGeom prst="roundRect">
            <a:avLst>
              <a:gd name="adj" fmla="val 5155"/>
            </a:avLst>
          </a:prstGeom>
          <a:solidFill>
            <a:srgbClr val="F8FAFC"/>
          </a:solidFill>
          <a:ln w="1270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14077950" y="3971925"/>
            <a:ext cx="2571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상태 확인</a:t>
            </a:r>
            <a:endParaRPr lang="en-US" sz="1550"/>
          </a:p>
        </p:txBody>
      </p:sp>
      <p:sp>
        <p:nvSpPr>
          <p:cNvPr id="19" name="Shape 16"/>
          <p:cNvSpPr/>
          <p:nvPr/>
        </p:nvSpPr>
        <p:spPr>
          <a:xfrm>
            <a:off x="14077950" y="4371975"/>
            <a:ext cx="2047875" cy="266700"/>
          </a:xfrm>
          <a:prstGeom prst="roundRect">
            <a:avLst>
              <a:gd name="adj" fmla="val 1071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14182725" y="4381500"/>
            <a:ext cx="1847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>
                <a:solidFill>
                  <a:srgbClr val="17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CONNECTION_CHECK</a:t>
            </a:r>
            <a:endParaRPr lang="en-US" sz="1050"/>
          </a:p>
        </p:txBody>
      </p:sp>
      <p:sp>
        <p:nvSpPr>
          <p:cNvPr id="21" name="Shape 18"/>
          <p:cNvSpPr/>
          <p:nvPr/>
        </p:nvSpPr>
        <p:spPr>
          <a:xfrm>
            <a:off x="13849350" y="4953000"/>
            <a:ext cx="3124200" cy="923925"/>
          </a:xfrm>
          <a:prstGeom prst="roundRect">
            <a:avLst>
              <a:gd name="adj" fmla="val 5155"/>
            </a:avLst>
          </a:prstGeom>
          <a:solidFill>
            <a:srgbClr val="F8FAFC"/>
          </a:solidFill>
          <a:ln w="1270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14077950" y="5048250"/>
            <a:ext cx="2571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완료</a:t>
            </a:r>
            <a:endParaRPr lang="en-US" sz="1550"/>
          </a:p>
        </p:txBody>
      </p:sp>
      <p:sp>
        <p:nvSpPr>
          <p:cNvPr id="23" name="Shape 20"/>
          <p:cNvSpPr/>
          <p:nvPr/>
        </p:nvSpPr>
        <p:spPr>
          <a:xfrm>
            <a:off x="14077950" y="5448300"/>
            <a:ext cx="2247900" cy="266700"/>
          </a:xfrm>
          <a:prstGeom prst="roundRect">
            <a:avLst>
              <a:gd name="adj" fmla="val 1071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14182725" y="5457825"/>
            <a:ext cx="20478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>
                <a:solidFill>
                  <a:srgbClr val="17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ANALYSIS_SUCCEEDED</a:t>
            </a:r>
            <a:endParaRPr lang="en-US" sz="1050"/>
          </a:p>
        </p:txBody>
      </p:sp>
      <p:sp>
        <p:nvSpPr>
          <p:cNvPr id="25" name="Shape 22"/>
          <p:cNvSpPr/>
          <p:nvPr/>
        </p:nvSpPr>
        <p:spPr>
          <a:xfrm>
            <a:off x="13868400" y="5991225"/>
            <a:ext cx="400050" cy="40005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3868400" y="5991225"/>
            <a:ext cx="400050" cy="400050"/>
          </a:xfrm>
          <a:custGeom>
            <a:avLst/>
            <a:gdLst/>
            <a:ahLst/>
            <a:cxnLst/>
            <a:rect l="l" t="t" r="r" b="b"/>
            <a:pathLst>
              <a:path w="400050" h="400050">
                <a:moveTo>
                  <a:pt x="114300" y="114300"/>
                </a:moveTo>
                <a:lnTo>
                  <a:pt x="295275" y="114300"/>
                </a:lnTo>
                <a:moveTo>
                  <a:pt x="114300" y="200025"/>
                </a:moveTo>
                <a:lnTo>
                  <a:pt x="257175" y="200025"/>
                </a:lnTo>
                <a:moveTo>
                  <a:pt x="114300" y="285750"/>
                </a:moveTo>
                <a:lnTo>
                  <a:pt x="295275" y="285750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14411325" y="5981700"/>
            <a:ext cx="23336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수행자·시간</a:t>
            </a:r>
            <a:endParaRPr lang="en-US" sz="1550"/>
          </a:p>
        </p:txBody>
      </p:sp>
      <p:sp>
        <p:nvSpPr>
          <p:cNvPr id="28" name="Shape 25"/>
          <p:cNvSpPr/>
          <p:nvPr/>
        </p:nvSpPr>
        <p:spPr>
          <a:xfrm>
            <a:off x="13868400" y="6496050"/>
            <a:ext cx="400050" cy="40005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13868400" y="6496050"/>
            <a:ext cx="400050" cy="400050"/>
          </a:xfrm>
          <a:custGeom>
            <a:avLst/>
            <a:gdLst/>
            <a:ahLst/>
            <a:cxnLst/>
            <a:rect l="l" t="t" r="r" b="b"/>
            <a:pathLst>
              <a:path w="400050" h="400050">
                <a:moveTo>
                  <a:pt x="85725" y="209550"/>
                </a:moveTo>
                <a:lnTo>
                  <a:pt x="152400" y="276225"/>
                </a:lnTo>
                <a:lnTo>
                  <a:pt x="314325" y="95250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14411325" y="6486525"/>
            <a:ext cx="23336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대상·결과</a:t>
            </a:r>
            <a:endParaRPr lang="en-US" sz="1550"/>
          </a:p>
        </p:txBody>
      </p:sp>
      <p:sp>
        <p:nvSpPr>
          <p:cNvPr id="31" name="Shape 28"/>
          <p:cNvSpPr/>
          <p:nvPr/>
        </p:nvSpPr>
        <p:spPr>
          <a:xfrm>
            <a:off x="13868400" y="7000875"/>
            <a:ext cx="400050" cy="40005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13868400" y="7000875"/>
            <a:ext cx="400050" cy="400050"/>
          </a:xfrm>
          <a:custGeom>
            <a:avLst/>
            <a:gdLst/>
            <a:ahLst/>
            <a:cxnLst/>
            <a:rect l="l" t="t" r="r" b="b"/>
            <a:pathLst>
              <a:path w="400050" h="400050">
                <a:moveTo>
                  <a:pt x="114300" y="114300"/>
                </a:moveTo>
                <a:lnTo>
                  <a:pt x="295275" y="114300"/>
                </a:lnTo>
                <a:moveTo>
                  <a:pt x="114300" y="200025"/>
                </a:moveTo>
                <a:lnTo>
                  <a:pt x="257175" y="200025"/>
                </a:lnTo>
                <a:moveTo>
                  <a:pt x="114300" y="285750"/>
                </a:moveTo>
                <a:lnTo>
                  <a:pt x="295275" y="285750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14411325" y="6991350"/>
            <a:ext cx="23336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Request·Trace ID</a:t>
            </a:r>
            <a:endParaRPr lang="en-US" sz="1550"/>
          </a:p>
        </p:txBody>
      </p:sp>
      <p:sp>
        <p:nvSpPr>
          <p:cNvPr id="34" name="Shape 31"/>
          <p:cNvSpPr/>
          <p:nvPr/>
        </p:nvSpPr>
        <p:spPr>
          <a:xfrm>
            <a:off x="1009650" y="7943850"/>
            <a:ext cx="16268700" cy="66675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1314450" y="8067675"/>
            <a:ext cx="171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AUDIT TRAIL</a:t>
            </a:r>
            <a:endParaRPr lang="en-US" sz="1200"/>
          </a:p>
        </p:txBody>
      </p:sp>
      <p:sp>
        <p:nvSpPr>
          <p:cNvPr id="36" name="Text 33"/>
          <p:cNvSpPr txBox="1"/>
          <p:nvPr/>
        </p:nvSpPr>
        <p:spPr>
          <a:xfrm>
            <a:off x="3105150" y="8020050"/>
            <a:ext cx="10001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5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작업과 분석 실행을 검색 가능한 기록으로 보관</a:t>
            </a:r>
            <a:endParaRPr lang="en-US" sz="1725"/>
          </a:p>
        </p:txBody>
      </p:sp>
      <p:sp>
        <p:nvSpPr>
          <p:cNvPr id="37" name="Shape 34"/>
          <p:cNvSpPr/>
          <p:nvPr/>
        </p:nvSpPr>
        <p:spPr>
          <a:xfrm>
            <a:off x="1009650" y="9048750"/>
            <a:ext cx="162687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1009650" y="9296400"/>
            <a:ext cx="1238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AUDIT LOG</a:t>
            </a:r>
            <a:endParaRPr lang="en-US" sz="1275"/>
          </a:p>
        </p:txBody>
      </p:sp>
      <p:sp>
        <p:nvSpPr>
          <p:cNvPr id="39" name="Text 36"/>
          <p:cNvSpPr txBox="1"/>
          <p:nvPr/>
        </p:nvSpPr>
        <p:spPr>
          <a:xfrm>
            <a:off x="2486025" y="9282112"/>
            <a:ext cx="4833937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누가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,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언제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,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무엇을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했는지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300" b="1">
                <a:solidFill>
                  <a:srgbClr val="176FE5"/>
                </a:solidFill>
                <a:ea typeface="+mn-lt"/>
                <a:cs typeface="+mn-lt"/>
              </a:rPr>
              <a:t>기록으로</a:t>
            </a:r>
            <a:r>
              <a:rPr lang="en-US" sz="2300" b="1">
                <a:solidFill>
                  <a:srgbClr val="176FE5"/>
                </a:solidFill>
                <a:ea typeface="+mn-lt"/>
                <a:cs typeface="+mn-lt"/>
              </a:rPr>
              <a:t> </a:t>
            </a:r>
            <a:r>
              <a:rPr lang="ko-KR" altLang="en-US" sz="2300" b="1">
                <a:solidFill>
                  <a:srgbClr val="176FE5"/>
                </a:solidFill>
                <a:ea typeface="+mn-lt"/>
                <a:cs typeface="+mn-lt"/>
              </a:rPr>
              <a:t>확인</a:t>
            </a:r>
            <a:endParaRPr lang="en-US" sz="23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38E034E7-4A05-A667-BFE7-7AAB85A9DEC4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ea typeface="맑은 고딕"/>
                <a:cs typeface="Calibri"/>
              </a:rPr>
              <a:t>감사 로그</a:t>
            </a:r>
          </a:p>
        </p:txBody>
      </p:sp>
      <p:sp>
        <p:nvSpPr>
          <p:cNvPr id="43" name="Shape 0">
            <a:extLst>
              <a:ext uri="{FF2B5EF4-FFF2-40B4-BE49-F238E27FC236}">
                <a16:creationId xmlns:a16="http://schemas.microsoft.com/office/drawing/2014/main" id="{53CBB08E-4EEC-5923-0233-DA07830C3CE0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1ED47BCE-27AB-2016-404D-71BEB8953448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37 · AUDIT LOG</a:t>
            </a:r>
            <a:endParaRPr lang="en-US" sz="1100" b="1" kern="0" spc="100">
              <a:solidFill>
                <a:srgbClr val="176FE5"/>
              </a:solidFill>
              <a:latin typeface="Pretendard"/>
              <a:ea typeface="Pretendar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1009650" y="2230664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QUESTION</a:t>
            </a:r>
            <a:endParaRPr lang="en-US" sz="1200"/>
          </a:p>
        </p:txBody>
      </p:sp>
      <p:sp>
        <p:nvSpPr>
          <p:cNvPr id="7" name="Text 5"/>
          <p:cNvSpPr txBox="1"/>
          <p:nvPr/>
        </p:nvSpPr>
        <p:spPr>
          <a:xfrm>
            <a:off x="5286375" y="2230664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ANSWER SERVICE</a:t>
            </a:r>
            <a:endParaRPr lang="en-US" sz="1200"/>
          </a:p>
        </p:txBody>
      </p:sp>
      <p:sp>
        <p:nvSpPr>
          <p:cNvPr id="8" name="Text 6"/>
          <p:cNvSpPr txBox="1"/>
          <p:nvPr/>
        </p:nvSpPr>
        <p:spPr>
          <a:xfrm>
            <a:off x="9563100" y="2230664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</a:t>
            </a:r>
            <a:endParaRPr lang="en-US" sz="1200"/>
          </a:p>
        </p:txBody>
      </p:sp>
      <p:sp>
        <p:nvSpPr>
          <p:cNvPr id="9" name="Text 7"/>
          <p:cNvSpPr txBox="1"/>
          <p:nvPr/>
        </p:nvSpPr>
        <p:spPr>
          <a:xfrm>
            <a:off x="13849350" y="2230664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AUDIT LOG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1009650" y="2802164"/>
            <a:ext cx="3429000" cy="495300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09650" y="2802164"/>
            <a:ext cx="3429000" cy="1104900"/>
          </a:xfrm>
          <a:prstGeom prst="roundRect">
            <a:avLst>
              <a:gd name="adj" fmla="val 603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09650" y="3830864"/>
            <a:ext cx="3429000" cy="76200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333500" y="3116489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524000" y="3211739"/>
            <a:ext cx="171450" cy="1714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428750" y="3367603"/>
            <a:ext cx="361950" cy="259773"/>
          </a:xfrm>
          <a:prstGeom prst="arc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2105025" y="3068864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8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</a:t>
            </a:r>
            <a:endParaRPr lang="en-US" sz="1050"/>
          </a:p>
        </p:txBody>
      </p:sp>
      <p:sp>
        <p:nvSpPr>
          <p:cNvPr id="17" name="Text 15"/>
          <p:cNvSpPr txBox="1"/>
          <p:nvPr/>
        </p:nvSpPr>
        <p:spPr>
          <a:xfrm>
            <a:off x="2105025" y="3316514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질문</a:t>
            </a:r>
            <a:endParaRPr lang="en-US" sz="2050"/>
          </a:p>
        </p:txBody>
      </p:sp>
      <p:sp>
        <p:nvSpPr>
          <p:cNvPr id="18" name="Shape 16"/>
          <p:cNvSpPr/>
          <p:nvPr/>
        </p:nvSpPr>
        <p:spPr>
          <a:xfrm>
            <a:off x="5286375" y="2802164"/>
            <a:ext cx="3429000" cy="495300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286375" y="2802164"/>
            <a:ext cx="3429000" cy="1104900"/>
          </a:xfrm>
          <a:prstGeom prst="roundRect">
            <a:avLst>
              <a:gd name="adj" fmla="val 603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86375" y="3830864"/>
            <a:ext cx="3429000" cy="76200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610225" y="3116489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10225" y="3116489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152400" y="152400"/>
                </a:moveTo>
                <a:lnTo>
                  <a:pt x="400050" y="152400"/>
                </a:lnTo>
                <a:moveTo>
                  <a:pt x="152400" y="266700"/>
                </a:moveTo>
                <a:lnTo>
                  <a:pt x="352425" y="266700"/>
                </a:lnTo>
                <a:moveTo>
                  <a:pt x="152400" y="381000"/>
                </a:moveTo>
                <a:lnTo>
                  <a:pt x="304800" y="381000"/>
                </a:lnTo>
              </a:path>
            </a:pathLst>
          </a:custGeom>
          <a:solidFill>
            <a:srgbClr val="FFFFFF">
              <a:alpha val="0"/>
            </a:srgbClr>
          </a:solidFill>
          <a:ln w="2286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381750" y="3068864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8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</a:t>
            </a:r>
            <a:endParaRPr lang="en-US" sz="1050"/>
          </a:p>
        </p:txBody>
      </p:sp>
      <p:sp>
        <p:nvSpPr>
          <p:cNvPr id="24" name="Text 22"/>
          <p:cNvSpPr txBox="1"/>
          <p:nvPr/>
        </p:nvSpPr>
        <p:spPr>
          <a:xfrm>
            <a:off x="6381750" y="3316514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Answervice</a:t>
            </a:r>
            <a:endParaRPr lang="en-US" sz="2050"/>
          </a:p>
        </p:txBody>
      </p:sp>
      <p:sp>
        <p:nvSpPr>
          <p:cNvPr id="25" name="Shape 23"/>
          <p:cNvSpPr/>
          <p:nvPr/>
        </p:nvSpPr>
        <p:spPr>
          <a:xfrm>
            <a:off x="9563100" y="2802164"/>
            <a:ext cx="3429000" cy="495300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563100" y="2802164"/>
            <a:ext cx="3429000" cy="1104900"/>
          </a:xfrm>
          <a:prstGeom prst="roundRect">
            <a:avLst>
              <a:gd name="adj" fmla="val 603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563100" y="3830864"/>
            <a:ext cx="3429000" cy="76200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886950" y="3116489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886950" y="3116489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161925" y="114300"/>
                </a:moveTo>
                <a:lnTo>
                  <a:pt x="400050" y="114300"/>
                </a:lnTo>
                <a:lnTo>
                  <a:pt x="400050" y="438150"/>
                </a:lnTo>
                <a:lnTo>
                  <a:pt x="161925" y="438150"/>
                </a:lnTo>
                <a:close/>
                <a:moveTo>
                  <a:pt x="219075" y="200025"/>
                </a:moveTo>
                <a:lnTo>
                  <a:pt x="342900" y="200025"/>
                </a:lnTo>
                <a:moveTo>
                  <a:pt x="219075" y="276225"/>
                </a:moveTo>
                <a:lnTo>
                  <a:pt x="342900" y="276225"/>
                </a:lnTo>
                <a:moveTo>
                  <a:pt x="219075" y="352425"/>
                </a:moveTo>
                <a:lnTo>
                  <a:pt x="314325" y="352425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0658475" y="3068864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8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</a:t>
            </a:r>
            <a:endParaRPr lang="en-US" sz="1050"/>
          </a:p>
        </p:txBody>
      </p:sp>
      <p:sp>
        <p:nvSpPr>
          <p:cNvPr id="31" name="Text 29"/>
          <p:cNvSpPr txBox="1"/>
          <p:nvPr/>
        </p:nvSpPr>
        <p:spPr>
          <a:xfrm>
            <a:off x="10658475" y="3316514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</a:t>
            </a:r>
            <a:endParaRPr lang="en-US" sz="2050"/>
          </a:p>
        </p:txBody>
      </p:sp>
      <p:sp>
        <p:nvSpPr>
          <p:cNvPr id="32" name="Shape 30"/>
          <p:cNvSpPr/>
          <p:nvPr/>
        </p:nvSpPr>
        <p:spPr>
          <a:xfrm>
            <a:off x="13849350" y="2802164"/>
            <a:ext cx="3429000" cy="495300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7145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3849350" y="2802164"/>
            <a:ext cx="3429000" cy="1104900"/>
          </a:xfrm>
          <a:prstGeom prst="roundRect">
            <a:avLst>
              <a:gd name="adj" fmla="val 603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3849350" y="3830864"/>
            <a:ext cx="3429000" cy="76200"/>
          </a:xfrm>
          <a:prstGeom prst="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4173200" y="3116489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4173200" y="3116489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152400" y="104775"/>
                </a:moveTo>
                <a:lnTo>
                  <a:pt x="381000" y="104775"/>
                </a:lnTo>
                <a:lnTo>
                  <a:pt x="381000" y="428625"/>
                </a:lnTo>
                <a:lnTo>
                  <a:pt x="152400" y="428625"/>
                </a:lnTo>
                <a:close/>
                <a:moveTo>
                  <a:pt x="219075" y="200025"/>
                </a:moveTo>
                <a:lnTo>
                  <a:pt x="323850" y="200025"/>
                </a:lnTo>
                <a:moveTo>
                  <a:pt x="219075" y="276225"/>
                </a:moveTo>
                <a:lnTo>
                  <a:pt x="323850" y="276225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4487525" y="3430814"/>
            <a:ext cx="152400" cy="152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4487525" y="34308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28575"/>
                </a:moveTo>
                <a:lnTo>
                  <a:pt x="76200" y="85725"/>
                </a:lnTo>
                <a:lnTo>
                  <a:pt x="114300" y="114300"/>
                </a:lnTo>
              </a:path>
            </a:pathLst>
          </a:custGeom>
          <a:solidFill>
            <a:srgbClr val="FFFFFF">
              <a:alpha val="0"/>
            </a:srgbClr>
          </a:solidFill>
          <a:ln w="1524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14944725" y="3068864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80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AUDIT LOG</a:t>
            </a:r>
            <a:endParaRPr lang="en-US" sz="1050"/>
          </a:p>
        </p:txBody>
      </p:sp>
      <p:sp>
        <p:nvSpPr>
          <p:cNvPr id="40" name="Text 38"/>
          <p:cNvSpPr txBox="1"/>
          <p:nvPr/>
        </p:nvSpPr>
        <p:spPr>
          <a:xfrm>
            <a:off x="14944725" y="3316514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 로그</a:t>
            </a:r>
            <a:endParaRPr lang="en-US" sz="2050"/>
          </a:p>
        </p:txBody>
      </p:sp>
      <p:sp>
        <p:nvSpPr>
          <p:cNvPr id="41" name="Shape 39"/>
          <p:cNvSpPr/>
          <p:nvPr/>
        </p:nvSpPr>
        <p:spPr>
          <a:xfrm>
            <a:off x="1314450" y="4402364"/>
            <a:ext cx="2819400" cy="1733550"/>
          </a:xfrm>
          <a:prstGeom prst="roundRect">
            <a:avLst>
              <a:gd name="adj" fmla="val 3297"/>
            </a:avLst>
          </a:prstGeom>
          <a:solidFill>
            <a:srgbClr val="F8FAFC"/>
          </a:solidFill>
          <a:ln w="1397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1600200" y="4659539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"</a:t>
            </a:r>
            <a:r>
              <a:rPr lang="ko-KR" altLang="en-US" sz="20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지난</a:t>
            </a:r>
            <a:r>
              <a:rPr lang="en-US" sz="20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0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달</a:t>
            </a:r>
            <a:r>
              <a:rPr lang="en-US" sz="20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2050" b="1" err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매출을</a:t>
            </a:r>
            <a:endParaRPr lang="en-US" sz="2050" err="1">
              <a:ea typeface="Pretendard"/>
            </a:endParaRPr>
          </a:p>
          <a:p>
            <a:pPr marL="0" indent="0">
              <a:buNone/>
            </a:pPr>
            <a:r>
              <a:rPr lang="en-US" sz="20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분석해줘</a:t>
            </a:r>
            <a:r>
              <a:rPr lang="en-US" sz="20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"</a:t>
            </a:r>
            <a:endParaRPr lang="en-US" sz="2050"/>
          </a:p>
        </p:txBody>
      </p:sp>
      <p:sp>
        <p:nvSpPr>
          <p:cNvPr id="44" name="Shape 42"/>
          <p:cNvSpPr/>
          <p:nvPr/>
        </p:nvSpPr>
        <p:spPr>
          <a:xfrm>
            <a:off x="1314450" y="6821714"/>
            <a:ext cx="2819400" cy="771525"/>
          </a:xfrm>
          <a:prstGeom prst="roundRect">
            <a:avLst>
              <a:gd name="adj" fmla="val 6173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1552575" y="6916964"/>
            <a:ext cx="2333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NATURAL LANGUAGE</a:t>
            </a:r>
            <a:endParaRPr lang="en-US" sz="1050"/>
          </a:p>
        </p:txBody>
      </p:sp>
      <p:sp>
        <p:nvSpPr>
          <p:cNvPr id="46" name="Text 44"/>
          <p:cNvSpPr txBox="1"/>
          <p:nvPr/>
        </p:nvSpPr>
        <p:spPr>
          <a:xfrm>
            <a:off x="1552575" y="7155089"/>
            <a:ext cx="2333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자연어로 질문</a:t>
            </a:r>
            <a:endParaRPr lang="en-US" sz="1500"/>
          </a:p>
        </p:txBody>
      </p:sp>
      <p:sp>
        <p:nvSpPr>
          <p:cNvPr id="47" name="Shape 45"/>
          <p:cNvSpPr/>
          <p:nvPr/>
        </p:nvSpPr>
        <p:spPr>
          <a:xfrm>
            <a:off x="5591175" y="4237717"/>
            <a:ext cx="2864757" cy="679451"/>
          </a:xfrm>
          <a:prstGeom prst="roundRect">
            <a:avLst>
              <a:gd name="adj" fmla="val 6410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5819775" y="426901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SUPERVISOR</a:t>
            </a:r>
            <a:endParaRPr lang="en-US" sz="1050"/>
          </a:p>
        </p:txBody>
      </p:sp>
      <p:sp>
        <p:nvSpPr>
          <p:cNvPr id="49" name="Text 47"/>
          <p:cNvSpPr txBox="1"/>
          <p:nvPr/>
        </p:nvSpPr>
        <p:spPr>
          <a:xfrm>
            <a:off x="5801632" y="4516210"/>
            <a:ext cx="25694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해석 · 기능 선택 · 실행 조율</a:t>
            </a:r>
            <a:endParaRPr lang="en-US" sz="1450"/>
          </a:p>
        </p:txBody>
      </p:sp>
      <p:sp>
        <p:nvSpPr>
          <p:cNvPr id="50" name="Shape 48"/>
          <p:cNvSpPr/>
          <p:nvPr/>
        </p:nvSpPr>
        <p:spPr>
          <a:xfrm>
            <a:off x="5591175" y="5145314"/>
            <a:ext cx="2819400" cy="1066800"/>
          </a:xfrm>
          <a:prstGeom prst="roundRect">
            <a:avLst>
              <a:gd name="adj" fmla="val 4464"/>
            </a:avLst>
          </a:prstGeom>
          <a:solidFill>
            <a:srgbClr val="F8FAFC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5819775" y="5202464"/>
            <a:ext cx="228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</a:t>
            </a:r>
            <a:endParaRPr lang="en-US" sz="1750"/>
          </a:p>
        </p:txBody>
      </p:sp>
      <p:sp>
        <p:nvSpPr>
          <p:cNvPr id="52" name="Text 50"/>
          <p:cNvSpPr txBox="1"/>
          <p:nvPr/>
        </p:nvSpPr>
        <p:spPr>
          <a:xfrm>
            <a:off x="5819775" y="5526314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질문을 실제 결과로 변환</a:t>
            </a:r>
            <a:endParaRPr lang="en-US" sz="1050"/>
          </a:p>
        </p:txBody>
      </p:sp>
      <p:sp>
        <p:nvSpPr>
          <p:cNvPr id="53" name="Shape 51"/>
          <p:cNvSpPr/>
          <p:nvPr/>
        </p:nvSpPr>
        <p:spPr>
          <a:xfrm>
            <a:off x="5829300" y="5878739"/>
            <a:ext cx="723900" cy="257175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129D8F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4" name="Text 52"/>
          <p:cNvSpPr txBox="1"/>
          <p:nvPr/>
        </p:nvSpPr>
        <p:spPr>
          <a:xfrm>
            <a:off x="5829300" y="5878739"/>
            <a:ext cx="7239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>
                <a:solidFill>
                  <a:srgbClr val="129D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G1 범위</a:t>
            </a:r>
            <a:endParaRPr lang="en-US" sz="950"/>
          </a:p>
        </p:txBody>
      </p:sp>
      <p:sp>
        <p:nvSpPr>
          <p:cNvPr id="55" name="Shape 53"/>
          <p:cNvSpPr/>
          <p:nvPr/>
        </p:nvSpPr>
        <p:spPr>
          <a:xfrm>
            <a:off x="6629400" y="5878739"/>
            <a:ext cx="723900" cy="257175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129D8F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6" name="Text 54"/>
          <p:cNvSpPr txBox="1"/>
          <p:nvPr/>
        </p:nvSpPr>
        <p:spPr>
          <a:xfrm>
            <a:off x="6629400" y="5878739"/>
            <a:ext cx="7239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>
                <a:solidFill>
                  <a:srgbClr val="129D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G2 SQL</a:t>
            </a:r>
            <a:endParaRPr lang="en-US" sz="950"/>
          </a:p>
        </p:txBody>
      </p:sp>
      <p:sp>
        <p:nvSpPr>
          <p:cNvPr id="57" name="Shape 55"/>
          <p:cNvSpPr/>
          <p:nvPr/>
        </p:nvSpPr>
        <p:spPr>
          <a:xfrm>
            <a:off x="7429500" y="5878739"/>
            <a:ext cx="723900" cy="257175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129D8F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7429500" y="5878739"/>
            <a:ext cx="7239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>
                <a:solidFill>
                  <a:srgbClr val="129D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G3 결과</a:t>
            </a:r>
            <a:endParaRPr lang="en-US" sz="950"/>
          </a:p>
        </p:txBody>
      </p:sp>
      <p:sp>
        <p:nvSpPr>
          <p:cNvPr id="59" name="Shape 57"/>
          <p:cNvSpPr/>
          <p:nvPr/>
        </p:nvSpPr>
        <p:spPr>
          <a:xfrm>
            <a:off x="5591175" y="6364514"/>
            <a:ext cx="1352550" cy="657225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0" name="Text 58"/>
          <p:cNvSpPr txBox="1"/>
          <p:nvPr/>
        </p:nvSpPr>
        <p:spPr>
          <a:xfrm>
            <a:off x="5591175" y="6450239"/>
            <a:ext cx="13525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문서 검색</a:t>
            </a:r>
            <a:endParaRPr lang="en-US" sz="1250"/>
          </a:p>
        </p:txBody>
      </p:sp>
      <p:sp>
        <p:nvSpPr>
          <p:cNvPr id="61" name="Text 59"/>
          <p:cNvSpPr txBox="1"/>
          <p:nvPr/>
        </p:nvSpPr>
        <p:spPr>
          <a:xfrm>
            <a:off x="5591175" y="6735989"/>
            <a:ext cx="1352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</a:t>
            </a:r>
            <a:endParaRPr lang="en-US" sz="1000"/>
          </a:p>
        </p:txBody>
      </p:sp>
      <p:sp>
        <p:nvSpPr>
          <p:cNvPr id="62" name="Shape 60"/>
          <p:cNvSpPr/>
          <p:nvPr/>
        </p:nvSpPr>
        <p:spPr>
          <a:xfrm>
            <a:off x="7058025" y="6364514"/>
            <a:ext cx="1352550" cy="657225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B9D1EA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3" name="Text 61"/>
          <p:cNvSpPr txBox="1"/>
          <p:nvPr/>
        </p:nvSpPr>
        <p:spPr>
          <a:xfrm>
            <a:off x="7058025" y="6450239"/>
            <a:ext cx="13525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 수요 예측</a:t>
            </a:r>
            <a:endParaRPr lang="en-US" sz="1250"/>
          </a:p>
        </p:txBody>
      </p:sp>
      <p:sp>
        <p:nvSpPr>
          <p:cNvPr id="64" name="Text 62"/>
          <p:cNvSpPr txBox="1"/>
          <p:nvPr/>
        </p:nvSpPr>
        <p:spPr>
          <a:xfrm>
            <a:off x="7058025" y="6735989"/>
            <a:ext cx="1352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</a:t>
            </a:r>
            <a:endParaRPr lang="en-US" sz="1000"/>
          </a:p>
        </p:txBody>
      </p:sp>
      <p:sp>
        <p:nvSpPr>
          <p:cNvPr id="65" name="Shape 63"/>
          <p:cNvSpPr/>
          <p:nvPr/>
        </p:nvSpPr>
        <p:spPr>
          <a:xfrm>
            <a:off x="5591175" y="7120618"/>
            <a:ext cx="2819400" cy="561975"/>
          </a:xfrm>
          <a:prstGeom prst="roundRect">
            <a:avLst>
              <a:gd name="adj" fmla="val 8475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6" name="Text 64"/>
          <p:cNvSpPr txBox="1"/>
          <p:nvPr/>
        </p:nvSpPr>
        <p:spPr>
          <a:xfrm>
            <a:off x="5819775" y="7168243"/>
            <a:ext cx="23812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FOUNDATION</a:t>
            </a:r>
            <a:endParaRPr lang="en-US" sz="950"/>
          </a:p>
        </p:txBody>
      </p:sp>
      <p:sp>
        <p:nvSpPr>
          <p:cNvPr id="67" name="Text 65"/>
          <p:cNvSpPr txBox="1"/>
          <p:nvPr/>
        </p:nvSpPr>
        <p:spPr>
          <a:xfrm>
            <a:off x="5828846" y="7386864"/>
            <a:ext cx="2580821" cy="210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DataHub · Trino · App PostgreSQL</a:t>
            </a:r>
            <a:endParaRPr lang="en-US" sz="1150"/>
          </a:p>
        </p:txBody>
      </p:sp>
      <p:sp>
        <p:nvSpPr>
          <p:cNvPr id="68" name="Shape 66"/>
          <p:cNvSpPr/>
          <p:nvPr/>
        </p:nvSpPr>
        <p:spPr>
          <a:xfrm>
            <a:off x="9867900" y="4269014"/>
            <a:ext cx="2819400" cy="895350"/>
          </a:xfrm>
          <a:prstGeom prst="roundRect">
            <a:avLst>
              <a:gd name="adj" fmla="val 5319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9991725" y="4545239"/>
            <a:ext cx="342900" cy="3429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0" name="Text 68"/>
          <p:cNvSpPr txBox="1"/>
          <p:nvPr/>
        </p:nvSpPr>
        <p:spPr>
          <a:xfrm>
            <a:off x="9991725" y="4516664"/>
            <a:ext cx="342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>
                <a:solidFill>
                  <a:srgbClr val="17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/>
          </a:p>
        </p:txBody>
      </p:sp>
      <p:sp>
        <p:nvSpPr>
          <p:cNvPr id="71" name="Text 69"/>
          <p:cNvSpPr txBox="1"/>
          <p:nvPr/>
        </p:nvSpPr>
        <p:spPr>
          <a:xfrm>
            <a:off x="10458450" y="4421414"/>
            <a:ext cx="20002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결과 가져오기</a:t>
            </a:r>
            <a:endParaRPr lang="en-US" sz="1450"/>
          </a:p>
        </p:txBody>
      </p:sp>
      <p:sp>
        <p:nvSpPr>
          <p:cNvPr id="72" name="Text 70"/>
          <p:cNvSpPr txBox="1"/>
          <p:nvPr/>
        </p:nvSpPr>
        <p:spPr>
          <a:xfrm>
            <a:off x="10458450" y="4726214"/>
            <a:ext cx="2095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저장된 결과 재사용</a:t>
            </a:r>
            <a:endParaRPr lang="en-US" sz="1050"/>
          </a:p>
        </p:txBody>
      </p:sp>
      <p:sp>
        <p:nvSpPr>
          <p:cNvPr id="73" name="Shape 71"/>
          <p:cNvSpPr/>
          <p:nvPr/>
        </p:nvSpPr>
        <p:spPr>
          <a:xfrm>
            <a:off x="9867900" y="5364389"/>
            <a:ext cx="2819400" cy="895350"/>
          </a:xfrm>
          <a:prstGeom prst="roundRect">
            <a:avLst>
              <a:gd name="adj" fmla="val 5319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9991725" y="5640614"/>
            <a:ext cx="342900" cy="3429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9991725" y="5640614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66675" y="247650"/>
                </a:moveTo>
                <a:lnTo>
                  <a:pt x="123825" y="114300"/>
                </a:lnTo>
                <a:lnTo>
                  <a:pt x="190500" y="209550"/>
                </a:lnTo>
                <a:lnTo>
                  <a:pt x="276225" y="57150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6" name="Text 74"/>
          <p:cNvSpPr txBox="1"/>
          <p:nvPr/>
        </p:nvSpPr>
        <p:spPr>
          <a:xfrm>
            <a:off x="10458450" y="5516789"/>
            <a:ext cx="20002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표·차트 편집</a:t>
            </a:r>
            <a:endParaRPr lang="en-US" sz="1450"/>
          </a:p>
        </p:txBody>
      </p:sp>
      <p:sp>
        <p:nvSpPr>
          <p:cNvPr id="77" name="Text 75"/>
          <p:cNvSpPr txBox="1"/>
          <p:nvPr/>
        </p:nvSpPr>
        <p:spPr>
          <a:xfrm>
            <a:off x="10458450" y="5821589"/>
            <a:ext cx="2095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 화면에서 구성</a:t>
            </a:r>
            <a:endParaRPr lang="en-US" sz="1050"/>
          </a:p>
        </p:txBody>
      </p:sp>
      <p:sp>
        <p:nvSpPr>
          <p:cNvPr id="78" name="Shape 76"/>
          <p:cNvSpPr/>
          <p:nvPr/>
        </p:nvSpPr>
        <p:spPr>
          <a:xfrm>
            <a:off x="9867900" y="6459764"/>
            <a:ext cx="2819400" cy="895350"/>
          </a:xfrm>
          <a:prstGeom prst="roundRect">
            <a:avLst>
              <a:gd name="adj" fmla="val 5319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9991725" y="6735989"/>
            <a:ext cx="342900" cy="3429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9991725" y="673598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04775" y="66675"/>
                </a:moveTo>
                <a:lnTo>
                  <a:pt x="228600" y="66675"/>
                </a:lnTo>
                <a:lnTo>
                  <a:pt x="266700" y="104775"/>
                </a:lnTo>
                <a:lnTo>
                  <a:pt x="266700" y="276225"/>
                </a:lnTo>
                <a:lnTo>
                  <a:pt x="104775" y="276225"/>
                </a:lnTo>
                <a:close/>
                <a:moveTo>
                  <a:pt x="142875" y="142875"/>
                </a:moveTo>
                <a:lnTo>
                  <a:pt x="228600" y="142875"/>
                </a:lnTo>
                <a:moveTo>
                  <a:pt x="142875" y="200025"/>
                </a:moveTo>
                <a:lnTo>
                  <a:pt x="228600" y="200025"/>
                </a:lnTo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1" name="Text 79"/>
          <p:cNvSpPr txBox="1"/>
          <p:nvPr/>
        </p:nvSpPr>
        <p:spPr>
          <a:xfrm>
            <a:off x="10458450" y="6612164"/>
            <a:ext cx="20002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 · HTML 출력</a:t>
            </a:r>
            <a:endParaRPr lang="en-US" sz="1450"/>
          </a:p>
        </p:txBody>
      </p:sp>
      <p:sp>
        <p:nvSpPr>
          <p:cNvPr id="82" name="Text 80"/>
          <p:cNvSpPr txBox="1"/>
          <p:nvPr/>
        </p:nvSpPr>
        <p:spPr>
          <a:xfrm>
            <a:off x="10458450" y="6916964"/>
            <a:ext cx="2095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완성된 문서 제공</a:t>
            </a:r>
            <a:endParaRPr lang="en-US" sz="1050"/>
          </a:p>
        </p:txBody>
      </p:sp>
      <p:sp>
        <p:nvSpPr>
          <p:cNvPr id="83" name="Shape 81"/>
          <p:cNvSpPr/>
          <p:nvPr/>
        </p:nvSpPr>
        <p:spPr>
          <a:xfrm>
            <a:off x="14154150" y="4269014"/>
            <a:ext cx="2819400" cy="895350"/>
          </a:xfrm>
          <a:prstGeom prst="roundRect">
            <a:avLst>
              <a:gd name="adj" fmla="val 5319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14277975" y="4545239"/>
            <a:ext cx="342900" cy="3429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14277975" y="454523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76200" y="180975"/>
                </a:moveTo>
                <a:lnTo>
                  <a:pt x="133350" y="238125"/>
                </a:lnTo>
                <a:lnTo>
                  <a:pt x="266700" y="85725"/>
                </a:lnTo>
              </a:path>
            </a:pathLst>
          </a:custGeom>
          <a:solidFill>
            <a:srgbClr val="FFFFFF">
              <a:alpha val="0"/>
            </a:srgbClr>
          </a:solidFill>
          <a:ln w="2159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6" name="Text 84"/>
          <p:cNvSpPr txBox="1"/>
          <p:nvPr/>
        </p:nvSpPr>
        <p:spPr>
          <a:xfrm>
            <a:off x="14744700" y="4421414"/>
            <a:ext cx="20002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이력 저장</a:t>
            </a:r>
            <a:endParaRPr lang="en-US" sz="1450"/>
          </a:p>
        </p:txBody>
      </p:sp>
      <p:sp>
        <p:nvSpPr>
          <p:cNvPr id="87" name="Text 85"/>
          <p:cNvSpPr txBox="1"/>
          <p:nvPr/>
        </p:nvSpPr>
        <p:spPr>
          <a:xfrm>
            <a:off x="14744700" y="4726214"/>
            <a:ext cx="2095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성공과 실패 결과 확인</a:t>
            </a:r>
            <a:endParaRPr lang="en-US" sz="1050"/>
          </a:p>
        </p:txBody>
      </p:sp>
      <p:sp>
        <p:nvSpPr>
          <p:cNvPr id="88" name="Shape 86"/>
          <p:cNvSpPr/>
          <p:nvPr/>
        </p:nvSpPr>
        <p:spPr>
          <a:xfrm>
            <a:off x="14154150" y="5364389"/>
            <a:ext cx="2819400" cy="895350"/>
          </a:xfrm>
          <a:prstGeom prst="roundRect">
            <a:avLst>
              <a:gd name="adj" fmla="val 5319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14277975" y="5640614"/>
            <a:ext cx="342900" cy="3429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14277975" y="5640614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95250" y="104775"/>
                </a:moveTo>
                <a:lnTo>
                  <a:pt x="257175" y="104775"/>
                </a:lnTo>
                <a:moveTo>
                  <a:pt x="95250" y="180975"/>
                </a:moveTo>
                <a:lnTo>
                  <a:pt x="257175" y="180975"/>
                </a:lnTo>
                <a:moveTo>
                  <a:pt x="95250" y="257175"/>
                </a:moveTo>
                <a:lnTo>
                  <a:pt x="257175" y="257175"/>
                </a:lnTo>
              </a:path>
            </a:pathLst>
          </a:custGeom>
          <a:solidFill>
            <a:srgbClr val="FFFFFF">
              <a:alpha val="0"/>
            </a:srgbClr>
          </a:solidFill>
          <a:ln w="2032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1" name="Text 89"/>
          <p:cNvSpPr txBox="1"/>
          <p:nvPr/>
        </p:nvSpPr>
        <p:spPr>
          <a:xfrm>
            <a:off x="14744700" y="5516789"/>
            <a:ext cx="20002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수행자·시간</a:t>
            </a:r>
            <a:endParaRPr lang="en-US" sz="1450"/>
          </a:p>
        </p:txBody>
      </p:sp>
      <p:sp>
        <p:nvSpPr>
          <p:cNvPr id="92" name="Text 90"/>
          <p:cNvSpPr txBox="1"/>
          <p:nvPr/>
        </p:nvSpPr>
        <p:spPr>
          <a:xfrm>
            <a:off x="14744700" y="5821589"/>
            <a:ext cx="2095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언제 실행했는지</a:t>
            </a:r>
            <a:endParaRPr lang="en-US" sz="1050"/>
          </a:p>
        </p:txBody>
      </p:sp>
      <p:sp>
        <p:nvSpPr>
          <p:cNvPr id="93" name="Shape 91"/>
          <p:cNvSpPr/>
          <p:nvPr/>
        </p:nvSpPr>
        <p:spPr>
          <a:xfrm>
            <a:off x="14154150" y="6459764"/>
            <a:ext cx="2819400" cy="895350"/>
          </a:xfrm>
          <a:prstGeom prst="roundRect">
            <a:avLst>
              <a:gd name="adj" fmla="val 5319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14277975" y="6735989"/>
            <a:ext cx="342900" cy="3429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14277975" y="673598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95250" y="104775"/>
                </a:moveTo>
                <a:lnTo>
                  <a:pt x="257175" y="104775"/>
                </a:lnTo>
                <a:moveTo>
                  <a:pt x="95250" y="180975"/>
                </a:moveTo>
                <a:lnTo>
                  <a:pt x="257175" y="180975"/>
                </a:lnTo>
                <a:moveTo>
                  <a:pt x="95250" y="257175"/>
                </a:moveTo>
                <a:lnTo>
                  <a:pt x="257175" y="257175"/>
                </a:lnTo>
              </a:path>
            </a:pathLst>
          </a:custGeom>
          <a:solidFill>
            <a:srgbClr val="FFFFFF">
              <a:alpha val="0"/>
            </a:srgbClr>
          </a:solidFill>
          <a:ln w="2032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6" name="Text 94"/>
          <p:cNvSpPr txBox="1"/>
          <p:nvPr/>
        </p:nvSpPr>
        <p:spPr>
          <a:xfrm>
            <a:off x="14744700" y="6612164"/>
            <a:ext cx="20002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Request · Trace ID</a:t>
            </a:r>
            <a:endParaRPr lang="en-US" sz="1450"/>
          </a:p>
        </p:txBody>
      </p:sp>
      <p:sp>
        <p:nvSpPr>
          <p:cNvPr id="97" name="Text 95"/>
          <p:cNvSpPr txBox="1"/>
          <p:nvPr/>
        </p:nvSpPr>
        <p:spPr>
          <a:xfrm>
            <a:off x="14744700" y="6916964"/>
            <a:ext cx="2095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단위로 추적</a:t>
            </a:r>
            <a:endParaRPr lang="en-US" sz="1050"/>
          </a:p>
        </p:txBody>
      </p:sp>
      <p:sp>
        <p:nvSpPr>
          <p:cNvPr id="98" name="Shape 96"/>
          <p:cNvSpPr/>
          <p:nvPr/>
        </p:nvSpPr>
        <p:spPr>
          <a:xfrm>
            <a:off x="4438650" y="5545364"/>
            <a:ext cx="752475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9" name="Text 97"/>
          <p:cNvSpPr txBox="1"/>
          <p:nvPr/>
        </p:nvSpPr>
        <p:spPr>
          <a:xfrm>
            <a:off x="4438650" y="5107214"/>
            <a:ext cx="752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100"/>
          </a:p>
        </p:txBody>
      </p:sp>
      <p:sp>
        <p:nvSpPr>
          <p:cNvPr id="100" name="Shape 98"/>
          <p:cNvSpPr/>
          <p:nvPr/>
        </p:nvSpPr>
        <p:spPr>
          <a:xfrm>
            <a:off x="8715375" y="5545364"/>
            <a:ext cx="752475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1" name="Text 99"/>
          <p:cNvSpPr txBox="1"/>
          <p:nvPr/>
        </p:nvSpPr>
        <p:spPr>
          <a:xfrm>
            <a:off x="8715375" y="5107214"/>
            <a:ext cx="752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100"/>
          </a:p>
        </p:txBody>
      </p:sp>
      <p:sp>
        <p:nvSpPr>
          <p:cNvPr id="104" name="Shape 102"/>
          <p:cNvSpPr/>
          <p:nvPr/>
        </p:nvSpPr>
        <p:spPr>
          <a:xfrm>
            <a:off x="1009650" y="8159296"/>
            <a:ext cx="16268700" cy="714375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5" name="Text 103"/>
          <p:cNvSpPr txBox="1"/>
          <p:nvPr/>
        </p:nvSpPr>
        <p:spPr>
          <a:xfrm>
            <a:off x="1314450" y="8302171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END-TO-END</a:t>
            </a:r>
            <a:endParaRPr lang="en-US" sz="1200"/>
          </a:p>
        </p:txBody>
      </p:sp>
      <p:sp>
        <p:nvSpPr>
          <p:cNvPr id="106" name="Text 104"/>
          <p:cNvSpPr txBox="1"/>
          <p:nvPr/>
        </p:nvSpPr>
        <p:spPr>
          <a:xfrm>
            <a:off x="3305175" y="8283121"/>
            <a:ext cx="1095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650"/>
          </a:p>
        </p:txBody>
      </p:sp>
      <p:sp>
        <p:nvSpPr>
          <p:cNvPr id="107" name="Text 105"/>
          <p:cNvSpPr txBox="1"/>
          <p:nvPr/>
        </p:nvSpPr>
        <p:spPr>
          <a:xfrm>
            <a:off x="4762500" y="8283121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분석</a:t>
            </a:r>
            <a:endParaRPr lang="en-US" sz="1650"/>
          </a:p>
        </p:txBody>
      </p:sp>
      <p:sp>
        <p:nvSpPr>
          <p:cNvPr id="108" name="Text 106"/>
          <p:cNvSpPr txBox="1"/>
          <p:nvPr/>
        </p:nvSpPr>
        <p:spPr>
          <a:xfrm>
            <a:off x="6991350" y="8283121"/>
            <a:ext cx="1095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</a:t>
            </a:r>
            <a:endParaRPr lang="en-US" sz="1650"/>
          </a:p>
        </p:txBody>
      </p:sp>
      <p:sp>
        <p:nvSpPr>
          <p:cNvPr id="109" name="Text 107"/>
          <p:cNvSpPr txBox="1"/>
          <p:nvPr/>
        </p:nvSpPr>
        <p:spPr>
          <a:xfrm>
            <a:off x="8667750" y="8283121"/>
            <a:ext cx="1095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기록</a:t>
            </a:r>
            <a:endParaRPr lang="en-US" sz="1650"/>
          </a:p>
        </p:txBody>
      </p:sp>
      <p:sp>
        <p:nvSpPr>
          <p:cNvPr id="110" name="Shape 108"/>
          <p:cNvSpPr/>
          <p:nvPr/>
        </p:nvSpPr>
        <p:spPr>
          <a:xfrm>
            <a:off x="4010025" y="8511721"/>
            <a:ext cx="447675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6238875" y="8511721"/>
            <a:ext cx="447675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8029575" y="8511721"/>
            <a:ext cx="447675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1009650" y="9250135"/>
            <a:ext cx="16268700" cy="9525"/>
          </a:xfrm>
          <a:prstGeom prst="rect">
            <a:avLst/>
          </a:prstGeom>
          <a:solidFill>
            <a:srgbClr val="DCE7F4"/>
          </a:solidFill>
          <a:ln w="12700">
            <a:solidFill>
              <a:srgbClr val="DCE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4" name="Text 112"/>
          <p:cNvSpPr txBox="1"/>
          <p:nvPr/>
        </p:nvSpPr>
        <p:spPr>
          <a:xfrm>
            <a:off x="1009650" y="9402535"/>
            <a:ext cx="1809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5" b="1" kern="0" spc="105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ANSWER SERVICE</a:t>
            </a:r>
            <a:endParaRPr lang="en-US" sz="1275"/>
          </a:p>
        </p:txBody>
      </p:sp>
      <p:sp>
        <p:nvSpPr>
          <p:cNvPr id="115" name="Text 113"/>
          <p:cNvSpPr txBox="1"/>
          <p:nvPr/>
        </p:nvSpPr>
        <p:spPr>
          <a:xfrm>
            <a:off x="2940844" y="9395391"/>
            <a:ext cx="5548312" cy="361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하나의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질문이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결과와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2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근거</a:t>
            </a: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, </a:t>
            </a:r>
            <a:r>
              <a:rPr lang="ko-KR" altLang="en-US" sz="2300" b="1">
                <a:solidFill>
                  <a:srgbClr val="176FE5"/>
                </a:solidFill>
                <a:ea typeface="+mn-lt"/>
                <a:cs typeface="+mn-lt"/>
              </a:rPr>
              <a:t>실행</a:t>
            </a:r>
            <a:r>
              <a:rPr lang="en-US" sz="2300" b="1">
                <a:solidFill>
                  <a:srgbClr val="176FE5"/>
                </a:solidFill>
                <a:ea typeface="+mn-lt"/>
                <a:cs typeface="+mn-lt"/>
              </a:rPr>
              <a:t> </a:t>
            </a:r>
            <a:r>
              <a:rPr lang="ko-KR" altLang="en-US" sz="2300" b="1">
                <a:solidFill>
                  <a:srgbClr val="176FE5"/>
                </a:solidFill>
                <a:ea typeface="+mn-lt"/>
                <a:cs typeface="+mn-lt"/>
              </a:rPr>
              <a:t>기록으로</a:t>
            </a:r>
            <a:r>
              <a:rPr lang="en-US" sz="2300" b="1">
                <a:solidFill>
                  <a:srgbClr val="176FE5"/>
                </a:solidFill>
                <a:ea typeface="+mn-lt"/>
                <a:cs typeface="+mn-lt"/>
              </a:rPr>
              <a:t> </a:t>
            </a:r>
            <a:r>
              <a:rPr lang="ko-KR" altLang="en-US" sz="2300" b="1">
                <a:solidFill>
                  <a:srgbClr val="176FE5"/>
                </a:solidFill>
                <a:ea typeface="+mn-lt"/>
                <a:cs typeface="+mn-lt"/>
              </a:rPr>
              <a:t>남는다</a:t>
            </a:r>
            <a:endParaRPr lang="en-US" sz="23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18" name="Shape 13">
            <a:extLst>
              <a:ext uri="{FF2B5EF4-FFF2-40B4-BE49-F238E27FC236}">
                <a16:creationId xmlns:a16="http://schemas.microsoft.com/office/drawing/2014/main" id="{2C18F567-B23A-4D0F-0E25-B12FDAE17FCA}"/>
              </a:ext>
            </a:extLst>
          </p:cNvPr>
          <p:cNvSpPr/>
          <p:nvPr/>
        </p:nvSpPr>
        <p:spPr>
          <a:xfrm flipH="1">
            <a:off x="1457976" y="3371303"/>
            <a:ext cx="361950" cy="285750"/>
          </a:xfrm>
          <a:prstGeom prst="arc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2BF4E60-3A75-DD3B-2DCD-0E66F1D926C0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D334F"/>
                </a:solidFill>
                <a:ea typeface="맑은 고딕"/>
                <a:cs typeface="Calibri"/>
              </a:rPr>
              <a:t>질문부터 기록까지</a:t>
            </a:r>
          </a:p>
        </p:txBody>
      </p:sp>
      <p:sp>
        <p:nvSpPr>
          <p:cNvPr id="103" name="Shape 0">
            <a:extLst>
              <a:ext uri="{FF2B5EF4-FFF2-40B4-BE49-F238E27FC236}">
                <a16:creationId xmlns:a16="http://schemas.microsoft.com/office/drawing/2014/main" id="{0FF32DFF-26A6-2F7B-6DF7-03DFF56F3DE8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9" name="Text 1">
            <a:extLst>
              <a:ext uri="{FF2B5EF4-FFF2-40B4-BE49-F238E27FC236}">
                <a16:creationId xmlns:a16="http://schemas.microsoft.com/office/drawing/2014/main" id="{E3DC99CD-EB1E-C7DC-B3CC-4AE940A1B85A}"/>
              </a:ext>
            </a:extLst>
          </p:cNvPr>
          <p:cNvSpPr txBox="1"/>
          <p:nvPr/>
        </p:nvSpPr>
        <p:spPr>
          <a:xfrm>
            <a:off x="1005840" y="941905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38 · END-TO-END</a:t>
            </a:r>
            <a:endParaRPr lang="en-US" sz="1100" b="1" kern="0" spc="100">
              <a:solidFill>
                <a:srgbClr val="176FE5"/>
              </a:solidFill>
              <a:latin typeface="Pretendard"/>
              <a:ea typeface="Pretendar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2705-3005-07D3-4A54-8C895B700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523F56-C773-9173-253F-BD424B1CBF02}"/>
              </a:ext>
            </a:extLst>
          </p:cNvPr>
          <p:cNvSpPr/>
          <p:nvPr/>
        </p:nvSpPr>
        <p:spPr>
          <a:xfrm>
            <a:off x="1009650" y="752475"/>
            <a:ext cx="16268700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799D6DA-AC67-2903-972E-559A3A84217E}"/>
              </a:ext>
            </a:extLst>
          </p:cNvPr>
          <p:cNvSpPr/>
          <p:nvPr/>
        </p:nvSpPr>
        <p:spPr>
          <a:xfrm>
            <a:off x="8572500" y="2305050"/>
            <a:ext cx="1143000" cy="0"/>
          </a:xfrm>
          <a:prstGeom prst="line">
            <a:avLst/>
          </a:prstGeom>
          <a:noFill/>
          <a:ln w="571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E19E96-DC99-352D-665A-6C501FEC3B74}"/>
              </a:ext>
            </a:extLst>
          </p:cNvPr>
          <p:cNvSpPr txBox="1"/>
          <p:nvPr/>
        </p:nvSpPr>
        <p:spPr>
          <a:xfrm>
            <a:off x="5810250" y="4406291"/>
            <a:ext cx="6667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ko-KR" altLang="en-US" sz="9600" b="1">
                <a:solidFill>
                  <a:srgbClr val="176FE5"/>
                </a:solidFill>
                <a:latin typeface="Arial"/>
                <a:ea typeface="Calibri"/>
                <a:cs typeface="Arial"/>
              </a:rPr>
              <a:t>과정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CD5C729F-3843-538B-2A32-15B6DD5EE41F}"/>
              </a:ext>
            </a:extLst>
          </p:cNvPr>
          <p:cNvSpPr/>
          <p:nvPr/>
        </p:nvSpPr>
        <p:spPr>
          <a:xfrm>
            <a:off x="5810250" y="6057900"/>
            <a:ext cx="6667500" cy="0"/>
          </a:xfrm>
          <a:prstGeom prst="line">
            <a:avLst/>
          </a:prstGeom>
          <a:noFill/>
          <a:ln w="19050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94796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ANSWERVICE / 40</a:t>
            </a: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· TEAM &amp; RESPONSIBILITIES</a:t>
            </a:r>
            <a:endParaRPr lang="en-US" sz="1100">
              <a:latin typeface="Pretendard"/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팀원별 </a:t>
            </a:r>
            <a:r>
              <a:rPr lang="ko-KR" altLang="en-US" sz="36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업무분담</a:t>
            </a:r>
            <a:endParaRPr lang="en-US" sz="3600" b="1">
              <a:solidFill>
                <a:srgbClr val="153451"/>
              </a:solidFill>
              <a:latin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09650" y="2952750"/>
            <a:ext cx="16268700" cy="1257300"/>
          </a:xfrm>
          <a:prstGeom prst="roundRect">
            <a:avLst>
              <a:gd name="adj" fmla="val 15152"/>
            </a:avLst>
          </a:prstGeom>
          <a:solidFill>
            <a:srgbClr val="EAF3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81100" y="3257550"/>
            <a:ext cx="647700" cy="6477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400175" y="3371850"/>
            <a:ext cx="209550" cy="20955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85875" y="3600450"/>
            <a:ext cx="438150" cy="257175"/>
          </a:xfrm>
          <a:prstGeom prst="arc">
            <a:avLst/>
          </a:prstGeom>
          <a:solidFill>
            <a:srgbClr val="FFFFFF">
              <a:alpha val="0"/>
            </a:srgbClr>
          </a:solidFill>
          <a:ln w="228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019300" y="3143250"/>
            <a:ext cx="342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PROJECT MANAGEMENT</a:t>
            </a:r>
            <a:endParaRPr lang="en-US" sz="1050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2019300" y="3467554"/>
            <a:ext cx="874485" cy="351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박준희</a:t>
            </a:r>
            <a:endParaRPr lang="en-US" sz="2000" err="1">
              <a:latin typeface="Pretendard"/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105150" y="3429000"/>
            <a:ext cx="476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통합 · 실행환경 · 품질</a:t>
            </a:r>
            <a:endParaRPr lang="en-US" sz="2000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58250" y="3219450"/>
            <a:ext cx="18097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858250" y="346910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일정·범위</a:t>
            </a:r>
            <a:endParaRPr lang="en-US" sz="1600"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877550" y="3219450"/>
            <a:ext cx="18097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0877550" y="346910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공통 환경</a:t>
            </a:r>
            <a:endParaRPr lang="en-US" sz="1600">
              <a:ea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896850" y="3219450"/>
            <a:ext cx="18097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2896850" y="346910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통합 품질</a:t>
            </a:r>
            <a:endParaRPr lang="en-US" sz="1600">
              <a:latin typeface="Pretendard"/>
              <a:ea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4916150" y="3219450"/>
            <a:ext cx="20955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4916150" y="3469105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Release</a:t>
            </a:r>
            <a:endParaRPr lang="en-US" sz="1600">
              <a:latin typeface="Pretendard"/>
              <a:ea typeface="Pretendard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09650" y="4572000"/>
            <a:ext cx="3714750" cy="2724150"/>
          </a:xfrm>
          <a:prstGeom prst="roundRect">
            <a:avLst>
              <a:gd name="adj" fmla="val 6294"/>
            </a:avLst>
          </a:prstGeom>
          <a:solidFill>
            <a:srgbClr val="FFFFFF"/>
          </a:solidFill>
          <a:ln w="1524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200150" y="4857750"/>
            <a:ext cx="457200" cy="45720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295400" y="4953000"/>
            <a:ext cx="266700" cy="1143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295400" y="5010150"/>
            <a:ext cx="0" cy="20955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562100" y="5010150"/>
            <a:ext cx="0" cy="20955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809750" y="4791075"/>
            <a:ext cx="2714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DATA &amp; REPORT AGENT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1809750" y="5019675"/>
            <a:ext cx="2714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정승</a:t>
            </a:r>
            <a:endParaRPr lang="en-US" sz="1750">
              <a:ea typeface="Pretendard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276350" y="5486400"/>
            <a:ext cx="3181350" cy="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285875" y="5724525"/>
            <a:ext cx="285750" cy="28575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362075" y="5867400"/>
            <a:ext cx="47625" cy="47625"/>
          </a:xfrm>
          <a:prstGeom prst="line">
            <a:avLst/>
          </a:prstGeom>
          <a:noFill/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2" name="Shape 40"/>
          <p:cNvSpPr/>
          <p:nvPr/>
        </p:nvSpPr>
        <p:spPr>
          <a:xfrm flipV="1">
            <a:off x="1409700" y="5800725"/>
            <a:ext cx="95250" cy="114300"/>
          </a:xfrm>
          <a:prstGeom prst="line">
            <a:avLst/>
          </a:prstGeom>
          <a:noFill/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1710690" y="5705475"/>
            <a:ext cx="2714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AI-ready 데이터</a:t>
            </a:r>
            <a:endParaRPr lang="en-US" sz="1550" b="1">
              <a:solidFill>
                <a:srgbClr val="153451"/>
              </a:solidFill>
              <a:latin typeface="Pretendard"/>
              <a:ea typeface="Pretendard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285875" y="6448425"/>
            <a:ext cx="285750" cy="28575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362075" y="6591300"/>
            <a:ext cx="47625" cy="47625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7" name="Shape 45"/>
          <p:cNvSpPr/>
          <p:nvPr/>
        </p:nvSpPr>
        <p:spPr>
          <a:xfrm flipV="1">
            <a:off x="1409700" y="6524625"/>
            <a:ext cx="95250" cy="1143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1695450" y="6429375"/>
            <a:ext cx="2714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보고서</a:t>
            </a:r>
            <a:r>
              <a:rPr lang="en-US" sz="15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5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페이지</a:t>
            </a:r>
            <a:endParaRPr lang="ko-KR" altLang="en-US" sz="1550" b="1">
              <a:solidFill>
                <a:srgbClr val="153451"/>
              </a:solidFill>
              <a:latin typeface="Pretendard"/>
              <a:ea typeface="Pretendard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095875" y="4572000"/>
            <a:ext cx="3714750" cy="2724150"/>
          </a:xfrm>
          <a:prstGeom prst="roundRect">
            <a:avLst>
              <a:gd name="adj" fmla="val 6294"/>
            </a:avLst>
          </a:prstGeom>
          <a:solidFill>
            <a:srgbClr val="F7FAFF"/>
          </a:solidFill>
          <a:ln w="1524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286375" y="4857750"/>
            <a:ext cx="457200" cy="45720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353050" y="4924425"/>
            <a:ext cx="323850" cy="323850"/>
          </a:xfrm>
          <a:prstGeom prst="star5">
            <a:avLst/>
          </a:prstGeom>
          <a:solidFill>
            <a:srgbClr val="FFFFFF">
              <a:alpha val="0"/>
            </a:srgbClr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5895975" y="4791075"/>
            <a:ext cx="2714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AI &amp; MODEL EVALUATION</a:t>
            </a:r>
            <a:endParaRPr lang="en-US" sz="1050">
              <a:ea typeface="Pretendard"/>
            </a:endParaRPr>
          </a:p>
        </p:txBody>
      </p:sp>
      <p:sp>
        <p:nvSpPr>
          <p:cNvPr id="54" name="Text 52"/>
          <p:cNvSpPr txBox="1"/>
          <p:nvPr/>
        </p:nvSpPr>
        <p:spPr>
          <a:xfrm>
            <a:off x="5895975" y="5019675"/>
            <a:ext cx="2714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윤대성</a:t>
            </a:r>
            <a:endParaRPr lang="en-US" sz="1750">
              <a:latin typeface="Pretendard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362575" y="5486400"/>
            <a:ext cx="3181350" cy="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372100" y="5724525"/>
            <a:ext cx="285750" cy="28575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448300" y="5867400"/>
            <a:ext cx="47625" cy="47625"/>
          </a:xfrm>
          <a:prstGeom prst="line">
            <a:avLst/>
          </a:prstGeom>
          <a:noFill/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8" name="Shape 56"/>
          <p:cNvSpPr/>
          <p:nvPr/>
        </p:nvSpPr>
        <p:spPr>
          <a:xfrm flipV="1">
            <a:off x="5495925" y="5800725"/>
            <a:ext cx="95250" cy="114300"/>
          </a:xfrm>
          <a:prstGeom prst="line">
            <a:avLst/>
          </a:prstGeom>
          <a:noFill/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59" name="Text 57"/>
          <p:cNvSpPr txBox="1"/>
          <p:nvPr/>
        </p:nvSpPr>
        <p:spPr>
          <a:xfrm>
            <a:off x="5742124" y="5720715"/>
            <a:ext cx="288153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50" b="1" err="1">
                <a:solidFill>
                  <a:srgbClr val="153451"/>
                </a:solidFill>
                <a:latin typeface="Calibri"/>
                <a:ea typeface="Pretendard"/>
                <a:cs typeface="Calibri"/>
              </a:rPr>
              <a:t>Trino</a:t>
            </a:r>
            <a:r>
              <a:rPr lang="ko-KR" altLang="en-US" sz="1550" b="1">
                <a:solidFill>
                  <a:srgbClr val="153451"/>
                </a:solidFill>
                <a:latin typeface="Calibri"/>
                <a:ea typeface="Pretendard"/>
                <a:cs typeface="Calibri"/>
              </a:rPr>
              <a:t> </a:t>
            </a:r>
            <a:r>
              <a:rPr lang="en-US" sz="1600" b="1">
                <a:solidFill>
                  <a:srgbClr val="153451"/>
                </a:solidFill>
                <a:latin typeface="Calibri"/>
                <a:ea typeface="Pretendard"/>
                <a:cs typeface="Calibri"/>
              </a:rPr>
              <a:t>· </a:t>
            </a:r>
            <a:r>
              <a:rPr lang="ko-KR" altLang="en-US" sz="1550" b="1" err="1">
                <a:solidFill>
                  <a:srgbClr val="153451"/>
                </a:solidFill>
                <a:latin typeface="Calibri"/>
                <a:ea typeface="Pretendard"/>
                <a:cs typeface="Calibri"/>
              </a:rPr>
              <a:t>DataHub</a:t>
            </a:r>
            <a:r>
              <a:rPr lang="ko-KR" altLang="en-US" sz="1550" b="1">
                <a:solidFill>
                  <a:srgbClr val="153451"/>
                </a:solidFill>
                <a:latin typeface="Calibri"/>
                <a:ea typeface="Pretendard"/>
                <a:cs typeface="Calibri"/>
              </a:rPr>
              <a:t> </a:t>
            </a:r>
            <a:r>
              <a:rPr lang="en-US" altLang="ko-KR" sz="1600" b="1">
                <a:solidFill>
                  <a:srgbClr val="153451"/>
                </a:solidFill>
                <a:latin typeface="Calibri"/>
                <a:ea typeface="Pretendard"/>
                <a:cs typeface="Calibri"/>
              </a:rPr>
              <a:t>· </a:t>
            </a:r>
            <a:r>
              <a:rPr lang="en-US" altLang="ko-KR" sz="1600" b="1" err="1">
                <a:solidFill>
                  <a:srgbClr val="153451"/>
                </a:solidFill>
                <a:latin typeface="Calibri"/>
                <a:ea typeface="Pretendard"/>
                <a:cs typeface="Calibri"/>
              </a:rPr>
              <a:t>데이터</a:t>
            </a:r>
            <a:r>
              <a:rPr lang="en-US" altLang="ko-KR" sz="1600" b="1">
                <a:solidFill>
                  <a:srgbClr val="153451"/>
                </a:solidFill>
                <a:latin typeface="Calibri"/>
                <a:ea typeface="Pretendard"/>
                <a:cs typeface="Calibri"/>
              </a:rPr>
              <a:t> </a:t>
            </a:r>
            <a:r>
              <a:rPr lang="en-US" altLang="ko-KR" sz="1600" b="1" err="1">
                <a:solidFill>
                  <a:srgbClr val="153451"/>
                </a:solidFill>
                <a:latin typeface="Calibri"/>
                <a:ea typeface="Pretendard"/>
                <a:cs typeface="Calibri"/>
              </a:rPr>
              <a:t>카탈로그</a:t>
            </a:r>
            <a:r>
              <a:rPr lang="ko-KR" altLang="en-US" sz="1550" b="1">
                <a:solidFill>
                  <a:srgbClr val="153451"/>
                </a:solidFill>
                <a:latin typeface="Calibri"/>
                <a:ea typeface="Pretendard"/>
                <a:cs typeface="Calibri"/>
              </a:rPr>
              <a:t> </a:t>
            </a:r>
          </a:p>
        </p:txBody>
      </p:sp>
      <p:sp>
        <p:nvSpPr>
          <p:cNvPr id="61" name="Shape 59"/>
          <p:cNvSpPr/>
          <p:nvPr/>
        </p:nvSpPr>
        <p:spPr>
          <a:xfrm>
            <a:off x="5372100" y="6448425"/>
            <a:ext cx="285750" cy="28575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5448300" y="6591300"/>
            <a:ext cx="47625" cy="47625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3" name="Shape 61"/>
          <p:cNvSpPr/>
          <p:nvPr/>
        </p:nvSpPr>
        <p:spPr>
          <a:xfrm flipV="1">
            <a:off x="5495925" y="6524625"/>
            <a:ext cx="95250" cy="1143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4" name="Text 62"/>
          <p:cNvSpPr txBox="1"/>
          <p:nvPr/>
        </p:nvSpPr>
        <p:spPr>
          <a:xfrm>
            <a:off x="5781675" y="6429375"/>
            <a:ext cx="2714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질문 해석 </a:t>
            </a:r>
            <a:r>
              <a:rPr lang="en-US" altLang="ko-KR" sz="16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· </a:t>
            </a:r>
            <a:r>
              <a:rPr lang="ko-KR" altLang="en-US" sz="15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분석 </a:t>
            </a:r>
            <a:r>
              <a:rPr lang="ko-KR" altLang="en-US" sz="15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Agent</a:t>
            </a:r>
            <a:r>
              <a:rPr lang="ko-KR" altLang="en-US" sz="15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 </a:t>
            </a:r>
            <a:endParaRPr lang="en-US" sz="1550" b="1">
              <a:solidFill>
                <a:srgbClr val="153451"/>
              </a:solidFill>
              <a:latin typeface="Pretendard"/>
              <a:ea typeface="Pretendard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9182100" y="4572000"/>
            <a:ext cx="3714750" cy="2724150"/>
          </a:xfrm>
          <a:prstGeom prst="roundRect">
            <a:avLst>
              <a:gd name="adj" fmla="val 6294"/>
            </a:avLst>
          </a:prstGeom>
          <a:solidFill>
            <a:srgbClr val="FFFFFF"/>
          </a:solidFill>
          <a:ln w="1524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9372600" y="4857750"/>
            <a:ext cx="457200" cy="45720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9477375" y="4943475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9477375" y="5114925"/>
            <a:ext cx="247650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9518332" y="4984432"/>
            <a:ext cx="32385" cy="32385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9518332" y="5155882"/>
            <a:ext cx="32385" cy="32385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3" name="Text 71"/>
          <p:cNvSpPr txBox="1"/>
          <p:nvPr/>
        </p:nvSpPr>
        <p:spPr>
          <a:xfrm>
            <a:off x="9982200" y="4791075"/>
            <a:ext cx="2714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BACKEND &amp; GOVERNANCE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74" name="Text 72"/>
          <p:cNvSpPr txBox="1"/>
          <p:nvPr/>
        </p:nvSpPr>
        <p:spPr>
          <a:xfrm>
            <a:off x="9982200" y="5019675"/>
            <a:ext cx="2714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김재홍</a:t>
            </a:r>
            <a:endParaRPr lang="en-US" sz="1750">
              <a:latin typeface="Pretendard"/>
              <a:ea typeface="Pretendard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9448800" y="5486400"/>
            <a:ext cx="3181350" cy="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9458325" y="5724525"/>
            <a:ext cx="285750" cy="28575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9534525" y="5867400"/>
            <a:ext cx="47625" cy="47625"/>
          </a:xfrm>
          <a:prstGeom prst="line">
            <a:avLst/>
          </a:prstGeom>
          <a:noFill/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8" name="Shape 76"/>
          <p:cNvSpPr/>
          <p:nvPr/>
        </p:nvSpPr>
        <p:spPr>
          <a:xfrm flipV="1">
            <a:off x="9582150" y="5800725"/>
            <a:ext cx="95250" cy="114300"/>
          </a:xfrm>
          <a:prstGeom prst="line">
            <a:avLst/>
          </a:prstGeom>
          <a:noFill/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9" name="Text 77"/>
          <p:cNvSpPr txBox="1"/>
          <p:nvPr/>
        </p:nvSpPr>
        <p:spPr>
          <a:xfrm>
            <a:off x="9867900" y="5705475"/>
            <a:ext cx="2714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FastAPI·인증·권한</a:t>
            </a:r>
            <a:endParaRPr lang="en-US" sz="1550" err="1">
              <a:latin typeface="Pretendard"/>
              <a:ea typeface="Pretendard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9458325" y="6448425"/>
            <a:ext cx="285750" cy="28575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9534525" y="6591300"/>
            <a:ext cx="47625" cy="47625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3" name="Shape 81"/>
          <p:cNvSpPr/>
          <p:nvPr/>
        </p:nvSpPr>
        <p:spPr>
          <a:xfrm flipV="1">
            <a:off x="9582150" y="6524625"/>
            <a:ext cx="95250" cy="1143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4" name="Text 82"/>
          <p:cNvSpPr txBox="1"/>
          <p:nvPr/>
        </p:nvSpPr>
        <p:spPr>
          <a:xfrm>
            <a:off x="9867900" y="6429375"/>
            <a:ext cx="2714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RAG </a:t>
            </a:r>
            <a:r>
              <a:rPr lang="en-US" sz="16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·  ML Agent</a:t>
            </a:r>
            <a:endParaRPr lang="en-US" sz="1550" b="1" err="1">
              <a:solidFill>
                <a:srgbClr val="153451"/>
              </a:solidFill>
              <a:latin typeface="Pretendard"/>
              <a:ea typeface="Pretendard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13268325" y="4572000"/>
            <a:ext cx="3714750" cy="2724150"/>
          </a:xfrm>
          <a:prstGeom prst="roundRect">
            <a:avLst>
              <a:gd name="adj" fmla="val 6294"/>
            </a:avLst>
          </a:prstGeom>
          <a:solidFill>
            <a:srgbClr val="F7FAFF"/>
          </a:solidFill>
          <a:ln w="1524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13458825" y="4857750"/>
            <a:ext cx="457200" cy="45720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13554075" y="4953000"/>
            <a:ext cx="2667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13687425" y="5162550"/>
            <a:ext cx="0" cy="85725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13611225" y="5248275"/>
            <a:ext cx="15240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1" name="Text 89"/>
          <p:cNvSpPr txBox="1"/>
          <p:nvPr/>
        </p:nvSpPr>
        <p:spPr>
          <a:xfrm>
            <a:off x="14068425" y="4791075"/>
            <a:ext cx="2714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FRONTEND &amp; REPORT UI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92" name="Text 90"/>
          <p:cNvSpPr txBox="1"/>
          <p:nvPr/>
        </p:nvSpPr>
        <p:spPr>
          <a:xfrm>
            <a:off x="14068425" y="5019675"/>
            <a:ext cx="2714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송민지</a:t>
            </a:r>
            <a:endParaRPr lang="en-US" sz="1750">
              <a:latin typeface="Pretendard"/>
              <a:ea typeface="Pretendard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13535025" y="5486400"/>
            <a:ext cx="3181350" cy="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13544550" y="5724525"/>
            <a:ext cx="285750" cy="285750"/>
          </a:xfrm>
          <a:prstGeom prst="ellipse">
            <a:avLst/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13620750" y="5867400"/>
            <a:ext cx="47625" cy="47625"/>
          </a:xfrm>
          <a:prstGeom prst="line">
            <a:avLst/>
          </a:prstGeom>
          <a:noFill/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6" name="Shape 94"/>
          <p:cNvSpPr/>
          <p:nvPr/>
        </p:nvSpPr>
        <p:spPr>
          <a:xfrm flipV="1">
            <a:off x="13668375" y="5800725"/>
            <a:ext cx="95250" cy="114300"/>
          </a:xfrm>
          <a:prstGeom prst="line">
            <a:avLst/>
          </a:prstGeom>
          <a:noFill/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7" name="Text 95"/>
          <p:cNvSpPr txBox="1"/>
          <p:nvPr/>
        </p:nvSpPr>
        <p:spPr>
          <a:xfrm>
            <a:off x="13954125" y="5705475"/>
            <a:ext cx="2714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분석</a:t>
            </a:r>
            <a:r>
              <a:rPr lang="en-US" sz="15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5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결과</a:t>
            </a:r>
            <a:r>
              <a:rPr lang="en-US" sz="15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UI</a:t>
            </a:r>
            <a:endParaRPr lang="en-US" sz="1550" b="1">
              <a:solidFill>
                <a:srgbClr val="153451"/>
              </a:solidFill>
              <a:latin typeface="Pretendard"/>
              <a:ea typeface="Pretendard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13544550" y="6448425"/>
            <a:ext cx="285750" cy="28575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13620750" y="6591300"/>
            <a:ext cx="47625" cy="47625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1" name="Shape 99"/>
          <p:cNvSpPr/>
          <p:nvPr/>
        </p:nvSpPr>
        <p:spPr>
          <a:xfrm flipV="1">
            <a:off x="13668375" y="6524625"/>
            <a:ext cx="95250" cy="1143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2" name="Text 100"/>
          <p:cNvSpPr txBox="1"/>
          <p:nvPr/>
        </p:nvSpPr>
        <p:spPr>
          <a:xfrm>
            <a:off x="13954125" y="6429375"/>
            <a:ext cx="2714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50" b="1">
                <a:solidFill>
                  <a:srgbClr val="153451"/>
                </a:solidFill>
                <a:latin typeface="Pretendard"/>
                <a:ea typeface="Pretendard"/>
              </a:rPr>
              <a:t>관리자 페이지</a:t>
            </a:r>
            <a:endParaRPr lang="en-US" sz="1550" b="1">
              <a:solidFill>
                <a:srgbClr val="153451"/>
              </a:solidFill>
              <a:latin typeface="Pretendard"/>
              <a:ea typeface="Pretendard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1009650" y="7734300"/>
            <a:ext cx="16268700" cy="685800"/>
          </a:xfrm>
          <a:prstGeom prst="roundRect">
            <a:avLst>
              <a:gd name="adj" fmla="val 25000"/>
            </a:avLst>
          </a:prstGeom>
          <a:solidFill>
            <a:srgbClr val="F7FAFF"/>
          </a:solidFill>
          <a:ln w="1270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5095875" y="7886700"/>
            <a:ext cx="0" cy="38100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9182100" y="7886700"/>
            <a:ext cx="0" cy="38100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13268325" y="7886700"/>
            <a:ext cx="0" cy="38100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8" name="Text 106"/>
          <p:cNvSpPr txBox="1"/>
          <p:nvPr/>
        </p:nvSpPr>
        <p:spPr>
          <a:xfrm>
            <a:off x="1009650" y="7992553"/>
            <a:ext cx="408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8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DATA</a:t>
            </a:r>
            <a:endParaRPr lang="en-US" sz="2400">
              <a:latin typeface="Pretendard"/>
              <a:ea typeface="Pretendard"/>
            </a:endParaRPr>
          </a:p>
        </p:txBody>
      </p:sp>
      <p:sp>
        <p:nvSpPr>
          <p:cNvPr id="110" name="Text 108"/>
          <p:cNvSpPr txBox="1"/>
          <p:nvPr/>
        </p:nvSpPr>
        <p:spPr>
          <a:xfrm>
            <a:off x="5095875" y="7992553"/>
            <a:ext cx="408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8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AI</a:t>
            </a:r>
            <a:endParaRPr lang="en-US" sz="2400">
              <a:latin typeface="Pretendard"/>
              <a:ea typeface="Pretendard"/>
            </a:endParaRPr>
          </a:p>
        </p:txBody>
      </p:sp>
      <p:sp>
        <p:nvSpPr>
          <p:cNvPr id="112" name="Text 110"/>
          <p:cNvSpPr txBox="1"/>
          <p:nvPr/>
        </p:nvSpPr>
        <p:spPr>
          <a:xfrm>
            <a:off x="9182100" y="7992553"/>
            <a:ext cx="408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8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BACKEND</a:t>
            </a:r>
            <a:endParaRPr lang="en-US" sz="2400">
              <a:latin typeface="Pretendard"/>
              <a:ea typeface="Pretendard"/>
            </a:endParaRPr>
          </a:p>
        </p:txBody>
      </p:sp>
      <p:sp>
        <p:nvSpPr>
          <p:cNvPr id="114" name="Text 112"/>
          <p:cNvSpPr txBox="1"/>
          <p:nvPr/>
        </p:nvSpPr>
        <p:spPr>
          <a:xfrm>
            <a:off x="13268325" y="7992553"/>
            <a:ext cx="401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8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FRONTEND</a:t>
            </a:r>
            <a:endParaRPr lang="en-US" sz="2400">
              <a:latin typeface="Pretendard"/>
              <a:ea typeface="Pretendard"/>
            </a:endParaRPr>
          </a:p>
        </p:txBody>
      </p:sp>
      <p:sp>
        <p:nvSpPr>
          <p:cNvPr id="116" name="Text 114"/>
          <p:cNvSpPr txBox="1"/>
          <p:nvPr/>
        </p:nvSpPr>
        <p:spPr>
          <a:xfrm>
            <a:off x="1009650" y="9010650"/>
            <a:ext cx="1809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ONE PRODUCT TEAM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6" name="Shape 30">
            <a:extLst>
              <a:ext uri="{FF2B5EF4-FFF2-40B4-BE49-F238E27FC236}">
                <a16:creationId xmlns:a16="http://schemas.microsoft.com/office/drawing/2014/main" id="{22B3FF68-F92F-A54F-A0B2-14A79CC60ADC}"/>
              </a:ext>
            </a:extLst>
          </p:cNvPr>
          <p:cNvSpPr/>
          <p:nvPr/>
        </p:nvSpPr>
        <p:spPr>
          <a:xfrm>
            <a:off x="1295399" y="5152571"/>
            <a:ext cx="266700" cy="1143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41 · PROJECT PROCESS</a:t>
            </a:r>
            <a:endParaRPr lang="en-US" sz="1100">
              <a:latin typeface="Pretendard"/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36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프로젝트의</a:t>
            </a:r>
            <a:r>
              <a:rPr lang="en-US" sz="36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36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개발흐름</a:t>
            </a:r>
            <a:endParaRPr lang="en-US" sz="3600" b="1">
              <a:solidFill>
                <a:srgbClr val="153451"/>
              </a:solidFill>
              <a:latin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B4DEC8F-DA64-C9BC-E4D6-CC0460F14CD4}"/>
              </a:ext>
            </a:extLst>
          </p:cNvPr>
          <p:cNvGrpSpPr/>
          <p:nvPr/>
        </p:nvGrpSpPr>
        <p:grpSpPr>
          <a:xfrm>
            <a:off x="1009650" y="2971800"/>
            <a:ext cx="16268700" cy="4648200"/>
            <a:chOff x="1009650" y="2971800"/>
            <a:chExt cx="16268700" cy="4648200"/>
          </a:xfrm>
        </p:grpSpPr>
        <p:sp>
          <p:nvSpPr>
            <p:cNvPr id="29" name="Shape 27"/>
            <p:cNvSpPr/>
            <p:nvPr/>
          </p:nvSpPr>
          <p:spPr>
            <a:xfrm>
              <a:off x="4724400" y="2971800"/>
              <a:ext cx="8458200" cy="4648200"/>
            </a:xfrm>
            <a:prstGeom prst="roundRect">
              <a:avLst>
                <a:gd name="adj" fmla="val 4098"/>
              </a:avLst>
            </a:prstGeom>
            <a:solidFill>
              <a:srgbClr val="FFFFFF"/>
            </a:solidFill>
            <a:ln w="16510">
              <a:solidFill>
                <a:srgbClr val="176FE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1009650" y="2971800"/>
              <a:ext cx="3429000" cy="4648200"/>
            </a:xfrm>
            <a:prstGeom prst="roundRect">
              <a:avLst>
                <a:gd name="adj" fmla="val 5556"/>
              </a:avLst>
            </a:prstGeom>
            <a:solidFill>
              <a:srgbClr val="F7FAFF"/>
            </a:solidFill>
            <a:ln w="15240">
              <a:solidFill>
                <a:srgbClr val="AFC7E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1504950" y="4667250"/>
              <a:ext cx="0" cy="1752600"/>
            </a:xfrm>
            <a:prstGeom prst="line">
              <a:avLst/>
            </a:prstGeom>
            <a:noFill/>
            <a:ln w="22860">
              <a:solidFill>
                <a:srgbClr val="AFC7E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1238250" y="4686300"/>
              <a:ext cx="533400" cy="533400"/>
            </a:xfrm>
            <a:prstGeom prst="ellipse">
              <a:avLst/>
            </a:prstGeom>
            <a:solidFill>
              <a:srgbClr val="EAF3FF"/>
            </a:solidFill>
            <a:ln w="16510">
              <a:solidFill>
                <a:srgbClr val="176FE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1295400" y="4829175"/>
              <a:ext cx="419100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>
                  <a:solidFill>
                    <a:srgbClr val="153451"/>
                  </a:solidFill>
                  <a:latin typeface="Pretendard" pitchFamily="34" charset="0"/>
                  <a:ea typeface="Pretendard"/>
                  <a:cs typeface="Pretendard" pitchFamily="34" charset="-120"/>
                </a:rPr>
                <a:t>01</a:t>
              </a:r>
              <a:endParaRPr lang="en-US" sz="1500">
                <a:ea typeface="Pretendard"/>
              </a:endParaRPr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1952625" y="4821655"/>
              <a:ext cx="2238375" cy="323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현업</a:t>
              </a:r>
              <a:r>
                <a:rPr lang="en-US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ko-KR" altLang="en-US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문제</a:t>
              </a:r>
              <a:r>
                <a:rPr lang="en-US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ko-KR" altLang="en-US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조사</a:t>
              </a:r>
              <a:endParaRPr lang="ko-KR" altLang="en-US" b="1" err="1">
                <a:solidFill>
                  <a:srgbClr val="153451"/>
                </a:solidFill>
                <a:latin typeface="Pretendard"/>
                <a:ea typeface="Pretendard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1209675" y="6124575"/>
              <a:ext cx="590550" cy="590550"/>
            </a:xfrm>
            <a:prstGeom prst="ellipse">
              <a:avLst/>
            </a:prstGeom>
            <a:solidFill>
              <a:srgbClr val="176FE5"/>
            </a:solidFill>
            <a:ln/>
          </p:spPr>
          <p:txBody>
            <a:bodyPr/>
            <a:lstStyle/>
            <a:p>
              <a:endParaRPr lang="ko-KR" altLang="en-US">
                <a:latin typeface="Pretendard"/>
                <a:ea typeface="Pretendard" panose="02000503000000020004" pitchFamily="2" charset="-127"/>
              </a:endParaRPr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1295400" y="6326104"/>
              <a:ext cx="419100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>
                  <a:solidFill>
                    <a:srgbClr val="FFFFFF"/>
                  </a:solidFill>
                  <a:latin typeface="Pretendard" pitchFamily="34" charset="0"/>
                  <a:ea typeface="Pretendard"/>
                  <a:cs typeface="Pretendard" pitchFamily="34" charset="-120"/>
                </a:rPr>
                <a:t>02</a:t>
              </a:r>
              <a:endParaRPr lang="en-US" sz="1500">
                <a:ea typeface="Pretendard"/>
              </a:endParaRPr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1952625" y="6269455"/>
              <a:ext cx="2238375" cy="323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err="1">
                  <a:solidFill>
                    <a:srgbClr val="153451"/>
                  </a:solidFill>
                  <a:latin typeface="Pretendard"/>
                  <a:ea typeface="Pretendard" pitchFamily="34" charset="-122"/>
                  <a:cs typeface="Pretendard" pitchFamily="34" charset="-120"/>
                </a:rPr>
                <a:t>업무</a:t>
              </a:r>
              <a:r>
                <a:rPr lang="en-US" b="1">
                  <a:solidFill>
                    <a:srgbClr val="153451"/>
                  </a:solidFill>
                  <a:latin typeface="Pretendard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b="1" err="1">
                  <a:solidFill>
                    <a:srgbClr val="153451"/>
                  </a:solidFill>
                  <a:latin typeface="Pretendard"/>
                  <a:ea typeface="Pretendard" pitchFamily="34" charset="-122"/>
                  <a:cs typeface="Pretendard" pitchFamily="34" charset="-120"/>
                </a:rPr>
                <a:t>용어·데이터</a:t>
              </a:r>
              <a:r>
                <a:rPr lang="en-US" b="1">
                  <a:solidFill>
                    <a:srgbClr val="153451"/>
                  </a:solidFill>
                  <a:latin typeface="Pretendard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b="1" err="1">
                  <a:solidFill>
                    <a:srgbClr val="153451"/>
                  </a:solidFill>
                  <a:latin typeface="Pretendard"/>
                  <a:ea typeface="Pretendard" pitchFamily="34" charset="-122"/>
                  <a:cs typeface="Pretendard" pitchFamily="34" charset="-120"/>
                </a:rPr>
                <a:t>기준</a:t>
              </a:r>
              <a:endParaRPr lang="en-US" err="1">
                <a:latin typeface="Pretendard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1238250" y="6896100"/>
              <a:ext cx="2971800" cy="571500"/>
            </a:xfrm>
            <a:prstGeom prst="roundRect">
              <a:avLst>
                <a:gd name="adj" fmla="val 20000"/>
              </a:avLst>
            </a:prstGeom>
            <a:solidFill>
              <a:srgbClr val="EAF3FF"/>
            </a:solidFill>
            <a:ln/>
          </p:spPr>
          <p:txBody>
            <a:bodyPr/>
            <a:lstStyle/>
            <a:p>
              <a:endParaRPr lang="ko-KR" altLang="en-US">
                <a:ea typeface="Pretendard" panose="02000503000000020004" pitchFamily="2" charset="-127"/>
              </a:endParaRPr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1457325" y="6972300"/>
              <a:ext cx="2533650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kern="0" spc="90">
                  <a:solidFill>
                    <a:srgbClr val="176FE5"/>
                  </a:solidFill>
                  <a:latin typeface="Pretendard" pitchFamily="34" charset="0"/>
                  <a:ea typeface="Pretendard"/>
                  <a:cs typeface="Pretendard" pitchFamily="34" charset="-120"/>
                </a:rPr>
                <a:t>RESULT</a:t>
              </a:r>
              <a:endParaRPr lang="en-US" sz="850">
                <a:ea typeface="Pretendard"/>
              </a:endParaRPr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1457325" y="7172325"/>
              <a:ext cx="2533650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6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프로젝트 공통 기준</a:t>
              </a:r>
              <a:endParaRPr lang="en-US" sz="1600">
                <a:latin typeface="Pretendard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4514850" y="5295900"/>
              <a:ext cx="123825" cy="0"/>
            </a:xfrm>
            <a:prstGeom prst="line">
              <a:avLst/>
            </a:prstGeom>
            <a:noFill/>
            <a:ln w="25400">
              <a:solidFill>
                <a:srgbClr val="176FE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/>
                <a:ea typeface="Pretendard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 rot="5400000">
              <a:off x="4591050" y="5219700"/>
              <a:ext cx="171450" cy="152400"/>
            </a:xfrm>
            <a:prstGeom prst="triangle">
              <a:avLst/>
            </a:prstGeom>
            <a:solidFill>
              <a:srgbClr val="176FE5"/>
            </a:solidFill>
            <a:ln/>
          </p:spPr>
          <p:txBody>
            <a:bodyPr/>
            <a:lstStyle/>
            <a:p>
              <a:endParaRPr lang="ko-KR" altLang="en-US">
                <a:latin typeface="Pretendard"/>
                <a:ea typeface="Pretendard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5619750" y="5257800"/>
              <a:ext cx="6715125" cy="0"/>
            </a:xfrm>
            <a:prstGeom prst="line">
              <a:avLst/>
            </a:prstGeom>
            <a:noFill/>
            <a:ln w="27940">
              <a:solidFill>
                <a:srgbClr val="AFC7E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/>
                <a:ea typeface="Pretendard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5324475" y="4962525"/>
              <a:ext cx="590550" cy="590550"/>
            </a:xfrm>
            <a:prstGeom prst="ellipse">
              <a:avLst/>
            </a:prstGeom>
            <a:solidFill>
              <a:srgbClr val="176FE5"/>
            </a:solidFill>
            <a:ln/>
          </p:spPr>
          <p:txBody>
            <a:bodyPr/>
            <a:lstStyle/>
            <a:p>
              <a:endParaRPr lang="ko-KR" altLang="en-US">
                <a:latin typeface="Pretendard"/>
                <a:ea typeface="Pretendard"/>
              </a:endParaRPr>
            </a:p>
          </p:txBody>
        </p:sp>
        <p:sp>
          <p:nvSpPr>
            <p:cNvPr id="36" name="Text 34"/>
            <p:cNvSpPr txBox="1"/>
            <p:nvPr/>
          </p:nvSpPr>
          <p:spPr>
            <a:xfrm>
              <a:off x="5410200" y="5149015"/>
              <a:ext cx="419100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>
                  <a:solidFill>
                    <a:srgbClr val="FFFFFF"/>
                  </a:solidFill>
                  <a:latin typeface="Pretendard"/>
                  <a:ea typeface="Pretendard"/>
                  <a:cs typeface="Pretendard" pitchFamily="34" charset="-120"/>
                </a:rPr>
                <a:t>03</a:t>
              </a:r>
              <a:endParaRPr lang="en-US" sz="1500">
                <a:latin typeface="Pretendard"/>
                <a:ea typeface="Pretendard"/>
              </a:endParaRPr>
            </a:p>
          </p:txBody>
        </p:sp>
        <p:sp>
          <p:nvSpPr>
            <p:cNvPr id="37" name="Text 35"/>
            <p:cNvSpPr txBox="1"/>
            <p:nvPr/>
          </p:nvSpPr>
          <p:spPr>
            <a:xfrm>
              <a:off x="4749968" y="5544553"/>
              <a:ext cx="1814762" cy="3990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AI-ready </a:t>
              </a:r>
              <a:r>
                <a:rPr lang="en-US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데이터</a:t>
              </a:r>
              <a:endParaRPr lang="en-US" err="1">
                <a:latin typeface="Pretendard"/>
                <a:ea typeface="Pretendard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7591425" y="4991100"/>
              <a:ext cx="533400" cy="533400"/>
            </a:xfrm>
            <a:prstGeom prst="ellipse">
              <a:avLst/>
            </a:prstGeom>
            <a:solidFill>
              <a:srgbClr val="EAF3FF"/>
            </a:solidFill>
            <a:ln w="16510">
              <a:solidFill>
                <a:srgbClr val="176FE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/>
                <a:ea typeface="Pretendard"/>
              </a:endParaRPr>
            </a:p>
          </p:txBody>
        </p:sp>
        <p:sp>
          <p:nvSpPr>
            <p:cNvPr id="40" name="Text 38"/>
            <p:cNvSpPr txBox="1"/>
            <p:nvPr/>
          </p:nvSpPr>
          <p:spPr>
            <a:xfrm>
              <a:off x="7648575" y="5149015"/>
              <a:ext cx="419100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04</a:t>
              </a:r>
              <a:endParaRPr lang="en-US" sz="1500">
                <a:latin typeface="Pretendard"/>
                <a:ea typeface="Pretendard"/>
              </a:endParaRPr>
            </a:p>
          </p:txBody>
        </p:sp>
        <p:sp>
          <p:nvSpPr>
            <p:cNvPr id="41" name="Text 39"/>
            <p:cNvSpPr txBox="1"/>
            <p:nvPr/>
          </p:nvSpPr>
          <p:spPr>
            <a:xfrm>
              <a:off x="6858000" y="5619750"/>
              <a:ext cx="2000250" cy="323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DataHub·Trino</a:t>
              </a:r>
              <a:endParaRPr lang="en-US" err="1">
                <a:latin typeface="Pretendard"/>
                <a:ea typeface="Pretendard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9829800" y="4991100"/>
              <a:ext cx="533400" cy="533400"/>
            </a:xfrm>
            <a:prstGeom prst="ellipse">
              <a:avLst/>
            </a:prstGeom>
            <a:solidFill>
              <a:srgbClr val="EAF3FF"/>
            </a:solidFill>
            <a:ln w="16510">
              <a:solidFill>
                <a:srgbClr val="176FE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 panose="02000503000000020004" pitchFamily="2" charset="-127"/>
              </a:endParaRPr>
            </a:p>
          </p:txBody>
        </p:sp>
        <p:sp>
          <p:nvSpPr>
            <p:cNvPr id="44" name="Text 42"/>
            <p:cNvSpPr txBox="1"/>
            <p:nvPr/>
          </p:nvSpPr>
          <p:spPr>
            <a:xfrm>
              <a:off x="9886950" y="5149015"/>
              <a:ext cx="419100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>
                  <a:solidFill>
                    <a:srgbClr val="153451"/>
                  </a:solidFill>
                  <a:latin typeface="Pretendard" pitchFamily="34" charset="0"/>
                  <a:ea typeface="Pretendard"/>
                  <a:cs typeface="Pretendard" pitchFamily="34" charset="-120"/>
                </a:rPr>
                <a:t>05</a:t>
              </a:r>
              <a:endParaRPr lang="en-US" sz="1500">
                <a:ea typeface="Pretendard"/>
              </a:endParaRPr>
            </a:p>
          </p:txBody>
        </p:sp>
        <p:sp>
          <p:nvSpPr>
            <p:cNvPr id="45" name="Text 43"/>
            <p:cNvSpPr txBox="1"/>
            <p:nvPr/>
          </p:nvSpPr>
          <p:spPr>
            <a:xfrm>
              <a:off x="9239250" y="5619750"/>
              <a:ext cx="1714500" cy="323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분석</a:t>
              </a:r>
              <a:r>
                <a:rPr lang="en-US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en-US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기능</a:t>
              </a:r>
              <a:endParaRPr lang="en-US" err="1">
                <a:latin typeface="Pretendard"/>
                <a:ea typeface="Pretendard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12039600" y="4962525"/>
              <a:ext cx="590550" cy="590550"/>
            </a:xfrm>
            <a:prstGeom prst="ellipse">
              <a:avLst/>
            </a:prstGeom>
            <a:solidFill>
              <a:srgbClr val="176FE5"/>
            </a:solidFill>
            <a:ln/>
          </p:spPr>
          <p:txBody>
            <a:bodyPr/>
            <a:lstStyle/>
            <a:p>
              <a:endParaRPr lang="ko-KR" altLang="en-US">
                <a:ea typeface="Pretendard" panose="02000503000000020004" pitchFamily="2" charset="-127"/>
              </a:endParaRPr>
            </a:p>
          </p:txBody>
        </p:sp>
        <p:sp>
          <p:nvSpPr>
            <p:cNvPr id="48" name="Text 46"/>
            <p:cNvSpPr txBox="1"/>
            <p:nvPr/>
          </p:nvSpPr>
          <p:spPr>
            <a:xfrm>
              <a:off x="12125325" y="5149015"/>
              <a:ext cx="419100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>
                  <a:solidFill>
                    <a:srgbClr val="FFFFFF"/>
                  </a:solidFill>
                  <a:latin typeface="Pretendard" pitchFamily="34" charset="0"/>
                  <a:ea typeface="Pretendard"/>
                  <a:cs typeface="Pretendard" pitchFamily="34" charset="-120"/>
                </a:rPr>
                <a:t>06</a:t>
              </a:r>
              <a:endParaRPr lang="en-US" sz="1500">
                <a:ea typeface="Pretendard"/>
              </a:endParaRPr>
            </a:p>
          </p:txBody>
        </p:sp>
        <p:sp>
          <p:nvSpPr>
            <p:cNvPr id="49" name="Text 47"/>
            <p:cNvSpPr txBox="1"/>
            <p:nvPr/>
          </p:nvSpPr>
          <p:spPr>
            <a:xfrm>
              <a:off x="11477625" y="5619750"/>
              <a:ext cx="1714500" cy="323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화면·보고서</a:t>
              </a:r>
              <a:endParaRPr lang="en-US" err="1">
                <a:latin typeface="Pretendard"/>
                <a:ea typeface="Pretendard"/>
              </a:endParaRPr>
            </a:p>
          </p:txBody>
        </p:sp>
        <p:sp>
          <p:nvSpPr>
            <p:cNvPr id="51" name="Shape 49"/>
            <p:cNvSpPr/>
            <p:nvPr/>
          </p:nvSpPr>
          <p:spPr>
            <a:xfrm>
              <a:off x="4953000" y="6896100"/>
              <a:ext cx="8001000" cy="571500"/>
            </a:xfrm>
            <a:prstGeom prst="roundRect">
              <a:avLst>
                <a:gd name="adj" fmla="val 20000"/>
              </a:avLst>
            </a:prstGeom>
            <a:solidFill>
              <a:srgbClr val="EAF3FF"/>
            </a:solidFill>
            <a:ln/>
          </p:spPr>
          <p:txBody>
            <a:bodyPr/>
            <a:lstStyle/>
            <a:p>
              <a:endParaRPr lang="ko-KR" altLang="en-US">
                <a:ea typeface="Pretendard" panose="02000503000000020004" pitchFamily="2" charset="-127"/>
              </a:endParaRPr>
            </a:p>
          </p:txBody>
        </p:sp>
        <p:sp>
          <p:nvSpPr>
            <p:cNvPr id="52" name="Text 50"/>
            <p:cNvSpPr txBox="1"/>
            <p:nvPr/>
          </p:nvSpPr>
          <p:spPr>
            <a:xfrm>
              <a:off x="5172075" y="6972300"/>
              <a:ext cx="7562850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kern="0" spc="90">
                  <a:solidFill>
                    <a:srgbClr val="176FE5"/>
                  </a:solidFill>
                  <a:latin typeface="Pretendard" pitchFamily="34" charset="0"/>
                  <a:ea typeface="Pretendard"/>
                  <a:cs typeface="Pretendard" pitchFamily="34" charset="-120"/>
                </a:rPr>
                <a:t>RESULT</a:t>
              </a:r>
              <a:endParaRPr lang="en-US" sz="850">
                <a:ea typeface="Pretendard"/>
              </a:endParaRPr>
            </a:p>
          </p:txBody>
        </p:sp>
        <p:sp>
          <p:nvSpPr>
            <p:cNvPr id="53" name="Text 51"/>
            <p:cNvSpPr txBox="1"/>
            <p:nvPr/>
          </p:nvSpPr>
          <p:spPr>
            <a:xfrm>
              <a:off x="5172075" y="7112168"/>
              <a:ext cx="7562850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데이터와</a:t>
              </a:r>
              <a:r>
                <a:rPr lang="en-US" sz="16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en-US" sz="1600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기능이</a:t>
              </a:r>
              <a:r>
                <a:rPr lang="en-US" sz="16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en-US" sz="1600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연결된</a:t>
              </a:r>
              <a:r>
                <a:rPr lang="en-US" sz="16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en-US" sz="1600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서비스</a:t>
              </a:r>
              <a:r>
                <a:rPr lang="en-US" sz="16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en-US" sz="1600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흐름</a:t>
              </a:r>
              <a:endParaRPr lang="en-US" sz="1600" err="1">
                <a:latin typeface="Pretendard"/>
                <a:ea typeface="Pretendard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13258800" y="5295900"/>
              <a:ext cx="123825" cy="0"/>
            </a:xfrm>
            <a:prstGeom prst="line">
              <a:avLst/>
            </a:prstGeom>
            <a:noFill/>
            <a:ln w="25400">
              <a:solidFill>
                <a:srgbClr val="176FE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 panose="02000503000000020004" pitchFamily="2" charset="-127"/>
              </a:endParaRPr>
            </a:p>
          </p:txBody>
        </p:sp>
        <p:sp>
          <p:nvSpPr>
            <p:cNvPr id="55" name="Shape 53"/>
            <p:cNvSpPr/>
            <p:nvPr/>
          </p:nvSpPr>
          <p:spPr>
            <a:xfrm rot="5400000">
              <a:off x="13335000" y="5219700"/>
              <a:ext cx="171450" cy="152400"/>
            </a:xfrm>
            <a:prstGeom prst="triangle">
              <a:avLst/>
            </a:prstGeom>
            <a:solidFill>
              <a:srgbClr val="176FE5"/>
            </a:solidFill>
            <a:ln/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56" name="Shape 54"/>
            <p:cNvSpPr/>
            <p:nvPr/>
          </p:nvSpPr>
          <p:spPr>
            <a:xfrm>
              <a:off x="13468350" y="2971800"/>
              <a:ext cx="3810000" cy="4648200"/>
            </a:xfrm>
            <a:prstGeom prst="roundRect">
              <a:avLst>
                <a:gd name="adj" fmla="val 5000"/>
              </a:avLst>
            </a:prstGeom>
            <a:solidFill>
              <a:srgbClr val="F7FAFF"/>
            </a:solidFill>
            <a:ln w="15240">
              <a:solidFill>
                <a:srgbClr val="AFC7E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ea typeface="Pretendard"/>
              </a:endParaRPr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1333500" y="3504197"/>
              <a:ext cx="666750" cy="514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176FE5"/>
                  </a:solidFill>
                  <a:latin typeface="Pretendard" pitchFamily="34" charset="0"/>
                  <a:ea typeface="Pretendard"/>
                  <a:cs typeface="Pretendard" pitchFamily="34" charset="-120"/>
                </a:rPr>
                <a:t>01</a:t>
              </a:r>
              <a:endParaRPr lang="en-US" sz="2400">
                <a:ea typeface="Pretendard"/>
              </a:endParaRPr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1957639" y="3505201"/>
              <a:ext cx="2225339" cy="5203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24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조사</a:t>
              </a:r>
              <a:r>
                <a:rPr lang="en-US" sz="24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ko-KR" altLang="en-US" sz="24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및</a:t>
              </a:r>
              <a:r>
                <a:rPr lang="en-US" sz="24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en-US" sz="2400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기준</a:t>
              </a:r>
              <a:r>
                <a:rPr lang="en-US" sz="24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ko-KR" altLang="en-US" sz="24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수립</a:t>
              </a:r>
              <a:endParaRPr lang="en-US" sz="2400" b="1">
                <a:solidFill>
                  <a:srgbClr val="153451"/>
                </a:solidFill>
                <a:latin typeface="Pretendard"/>
                <a:ea typeface="Pretendard"/>
              </a:endParaRPr>
            </a:p>
          </p:txBody>
        </p:sp>
        <p:sp>
          <p:nvSpPr>
            <p:cNvPr id="31" name="Text 29"/>
            <p:cNvSpPr txBox="1"/>
            <p:nvPr/>
          </p:nvSpPr>
          <p:spPr>
            <a:xfrm>
              <a:off x="5067300" y="3504197"/>
              <a:ext cx="666750" cy="514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176FE5"/>
                  </a:solidFill>
                  <a:latin typeface="Pretendard"/>
                  <a:ea typeface="Pretendard"/>
                  <a:cs typeface="Pretendard" pitchFamily="34" charset="-120"/>
                </a:rPr>
                <a:t>02</a:t>
              </a:r>
              <a:endParaRPr lang="en-US" sz="2400">
                <a:latin typeface="Pretendard"/>
                <a:ea typeface="Pretendard"/>
              </a:endParaRPr>
            </a:p>
          </p:txBody>
        </p:sp>
        <p:sp>
          <p:nvSpPr>
            <p:cNvPr id="32" name="Text 30"/>
            <p:cNvSpPr txBox="1"/>
            <p:nvPr/>
          </p:nvSpPr>
          <p:spPr>
            <a:xfrm>
              <a:off x="5781675" y="3550318"/>
              <a:ext cx="6886575" cy="4000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구현</a:t>
              </a:r>
              <a:endParaRPr lang="en-US" sz="2400" err="1">
                <a:latin typeface="Pretendard"/>
                <a:ea typeface="Pretendard"/>
              </a:endParaRPr>
            </a:p>
          </p:txBody>
        </p:sp>
        <p:sp>
          <p:nvSpPr>
            <p:cNvPr id="58" name="Text 56"/>
            <p:cNvSpPr txBox="1"/>
            <p:nvPr/>
          </p:nvSpPr>
          <p:spPr>
            <a:xfrm>
              <a:off x="13811250" y="3504197"/>
              <a:ext cx="666750" cy="514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176FE5"/>
                  </a:solidFill>
                  <a:latin typeface="Pretendard"/>
                  <a:ea typeface="Pretendard"/>
                  <a:cs typeface="Pretendard" pitchFamily="34" charset="-120"/>
                </a:rPr>
                <a:t>03</a:t>
              </a:r>
              <a:endParaRPr lang="en-US" sz="2400">
                <a:latin typeface="Pretendard"/>
                <a:ea typeface="Pretendard"/>
              </a:endParaRPr>
            </a:p>
          </p:txBody>
        </p:sp>
        <p:sp>
          <p:nvSpPr>
            <p:cNvPr id="59" name="Text 57"/>
            <p:cNvSpPr txBox="1"/>
            <p:nvPr/>
          </p:nvSpPr>
          <p:spPr>
            <a:xfrm>
              <a:off x="14510585" y="3565357"/>
              <a:ext cx="2466975" cy="4000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확인</a:t>
              </a:r>
              <a:endParaRPr lang="en-US" sz="2400" err="1">
                <a:latin typeface="Pretendard"/>
                <a:ea typeface="Pretendard"/>
              </a:endParaRPr>
            </a:p>
          </p:txBody>
        </p:sp>
        <p:sp>
          <p:nvSpPr>
            <p:cNvPr id="61" name="Shape 59"/>
            <p:cNvSpPr/>
            <p:nvPr/>
          </p:nvSpPr>
          <p:spPr>
            <a:xfrm>
              <a:off x="13982700" y="4667250"/>
              <a:ext cx="0" cy="1752600"/>
            </a:xfrm>
            <a:prstGeom prst="line">
              <a:avLst/>
            </a:prstGeom>
            <a:noFill/>
            <a:ln w="22860">
              <a:solidFill>
                <a:srgbClr val="AFC7E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/>
                <a:ea typeface="Pretendard"/>
              </a:endParaRPr>
            </a:p>
          </p:txBody>
        </p:sp>
        <p:sp>
          <p:nvSpPr>
            <p:cNvPr id="62" name="Shape 60"/>
            <p:cNvSpPr/>
            <p:nvPr/>
          </p:nvSpPr>
          <p:spPr>
            <a:xfrm>
              <a:off x="13716000" y="4686300"/>
              <a:ext cx="533400" cy="533400"/>
            </a:xfrm>
            <a:prstGeom prst="ellipse">
              <a:avLst/>
            </a:prstGeom>
            <a:solidFill>
              <a:srgbClr val="EAF3FF"/>
            </a:solidFill>
            <a:ln w="16510">
              <a:solidFill>
                <a:srgbClr val="176FE5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/>
                <a:ea typeface="Pretendard"/>
              </a:endParaRPr>
            </a:p>
          </p:txBody>
        </p:sp>
        <p:sp>
          <p:nvSpPr>
            <p:cNvPr id="63" name="Text 61"/>
            <p:cNvSpPr txBox="1"/>
            <p:nvPr/>
          </p:nvSpPr>
          <p:spPr>
            <a:xfrm>
              <a:off x="13773150" y="4829175"/>
              <a:ext cx="419100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07</a:t>
              </a:r>
              <a:endParaRPr lang="en-US" sz="1500">
                <a:latin typeface="Pretendard"/>
                <a:ea typeface="Pretendard"/>
              </a:endParaRPr>
            </a:p>
          </p:txBody>
        </p:sp>
        <p:sp>
          <p:nvSpPr>
            <p:cNvPr id="64" name="Text 62"/>
            <p:cNvSpPr txBox="1"/>
            <p:nvPr/>
          </p:nvSpPr>
          <p:spPr>
            <a:xfrm>
              <a:off x="14430375" y="4821655"/>
              <a:ext cx="2571750" cy="323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전체</a:t>
              </a:r>
              <a:r>
                <a:rPr lang="en-US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en-US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흐름</a:t>
              </a:r>
              <a:r>
                <a:rPr lang="en-US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en-US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테스트</a:t>
              </a:r>
              <a:endParaRPr lang="en-US" err="1">
                <a:latin typeface="Pretendard"/>
                <a:ea typeface="Pretendard"/>
              </a:endParaRPr>
            </a:p>
          </p:txBody>
        </p:sp>
        <p:sp>
          <p:nvSpPr>
            <p:cNvPr id="66" name="Shape 64"/>
            <p:cNvSpPr/>
            <p:nvPr/>
          </p:nvSpPr>
          <p:spPr>
            <a:xfrm>
              <a:off x="13687425" y="6124575"/>
              <a:ext cx="590550" cy="590550"/>
            </a:xfrm>
            <a:prstGeom prst="ellipse">
              <a:avLst/>
            </a:prstGeom>
            <a:solidFill>
              <a:srgbClr val="176FE5"/>
            </a:solidFill>
            <a:ln/>
          </p:spPr>
          <p:txBody>
            <a:bodyPr/>
            <a:lstStyle/>
            <a:p>
              <a:endParaRPr lang="ko-KR" altLang="en-US">
                <a:latin typeface="Pretendard"/>
                <a:ea typeface="Pretendard"/>
              </a:endParaRPr>
            </a:p>
          </p:txBody>
        </p:sp>
        <p:sp>
          <p:nvSpPr>
            <p:cNvPr id="67" name="Text 65"/>
            <p:cNvSpPr txBox="1"/>
            <p:nvPr/>
          </p:nvSpPr>
          <p:spPr>
            <a:xfrm>
              <a:off x="13773150" y="6326104"/>
              <a:ext cx="419100" cy="2476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>
                  <a:solidFill>
                    <a:srgbClr val="FFFFFF"/>
                  </a:solidFill>
                  <a:latin typeface="Pretendard"/>
                  <a:ea typeface="Pretendard"/>
                  <a:cs typeface="Pretendard" pitchFamily="34" charset="-120"/>
                </a:rPr>
                <a:t>08</a:t>
              </a:r>
              <a:endParaRPr lang="en-US" sz="1500">
                <a:latin typeface="Pretendard"/>
                <a:ea typeface="Pretendard"/>
              </a:endParaRPr>
            </a:p>
          </p:txBody>
        </p:sp>
        <p:sp>
          <p:nvSpPr>
            <p:cNvPr id="68" name="Text 66"/>
            <p:cNvSpPr txBox="1"/>
            <p:nvPr/>
          </p:nvSpPr>
          <p:spPr>
            <a:xfrm>
              <a:off x="14430375" y="6269455"/>
              <a:ext cx="2571750" cy="323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결과</a:t>
              </a:r>
              <a:r>
                <a:rPr lang="en-US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en-US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정확성</a:t>
              </a:r>
              <a:r>
                <a:rPr lang="en-US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en-US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확인</a:t>
              </a:r>
              <a:endParaRPr lang="en-US" err="1">
                <a:latin typeface="Pretendard"/>
                <a:ea typeface="Pretendard"/>
              </a:endParaRPr>
            </a:p>
          </p:txBody>
        </p:sp>
        <p:sp>
          <p:nvSpPr>
            <p:cNvPr id="70" name="Shape 68"/>
            <p:cNvSpPr/>
            <p:nvPr/>
          </p:nvSpPr>
          <p:spPr>
            <a:xfrm>
              <a:off x="13696950" y="6896100"/>
              <a:ext cx="3352800" cy="571500"/>
            </a:xfrm>
            <a:prstGeom prst="roundRect">
              <a:avLst>
                <a:gd name="adj" fmla="val 20000"/>
              </a:avLst>
            </a:prstGeom>
            <a:solidFill>
              <a:srgbClr val="EAF3FF"/>
            </a:solidFill>
            <a:ln/>
          </p:spPr>
          <p:txBody>
            <a:bodyPr/>
            <a:lstStyle/>
            <a:p>
              <a:endParaRPr lang="ko-KR" altLang="en-US">
                <a:latin typeface="Pretendard"/>
                <a:ea typeface="Pretendard"/>
              </a:endParaRPr>
            </a:p>
          </p:txBody>
        </p:sp>
        <p:sp>
          <p:nvSpPr>
            <p:cNvPr id="71" name="Text 69"/>
            <p:cNvSpPr txBox="1"/>
            <p:nvPr/>
          </p:nvSpPr>
          <p:spPr>
            <a:xfrm>
              <a:off x="13916025" y="6972300"/>
              <a:ext cx="2914650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kern="0" spc="90">
                  <a:solidFill>
                    <a:srgbClr val="176FE5"/>
                  </a:solidFill>
                  <a:latin typeface="Pretendard"/>
                  <a:ea typeface="Pretendard"/>
                  <a:cs typeface="Pretendard" pitchFamily="34" charset="-120"/>
                </a:rPr>
                <a:t>RESULT</a:t>
              </a:r>
              <a:endParaRPr lang="en-US" sz="850">
                <a:latin typeface="Pretendard"/>
                <a:ea typeface="Pretendard"/>
              </a:endParaRPr>
            </a:p>
          </p:txBody>
        </p:sp>
        <p:sp>
          <p:nvSpPr>
            <p:cNvPr id="72" name="Text 70"/>
            <p:cNvSpPr txBox="1"/>
            <p:nvPr/>
          </p:nvSpPr>
          <p:spPr>
            <a:xfrm>
              <a:off x="13916025" y="7172325"/>
              <a:ext cx="2914650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동작과</a:t>
              </a:r>
              <a:r>
                <a:rPr lang="en-US" sz="16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en-US" sz="1600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결과</a:t>
              </a:r>
              <a:r>
                <a:rPr lang="en-US" sz="16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en-US" sz="1600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확인</a:t>
              </a:r>
              <a:r>
                <a:rPr lang="en-US" sz="1600" b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 </a:t>
              </a:r>
              <a:r>
                <a:rPr lang="en-US" sz="1600" b="1" err="1">
                  <a:solidFill>
                    <a:srgbClr val="153451"/>
                  </a:solidFill>
                  <a:latin typeface="Pretendard"/>
                  <a:ea typeface="Pretendard"/>
                  <a:cs typeface="Pretendard" pitchFamily="34" charset="-120"/>
                </a:rPr>
                <a:t>기록</a:t>
              </a:r>
              <a:endParaRPr lang="en-US" sz="1600" err="1">
                <a:latin typeface="Pretendard"/>
                <a:ea typeface="Pretendard"/>
              </a:endParaRPr>
            </a:p>
          </p:txBody>
        </p:sp>
      </p:grpSp>
      <p:sp>
        <p:nvSpPr>
          <p:cNvPr id="73" name="Text 71"/>
          <p:cNvSpPr txBox="1"/>
          <p:nvPr/>
        </p:nvSpPr>
        <p:spPr>
          <a:xfrm>
            <a:off x="1009650" y="901065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PROCESS RULE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74" name="Text 72"/>
          <p:cNvSpPr txBox="1"/>
          <p:nvPr/>
        </p:nvSpPr>
        <p:spPr>
          <a:xfrm>
            <a:off x="2779568" y="8934450"/>
            <a:ext cx="1257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b="1">
                <a:solidFill>
                  <a:srgbClr val="176FE5"/>
                </a:solidFill>
                <a:latin typeface="Pretendard"/>
                <a:ea typeface="Pretendard"/>
                <a:cs typeface="+mn-lt"/>
              </a:rPr>
              <a:t>정리</a:t>
            </a:r>
            <a:r>
              <a:rPr lang="en-US" sz="2300" b="1">
                <a:solidFill>
                  <a:srgbClr val="176FE5"/>
                </a:solidFill>
                <a:latin typeface="Pretendard"/>
                <a:ea typeface="Pretendard"/>
                <a:cs typeface="+mn-lt"/>
              </a:rPr>
              <a:t>·</a:t>
            </a:r>
            <a:r>
              <a:rPr lang="ko-KR" altLang="en-US" sz="2300" b="1">
                <a:solidFill>
                  <a:srgbClr val="176FE5"/>
                </a:solidFill>
                <a:latin typeface="Pretendard"/>
                <a:ea typeface="Pretendard"/>
                <a:cs typeface="+mn-lt"/>
              </a:rPr>
              <a:t>구현</a:t>
            </a:r>
            <a:r>
              <a:rPr lang="en-US" sz="2300" b="1">
                <a:solidFill>
                  <a:srgbClr val="176FE5"/>
                </a:solidFill>
                <a:latin typeface="Pretendard"/>
                <a:ea typeface="Pretendard"/>
                <a:cs typeface="+mn-lt"/>
              </a:rPr>
              <a:t>·</a:t>
            </a:r>
            <a:r>
              <a:rPr lang="ko-KR" altLang="en-US" sz="2300" b="1">
                <a:solidFill>
                  <a:srgbClr val="176FE5"/>
                </a:solidFill>
                <a:latin typeface="Pretendard"/>
                <a:ea typeface="Pretendard"/>
                <a:cs typeface="+mn-lt"/>
              </a:rPr>
              <a:t>확인</a:t>
            </a:r>
            <a:r>
              <a:rPr lang="ko-KR" altLang="en-US" sz="2300" b="1">
                <a:solidFill>
                  <a:srgbClr val="153451"/>
                </a:solidFill>
                <a:latin typeface="Pretendard"/>
                <a:ea typeface="Pretendard"/>
                <a:cs typeface="+mn-lt"/>
              </a:rPr>
              <a:t>의</a:t>
            </a:r>
            <a:r>
              <a:rPr lang="en-US" altLang="ko-KR" sz="2300" b="1">
                <a:solidFill>
                  <a:srgbClr val="153451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2300" b="1">
                <a:solidFill>
                  <a:srgbClr val="153451"/>
                </a:solidFill>
                <a:latin typeface="Pretendard"/>
                <a:ea typeface="Pretendard"/>
                <a:cs typeface="+mn-lt"/>
              </a:rPr>
              <a:t>세</a:t>
            </a:r>
            <a:r>
              <a:rPr lang="en-US" sz="2300" b="1">
                <a:solidFill>
                  <a:srgbClr val="153451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2300" b="1" err="1">
                <a:solidFill>
                  <a:srgbClr val="153451"/>
                </a:solidFill>
                <a:latin typeface="Pretendard"/>
                <a:ea typeface="Pretendard"/>
                <a:cs typeface="+mn-lt"/>
              </a:rPr>
              <a:t>단계로</a:t>
            </a:r>
            <a:r>
              <a:rPr lang="en-US" sz="2300" b="1">
                <a:solidFill>
                  <a:srgbClr val="153451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2300" b="1">
                <a:solidFill>
                  <a:srgbClr val="153451"/>
                </a:solidFill>
                <a:latin typeface="Pretendard"/>
                <a:ea typeface="Pretendard"/>
                <a:cs typeface="+mn-lt"/>
              </a:rPr>
              <a:t>진행</a:t>
            </a:r>
            <a:endParaRPr lang="en-US" sz="2300">
              <a:latin typeface="Pretendard"/>
              <a:ea typeface="Pretendard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42 · PROJECT TIMELINE</a:t>
            </a:r>
            <a:endParaRPr lang="en-US" sz="1100">
              <a:latin typeface="Pretendard"/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>
                <a:solidFill>
                  <a:srgbClr val="153451"/>
                </a:solidFill>
                <a:latin typeface="Pretendard"/>
                <a:ea typeface="Pretendard"/>
              </a:rPr>
              <a:t>WBS</a:t>
            </a:r>
            <a:endParaRPr lang="en-US">
              <a:latin typeface="Pretendard"/>
              <a:ea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09650" y="2396290"/>
            <a:ext cx="4406565" cy="996614"/>
          </a:xfrm>
          <a:prstGeom prst="roundRect">
            <a:avLst>
              <a:gd name="adj" fmla="val 17391"/>
            </a:avLst>
          </a:prstGeom>
          <a:solidFill>
            <a:srgbClr val="F7FAFF"/>
          </a:solidFill>
          <a:ln w="1524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 sz="200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257300" y="2581776"/>
            <a:ext cx="3505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선행 준비</a:t>
            </a:r>
            <a:endParaRPr lang="en-US" sz="200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257300" y="2893594"/>
            <a:ext cx="1762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07/10~07/24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004386" y="2873041"/>
            <a:ext cx="2284495" cy="353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71869B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요구사항·기획·WBS</a:t>
            </a:r>
            <a:endParaRPr lang="en-US" sz="2000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82965" y="2924676"/>
            <a:ext cx="171450" cy="0"/>
          </a:xfrm>
          <a:prstGeom prst="line">
            <a:avLst/>
          </a:prstGeom>
          <a:noFill/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 rot="5400000">
            <a:off x="6216315" y="2848476"/>
            <a:ext cx="171450" cy="152400"/>
          </a:xfrm>
          <a:prstGeom prst="triangl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 sz="2000">
              <a:ea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76048" y="2396289"/>
            <a:ext cx="10131591" cy="996615"/>
          </a:xfrm>
          <a:prstGeom prst="roundRect">
            <a:avLst>
              <a:gd name="adj" fmla="val 17391"/>
            </a:avLst>
          </a:prstGeom>
          <a:solidFill>
            <a:srgbClr val="EAF3FF"/>
          </a:solidFill>
          <a:ln w="152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 sz="200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289131" y="2506578"/>
            <a:ext cx="9922043" cy="390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본격 구현</a:t>
            </a:r>
            <a:endParaRPr lang="en-US" sz="2000">
              <a:ea typeface="Pretendard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289131" y="2908633"/>
            <a:ext cx="1952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07/29~09/03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9136481" y="2903120"/>
            <a:ext cx="7578390" cy="338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71869B"/>
                </a:solidFill>
                <a:latin typeface="Pretendard" pitchFamily="34" charset="0"/>
                <a:ea typeface="Pretendard"/>
                <a:cs typeface="Pretendard" pitchFamily="34" charset="-120"/>
              </a:rPr>
              <a:t>확정 실행 구간 · 약 5.4주 · 여섯 단계</a:t>
            </a:r>
            <a:endParaRPr lang="en-US" sz="2000">
              <a:ea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09650" y="3705726"/>
            <a:ext cx="16268700" cy="2647950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1524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09650" y="3705726"/>
            <a:ext cx="16268700" cy="76200"/>
          </a:xfrm>
          <a:prstGeom prst="roundRect">
            <a:avLst>
              <a:gd name="adj" fmla="val 50000"/>
            </a:avLst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105150" y="3896226"/>
            <a:ext cx="0" cy="226695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753100" y="3896226"/>
            <a:ext cx="0" cy="226695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401050" y="3896226"/>
            <a:ext cx="0" cy="226695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1049000" y="3896226"/>
            <a:ext cx="0" cy="226695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3696950" y="3896226"/>
            <a:ext cx="0" cy="226695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057400" y="4992102"/>
            <a:ext cx="13430250" cy="0"/>
          </a:xfrm>
          <a:prstGeom prst="line">
            <a:avLst/>
          </a:prstGeom>
          <a:noFill/>
          <a:ln w="2794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057275" y="411480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71869B"/>
                </a:solidFill>
                <a:latin typeface="Pretendard" pitchFamily="34" charset="0"/>
                <a:ea typeface="Pretendard"/>
                <a:cs typeface="Pretendard" pitchFamily="34" charset="-120"/>
              </a:rPr>
              <a:t>07/29~07/31</a:t>
            </a:r>
            <a:endParaRPr lang="en-US" sz="1350">
              <a:ea typeface="Pretendard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800225" y="4734927"/>
            <a:ext cx="514350" cy="51435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866900" y="4868277"/>
            <a:ext cx="38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Pretendard" pitchFamily="34" charset="0"/>
                <a:ea typeface="Pretendard"/>
                <a:cs typeface="Pretendard" pitchFamily="34" charset="-120"/>
              </a:rPr>
              <a:t>01</a:t>
            </a:r>
            <a:endParaRPr lang="en-US" sz="1150">
              <a:ea typeface="Pretendard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66775" y="5403682"/>
            <a:ext cx="2381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기준 정리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3429000" y="411480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08/03~08/07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171950" y="4734927"/>
            <a:ext cx="514350" cy="514350"/>
          </a:xfrm>
          <a:prstGeom prst="ellipse">
            <a:avLst/>
          </a:prstGeom>
          <a:solidFill>
            <a:srgbClr val="EAF3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4238625" y="4868277"/>
            <a:ext cx="38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02</a:t>
            </a:r>
            <a:endParaRPr lang="en-US" sz="1150">
              <a:ea typeface="Pretendard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3238500" y="5403682"/>
            <a:ext cx="2381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공통 기준·환경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6076950" y="411480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08/10~08/14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819900" y="4734927"/>
            <a:ext cx="514350" cy="514350"/>
          </a:xfrm>
          <a:prstGeom prst="ellipse">
            <a:avLst/>
          </a:prstGeom>
          <a:solidFill>
            <a:srgbClr val="EAF3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6886575" y="4868277"/>
            <a:ext cx="38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03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5886450" y="5403682"/>
            <a:ext cx="2381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핵심 흐름 구현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8724900" y="411480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08/17~08/21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467850" y="4734927"/>
            <a:ext cx="514350" cy="514350"/>
          </a:xfrm>
          <a:prstGeom prst="ellipse">
            <a:avLst/>
          </a:prstGeom>
          <a:solidFill>
            <a:srgbClr val="EAF3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9534525" y="4868277"/>
            <a:ext cx="38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04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8534400" y="5403682"/>
            <a:ext cx="2381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범위 확대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11372850" y="411480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08/24~08/28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2115800" y="4734927"/>
            <a:ext cx="514350" cy="514350"/>
          </a:xfrm>
          <a:prstGeom prst="ellipse">
            <a:avLst/>
          </a:prstGeom>
          <a:solidFill>
            <a:srgbClr val="EAF3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12182475" y="4868277"/>
            <a:ext cx="38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05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11182350" y="5403682"/>
            <a:ext cx="2381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보고서·통합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14487525" y="411480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08/31~09/03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5230475" y="4734927"/>
            <a:ext cx="514350" cy="51435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15297150" y="4868277"/>
            <a:ext cx="38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06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56" name="Text 54"/>
          <p:cNvSpPr txBox="1"/>
          <p:nvPr/>
        </p:nvSpPr>
        <p:spPr>
          <a:xfrm>
            <a:off x="14297025" y="5403682"/>
            <a:ext cx="2381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최종 확인·발표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3626518" y="6666498"/>
            <a:ext cx="11200398" cy="1723523"/>
          </a:xfrm>
          <a:prstGeom prst="roundRect">
            <a:avLst>
              <a:gd name="adj" fmla="val 13636"/>
            </a:avLst>
          </a:prstGeom>
          <a:solidFill>
            <a:srgbClr val="F7FAFF"/>
          </a:solidFill>
          <a:ln w="1397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9" name="Text 57"/>
          <p:cNvSpPr txBox="1"/>
          <p:nvPr/>
        </p:nvSpPr>
        <p:spPr>
          <a:xfrm>
            <a:off x="3972426" y="6850198"/>
            <a:ext cx="1300805" cy="26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최종 일정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9442283" y="7160796"/>
            <a:ext cx="2536657" cy="1080836"/>
          </a:xfrm>
          <a:prstGeom prst="roundRect">
            <a:avLst>
              <a:gd name="adj" fmla="val 13462"/>
            </a:avLst>
          </a:prstGeom>
          <a:solidFill>
            <a:srgbClr val="EAF3FF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3965408" y="7746331"/>
            <a:ext cx="10191750" cy="0"/>
          </a:xfrm>
          <a:prstGeom prst="line">
            <a:avLst/>
          </a:prstGeom>
          <a:noFill/>
          <a:ln w="2286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4" name="Text 62"/>
          <p:cNvSpPr txBox="1"/>
          <p:nvPr/>
        </p:nvSpPr>
        <p:spPr>
          <a:xfrm>
            <a:off x="3917783" y="7302667"/>
            <a:ext cx="1458828" cy="262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08/31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4555958" y="7655093"/>
            <a:ext cx="152400" cy="167439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6" name="Text 64"/>
          <p:cNvSpPr txBox="1"/>
          <p:nvPr/>
        </p:nvSpPr>
        <p:spPr>
          <a:xfrm>
            <a:off x="3632033" y="7821028"/>
            <a:ext cx="2045368" cy="392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최종 통합 점검</a:t>
            </a:r>
            <a:endParaRPr lang="en-US">
              <a:latin typeface="Pretendard"/>
              <a:ea typeface="Pretendard"/>
            </a:endParaRPr>
          </a:p>
        </p:txBody>
      </p:sp>
      <p:sp>
        <p:nvSpPr>
          <p:cNvPr id="67" name="Text 65"/>
          <p:cNvSpPr txBox="1"/>
          <p:nvPr/>
        </p:nvSpPr>
        <p:spPr>
          <a:xfrm>
            <a:off x="6870533" y="7302667"/>
            <a:ext cx="1458828" cy="262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09/01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508708" y="7655093"/>
            <a:ext cx="152400" cy="167439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9" name="Text 67"/>
          <p:cNvSpPr txBox="1"/>
          <p:nvPr/>
        </p:nvSpPr>
        <p:spPr>
          <a:xfrm>
            <a:off x="6584783" y="7821028"/>
            <a:ext cx="2045368" cy="392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리허설</a:t>
            </a:r>
            <a:endParaRPr lang="en-US">
              <a:latin typeface="Pretendard"/>
              <a:ea typeface="Pretendard"/>
            </a:endParaRPr>
          </a:p>
        </p:txBody>
      </p:sp>
      <p:sp>
        <p:nvSpPr>
          <p:cNvPr id="70" name="Text 68"/>
          <p:cNvSpPr txBox="1"/>
          <p:nvPr/>
        </p:nvSpPr>
        <p:spPr>
          <a:xfrm>
            <a:off x="9966158" y="7302667"/>
            <a:ext cx="1458828" cy="262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09/02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0556708" y="7607468"/>
            <a:ext cx="247650" cy="262689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2" name="Text 70"/>
          <p:cNvSpPr txBox="1"/>
          <p:nvPr/>
        </p:nvSpPr>
        <p:spPr>
          <a:xfrm>
            <a:off x="9680408" y="7821028"/>
            <a:ext cx="2045368" cy="392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최종 동결</a:t>
            </a:r>
            <a:endParaRPr lang="en-US">
              <a:latin typeface="Pretendard"/>
              <a:ea typeface="Pretendard"/>
            </a:endParaRPr>
          </a:p>
        </p:txBody>
      </p:sp>
      <p:sp>
        <p:nvSpPr>
          <p:cNvPr id="73" name="Text 71"/>
          <p:cNvSpPr txBox="1"/>
          <p:nvPr/>
        </p:nvSpPr>
        <p:spPr>
          <a:xfrm>
            <a:off x="13157033" y="7302667"/>
            <a:ext cx="1458828" cy="262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71869B"/>
                </a:solidFill>
                <a:latin typeface="Pretendard"/>
                <a:ea typeface="Pretendard"/>
                <a:cs typeface="Pretendard" pitchFamily="34" charset="-120"/>
              </a:rPr>
              <a:t>09/03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13795208" y="7655093"/>
            <a:ext cx="152400" cy="167439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5" name="Text 73"/>
          <p:cNvSpPr txBox="1"/>
          <p:nvPr/>
        </p:nvSpPr>
        <p:spPr>
          <a:xfrm>
            <a:off x="12871283" y="7821028"/>
            <a:ext cx="2045368" cy="392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최종 발표</a:t>
            </a:r>
            <a:endParaRPr lang="en-US">
              <a:latin typeface="Pretendard"/>
              <a:ea typeface="Pretendard"/>
            </a:endParaRPr>
          </a:p>
        </p:txBody>
      </p:sp>
      <p:sp>
        <p:nvSpPr>
          <p:cNvPr id="76" name="Text 74"/>
          <p:cNvSpPr txBox="1"/>
          <p:nvPr/>
        </p:nvSpPr>
        <p:spPr>
          <a:xfrm>
            <a:off x="1009650" y="901065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일정</a:t>
            </a:r>
            <a:r>
              <a:rPr lang="en-US" sz="11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1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원칙</a:t>
            </a:r>
            <a:endParaRPr lang="en-US" sz="1150">
              <a:latin typeface="Pretendard"/>
              <a:ea typeface="Pretendar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ANSWERVICE / 43</a:t>
            </a: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· MIDTERM FEEDBACK</a:t>
            </a:r>
            <a:endParaRPr lang="en-US" sz="1100">
              <a:latin typeface="Pretendard"/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53451"/>
                </a:solidFill>
                <a:ea typeface="Pretendard"/>
              </a:rPr>
              <a:t>중간발표 이후 반영 사항</a:t>
            </a:r>
            <a:endParaRPr lang="en-US" sz="3600" b="1">
              <a:solidFill>
                <a:srgbClr val="153451"/>
              </a:solidFill>
              <a:ea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09650" y="2952750"/>
            <a:ext cx="16268700" cy="5467350"/>
          </a:xfrm>
          <a:prstGeom prst="roundRect">
            <a:avLst>
              <a:gd name="adj" fmla="val 3833"/>
            </a:avLst>
          </a:prstGeom>
          <a:solidFill>
            <a:srgbClr val="F7FAFF"/>
          </a:solidFill>
          <a:ln w="1524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44000" y="3143250"/>
            <a:ext cx="0" cy="508635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200150" y="5686425"/>
            <a:ext cx="1588770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314450" y="3257550"/>
            <a:ext cx="628650" cy="628650"/>
          </a:xfrm>
          <a:prstGeom prst="roundRect">
            <a:avLst>
              <a:gd name="adj" fmla="val 27273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392011" y="3505200"/>
            <a:ext cx="133350" cy="133350"/>
          </a:xfrm>
          <a:prstGeom prst="ellipse">
            <a:avLst/>
          </a:prstGeom>
          <a:solidFill>
            <a:srgbClr val="EAF3FF"/>
          </a:solidFill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724025" y="3505200"/>
            <a:ext cx="133350" cy="133350"/>
          </a:xfrm>
          <a:prstGeom prst="ellipse">
            <a:avLst/>
          </a:prstGeom>
          <a:solidFill>
            <a:srgbClr val="EAF3FF"/>
          </a:solidFill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525361" y="3571875"/>
            <a:ext cx="171450" cy="0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649186" y="3514725"/>
            <a:ext cx="66675" cy="57150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 flipV="1">
            <a:off x="1649186" y="3571875"/>
            <a:ext cx="66675" cy="57150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2152650" y="33147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/>
          </a:p>
        </p:txBody>
      </p:sp>
      <p:sp>
        <p:nvSpPr>
          <p:cNvPr id="20" name="Text 18"/>
          <p:cNvSpPr txBox="1"/>
          <p:nvPr/>
        </p:nvSpPr>
        <p:spPr>
          <a:xfrm>
            <a:off x="2571750" y="3276600"/>
            <a:ext cx="592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흐름</a:t>
            </a:r>
            <a:endParaRPr lang="en-US" sz="2150"/>
          </a:p>
        </p:txBody>
      </p:sp>
      <p:sp>
        <p:nvSpPr>
          <p:cNvPr id="21" name="Text 19"/>
          <p:cNvSpPr txBox="1"/>
          <p:nvPr/>
        </p:nvSpPr>
        <p:spPr>
          <a:xfrm>
            <a:off x="1314450" y="4095750"/>
            <a:ext cx="114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의견</a:t>
            </a:r>
            <a:endParaRPr lang="en-US" sz="1550"/>
          </a:p>
        </p:txBody>
      </p:sp>
      <p:sp>
        <p:nvSpPr>
          <p:cNvPr id="22" name="Text 20"/>
          <p:cNvSpPr txBox="1"/>
          <p:nvPr/>
        </p:nvSpPr>
        <p:spPr>
          <a:xfrm>
            <a:off x="2686050" y="4076700"/>
            <a:ext cx="59245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질문부터 보고서까지 연결</a:t>
            </a:r>
            <a:endParaRPr lang="en-US" sz="1800"/>
          </a:p>
        </p:txBody>
      </p:sp>
      <p:sp>
        <p:nvSpPr>
          <p:cNvPr id="23" name="Shape 21"/>
          <p:cNvSpPr/>
          <p:nvPr/>
        </p:nvSpPr>
        <p:spPr>
          <a:xfrm>
            <a:off x="1314450" y="4543425"/>
            <a:ext cx="7334250" cy="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314450" y="4743450"/>
            <a:ext cx="114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내용</a:t>
            </a:r>
            <a:endParaRPr lang="en-US" sz="1550"/>
          </a:p>
        </p:txBody>
      </p:sp>
      <p:sp>
        <p:nvSpPr>
          <p:cNvPr id="25" name="Text 23"/>
          <p:cNvSpPr txBox="1"/>
          <p:nvPr/>
        </p:nvSpPr>
        <p:spPr>
          <a:xfrm>
            <a:off x="2686050" y="4724400"/>
            <a:ext cx="59245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DataHub → SQL 검증 → Trino → 보고서</a:t>
            </a:r>
            <a:endParaRPr lang="en-US" sz="1800"/>
          </a:p>
        </p:txBody>
      </p:sp>
      <p:sp>
        <p:nvSpPr>
          <p:cNvPr id="26" name="Shape 24"/>
          <p:cNvSpPr/>
          <p:nvPr/>
        </p:nvSpPr>
        <p:spPr>
          <a:xfrm>
            <a:off x="9448800" y="3257550"/>
            <a:ext cx="628650" cy="628650"/>
          </a:xfrm>
          <a:prstGeom prst="roundRect">
            <a:avLst>
              <a:gd name="adj" fmla="val 27273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610725" y="3400425"/>
            <a:ext cx="295275" cy="352425"/>
          </a:xfrm>
          <a:prstGeom prst="rect">
            <a:avLst/>
          </a:prstGeom>
          <a:solidFill>
            <a:srgbClr val="FFFFFF">
              <a:alpha val="0"/>
            </a:srgbClr>
          </a:solidFill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686925" y="3505200"/>
            <a:ext cx="142875" cy="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686925" y="3590925"/>
            <a:ext cx="142875" cy="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686925" y="3676650"/>
            <a:ext cx="95250" cy="0"/>
          </a:xfrm>
          <a:prstGeom prst="line">
            <a:avLst/>
          </a:prstGeom>
          <a:noFill/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10287000" y="33147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/>
          </a:p>
        </p:txBody>
      </p:sp>
      <p:sp>
        <p:nvSpPr>
          <p:cNvPr id="32" name="Text 30"/>
          <p:cNvSpPr txBox="1"/>
          <p:nvPr/>
        </p:nvSpPr>
        <p:spPr>
          <a:xfrm>
            <a:off x="10706100" y="3276600"/>
            <a:ext cx="6115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기준</a:t>
            </a:r>
            <a:endParaRPr lang="en-US" sz="2150"/>
          </a:p>
        </p:txBody>
      </p:sp>
      <p:sp>
        <p:nvSpPr>
          <p:cNvPr id="33" name="Text 31"/>
          <p:cNvSpPr txBox="1"/>
          <p:nvPr/>
        </p:nvSpPr>
        <p:spPr>
          <a:xfrm>
            <a:off x="9448800" y="4095750"/>
            <a:ext cx="114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의견</a:t>
            </a:r>
            <a:endParaRPr lang="en-US" sz="1550"/>
          </a:p>
        </p:txBody>
      </p:sp>
      <p:sp>
        <p:nvSpPr>
          <p:cNvPr id="34" name="Text 32"/>
          <p:cNvSpPr txBox="1"/>
          <p:nvPr/>
        </p:nvSpPr>
        <p:spPr>
          <a:xfrm>
            <a:off x="10820400" y="4076700"/>
            <a:ext cx="611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KPI와 업무 의미 반영</a:t>
            </a:r>
            <a:endParaRPr lang="en-US" sz="1800"/>
          </a:p>
        </p:txBody>
      </p:sp>
      <p:sp>
        <p:nvSpPr>
          <p:cNvPr id="35" name="Shape 33"/>
          <p:cNvSpPr/>
          <p:nvPr/>
        </p:nvSpPr>
        <p:spPr>
          <a:xfrm>
            <a:off x="9448800" y="4543425"/>
            <a:ext cx="7524750" cy="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9448800" y="4743450"/>
            <a:ext cx="114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내용</a:t>
            </a:r>
            <a:endParaRPr lang="en-US" sz="1550"/>
          </a:p>
        </p:txBody>
      </p:sp>
      <p:sp>
        <p:nvSpPr>
          <p:cNvPr id="37" name="Text 35"/>
          <p:cNvSpPr txBox="1"/>
          <p:nvPr/>
        </p:nvSpPr>
        <p:spPr>
          <a:xfrm>
            <a:off x="10820400" y="4724400"/>
            <a:ext cx="611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용어 적용 · sLLM 1회 보정</a:t>
            </a:r>
            <a:endParaRPr lang="en-US" sz="1800"/>
          </a:p>
        </p:txBody>
      </p:sp>
      <p:sp>
        <p:nvSpPr>
          <p:cNvPr id="38" name="Shape 36"/>
          <p:cNvSpPr/>
          <p:nvPr/>
        </p:nvSpPr>
        <p:spPr>
          <a:xfrm>
            <a:off x="1314450" y="5991225"/>
            <a:ext cx="628650" cy="628650"/>
          </a:xfrm>
          <a:prstGeom prst="roundRect">
            <a:avLst>
              <a:gd name="adj" fmla="val 27273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419225" y="6134100"/>
            <a:ext cx="114300" cy="114300"/>
          </a:xfrm>
          <a:prstGeom prst="ellipse">
            <a:avLst/>
          </a:prstGeom>
          <a:solidFill>
            <a:srgbClr val="EAF3FF"/>
          </a:solidFill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733550" y="6134100"/>
            <a:ext cx="114300" cy="114300"/>
          </a:xfrm>
          <a:prstGeom prst="ellipse">
            <a:avLst/>
          </a:prstGeom>
          <a:solidFill>
            <a:srgbClr val="EAF3FF"/>
          </a:solidFill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576388" y="6419850"/>
            <a:ext cx="114300" cy="114300"/>
          </a:xfrm>
          <a:prstGeom prst="ellipse">
            <a:avLst/>
          </a:prstGeom>
          <a:solidFill>
            <a:srgbClr val="EAF3FF"/>
          </a:solidFill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514475" y="6238875"/>
            <a:ext cx="85725" cy="180975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3" name="Shape 41"/>
          <p:cNvSpPr/>
          <p:nvPr/>
        </p:nvSpPr>
        <p:spPr>
          <a:xfrm flipH="1">
            <a:off x="1670957" y="6247947"/>
            <a:ext cx="104775" cy="190046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533525" y="6191250"/>
            <a:ext cx="200025" cy="0"/>
          </a:xfrm>
          <a:prstGeom prst="line">
            <a:avLst/>
          </a:prstGeom>
          <a:noFill/>
          <a:ln w="2032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2152650" y="60483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/>
          </a:p>
        </p:txBody>
      </p:sp>
      <p:sp>
        <p:nvSpPr>
          <p:cNvPr id="46" name="Text 44"/>
          <p:cNvSpPr txBox="1"/>
          <p:nvPr/>
        </p:nvSpPr>
        <p:spPr>
          <a:xfrm>
            <a:off x="2571750" y="6010275"/>
            <a:ext cx="592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역할</a:t>
            </a:r>
            <a:endParaRPr lang="en-US" sz="2150"/>
          </a:p>
        </p:txBody>
      </p:sp>
      <p:sp>
        <p:nvSpPr>
          <p:cNvPr id="47" name="Text 45"/>
          <p:cNvSpPr txBox="1"/>
          <p:nvPr/>
        </p:nvSpPr>
        <p:spPr>
          <a:xfrm>
            <a:off x="1314450" y="6829425"/>
            <a:ext cx="114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의견</a:t>
            </a:r>
            <a:endParaRPr lang="en-US" sz="1550"/>
          </a:p>
        </p:txBody>
      </p:sp>
      <p:sp>
        <p:nvSpPr>
          <p:cNvPr id="48" name="Text 46"/>
          <p:cNvSpPr txBox="1"/>
          <p:nvPr/>
        </p:nvSpPr>
        <p:spPr>
          <a:xfrm>
            <a:off x="2686050" y="6810375"/>
            <a:ext cx="59245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역할과 정보 전달 기준 명확화</a:t>
            </a:r>
            <a:endParaRPr lang="en-US" sz="1800"/>
          </a:p>
        </p:txBody>
      </p:sp>
      <p:sp>
        <p:nvSpPr>
          <p:cNvPr id="49" name="Shape 47"/>
          <p:cNvSpPr/>
          <p:nvPr/>
        </p:nvSpPr>
        <p:spPr>
          <a:xfrm>
            <a:off x="1314450" y="7277100"/>
            <a:ext cx="7334250" cy="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1314450" y="7477125"/>
            <a:ext cx="114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내용</a:t>
            </a:r>
            <a:endParaRPr lang="en-US" sz="1550"/>
          </a:p>
        </p:txBody>
      </p:sp>
      <p:sp>
        <p:nvSpPr>
          <p:cNvPr id="51" name="Text 49"/>
          <p:cNvSpPr txBox="1"/>
          <p:nvPr/>
        </p:nvSpPr>
        <p:spPr>
          <a:xfrm>
            <a:off x="2686050" y="7458075"/>
            <a:ext cx="59245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→ 탐색 → SQL → 검증 → 보고서</a:t>
            </a:r>
            <a:endParaRPr lang="en-US" sz="1800"/>
          </a:p>
        </p:txBody>
      </p:sp>
      <p:sp>
        <p:nvSpPr>
          <p:cNvPr id="52" name="Shape 50"/>
          <p:cNvSpPr/>
          <p:nvPr/>
        </p:nvSpPr>
        <p:spPr>
          <a:xfrm>
            <a:off x="9448800" y="5991225"/>
            <a:ext cx="628650" cy="628650"/>
          </a:xfrm>
          <a:prstGeom prst="roundRect">
            <a:avLst>
              <a:gd name="adj" fmla="val 27273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598479" y="6132739"/>
            <a:ext cx="323850" cy="13335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607550" y="6217557"/>
            <a:ext cx="0" cy="22860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931400" y="6217557"/>
            <a:ext cx="0" cy="15240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9" name="Text 57"/>
          <p:cNvSpPr txBox="1"/>
          <p:nvPr/>
        </p:nvSpPr>
        <p:spPr>
          <a:xfrm>
            <a:off x="10287000" y="60483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800"/>
          </a:p>
        </p:txBody>
      </p:sp>
      <p:sp>
        <p:nvSpPr>
          <p:cNvPr id="60" name="Text 58"/>
          <p:cNvSpPr txBox="1"/>
          <p:nvPr/>
        </p:nvSpPr>
        <p:spPr>
          <a:xfrm>
            <a:off x="10706100" y="6010275"/>
            <a:ext cx="6115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통제</a:t>
            </a:r>
            <a:endParaRPr lang="en-US" sz="2150"/>
          </a:p>
        </p:txBody>
      </p:sp>
      <p:sp>
        <p:nvSpPr>
          <p:cNvPr id="61" name="Text 59"/>
          <p:cNvSpPr txBox="1"/>
          <p:nvPr/>
        </p:nvSpPr>
        <p:spPr>
          <a:xfrm>
            <a:off x="9448800" y="6829425"/>
            <a:ext cx="114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7186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의견</a:t>
            </a:r>
            <a:endParaRPr lang="en-US" sz="1550"/>
          </a:p>
        </p:txBody>
      </p:sp>
      <p:sp>
        <p:nvSpPr>
          <p:cNvPr id="62" name="Text 60"/>
          <p:cNvSpPr txBox="1"/>
          <p:nvPr/>
        </p:nvSpPr>
        <p:spPr>
          <a:xfrm>
            <a:off x="10820400" y="6810375"/>
            <a:ext cx="611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데이터 조회와 권한 관리</a:t>
            </a:r>
            <a:endParaRPr lang="en-US" sz="1800"/>
          </a:p>
        </p:txBody>
      </p:sp>
      <p:sp>
        <p:nvSpPr>
          <p:cNvPr id="63" name="Shape 61"/>
          <p:cNvSpPr/>
          <p:nvPr/>
        </p:nvSpPr>
        <p:spPr>
          <a:xfrm>
            <a:off x="9448800" y="7277100"/>
            <a:ext cx="7524750" cy="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4" name="Text 62"/>
          <p:cNvSpPr txBox="1"/>
          <p:nvPr/>
        </p:nvSpPr>
        <p:spPr>
          <a:xfrm>
            <a:off x="9448800" y="7477125"/>
            <a:ext cx="114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내용</a:t>
            </a:r>
            <a:endParaRPr lang="en-US" sz="1550"/>
          </a:p>
        </p:txBody>
      </p:sp>
      <p:sp>
        <p:nvSpPr>
          <p:cNvPr id="65" name="Text 63"/>
          <p:cNvSpPr txBox="1"/>
          <p:nvPr/>
        </p:nvSpPr>
        <p:spPr>
          <a:xfrm>
            <a:off x="10820400" y="7458075"/>
            <a:ext cx="61150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Trino 연합조회 · 역할별 권한 · 읽기 전용 SQL</a:t>
            </a:r>
            <a:endParaRPr lang="en-US" sz="1800"/>
          </a:p>
        </p:txBody>
      </p:sp>
      <p:sp>
        <p:nvSpPr>
          <p:cNvPr id="66" name="Text 64"/>
          <p:cNvSpPr txBox="1"/>
          <p:nvPr/>
        </p:nvSpPr>
        <p:spPr>
          <a:xfrm>
            <a:off x="1009650" y="901065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결과</a:t>
            </a:r>
            <a:endParaRPr lang="en-US" sz="1150"/>
          </a:p>
        </p:txBody>
      </p:sp>
      <p:sp>
        <p:nvSpPr>
          <p:cNvPr id="67" name="Text 65"/>
          <p:cNvSpPr txBox="1"/>
          <p:nvPr/>
        </p:nvSpPr>
        <p:spPr>
          <a:xfrm>
            <a:off x="2260023" y="8934450"/>
            <a:ext cx="1257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15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중간평가 피드백을</a:t>
            </a:r>
            <a:r>
              <a:rPr lang="en-US" sz="21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15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실제</a:t>
            </a:r>
            <a:r>
              <a:rPr lang="en-US" sz="21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15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분석</a:t>
            </a:r>
            <a:r>
              <a:rPr lang="en-US" sz="21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15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처리</a:t>
            </a:r>
            <a:r>
              <a:rPr lang="en-US" sz="21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15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구조의</a:t>
            </a:r>
            <a:r>
              <a:rPr lang="en-US" sz="21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150" b="1" err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변화</a:t>
            </a:r>
            <a:r>
              <a:rPr lang="en-US" sz="215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로</a:t>
            </a:r>
            <a:r>
              <a:rPr lang="en-US" sz="21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15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반영</a:t>
            </a:r>
            <a:endParaRPr lang="en-US" sz="2150" b="1">
              <a:solidFill>
                <a:srgbClr val="153451"/>
              </a:solidFill>
              <a:latin typeface="Pretendard"/>
              <a:ea typeface="Pretendard"/>
            </a:endParaRPr>
          </a:p>
        </p:txBody>
      </p:sp>
      <p:sp>
        <p:nvSpPr>
          <p:cNvPr id="4" name="Shape 51">
            <a:extLst>
              <a:ext uri="{FF2B5EF4-FFF2-40B4-BE49-F238E27FC236}">
                <a16:creationId xmlns:a16="http://schemas.microsoft.com/office/drawing/2014/main" id="{E06E423D-F088-4831-0882-27C5CF1A658C}"/>
              </a:ext>
            </a:extLst>
          </p:cNvPr>
          <p:cNvSpPr/>
          <p:nvPr/>
        </p:nvSpPr>
        <p:spPr>
          <a:xfrm>
            <a:off x="9607549" y="6350453"/>
            <a:ext cx="323850" cy="13335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1005840" y="8915400"/>
            <a:ext cx="16276320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05840" y="92811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kern="0" spc="14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IMPROVEMENT</a:t>
            </a:r>
            <a:endParaRPr lang="en-US" sz="1150">
              <a:latin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834640" y="9144000"/>
            <a:ext cx="1170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사용자는 질문만 입력하고 시스템이 기능을 선택</a:t>
            </a:r>
            <a:endParaRPr lang="en-US" sz="2150">
              <a:ea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05840" y="2468880"/>
            <a:ext cx="6675120" cy="5248656"/>
          </a:xfrm>
          <a:prstGeom prst="roundRect">
            <a:avLst>
              <a:gd name="adj" fmla="val 1742"/>
            </a:avLst>
          </a:prstGeom>
          <a:solidFill>
            <a:srgbClr val="F7F9FC"/>
          </a:solidFill>
          <a:ln w="1270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298448" y="27157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01</a:t>
            </a:r>
            <a:endParaRPr lang="en-US" sz="2000">
              <a:latin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755648" y="2697480"/>
            <a:ext cx="5614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개선 전</a:t>
            </a:r>
            <a:endParaRPr lang="en-US" sz="2000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98448" y="3200400"/>
            <a:ext cx="6089904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44000" y="2468880"/>
            <a:ext cx="81381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436608" y="27157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02</a:t>
            </a:r>
            <a:endParaRPr lang="en-US" sz="2000">
              <a:latin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893808" y="2697480"/>
            <a:ext cx="707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개선 후</a:t>
            </a:r>
            <a:endParaRPr lang="en-US" sz="2000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436608" y="3200400"/>
            <a:ext cx="7552944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046575" y="4581217"/>
            <a:ext cx="647699" cy="210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개선</a:t>
            </a:r>
            <a:endParaRPr lang="en-US" sz="1400">
              <a:latin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845552" y="5084064"/>
            <a:ext cx="1060704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298448" y="3456432"/>
            <a:ext cx="608990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572768" y="3831336"/>
            <a:ext cx="694944" cy="694944"/>
          </a:xfrm>
          <a:prstGeom prst="ellipse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572768" y="383133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>
                <a:solidFill>
                  <a:srgbClr val="75899E"/>
                </a:solidFill>
                <a:latin typeface="Pretendard" pitchFamily="34" charset="0"/>
                <a:ea typeface="Pretendard"/>
                <a:cs typeface="Pretendard" pitchFamily="34" charset="-120"/>
              </a:rPr>
              <a:t>?</a:t>
            </a:r>
            <a:endParaRPr lang="en-US" sz="2500">
              <a:ea typeface="Pretendard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2505456" y="3767328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이 질문은 분석일까?</a:t>
            </a:r>
            <a:endParaRPr lang="en-US" sz="1750">
              <a:latin typeface="Pretendard"/>
              <a:ea typeface="Pretendard"/>
            </a:endParaRPr>
          </a:p>
          <a:p>
            <a:pPr marL="0" indent="0" algn="l">
              <a:buNone/>
            </a:pPr>
            <a:r>
              <a:rPr lang="en-US" sz="17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예측일까? 문서 검색일까?</a:t>
            </a:r>
            <a:endParaRPr lang="en-US" sz="1750">
              <a:latin typeface="Pretendard"/>
              <a:ea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298448" y="5175504"/>
            <a:ext cx="1938528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298448" y="53858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데이터 분석</a:t>
            </a:r>
            <a:endParaRPr lang="en-US" sz="1420">
              <a:latin typeface="Pretendard"/>
              <a:ea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364992" y="5175504"/>
            <a:ext cx="1938528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3364992" y="53858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수요 예측</a:t>
            </a:r>
            <a:endParaRPr lang="en-US" sz="1420">
              <a:latin typeface="Pretendard"/>
              <a:ea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31536" y="5175504"/>
            <a:ext cx="1938528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5431536" y="53858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내부 문서 검색</a:t>
            </a:r>
            <a:endParaRPr lang="en-US" sz="1420">
              <a:latin typeface="Pretendard"/>
              <a:ea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298448" y="6720840"/>
            <a:ext cx="6089904" cy="704088"/>
          </a:xfrm>
          <a:prstGeom prst="roundRect">
            <a:avLst>
              <a:gd name="adj" fmla="val 6494"/>
            </a:avLst>
          </a:prstGeom>
          <a:solidFill>
            <a:srgbClr val="FFF6F4"/>
          </a:solidFill>
          <a:ln w="10160">
            <a:solidFill>
              <a:srgbClr val="F0A49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1298448" y="6903720"/>
            <a:ext cx="6089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D8493D"/>
                </a:solidFill>
                <a:latin typeface="Pretendard"/>
                <a:ea typeface="Pretendard"/>
                <a:cs typeface="Pretendard" pitchFamily="34" charset="-120"/>
              </a:rPr>
              <a:t>사용자가 기능을 직접 선택</a:t>
            </a:r>
            <a:endParaRPr lang="en-US" sz="1500">
              <a:latin typeface="Pretendard"/>
              <a:ea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436608" y="3465576"/>
            <a:ext cx="755294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674352" y="3685032"/>
            <a:ext cx="457200" cy="457200"/>
          </a:xfrm>
          <a:prstGeom prst="ellipse">
            <a:avLst/>
          </a:prstGeom>
          <a:solidFill>
            <a:srgbClr val="176FE5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34" name="Shape 32"/>
          <p:cNvSpPr/>
          <p:nvPr/>
        </p:nvSpPr>
        <p:spPr>
          <a:xfrm rot="13500000">
            <a:off x="9692640" y="3986784"/>
            <a:ext cx="100584" cy="100584"/>
          </a:xfrm>
          <a:prstGeom prst="triangle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10287000" y="36484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자연어 질문만 입력</a:t>
            </a:r>
            <a:endParaRPr lang="en-US" sz="1650">
              <a:latin typeface="Pretendard"/>
              <a:ea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6029432" y="3639312"/>
            <a:ext cx="749808" cy="484632"/>
          </a:xfrm>
          <a:prstGeom prst="roundRect">
            <a:avLst>
              <a:gd name="adj" fmla="val 9434"/>
            </a:avLst>
          </a:prstGeom>
          <a:solidFill>
            <a:srgbClr val="176FE5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6029432" y="373989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실행</a:t>
            </a:r>
            <a:endParaRPr lang="en-US" sz="1100">
              <a:latin typeface="Pretendard"/>
              <a:ea typeface="Pretendard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0954512" y="4562856"/>
            <a:ext cx="4480560" cy="905256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 w="1143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1210544" y="4773168"/>
            <a:ext cx="493776" cy="493776"/>
          </a:xfrm>
          <a:prstGeom prst="ellipse">
            <a:avLst/>
          </a:prstGeom>
          <a:solidFill>
            <a:srgbClr val="176FE5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11210544" y="47731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S</a:t>
            </a:r>
            <a:endParaRPr lang="en-US" sz="1500">
              <a:latin typeface="Pretendard"/>
              <a:ea typeface="Pretendard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11905488" y="4727448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질문 의도 확인</a:t>
            </a:r>
            <a:endParaRPr lang="en-US" sz="1600">
              <a:latin typeface="Pretendard"/>
              <a:ea typeface="Pretendard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11905488" y="5047488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75899E"/>
                </a:solidFill>
                <a:latin typeface="Pretendard"/>
                <a:ea typeface="Pretendard"/>
                <a:cs typeface="Pretendard" pitchFamily="34" charset="-120"/>
              </a:rPr>
              <a:t>질문에 맞는 Agent를 시스템이 선택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436608" y="5788152"/>
            <a:ext cx="2414016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9436608" y="599846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분석</a:t>
            </a:r>
            <a:endParaRPr lang="en-US" sz="1600">
              <a:latin typeface="Pretendard"/>
              <a:ea typeface="Pretendard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9436608" y="631850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>
                <a:solidFill>
                  <a:srgbClr val="5A6D80"/>
                </a:solidFill>
                <a:latin typeface="Pretendard"/>
                <a:ea typeface="Pretendard"/>
                <a:cs typeface="Pretendard" pitchFamily="34" charset="-120"/>
              </a:rPr>
              <a:t>매출 · 비교</a:t>
            </a:r>
            <a:endParaRPr lang="en-US" sz="1120">
              <a:latin typeface="Pretendard"/>
              <a:ea typeface="Pretendard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1987784" y="5788152"/>
            <a:ext cx="2414016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11987784" y="599846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ML</a:t>
            </a:r>
            <a:endParaRPr lang="en-US" sz="1600">
              <a:latin typeface="Pretendard"/>
              <a:ea typeface="Pretendard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11987784" y="631850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>
                <a:solidFill>
                  <a:srgbClr val="5A6D80"/>
                </a:solidFill>
                <a:latin typeface="Pretendard"/>
                <a:ea typeface="Pretendard"/>
                <a:cs typeface="Pretendard" pitchFamily="34" charset="-120"/>
              </a:rPr>
              <a:t>객실 수요 예측</a:t>
            </a:r>
            <a:endParaRPr lang="en-US" sz="1120">
              <a:latin typeface="Pretendard"/>
              <a:ea typeface="Pretendard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4538960" y="5788152"/>
            <a:ext cx="2414016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14538960" y="599846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RAG</a:t>
            </a:r>
            <a:endParaRPr lang="en-US" sz="1600">
              <a:latin typeface="Pretendard"/>
              <a:ea typeface="Pretendard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14538960" y="6318504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>
                <a:solidFill>
                  <a:srgbClr val="5A6D80"/>
                </a:solidFill>
                <a:latin typeface="Pretendard"/>
                <a:ea typeface="Pretendard"/>
                <a:cs typeface="Pretendard" pitchFamily="34" charset="-120"/>
              </a:rPr>
              <a:t>내부 문서 검색</a:t>
            </a:r>
            <a:endParaRPr lang="en-US" sz="1120">
              <a:latin typeface="Pretendard"/>
              <a:ea typeface="Pretendard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9436608" y="6885432"/>
            <a:ext cx="7552944" cy="539496"/>
          </a:xfrm>
          <a:prstGeom prst="roundRect">
            <a:avLst>
              <a:gd name="adj" fmla="val 8475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9436608" y="7022592"/>
            <a:ext cx="7552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입력창 1개 · 실행 버튼 1개 · Agent 자동 선택</a:t>
            </a:r>
            <a:endParaRPr lang="en-US" sz="1300">
              <a:latin typeface="Pretendard"/>
              <a:ea typeface="Pretendard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005840" y="7927848"/>
            <a:ext cx="16276320" cy="667512"/>
          </a:xfrm>
          <a:prstGeom prst="roundRect">
            <a:avLst>
              <a:gd name="adj" fmla="val 8219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1271016" y="81473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SERVICE FLOW</a:t>
            </a:r>
            <a:endParaRPr lang="en-US" sz="1100">
              <a:latin typeface="Pretendard"/>
              <a:ea typeface="Pretendard"/>
            </a:endParaRPr>
          </a:p>
        </p:txBody>
      </p:sp>
      <p:sp>
        <p:nvSpPr>
          <p:cNvPr id="56" name="Text 54"/>
          <p:cNvSpPr txBox="1"/>
          <p:nvPr/>
        </p:nvSpPr>
        <p:spPr>
          <a:xfrm>
            <a:off x="3383280" y="8101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기능 직접 선택</a:t>
            </a:r>
            <a:endParaRPr lang="en-US" sz="1320">
              <a:latin typeface="Pretendard"/>
              <a:ea typeface="Pretendard"/>
            </a:endParaRPr>
          </a:p>
        </p:txBody>
      </p:sp>
      <p:sp>
        <p:nvSpPr>
          <p:cNvPr id="57" name="Text 55"/>
          <p:cNvSpPr txBox="1"/>
          <p:nvPr/>
        </p:nvSpPr>
        <p:spPr>
          <a:xfrm>
            <a:off x="4837176" y="808329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›</a:t>
            </a:r>
            <a:endParaRPr lang="en-US" sz="1700">
              <a:latin typeface="Pretendard"/>
              <a:ea typeface="Pretendard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5266944" y="8101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질문 의도 확인</a:t>
            </a:r>
            <a:endParaRPr lang="en-US" sz="1320">
              <a:latin typeface="Pretendard"/>
              <a:ea typeface="Pretendard"/>
            </a:endParaRPr>
          </a:p>
        </p:txBody>
      </p:sp>
      <p:sp>
        <p:nvSpPr>
          <p:cNvPr id="59" name="Text 57"/>
          <p:cNvSpPr txBox="1"/>
          <p:nvPr/>
        </p:nvSpPr>
        <p:spPr>
          <a:xfrm>
            <a:off x="6720840" y="808329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›</a:t>
            </a:r>
            <a:endParaRPr lang="en-US" sz="1700">
              <a:latin typeface="Pretendard"/>
              <a:ea typeface="Pretendard"/>
            </a:endParaRPr>
          </a:p>
        </p:txBody>
      </p:sp>
      <p:sp>
        <p:nvSpPr>
          <p:cNvPr id="60" name="Text 58"/>
          <p:cNvSpPr txBox="1"/>
          <p:nvPr/>
        </p:nvSpPr>
        <p:spPr>
          <a:xfrm>
            <a:off x="7150608" y="8101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Agent 자동 선택</a:t>
            </a:r>
            <a:endParaRPr lang="en-US" sz="1320">
              <a:latin typeface="Pretendard"/>
              <a:ea typeface="Pretendard"/>
            </a:endParaRPr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E36A61BD-22E6-810B-0E63-D20F5E58576E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64" name="Text 1">
            <a:extLst>
              <a:ext uri="{FF2B5EF4-FFF2-40B4-BE49-F238E27FC236}">
                <a16:creationId xmlns:a16="http://schemas.microsoft.com/office/drawing/2014/main" id="{03E52C25-4D20-BA8F-25EF-40B2E9D7746A}"/>
              </a:ext>
            </a:extLst>
          </p:cNvPr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44 · SERVICE IMPROVEMENT</a:t>
            </a:r>
            <a:endParaRPr lang="en-US" sz="1100">
              <a:latin typeface="Pretendard"/>
            </a:endParaRPr>
          </a:p>
        </p:txBody>
      </p:sp>
      <p:sp>
        <p:nvSpPr>
          <p:cNvPr id="66" name="Text 3">
            <a:extLst>
              <a:ext uri="{FF2B5EF4-FFF2-40B4-BE49-F238E27FC236}">
                <a16:creationId xmlns:a16="http://schemas.microsoft.com/office/drawing/2014/main" id="{95E473BB-271B-5AF0-ED63-092108592EC2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53451"/>
                </a:solidFill>
                <a:ea typeface="Pretendard"/>
                <a:cs typeface="Calibri"/>
              </a:rPr>
              <a:t>기능 선택 자동화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1005840" y="8915400"/>
            <a:ext cx="16276320" cy="0"/>
          </a:xfrm>
          <a:prstGeom prst="line">
            <a:avLst/>
          </a:prstGeom>
          <a:noFill/>
          <a:ln w="889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05840" y="92811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kern="0" spc="14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IMPROVEMENT</a:t>
            </a:r>
            <a:endParaRPr lang="en-US" sz="1150">
              <a:latin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834640" y="9144000"/>
            <a:ext cx="1170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반복 입력은 줄이고 분석 맥락은 유지</a:t>
            </a:r>
            <a:endParaRPr lang="en-US" sz="2150">
              <a:latin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05840" y="2468880"/>
            <a:ext cx="6675120" cy="5248656"/>
          </a:xfrm>
          <a:prstGeom prst="roundRect">
            <a:avLst>
              <a:gd name="adj" fmla="val 1742"/>
            </a:avLst>
          </a:prstGeom>
          <a:solidFill>
            <a:srgbClr val="F7F9FC"/>
          </a:solidFill>
          <a:ln w="1270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298448" y="27157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01</a:t>
            </a:r>
            <a:endParaRPr lang="en-US" sz="2000">
              <a:latin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755648" y="2697480"/>
            <a:ext cx="5614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개선 전</a:t>
            </a:r>
            <a:endParaRPr lang="en-US" sz="2000">
              <a:latin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98448" y="3200400"/>
            <a:ext cx="6089904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44000" y="2468880"/>
            <a:ext cx="81381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90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436608" y="27157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02</a:t>
            </a:r>
            <a:endParaRPr lang="en-US" sz="200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893808" y="2697480"/>
            <a:ext cx="707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개선 후</a:t>
            </a:r>
            <a:endParaRPr lang="en-US" sz="2000">
              <a:latin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436608" y="3200400"/>
            <a:ext cx="7552944" cy="0"/>
          </a:xfrm>
          <a:prstGeom prst="line">
            <a:avLst/>
          </a:prstGeom>
          <a:noFill/>
          <a:ln w="10160">
            <a:solidFill>
              <a:srgbClr val="D6E2E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028432" y="45902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개선</a:t>
            </a:r>
            <a:endParaRPr lang="en-US" sz="1050">
              <a:latin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845552" y="5084064"/>
            <a:ext cx="1060704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298448" y="3465576"/>
            <a:ext cx="6089904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554480" y="3776472"/>
            <a:ext cx="420624" cy="420624"/>
          </a:xfrm>
          <a:prstGeom prst="ellipse">
            <a:avLst/>
          </a:prstGeom>
          <a:solidFill>
            <a:srgbClr val="176FE5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2" name="Shape 20"/>
          <p:cNvSpPr/>
          <p:nvPr/>
        </p:nvSpPr>
        <p:spPr>
          <a:xfrm rot="13500000">
            <a:off x="1572768" y="4054084"/>
            <a:ext cx="92537" cy="92537"/>
          </a:xfrm>
          <a:prstGeom prst="triangle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2176272" y="363016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3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지난달 객실 매출 보여줘</a:t>
            </a:r>
            <a:endParaRPr lang="en-US" sz="1430">
              <a:ea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298448" y="4581144"/>
            <a:ext cx="6089904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554480" y="4892040"/>
            <a:ext cx="420624" cy="420624"/>
          </a:xfrm>
          <a:prstGeom prst="ellipse">
            <a:avLst/>
          </a:prstGeom>
          <a:solidFill>
            <a:srgbClr val="176FE5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26" name="Shape 24"/>
          <p:cNvSpPr/>
          <p:nvPr/>
        </p:nvSpPr>
        <p:spPr>
          <a:xfrm rot="13500000">
            <a:off x="1572768" y="5169652"/>
            <a:ext cx="92537" cy="92537"/>
          </a:xfrm>
          <a:prstGeom prst="triangle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2176272" y="4745736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3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지난달 객실 매출 중</a:t>
            </a:r>
            <a:endParaRPr lang="en-US" sz="1430">
              <a:latin typeface="Pretendard"/>
            </a:endParaRPr>
          </a:p>
          <a:p>
            <a:pPr marL="0" indent="0" algn="l">
              <a:buNone/>
            </a:pPr>
            <a:r>
              <a:rPr lang="en-US" sz="143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VIP 고객만 보여줘</a:t>
            </a:r>
            <a:endParaRPr lang="en-US" sz="1430">
              <a:latin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298448" y="5696712"/>
            <a:ext cx="6089904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554480" y="6007608"/>
            <a:ext cx="420624" cy="420624"/>
          </a:xfrm>
          <a:prstGeom prst="ellipse">
            <a:avLst/>
          </a:prstGeom>
          <a:solidFill>
            <a:srgbClr val="176FE5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0" name="Shape 28"/>
          <p:cNvSpPr/>
          <p:nvPr/>
        </p:nvSpPr>
        <p:spPr>
          <a:xfrm rot="13500000">
            <a:off x="1572768" y="6285220"/>
            <a:ext cx="92537" cy="92537"/>
          </a:xfrm>
          <a:prstGeom prst="triangle">
            <a:avLst/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2176272" y="5861304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3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지난달 VIP 객실 매출을</a:t>
            </a:r>
            <a:endParaRPr lang="en-US" sz="1430">
              <a:ea typeface="Pretendard"/>
            </a:endParaRPr>
          </a:p>
          <a:p>
            <a:pPr marL="0" indent="0" algn="l">
              <a:buNone/>
            </a:pPr>
            <a:r>
              <a:rPr lang="en-US" sz="143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전월과 비교해줘</a:t>
            </a:r>
            <a:endParaRPr lang="en-US" sz="1430">
              <a:ea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298448" y="6812280"/>
            <a:ext cx="6089904" cy="612648"/>
          </a:xfrm>
          <a:prstGeom prst="roundRect">
            <a:avLst>
              <a:gd name="adj" fmla="val 7463"/>
            </a:avLst>
          </a:prstGeom>
          <a:solidFill>
            <a:srgbClr val="FFF6F4"/>
          </a:solidFill>
          <a:ln w="10160">
            <a:solidFill>
              <a:srgbClr val="F0A49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298448" y="6967728"/>
            <a:ext cx="6089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D8493D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기간 · 지표 · 대상 · 비교 조건 반복</a:t>
            </a:r>
            <a:endParaRPr lang="en-US" sz="1400">
              <a:latin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436608" y="3538728"/>
            <a:ext cx="223113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9592056" y="3675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1턴</a:t>
            </a:r>
            <a:endParaRPr lang="en-US" sz="1050">
              <a:ea typeface="Pretendard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9592056" y="39136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1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지난달 객실</a:t>
            </a:r>
            <a:endParaRPr lang="en-US" sz="1310">
              <a:latin typeface="Pretendard"/>
            </a:endParaRPr>
          </a:p>
          <a:p>
            <a:pPr marL="0" indent="0" algn="l">
              <a:buNone/>
            </a:pPr>
            <a:r>
              <a:rPr lang="en-US" sz="131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매출 보여줘</a:t>
            </a:r>
            <a:endParaRPr lang="en-US" sz="1310">
              <a:latin typeface="Pretendard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1768328" y="385876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›</a:t>
            </a:r>
            <a:endParaRPr lang="en-US" sz="1800">
              <a:ea typeface="Pretendard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2088368" y="3538728"/>
            <a:ext cx="223113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12243816" y="3675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2턴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12243816" y="39136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1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그중 VIP만</a:t>
            </a:r>
            <a:endParaRPr lang="en-US" sz="1310">
              <a:latin typeface="Pretendard"/>
              <a:ea typeface="Pretendard"/>
            </a:endParaRPr>
          </a:p>
          <a:p>
            <a:pPr marL="0" indent="0" algn="l">
              <a:buNone/>
            </a:pPr>
            <a:r>
              <a:rPr lang="en-US" sz="131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보여줘</a:t>
            </a:r>
            <a:endParaRPr lang="en-US" sz="1310">
              <a:latin typeface="Pretendard"/>
              <a:ea typeface="Pretendard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14420088" y="385876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›</a:t>
            </a:r>
            <a:endParaRPr lang="en-US" sz="1800">
              <a:latin typeface="Pretendard"/>
              <a:ea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4740128" y="3538728"/>
            <a:ext cx="223113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14895576" y="3675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3턴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14895576" y="39136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1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전월과</a:t>
            </a:r>
            <a:endParaRPr lang="en-US" sz="1310">
              <a:latin typeface="Pretendard"/>
              <a:ea typeface="Pretendard"/>
            </a:endParaRPr>
          </a:p>
          <a:p>
            <a:pPr marL="0" indent="0" algn="l">
              <a:buNone/>
            </a:pPr>
            <a:r>
              <a:rPr lang="en-US" sz="131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비교해줘</a:t>
            </a:r>
            <a:endParaRPr lang="en-US" sz="1310">
              <a:latin typeface="Pretendard"/>
              <a:ea typeface="Pretendard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436608" y="4736592"/>
            <a:ext cx="7552944" cy="758952"/>
          </a:xfrm>
          <a:prstGeom prst="roundRect">
            <a:avLst>
              <a:gd name="adj" fmla="val 6024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9674352" y="4965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이전 조건 유지</a:t>
            </a:r>
            <a:endParaRPr lang="en-US" sz="1350">
              <a:latin typeface="Pretendard"/>
              <a:ea typeface="Pretendard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14264640" y="496519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>
                <a:solidFill>
                  <a:srgbClr val="5A6D80"/>
                </a:solidFill>
                <a:latin typeface="Pretendard"/>
                <a:ea typeface="Pretendard"/>
                <a:cs typeface="Pretendard" pitchFamily="34" charset="-120"/>
              </a:rPr>
              <a:t>지난달 · 객실 매출 · VIP</a:t>
            </a:r>
            <a:endParaRPr lang="en-US" sz="1200">
              <a:latin typeface="Pretendard"/>
              <a:ea typeface="Pretendard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436608" y="5733288"/>
            <a:ext cx="7552944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0160">
            <a:solidFill>
              <a:srgbClr val="C7D9E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9674352" y="59893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9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UPDATED ANALYSIS CONTEXT</a:t>
            </a:r>
            <a:endParaRPr lang="en-US" sz="1050">
              <a:latin typeface="Pretendard"/>
              <a:ea typeface="Pretendard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15864840" y="59893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전월 비교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674352" y="6345936"/>
            <a:ext cx="1682496" cy="585216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9784080" y="644652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75899E"/>
                </a:solidFill>
                <a:latin typeface="Pretendard"/>
                <a:ea typeface="Pretendard"/>
                <a:cs typeface="Pretendard" pitchFamily="34" charset="-120"/>
              </a:rPr>
              <a:t>지표</a:t>
            </a:r>
            <a:endParaRPr lang="en-US" sz="900">
              <a:latin typeface="Pretendard"/>
              <a:ea typeface="Pretendard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9784080" y="6656832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객실 매출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1466576" y="6345936"/>
            <a:ext cx="1682496" cy="585216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11576304" y="644652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75899E"/>
                </a:solidFill>
                <a:latin typeface="Pretendard"/>
                <a:ea typeface="Pretendard"/>
                <a:cs typeface="Pretendard" pitchFamily="34" charset="-120"/>
              </a:rPr>
              <a:t>대상</a:t>
            </a:r>
            <a:endParaRPr lang="en-US" sz="900">
              <a:latin typeface="Pretendard"/>
              <a:ea typeface="Pretendard"/>
            </a:endParaRPr>
          </a:p>
        </p:txBody>
      </p:sp>
      <p:sp>
        <p:nvSpPr>
          <p:cNvPr id="56" name="Text 54"/>
          <p:cNvSpPr txBox="1"/>
          <p:nvPr/>
        </p:nvSpPr>
        <p:spPr>
          <a:xfrm>
            <a:off x="11576304" y="6656832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VIP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3258800" y="6345936"/>
            <a:ext cx="1682496" cy="585216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13368528" y="644652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75899E"/>
                </a:solidFill>
                <a:latin typeface="Pretendard"/>
                <a:ea typeface="Pretendard"/>
                <a:cs typeface="Pretendard" pitchFamily="34" charset="-120"/>
              </a:rPr>
              <a:t>기간</a:t>
            </a:r>
            <a:endParaRPr lang="en-US" sz="900">
              <a:latin typeface="Pretendard"/>
              <a:ea typeface="Pretendard"/>
            </a:endParaRPr>
          </a:p>
        </p:txBody>
      </p:sp>
      <p:sp>
        <p:nvSpPr>
          <p:cNvPr id="59" name="Text 57"/>
          <p:cNvSpPr txBox="1"/>
          <p:nvPr/>
        </p:nvSpPr>
        <p:spPr>
          <a:xfrm>
            <a:off x="13368528" y="6656832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지난달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5051024" y="6345936"/>
            <a:ext cx="1682496" cy="585216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61" name="Text 59"/>
          <p:cNvSpPr txBox="1"/>
          <p:nvPr/>
        </p:nvSpPr>
        <p:spPr>
          <a:xfrm>
            <a:off x="15160752" y="644652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75899E"/>
                </a:solidFill>
                <a:latin typeface="Pretendard"/>
                <a:ea typeface="Pretendard"/>
                <a:cs typeface="Pretendard" pitchFamily="34" charset="-120"/>
              </a:rPr>
              <a:t>비교</a:t>
            </a:r>
            <a:endParaRPr lang="en-US" sz="900">
              <a:latin typeface="Pretendard"/>
              <a:ea typeface="Pretendard"/>
            </a:endParaRPr>
          </a:p>
        </p:txBody>
      </p:sp>
      <p:sp>
        <p:nvSpPr>
          <p:cNvPr id="62" name="Text 60"/>
          <p:cNvSpPr txBox="1"/>
          <p:nvPr/>
        </p:nvSpPr>
        <p:spPr>
          <a:xfrm>
            <a:off x="15160752" y="6656832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전월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9436608" y="6995160"/>
            <a:ext cx="7552944" cy="429768"/>
          </a:xfrm>
          <a:prstGeom prst="roundRect">
            <a:avLst>
              <a:gd name="adj" fmla="val 8511"/>
            </a:avLst>
          </a:prstGeom>
          <a:solidFill>
            <a:srgbClr val="176FE5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64" name="Text 62"/>
          <p:cNvSpPr txBox="1"/>
          <p:nvPr/>
        </p:nvSpPr>
        <p:spPr>
          <a:xfrm>
            <a:off x="9436608" y="7068312"/>
            <a:ext cx="7552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변경된 조건만 반영해 분석 결과 갱신</a:t>
            </a:r>
            <a:endParaRPr lang="en-US" sz="1250">
              <a:latin typeface="Pretendard"/>
              <a:ea typeface="Pretendard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1005840" y="7927848"/>
            <a:ext cx="16276320" cy="667512"/>
          </a:xfrm>
          <a:prstGeom prst="roundRect">
            <a:avLst>
              <a:gd name="adj" fmla="val 8219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66" name="Text 64"/>
          <p:cNvSpPr txBox="1"/>
          <p:nvPr/>
        </p:nvSpPr>
        <p:spPr>
          <a:xfrm>
            <a:off x="1271016" y="81473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CONVERSATION FLOW</a:t>
            </a:r>
            <a:endParaRPr lang="en-US" sz="1100">
              <a:latin typeface="Pretendard"/>
              <a:ea typeface="Pretendard"/>
            </a:endParaRPr>
          </a:p>
        </p:txBody>
      </p:sp>
      <p:sp>
        <p:nvSpPr>
          <p:cNvPr id="67" name="Text 65"/>
          <p:cNvSpPr txBox="1"/>
          <p:nvPr/>
        </p:nvSpPr>
        <p:spPr>
          <a:xfrm>
            <a:off x="3383280" y="8101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전체 조건 반복</a:t>
            </a:r>
            <a:endParaRPr lang="en-US" sz="1320">
              <a:latin typeface="Pretendard"/>
              <a:ea typeface="Pretendard"/>
            </a:endParaRPr>
          </a:p>
        </p:txBody>
      </p:sp>
      <p:sp>
        <p:nvSpPr>
          <p:cNvPr id="68" name="Text 66"/>
          <p:cNvSpPr txBox="1"/>
          <p:nvPr/>
        </p:nvSpPr>
        <p:spPr>
          <a:xfrm>
            <a:off x="4837176" y="808329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›</a:t>
            </a:r>
            <a:endParaRPr lang="en-US" sz="1700">
              <a:latin typeface="Pretendard"/>
              <a:ea typeface="Pretendard"/>
            </a:endParaRPr>
          </a:p>
        </p:txBody>
      </p:sp>
      <p:sp>
        <p:nvSpPr>
          <p:cNvPr id="69" name="Text 67"/>
          <p:cNvSpPr txBox="1"/>
          <p:nvPr/>
        </p:nvSpPr>
        <p:spPr>
          <a:xfrm>
            <a:off x="5266944" y="8101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짧은 후속 질문</a:t>
            </a:r>
            <a:endParaRPr lang="en-US" sz="1320">
              <a:latin typeface="Pretendard"/>
              <a:ea typeface="Pretendard"/>
            </a:endParaRPr>
          </a:p>
        </p:txBody>
      </p:sp>
      <p:sp>
        <p:nvSpPr>
          <p:cNvPr id="70" name="Text 68"/>
          <p:cNvSpPr txBox="1"/>
          <p:nvPr/>
        </p:nvSpPr>
        <p:spPr>
          <a:xfrm>
            <a:off x="6720840" y="808329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›</a:t>
            </a:r>
            <a:endParaRPr lang="en-US" sz="1700">
              <a:latin typeface="Pretendard"/>
              <a:ea typeface="Pretendard"/>
            </a:endParaRPr>
          </a:p>
        </p:txBody>
      </p:sp>
      <p:sp>
        <p:nvSpPr>
          <p:cNvPr id="71" name="Text 69"/>
          <p:cNvSpPr txBox="1"/>
          <p:nvPr/>
        </p:nvSpPr>
        <p:spPr>
          <a:xfrm>
            <a:off x="7150608" y="8101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이전 Context 상속</a:t>
            </a:r>
            <a:endParaRPr lang="en-US" sz="1320">
              <a:latin typeface="Pretendard"/>
              <a:ea typeface="Pretendard"/>
            </a:endParaRPr>
          </a:p>
        </p:txBody>
      </p:sp>
      <p:sp>
        <p:nvSpPr>
          <p:cNvPr id="73" name="Shape 0">
            <a:extLst>
              <a:ext uri="{FF2B5EF4-FFF2-40B4-BE49-F238E27FC236}">
                <a16:creationId xmlns:a16="http://schemas.microsoft.com/office/drawing/2014/main" id="{43EB3CF3-BEDB-8353-B705-4FAEA0388A6B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75" name="Text 1">
            <a:extLst>
              <a:ext uri="{FF2B5EF4-FFF2-40B4-BE49-F238E27FC236}">
                <a16:creationId xmlns:a16="http://schemas.microsoft.com/office/drawing/2014/main" id="{20C90FD4-34CC-B979-51AA-8404FB40D631}"/>
              </a:ext>
            </a:extLst>
          </p:cNvPr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45 · SERVICE IMPROVEMENT</a:t>
            </a:r>
            <a:endParaRPr lang="en-US" sz="1100">
              <a:latin typeface="Pretendard"/>
            </a:endParaRPr>
          </a:p>
        </p:txBody>
      </p:sp>
      <p:sp>
        <p:nvSpPr>
          <p:cNvPr id="77" name="Text 3">
            <a:extLst>
              <a:ext uri="{FF2B5EF4-FFF2-40B4-BE49-F238E27FC236}">
                <a16:creationId xmlns:a16="http://schemas.microsoft.com/office/drawing/2014/main" id="{00A09F5D-B41A-5D60-57F8-1232C01A30E7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53451"/>
                </a:solidFill>
                <a:ea typeface="Pretendard"/>
                <a:cs typeface="Calibri"/>
              </a:rPr>
              <a:t>대화 맥락 유지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640EC-E443-18DA-4847-EE4FF21BA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5EFF7E-09CC-9BB0-E360-C92DA40F0040}"/>
              </a:ext>
            </a:extLst>
          </p:cNvPr>
          <p:cNvSpPr/>
          <p:nvPr/>
        </p:nvSpPr>
        <p:spPr>
          <a:xfrm>
            <a:off x="1009650" y="752475"/>
            <a:ext cx="16268700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70F294A-2D3C-63BE-DE8F-5964D3D88429}"/>
              </a:ext>
            </a:extLst>
          </p:cNvPr>
          <p:cNvSpPr/>
          <p:nvPr/>
        </p:nvSpPr>
        <p:spPr>
          <a:xfrm>
            <a:off x="8572500" y="2305050"/>
            <a:ext cx="1143000" cy="0"/>
          </a:xfrm>
          <a:prstGeom prst="line">
            <a:avLst/>
          </a:prstGeom>
          <a:noFill/>
          <a:ln w="571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1A1633-ECFE-2762-3A6F-BCE8ABBE8B20}"/>
              </a:ext>
            </a:extLst>
          </p:cNvPr>
          <p:cNvSpPr txBox="1"/>
          <p:nvPr/>
        </p:nvSpPr>
        <p:spPr>
          <a:xfrm>
            <a:off x="5810250" y="4406291"/>
            <a:ext cx="6667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algn="ctr"/>
            <a:r>
              <a:rPr lang="ko-KR" altLang="en-US" sz="9600" b="1">
                <a:solidFill>
                  <a:srgbClr val="176FE5"/>
                </a:solidFill>
                <a:latin typeface="Arial"/>
                <a:ea typeface="Calibri"/>
                <a:cs typeface="Arial"/>
              </a:rPr>
              <a:t>향후 과제 및 비전 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8CFFE8A5-E8B1-9174-9844-1333025A5C1E}"/>
              </a:ext>
            </a:extLst>
          </p:cNvPr>
          <p:cNvSpPr/>
          <p:nvPr/>
        </p:nvSpPr>
        <p:spPr>
          <a:xfrm>
            <a:off x="5810250" y="6057900"/>
            <a:ext cx="6667500" cy="0"/>
          </a:xfrm>
          <a:prstGeom prst="line">
            <a:avLst/>
          </a:prstGeom>
          <a:noFill/>
          <a:ln w="19050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41394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47</a:t>
            </a:r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· SELF REVIEW</a:t>
            </a:r>
            <a:endParaRPr lang="en-US" sz="1100">
              <a:latin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53451"/>
                </a:solidFill>
                <a:latin typeface="Pretendard"/>
                <a:ea typeface="Pretendard" panose="02000503000000020004" pitchFamily="2" charset="-127"/>
              </a:rPr>
              <a:t>자체평가 결과</a:t>
            </a:r>
            <a:endParaRPr lang="en-US" sz="3600">
              <a:ea typeface="Pretendard" panose="02000503000000020004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09650" y="2705966"/>
            <a:ext cx="16281688" cy="5714134"/>
          </a:xfrm>
          <a:prstGeom prst="roundRect">
            <a:avLst>
              <a:gd name="adj" fmla="val 3833"/>
            </a:avLst>
          </a:prstGeom>
          <a:solidFill>
            <a:srgbClr val="F7FAFF"/>
          </a:solidFill>
          <a:ln w="15240">
            <a:solidFill>
              <a:srgbClr val="AFC7E2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695450" y="3238500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700"/>
          </a:p>
        </p:txBody>
      </p:sp>
      <p:sp>
        <p:nvSpPr>
          <p:cNvPr id="12" name="Text 10"/>
          <p:cNvSpPr txBox="1"/>
          <p:nvPr/>
        </p:nvSpPr>
        <p:spPr>
          <a:xfrm>
            <a:off x="2114550" y="3214255"/>
            <a:ext cx="495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구현</a:t>
            </a:r>
            <a:r>
              <a:rPr lang="en-US" sz="23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3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현황</a:t>
            </a:r>
            <a:endParaRPr lang="ko-KR" altLang="en-US" sz="2300" b="1">
              <a:solidFill>
                <a:srgbClr val="153451"/>
              </a:solidFill>
              <a:latin typeface="Pretendard"/>
              <a:ea typeface="Pretendard"/>
              <a:cs typeface="Calibri" panose="020F0502020204030204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0496550" y="3238500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700"/>
          </a:p>
        </p:txBody>
      </p:sp>
      <p:sp>
        <p:nvSpPr>
          <p:cNvPr id="15" name="Text 13"/>
          <p:cNvSpPr txBox="1"/>
          <p:nvPr/>
        </p:nvSpPr>
        <p:spPr>
          <a:xfrm>
            <a:off x="10915650" y="3214255"/>
            <a:ext cx="495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b="1">
                <a:solidFill>
                  <a:srgbClr val="153451"/>
                </a:solidFill>
                <a:ea typeface="Pretendard"/>
              </a:rPr>
              <a:t>제약사항</a:t>
            </a:r>
            <a:endParaRPr lang="en-US" sz="2300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362200" y="4572000"/>
            <a:ext cx="13525500" cy="0"/>
          </a:xfrm>
          <a:prstGeom prst="line">
            <a:avLst/>
          </a:prstGeom>
          <a:noFill/>
          <a:ln w="95250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362200" y="4572000"/>
            <a:ext cx="6572250" cy="0"/>
          </a:xfrm>
          <a:prstGeom prst="line">
            <a:avLst/>
          </a:prstGeom>
          <a:noFill/>
          <a:ln w="952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 rot="5400000">
            <a:off x="8810625" y="4362450"/>
            <a:ext cx="323850" cy="419100"/>
          </a:xfrm>
          <a:prstGeom prst="triangl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19550" y="4019550"/>
            <a:ext cx="1104900" cy="110490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92311" y="4544291"/>
            <a:ext cx="236220" cy="213360"/>
          </a:xfrm>
          <a:prstGeom prst="line">
            <a:avLst/>
          </a:prstGeom>
          <a:noFill/>
          <a:ln w="698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 flipV="1">
            <a:off x="4512252" y="4366779"/>
            <a:ext cx="381000" cy="419100"/>
          </a:xfrm>
          <a:prstGeom prst="line">
            <a:avLst/>
          </a:prstGeom>
          <a:noFill/>
          <a:ln w="698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782550" y="4019550"/>
            <a:ext cx="1104900" cy="11049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3020675" y="4276725"/>
            <a:ext cx="400050" cy="400050"/>
          </a:xfrm>
          <a:prstGeom prst="ellipse">
            <a:avLst/>
          </a:prstGeom>
          <a:solidFill>
            <a:srgbClr val="FFFFFF"/>
          </a:solidFill>
          <a:ln w="406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3363575" y="4629150"/>
            <a:ext cx="285750" cy="276225"/>
          </a:xfrm>
          <a:prstGeom prst="line">
            <a:avLst/>
          </a:prstGeom>
          <a:noFill/>
          <a:ln w="4064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144000" y="5219700"/>
            <a:ext cx="0" cy="270510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685925" y="5410200"/>
            <a:ext cx="323850" cy="32385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746504" y="5561267"/>
            <a:ext cx="68770" cy="72390"/>
          </a:xfrm>
          <a:prstGeom prst="line">
            <a:avLst/>
          </a:prstGeom>
          <a:noFill/>
          <a:ln w="3048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 flipV="1">
            <a:off x="1815275" y="5474399"/>
            <a:ext cx="144780" cy="159258"/>
          </a:xfrm>
          <a:prstGeom prst="line">
            <a:avLst/>
          </a:prstGeom>
          <a:noFill/>
          <a:ln w="3048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2209800" y="5362575"/>
            <a:ext cx="5810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자연어 질문</a:t>
            </a: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→ </a:t>
            </a:r>
            <a:r>
              <a:rPr lang="en-US" sz="20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분석</a:t>
            </a: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→ </a:t>
            </a:r>
            <a:r>
              <a:rPr lang="en-US" sz="20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보고서</a:t>
            </a: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생성 구현</a:t>
            </a:r>
            <a:endParaRPr lang="en-US" sz="2000" err="1">
              <a:latin typeface="Pretendard"/>
              <a:ea typeface="Pretendard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685925" y="6257925"/>
            <a:ext cx="323850" cy="32385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746504" y="6408992"/>
            <a:ext cx="68770" cy="72390"/>
          </a:xfrm>
          <a:prstGeom prst="line">
            <a:avLst/>
          </a:prstGeom>
          <a:noFill/>
          <a:ln w="3048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3" name="Shape 31"/>
          <p:cNvSpPr/>
          <p:nvPr/>
        </p:nvSpPr>
        <p:spPr>
          <a:xfrm flipV="1">
            <a:off x="1815275" y="6322124"/>
            <a:ext cx="144780" cy="159258"/>
          </a:xfrm>
          <a:prstGeom prst="line">
            <a:avLst/>
          </a:prstGeom>
          <a:noFill/>
          <a:ln w="3048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2209800" y="6210300"/>
            <a:ext cx="5810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err="1">
                <a:solidFill>
                  <a:srgbClr val="153451"/>
                </a:solidFill>
                <a:ea typeface="Pretendard"/>
                <a:cs typeface="Calibri"/>
              </a:rPr>
              <a:t>다양한</a:t>
            </a:r>
            <a:r>
              <a:rPr lang="en-US" altLang="ko-KR" sz="2000" b="1">
                <a:solidFill>
                  <a:srgbClr val="153451"/>
                </a:solidFill>
                <a:ea typeface="Pretendard"/>
                <a:cs typeface="Calibri"/>
              </a:rPr>
              <a:t> DB </a:t>
            </a:r>
            <a:r>
              <a:rPr lang="en-US" altLang="ko-KR" sz="2000" b="1" err="1">
                <a:solidFill>
                  <a:srgbClr val="153451"/>
                </a:solidFill>
                <a:ea typeface="Pretendard"/>
                <a:cs typeface="Calibri"/>
              </a:rPr>
              <a:t>통합</a:t>
            </a:r>
            <a:r>
              <a:rPr lang="en-US" altLang="ko-KR" sz="2000" b="1">
                <a:solidFill>
                  <a:srgbClr val="153451"/>
                </a:solidFill>
                <a:ea typeface="Pretendard"/>
                <a:cs typeface="Calibri"/>
              </a:rPr>
              <a:t> </a:t>
            </a:r>
            <a:r>
              <a:rPr lang="en-US" altLang="ko-KR" sz="2000" b="1" err="1">
                <a:solidFill>
                  <a:srgbClr val="153451"/>
                </a:solidFill>
                <a:ea typeface="Pretendard"/>
                <a:cs typeface="Calibri"/>
              </a:rPr>
              <a:t>조회</a:t>
            </a:r>
            <a:endParaRPr lang="en-US" sz="2000" b="1" err="1">
              <a:solidFill>
                <a:srgbClr val="153451"/>
              </a:solidFill>
              <a:ea typeface="Pretendard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685925" y="7105650"/>
            <a:ext cx="323850" cy="323850"/>
          </a:xfrm>
          <a:prstGeom prst="ellipse">
            <a:avLst/>
          </a:prstGeom>
          <a:solidFill>
            <a:srgbClr val="176FE5"/>
          </a:solidFill>
          <a:ln/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746504" y="7256717"/>
            <a:ext cx="68770" cy="72390"/>
          </a:xfrm>
          <a:prstGeom prst="line">
            <a:avLst/>
          </a:prstGeom>
          <a:noFill/>
          <a:ln w="3048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7" name="Shape 35"/>
          <p:cNvSpPr/>
          <p:nvPr/>
        </p:nvSpPr>
        <p:spPr>
          <a:xfrm flipV="1">
            <a:off x="1815275" y="7169849"/>
            <a:ext cx="144780" cy="159258"/>
          </a:xfrm>
          <a:prstGeom prst="line">
            <a:avLst/>
          </a:prstGeom>
          <a:noFill/>
          <a:ln w="3048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2209800" y="7058025"/>
            <a:ext cx="5810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000" b="1" err="1">
                <a:solidFill>
                  <a:srgbClr val="153451"/>
                </a:solidFill>
                <a:latin typeface="Pretendard"/>
                <a:ea typeface="Pretendard"/>
              </a:rPr>
              <a:t>SQL·권한·결과</a:t>
            </a:r>
            <a:r>
              <a:rPr lang="ko-KR" altLang="en-US" sz="2000" b="1">
                <a:solidFill>
                  <a:srgbClr val="153451"/>
                </a:solidFill>
                <a:latin typeface="Pretendard"/>
                <a:ea typeface="Pretendard"/>
              </a:rPr>
              <a:t> 검증</a:t>
            </a:r>
          </a:p>
        </p:txBody>
      </p:sp>
      <p:sp>
        <p:nvSpPr>
          <p:cNvPr id="39" name="Shape 37"/>
          <p:cNvSpPr/>
          <p:nvPr/>
        </p:nvSpPr>
        <p:spPr>
          <a:xfrm>
            <a:off x="10487025" y="5410200"/>
            <a:ext cx="323850" cy="3238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0582275" y="5572125"/>
            <a:ext cx="133350" cy="0"/>
          </a:xfrm>
          <a:prstGeom prst="line">
            <a:avLst/>
          </a:prstGeom>
          <a:noFill/>
          <a:ln w="2794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11010900" y="5362575"/>
            <a:ext cx="5810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승인된</a:t>
            </a:r>
            <a:r>
              <a:rPr lang="en-US" altLang="ko-KR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20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데이터·규칙</a:t>
            </a:r>
            <a:r>
              <a:rPr lang="en-US" altLang="ko-KR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20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범위</a:t>
            </a:r>
            <a:r>
              <a:rPr lang="en-US" altLang="ko-KR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20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내에서</a:t>
            </a:r>
            <a:r>
              <a:rPr lang="en-US" altLang="ko-KR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20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동작</a:t>
            </a:r>
            <a:endParaRPr lang="en-US" sz="2000" b="1" err="1">
              <a:solidFill>
                <a:srgbClr val="153451"/>
              </a:solidFill>
              <a:latin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0487025" y="6257925"/>
            <a:ext cx="323850" cy="3238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0582275" y="6419850"/>
            <a:ext cx="133350" cy="0"/>
          </a:xfrm>
          <a:prstGeom prst="line">
            <a:avLst/>
          </a:prstGeom>
          <a:noFill/>
          <a:ln w="2794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11010900" y="6210300"/>
            <a:ext cx="5810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권한·개인정보·오류</a:t>
            </a: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0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상황</a:t>
            </a: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0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검증</a:t>
            </a: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000" b="1" err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확대</a:t>
            </a:r>
            <a:endParaRPr lang="en-US" altLang="ko-KR" sz="2000" b="1" err="1">
              <a:solidFill>
                <a:srgbClr val="153451"/>
              </a:solidFill>
              <a:latin typeface="Pretendard"/>
              <a:ea typeface="Pretendard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0487025" y="7105650"/>
            <a:ext cx="323850" cy="3238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0582275" y="7267575"/>
            <a:ext cx="133350" cy="0"/>
          </a:xfrm>
          <a:prstGeom prst="line">
            <a:avLst/>
          </a:prstGeom>
          <a:noFill/>
          <a:ln w="2794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11010900" y="7058025"/>
            <a:ext cx="5810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타 조직 환경 추가 검증 필요</a:t>
            </a:r>
            <a:endParaRPr lang="ko-KR" altLang="en-US" sz="2000" b="1">
              <a:solidFill>
                <a:srgbClr val="153451"/>
              </a:solidFill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1009650" y="901065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1150"/>
          </a:p>
        </p:txBody>
      </p:sp>
      <p:sp>
        <p:nvSpPr>
          <p:cNvPr id="49" name="Text 47"/>
          <p:cNvSpPr txBox="1"/>
          <p:nvPr/>
        </p:nvSpPr>
        <p:spPr>
          <a:xfrm>
            <a:off x="2454852" y="8934450"/>
            <a:ext cx="1257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1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검증된 핵심 구조를 기반으로 </a:t>
            </a:r>
            <a:r>
              <a:rPr lang="ko-KR" altLang="en-US" sz="2150" b="1">
                <a:solidFill>
                  <a:srgbClr val="1F73E8"/>
                </a:solidFill>
                <a:latin typeface="Pretendard"/>
                <a:ea typeface="Pretendard"/>
                <a:cs typeface="Pretendard" pitchFamily="34" charset="-120"/>
              </a:rPr>
              <a:t>운영 환경과 적용 범위를 단계적 확대</a:t>
            </a:r>
            <a:r>
              <a:rPr lang="ko-KR" altLang="en-US" sz="21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 필요</a:t>
            </a:r>
            <a:endParaRPr lang="ko-KR" altLang="en-US" sz="2150" b="1">
              <a:solidFill>
                <a:srgbClr val="153451"/>
              </a:solidFill>
              <a:latin typeface="Pretendard"/>
              <a:ea typeface="Pretendard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1005840" y="8778240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05840" y="9034127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kern="0" spc="12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NEXT STEP</a:t>
            </a:r>
            <a:endParaRPr lang="en-US" sz="1100">
              <a:latin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478024" y="8970119"/>
            <a:ext cx="14804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분석 품질을 높이고, </a:t>
            </a:r>
            <a:r>
              <a:rPr lang="en-US" sz="24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업무 기능과 전사 데이터 관계까지 확장</a:t>
            </a:r>
            <a:endParaRPr lang="en-US" sz="2400">
              <a:latin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05840" y="2569464"/>
            <a:ext cx="5221224" cy="5715000"/>
          </a:xfrm>
          <a:prstGeom prst="roundRect">
            <a:avLst/>
          </a:prstGeom>
          <a:solidFill>
            <a:srgbClr val="F7FAFF"/>
          </a:solidFill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05840" y="2569464"/>
            <a:ext cx="5221224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05840" y="3310128"/>
            <a:ext cx="5221224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80160" y="2752344"/>
            <a:ext cx="402336" cy="402336"/>
          </a:xfrm>
          <a:prstGeom prst="ellipse">
            <a:avLst/>
          </a:prstGeom>
          <a:solidFill>
            <a:srgbClr val="176FE5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280160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01</a:t>
            </a:r>
            <a:endParaRPr lang="en-US" sz="1150">
              <a:latin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837944" y="274320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분석 품질 강화</a:t>
            </a:r>
            <a:endParaRPr lang="en-US" sz="220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157216" y="2816352"/>
            <a:ext cx="786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4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QUALITY</a:t>
            </a:r>
            <a:endParaRPr lang="en-US" sz="950">
              <a:latin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28816" y="2569464"/>
            <a:ext cx="5221224" cy="5715000"/>
          </a:xfrm>
          <a:prstGeom prst="roundRect">
            <a:avLst/>
          </a:prstGeom>
          <a:solidFill>
            <a:srgbClr val="F7FAFF"/>
          </a:solidFill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28816" y="2569464"/>
            <a:ext cx="5221224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28816" y="3310128"/>
            <a:ext cx="5221224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03136" y="2752344"/>
            <a:ext cx="402336" cy="402336"/>
          </a:xfrm>
          <a:prstGeom prst="ellipse">
            <a:avLst/>
          </a:prstGeom>
          <a:solidFill>
            <a:srgbClr val="176FE5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803136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02</a:t>
            </a:r>
            <a:endParaRPr lang="en-US" sz="1150">
              <a:latin typeface="Pretendard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360920" y="274320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지식 운영 자동화</a:t>
            </a:r>
            <a:endParaRPr lang="en-US" sz="2200">
              <a:ea typeface="Pretendard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0680192" y="2816352"/>
            <a:ext cx="786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r">
              <a:buNone/>
            </a:pPr>
            <a:r>
              <a:rPr lang="en-US" sz="950" b="1" kern="0" spc="14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KNOWLEDGE</a:t>
            </a:r>
            <a:endParaRPr lang="en-US" sz="950">
              <a:latin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2060936" y="2569464"/>
            <a:ext cx="5221224" cy="5715000"/>
          </a:xfrm>
          <a:prstGeom prst="roundRect">
            <a:avLst/>
          </a:prstGeom>
          <a:solidFill>
            <a:srgbClr val="F7FAFF"/>
          </a:solidFill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2060936" y="2569464"/>
            <a:ext cx="5221224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2060936" y="3310128"/>
            <a:ext cx="5221224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2335256" y="2752344"/>
            <a:ext cx="402336" cy="402336"/>
          </a:xfrm>
          <a:prstGeom prst="ellipse">
            <a:avLst/>
          </a:prstGeom>
          <a:solidFill>
            <a:srgbClr val="176FE5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12335256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Pretendard" pitchFamily="34" charset="0"/>
                <a:ea typeface="Pretendard"/>
                <a:cs typeface="Pretendard" pitchFamily="34" charset="-120"/>
              </a:rPr>
              <a:t>03</a:t>
            </a:r>
            <a:endParaRPr lang="en-US" sz="1150">
              <a:ea typeface="Pretendard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2893040" y="274320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err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업무</a:t>
            </a:r>
            <a:r>
              <a:rPr lang="en-US" sz="22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22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데이터 </a:t>
            </a:r>
            <a:r>
              <a:rPr lang="en-US" sz="22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확장</a:t>
            </a:r>
            <a:endParaRPr lang="en-US" sz="2200">
              <a:latin typeface="Pretendard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6212312" y="2816352"/>
            <a:ext cx="786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kern="0" spc="14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SCALE</a:t>
            </a:r>
            <a:endParaRPr lang="en-US" sz="950">
              <a:latin typeface="Pretendard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245352" y="27889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›</a:t>
            </a:r>
            <a:endParaRPr lang="en-US" sz="2200">
              <a:ea typeface="Pretendard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1768328" y="27889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›</a:t>
            </a:r>
            <a:endParaRPr lang="en-US" sz="2200">
              <a:latin typeface="Pretendard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243584" y="3538728"/>
            <a:ext cx="4745736" cy="21762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9C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481328" y="3749040"/>
            <a:ext cx="493776" cy="493776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618488" y="3886200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682496" y="3950208"/>
            <a:ext cx="100584" cy="100584"/>
          </a:xfrm>
          <a:prstGeom prst="rect">
            <a:avLst/>
          </a:prstGeom>
          <a:solidFill>
            <a:srgbClr val="EAF3FF"/>
          </a:solidFill>
          <a:ln w="889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655064" y="3822192"/>
            <a:ext cx="0" cy="64008"/>
          </a:xfrm>
          <a:prstGeom prst="line">
            <a:avLst/>
          </a:prstGeom>
          <a:noFill/>
          <a:ln w="101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655064" y="4114800"/>
            <a:ext cx="0" cy="64008"/>
          </a:xfrm>
          <a:prstGeom prst="line">
            <a:avLst/>
          </a:prstGeom>
          <a:noFill/>
          <a:ln w="101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554480" y="3922776"/>
            <a:ext cx="64008" cy="0"/>
          </a:xfrm>
          <a:prstGeom prst="line">
            <a:avLst/>
          </a:prstGeom>
          <a:noFill/>
          <a:ln w="101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847088" y="3922776"/>
            <a:ext cx="64008" cy="0"/>
          </a:xfrm>
          <a:prstGeom prst="line">
            <a:avLst/>
          </a:prstGeom>
          <a:noFill/>
          <a:ln w="101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755648" y="3822192"/>
            <a:ext cx="0" cy="64008"/>
          </a:xfrm>
          <a:prstGeom prst="line">
            <a:avLst/>
          </a:prstGeom>
          <a:noFill/>
          <a:ln w="101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755648" y="4114800"/>
            <a:ext cx="0" cy="64008"/>
          </a:xfrm>
          <a:prstGeom prst="line">
            <a:avLst/>
          </a:prstGeom>
          <a:noFill/>
          <a:ln w="101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554480" y="4023360"/>
            <a:ext cx="64008" cy="0"/>
          </a:xfrm>
          <a:prstGeom prst="line">
            <a:avLst/>
          </a:prstGeom>
          <a:noFill/>
          <a:ln w="101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847088" y="4023360"/>
            <a:ext cx="64008" cy="0"/>
          </a:xfrm>
          <a:prstGeom prst="line">
            <a:avLst/>
          </a:prstGeom>
          <a:noFill/>
          <a:ln w="1016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2130552" y="375818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sLLM 범용성 강화</a:t>
            </a:r>
            <a:endParaRPr lang="en-US" sz="2100">
              <a:ea typeface="Pretendard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481328" y="4416552"/>
            <a:ext cx="4270248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1481328" y="4599432"/>
            <a:ext cx="4187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타 기업·도메인 </a:t>
            </a:r>
            <a:r>
              <a:rPr lang="en-US" sz="165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학습 전략</a:t>
            </a:r>
            <a:endParaRPr lang="en-US" sz="1650">
              <a:latin typeface="Pretendard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1481328" y="4974336"/>
            <a:ext cx="4187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SQL 생성 정확도 개선</a:t>
            </a:r>
            <a:endParaRPr lang="en-US" sz="1650">
              <a:ea typeface="Pretendard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243584" y="5907024"/>
            <a:ext cx="4745736" cy="21762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9CEE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481328" y="6117336"/>
            <a:ext cx="493776" cy="493776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591056" y="6208776"/>
            <a:ext cx="20116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728216" y="6208776"/>
            <a:ext cx="64008" cy="64008"/>
          </a:xfrm>
          <a:prstGeom prst="line">
            <a:avLst/>
          </a:prstGeom>
          <a:noFill/>
          <a:ln w="1270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746504" y="6382512"/>
            <a:ext cx="128016" cy="12801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847088" y="6483096"/>
            <a:ext cx="73152" cy="73152"/>
          </a:xfrm>
          <a:prstGeom prst="line">
            <a:avLst/>
          </a:prstGeom>
          <a:noFill/>
          <a:ln w="1270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2130552" y="612648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RAG·데이터 형식 확장</a:t>
            </a:r>
            <a:endParaRPr lang="en-US" sz="2100">
              <a:latin typeface="Pretendard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481328" y="6784848"/>
            <a:ext cx="4270248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57" name="Text 55"/>
          <p:cNvSpPr txBox="1"/>
          <p:nvPr/>
        </p:nvSpPr>
        <p:spPr>
          <a:xfrm>
            <a:off x="1481328" y="6967728"/>
            <a:ext cx="4187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Excel·로그·업무 대화 지원</a:t>
            </a:r>
            <a:endParaRPr lang="en-US" sz="1650">
              <a:latin typeface="Pretendard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1481328" y="7342632"/>
            <a:ext cx="4187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데이터별 검색 방식 확장</a:t>
            </a:r>
            <a:endParaRPr lang="en-US" sz="1650">
              <a:ea typeface="Pretendard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766560" y="4050792"/>
            <a:ext cx="4745736" cy="35204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516368" y="4315968"/>
            <a:ext cx="493776" cy="493776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644384" y="4425696"/>
            <a:ext cx="237744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7644384" y="4466844"/>
            <a:ext cx="0" cy="201168"/>
          </a:xfrm>
          <a:prstGeom prst="line">
            <a:avLst/>
          </a:prstGeom>
          <a:noFill/>
          <a:ln w="1270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7882128" y="4466844"/>
            <a:ext cx="0" cy="201168"/>
          </a:xfrm>
          <a:prstGeom prst="line">
            <a:avLst/>
          </a:prstGeom>
          <a:noFill/>
          <a:ln w="1270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644384" y="4608576"/>
            <a:ext cx="237744" cy="914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65" name="Text 63"/>
          <p:cNvSpPr txBox="1"/>
          <p:nvPr/>
        </p:nvSpPr>
        <p:spPr>
          <a:xfrm>
            <a:off x="8165592" y="431596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DataHub 지식 자동화</a:t>
            </a:r>
            <a:endParaRPr lang="en-US" sz="2200">
              <a:latin typeface="Pretendard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7022592" y="5084064"/>
            <a:ext cx="4215384" cy="603504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7196328" y="5239512"/>
            <a:ext cx="292608" cy="292608"/>
          </a:xfrm>
          <a:prstGeom prst="ellipse">
            <a:avLst/>
          </a:prstGeom>
          <a:solidFill>
            <a:srgbClr val="176FE5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68" name="Text 66"/>
          <p:cNvSpPr txBox="1"/>
          <p:nvPr/>
        </p:nvSpPr>
        <p:spPr>
          <a:xfrm>
            <a:off x="7196328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1</a:t>
            </a:r>
            <a:endParaRPr lang="en-US" sz="950">
              <a:latin typeface="Pretendard"/>
            </a:endParaRPr>
          </a:p>
        </p:txBody>
      </p:sp>
      <p:sp>
        <p:nvSpPr>
          <p:cNvPr id="69" name="Text 67"/>
          <p:cNvSpPr txBox="1"/>
          <p:nvPr/>
        </p:nvSpPr>
        <p:spPr>
          <a:xfrm>
            <a:off x="7635240" y="51937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8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업무 대화 수집</a:t>
            </a:r>
            <a:endParaRPr lang="en-US" sz="1580">
              <a:ea typeface="Pretendard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7022592" y="5824728"/>
            <a:ext cx="4215384" cy="603504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7196328" y="5980176"/>
            <a:ext cx="292608" cy="292608"/>
          </a:xfrm>
          <a:prstGeom prst="ellipse">
            <a:avLst/>
          </a:prstGeom>
          <a:solidFill>
            <a:srgbClr val="176FE5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72" name="Text 70"/>
          <p:cNvSpPr txBox="1"/>
          <p:nvPr/>
        </p:nvSpPr>
        <p:spPr>
          <a:xfrm>
            <a:off x="7196328" y="5980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2</a:t>
            </a:r>
            <a:endParaRPr lang="en-US" sz="950">
              <a:latin typeface="Pretendard"/>
            </a:endParaRPr>
          </a:p>
        </p:txBody>
      </p:sp>
      <p:sp>
        <p:nvSpPr>
          <p:cNvPr id="73" name="Text 71"/>
          <p:cNvSpPr txBox="1"/>
          <p:nvPr/>
        </p:nvSpPr>
        <p:spPr>
          <a:xfrm>
            <a:off x="7635240" y="5934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8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업무 영역·용어집 후보 추출</a:t>
            </a:r>
            <a:endParaRPr lang="en-US" sz="1580">
              <a:ea typeface="Pretendard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7022592" y="6565392"/>
            <a:ext cx="4215384" cy="603504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7196328" y="6720840"/>
            <a:ext cx="292608" cy="292608"/>
          </a:xfrm>
          <a:prstGeom prst="ellipse">
            <a:avLst/>
          </a:prstGeom>
          <a:solidFill>
            <a:srgbClr val="176FE5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76" name="Text 74"/>
          <p:cNvSpPr txBox="1"/>
          <p:nvPr/>
        </p:nvSpPr>
        <p:spPr>
          <a:xfrm>
            <a:off x="7196328" y="6720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3</a:t>
            </a:r>
            <a:endParaRPr lang="en-US" sz="950">
              <a:latin typeface="Pretendard"/>
            </a:endParaRPr>
          </a:p>
        </p:txBody>
      </p:sp>
      <p:sp>
        <p:nvSpPr>
          <p:cNvPr id="77" name="Text 75"/>
          <p:cNvSpPr txBox="1"/>
          <p:nvPr/>
        </p:nvSpPr>
        <p:spPr>
          <a:xfrm>
            <a:off x="7635240" y="6675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8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관리자 검토용 후보 제안</a:t>
            </a:r>
            <a:endParaRPr lang="en-US" sz="1580">
              <a:latin typeface="Pretendard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7022592" y="7187184"/>
            <a:ext cx="4215384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 txBox="1"/>
          <p:nvPr/>
        </p:nvSpPr>
        <p:spPr>
          <a:xfrm>
            <a:off x="7022592" y="7242048"/>
            <a:ext cx="4215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>
                <a:solidFill>
                  <a:srgbClr val="71869B"/>
                </a:solidFill>
                <a:latin typeface="Pretendard" pitchFamily="34" charset="0"/>
                <a:ea typeface="Pretendard"/>
                <a:cs typeface="Pretendard" pitchFamily="34" charset="-120"/>
              </a:rPr>
              <a:t>Domain · Glossary 후보</a:t>
            </a:r>
            <a:endParaRPr lang="en-US" sz="1050">
              <a:ea typeface="Pretendard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2298680" y="3538728"/>
            <a:ext cx="4745736" cy="21762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9CEE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12536424" y="3749040"/>
            <a:ext cx="493776" cy="493776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12637008" y="4123944"/>
            <a:ext cx="310896" cy="0"/>
          </a:xfrm>
          <a:prstGeom prst="line">
            <a:avLst/>
          </a:prstGeom>
          <a:noFill/>
          <a:ln w="1270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83" name="Shape 81"/>
          <p:cNvSpPr/>
          <p:nvPr/>
        </p:nvSpPr>
        <p:spPr>
          <a:xfrm flipV="1">
            <a:off x="12673584" y="3922776"/>
            <a:ext cx="0" cy="164592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84" name="Shape 82"/>
          <p:cNvSpPr/>
          <p:nvPr/>
        </p:nvSpPr>
        <p:spPr>
          <a:xfrm flipV="1">
            <a:off x="12765024" y="3831336"/>
            <a:ext cx="0" cy="256032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85" name="Shape 83"/>
          <p:cNvSpPr/>
          <p:nvPr/>
        </p:nvSpPr>
        <p:spPr>
          <a:xfrm flipV="1">
            <a:off x="12856464" y="3968496"/>
            <a:ext cx="0" cy="118872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86" name="Shape 84"/>
          <p:cNvSpPr/>
          <p:nvPr/>
        </p:nvSpPr>
        <p:spPr>
          <a:xfrm flipV="1">
            <a:off x="12947904" y="3867912"/>
            <a:ext cx="0" cy="219456"/>
          </a:xfrm>
          <a:prstGeom prst="line">
            <a:avLst/>
          </a:prstGeom>
          <a:noFill/>
          <a:ln w="1524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87" name="Text 85"/>
          <p:cNvSpPr txBox="1"/>
          <p:nvPr/>
        </p:nvSpPr>
        <p:spPr>
          <a:xfrm>
            <a:off x="13185648" y="375818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AI Tool 확대</a:t>
            </a:r>
            <a:endParaRPr lang="en-US" sz="2100">
              <a:latin typeface="Pretendard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12536424" y="4416552"/>
            <a:ext cx="4270248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12536424" y="4599432"/>
            <a:ext cx="1261872" cy="50292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 txBox="1"/>
          <p:nvPr/>
        </p:nvSpPr>
        <p:spPr>
          <a:xfrm>
            <a:off x="12536424" y="463600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수요예측</a:t>
            </a:r>
            <a:endParaRPr lang="en-US" sz="1500">
              <a:ea typeface="Pretendard"/>
            </a:endParaRPr>
          </a:p>
        </p:txBody>
      </p:sp>
      <p:sp>
        <p:nvSpPr>
          <p:cNvPr id="91" name="Text 89"/>
          <p:cNvSpPr txBox="1"/>
          <p:nvPr/>
        </p:nvSpPr>
        <p:spPr>
          <a:xfrm>
            <a:off x="13871448" y="4654296"/>
            <a:ext cx="283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176FE5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→</a:t>
            </a:r>
            <a:endParaRPr lang="en-US" sz="1600">
              <a:latin typeface="Pretendard"/>
            </a:endParaRPr>
          </a:p>
        </p:txBody>
      </p:sp>
      <p:sp>
        <p:nvSpPr>
          <p:cNvPr id="92" name="Text 90"/>
          <p:cNvSpPr txBox="1"/>
          <p:nvPr/>
        </p:nvSpPr>
        <p:spPr>
          <a:xfrm>
            <a:off x="14200632" y="4572000"/>
            <a:ext cx="2011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노쇼 · 매출</a:t>
            </a:r>
            <a:endParaRPr lang="en-US" sz="1550">
              <a:ea typeface="Pretendard"/>
            </a:endParaRPr>
          </a:p>
          <a:p>
            <a:pPr marL="0" indent="0" algn="l">
              <a:buNone/>
            </a:pPr>
            <a:r>
              <a:rPr lang="en-US" sz="15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이상탐지</a:t>
            </a:r>
            <a:endParaRPr lang="en-US" sz="1550">
              <a:ea typeface="Pretendard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12298680" y="5907024"/>
            <a:ext cx="4745736" cy="21762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9CEE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12536424" y="6117336"/>
            <a:ext cx="493776" cy="493776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95" name="Shape 93"/>
          <p:cNvSpPr/>
          <p:nvPr/>
        </p:nvSpPr>
        <p:spPr>
          <a:xfrm flipV="1">
            <a:off x="12664440" y="6254496"/>
            <a:ext cx="137160" cy="128016"/>
          </a:xfrm>
          <a:prstGeom prst="line">
            <a:avLst/>
          </a:prstGeom>
          <a:noFill/>
          <a:ln w="1270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12801600" y="6254496"/>
            <a:ext cx="109728" cy="192024"/>
          </a:xfrm>
          <a:prstGeom prst="line">
            <a:avLst/>
          </a:prstGeom>
          <a:noFill/>
          <a:ln w="1270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12627864" y="6345936"/>
            <a:ext cx="73152" cy="7315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12765024" y="6217920"/>
            <a:ext cx="73152" cy="7315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12874752" y="6409944"/>
            <a:ext cx="73152" cy="7315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00" name="Text 98"/>
          <p:cNvSpPr txBox="1"/>
          <p:nvPr/>
        </p:nvSpPr>
        <p:spPr>
          <a:xfrm>
            <a:off x="13185648" y="612648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Neo4j 확장</a:t>
            </a:r>
            <a:endParaRPr lang="en-US" sz="2100">
              <a:latin typeface="Pretendard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15572232" y="6126480"/>
            <a:ext cx="1243584" cy="347472"/>
          </a:xfrm>
          <a:prstGeom prst="roundRect">
            <a:avLst/>
          </a:prstGeom>
          <a:solidFill>
            <a:srgbClr val="F7FAFF"/>
          </a:solidFill>
          <a:ln w="10160">
            <a:solidFill>
              <a:srgbClr val="B9C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0"/>
          <p:cNvSpPr txBox="1"/>
          <p:nvPr/>
        </p:nvSpPr>
        <p:spPr>
          <a:xfrm>
            <a:off x="15572232" y="616305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전사 규모 확장 시</a:t>
            </a:r>
            <a:endParaRPr lang="en-US" sz="880">
              <a:ea typeface="Pretendard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12536424" y="6784848"/>
            <a:ext cx="4270248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</a:endParaRPr>
          </a:p>
        </p:txBody>
      </p:sp>
      <p:sp>
        <p:nvSpPr>
          <p:cNvPr id="104" name="Text 102"/>
          <p:cNvSpPr txBox="1"/>
          <p:nvPr/>
        </p:nvSpPr>
        <p:spPr>
          <a:xfrm>
            <a:off x="12536424" y="6967728"/>
            <a:ext cx="4069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80" b="1">
                <a:solidFill>
                  <a:srgbClr val="153451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데이터·업무 개념·Join 관계</a:t>
            </a:r>
            <a:endParaRPr lang="en-US" sz="1580">
              <a:latin typeface="Pretendard"/>
            </a:endParaRPr>
          </a:p>
        </p:txBody>
      </p:sp>
      <p:sp>
        <p:nvSpPr>
          <p:cNvPr id="105" name="Text 103"/>
          <p:cNvSpPr txBox="1"/>
          <p:nvPr/>
        </p:nvSpPr>
        <p:spPr>
          <a:xfrm>
            <a:off x="12536424" y="7315200"/>
            <a:ext cx="4069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80" b="1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그래프 기반 관리·탐색</a:t>
            </a:r>
            <a:endParaRPr lang="en-US" sz="1580">
              <a:ea typeface="Pretendard"/>
            </a:endParaRPr>
          </a:p>
        </p:txBody>
      </p:sp>
      <p:sp>
        <p:nvSpPr>
          <p:cNvPr id="107" name="Shape 0">
            <a:extLst>
              <a:ext uri="{FF2B5EF4-FFF2-40B4-BE49-F238E27FC236}">
                <a16:creationId xmlns:a16="http://schemas.microsoft.com/office/drawing/2014/main" id="{588BD839-76F4-CA97-9BE0-767BBBB9A978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 panose="02000503000000020004" pitchFamily="2" charset="-127"/>
            </a:endParaRPr>
          </a:p>
        </p:txBody>
      </p:sp>
      <p:sp>
        <p:nvSpPr>
          <p:cNvPr id="109" name="Text 1">
            <a:extLst>
              <a:ext uri="{FF2B5EF4-FFF2-40B4-BE49-F238E27FC236}">
                <a16:creationId xmlns:a16="http://schemas.microsoft.com/office/drawing/2014/main" id="{D41DB6D3-525C-D508-96C4-40012960D6E0}"/>
              </a:ext>
            </a:extLst>
          </p:cNvPr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48 · ROAD MAP</a:t>
            </a:r>
            <a:endParaRPr lang="en-US" sz="1100">
              <a:latin typeface="Pretendard"/>
            </a:endParaRPr>
          </a:p>
        </p:txBody>
      </p:sp>
      <p:sp>
        <p:nvSpPr>
          <p:cNvPr id="111" name="Text 3">
            <a:extLst>
              <a:ext uri="{FF2B5EF4-FFF2-40B4-BE49-F238E27FC236}">
                <a16:creationId xmlns:a16="http://schemas.microsoft.com/office/drawing/2014/main" id="{CC47A908-5921-E944-B8D0-29FDA141F32F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53451"/>
                </a:solidFill>
                <a:ea typeface="Pretendard"/>
                <a:cs typeface="Calibri"/>
              </a:rPr>
              <a:t>향후 핵심 과제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2800350" y="2381250"/>
            <a:ext cx="14192250" cy="5715000"/>
          </a:xfrm>
          <a:custGeom>
            <a:avLst/>
            <a:gdLst/>
            <a:ahLst/>
            <a:cxnLst/>
            <a:rect l="l" t="t" r="r" b="b"/>
            <a:pathLst>
              <a:path w="14192250" h="5715000">
                <a:moveTo>
                  <a:pt x="0" y="2133600"/>
                </a:moveTo>
                <a:lnTo>
                  <a:pt x="14192250" y="0"/>
                </a:lnTo>
                <a:lnTo>
                  <a:pt x="14192250" y="5715000"/>
                </a:lnTo>
                <a:lnTo>
                  <a:pt x="0" y="3409950"/>
                </a:lnTo>
                <a:close/>
              </a:path>
            </a:pathLst>
          </a:custGeom>
          <a:solidFill>
            <a:srgbClr val="F7FAFF"/>
          </a:solidFill>
          <a:ln w="10160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04900" y="4143375"/>
            <a:ext cx="1885950" cy="2095500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 w="15240">
            <a:solidFill>
              <a:srgbClr val="B8CDE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571625" y="4400550"/>
            <a:ext cx="952500" cy="638175"/>
          </a:xfrm>
          <a:prstGeom prst="roundRect">
            <a:avLst>
              <a:gd name="adj" fmla="val 20896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" name="Shape 8"/>
          <p:cNvSpPr/>
          <p:nvPr/>
        </p:nvSpPr>
        <p:spPr>
          <a:xfrm flipV="1">
            <a:off x="1809750" y="4667250"/>
            <a:ext cx="0" cy="228600"/>
          </a:xfrm>
          <a:prstGeom prst="line">
            <a:avLst/>
          </a:prstGeom>
          <a:noFill/>
          <a:ln w="2667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809750" y="4667250"/>
            <a:ext cx="476250" cy="0"/>
          </a:xfrm>
          <a:prstGeom prst="line">
            <a:avLst/>
          </a:prstGeom>
          <a:noFill/>
          <a:ln w="2667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86000" y="4667250"/>
            <a:ext cx="0" cy="228600"/>
          </a:xfrm>
          <a:prstGeom prst="line">
            <a:avLst/>
          </a:prstGeom>
          <a:noFill/>
          <a:ln w="2667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857375" y="4514850"/>
            <a:ext cx="95250" cy="95250"/>
          </a:xfrm>
          <a:prstGeom prst="ellipse">
            <a:avLst/>
          </a:prstGeom>
          <a:solidFill>
            <a:srgbClr val="EAF3FF"/>
          </a:solidFill>
          <a:ln w="2159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000250" y="4514850"/>
            <a:ext cx="95250" cy="95250"/>
          </a:xfrm>
          <a:prstGeom prst="ellipse">
            <a:avLst/>
          </a:prstGeom>
          <a:solidFill>
            <a:srgbClr val="EAF3FF"/>
          </a:solidFill>
          <a:ln w="2159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143125" y="4514850"/>
            <a:ext cx="95250" cy="95250"/>
          </a:xfrm>
          <a:prstGeom prst="ellipse">
            <a:avLst/>
          </a:prstGeom>
          <a:solidFill>
            <a:srgbClr val="EAF3FF"/>
          </a:solidFill>
          <a:ln w="2159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219200" y="5143500"/>
            <a:ext cx="1657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Answervice</a:t>
            </a:r>
            <a:endParaRPr lang="en-US" sz="205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200150" y="5610225"/>
            <a:ext cx="16954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60758A"/>
                </a:solidFill>
                <a:latin typeface="Pretendard"/>
                <a:ea typeface="Pretendard"/>
                <a:cs typeface="Pretendard" pitchFamily="34" charset="-120"/>
              </a:rPr>
              <a:t>탐색 · 분석 · 보고서</a:t>
            </a:r>
            <a:endParaRPr lang="en-US" sz="1450">
              <a:latin typeface="Pretendard"/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38550" y="3667125"/>
            <a:ext cx="2133600" cy="3048000"/>
          </a:xfrm>
          <a:prstGeom prst="roundRect">
            <a:avLst>
              <a:gd name="adj" fmla="val 6250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67200" y="4533900"/>
            <a:ext cx="876300" cy="485775"/>
          </a:xfrm>
          <a:prstGeom prst="rect">
            <a:avLst/>
          </a:prstGeom>
          <a:solidFill>
            <a:srgbClr val="FFFFFF">
              <a:alpha val="0"/>
            </a:srgbClr>
          </a:solidFill>
          <a:ln w="266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19600" y="43243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266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143375" y="5019675"/>
            <a:ext cx="1123950" cy="0"/>
          </a:xfrm>
          <a:prstGeom prst="line">
            <a:avLst/>
          </a:prstGeom>
          <a:noFill/>
          <a:ln w="266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52950" y="4695825"/>
            <a:ext cx="0" cy="323850"/>
          </a:xfrm>
          <a:prstGeom prst="line">
            <a:avLst/>
          </a:prstGeom>
          <a:noFill/>
          <a:ln w="266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62500" y="4695825"/>
            <a:ext cx="0" cy="323850"/>
          </a:xfrm>
          <a:prstGeom prst="line">
            <a:avLst/>
          </a:prstGeom>
          <a:noFill/>
          <a:ln w="266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972050" y="4695825"/>
            <a:ext cx="0" cy="323850"/>
          </a:xfrm>
          <a:prstGeom prst="line">
            <a:avLst/>
          </a:prstGeom>
          <a:noFill/>
          <a:ln w="266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3962400" y="5238750"/>
            <a:ext cx="1485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>
                <a:solidFill>
                  <a:srgbClr val="FFFFFF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워커힐</a:t>
            </a:r>
            <a:endParaRPr lang="en-US" sz="2550">
              <a:ea typeface="Pretendard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952875" y="5791200"/>
            <a:ext cx="1504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>
                <a:solidFill>
                  <a:srgbClr val="DCEBFF"/>
                </a:solidFill>
                <a:latin typeface="Pretendard"/>
                <a:ea typeface="Pretendard"/>
                <a:cs typeface="Pretendard" pitchFamily="34" charset="-120"/>
              </a:rPr>
              <a:t>첫 검증 영역</a:t>
            </a:r>
            <a:endParaRPr lang="en-US" sz="1575">
              <a:latin typeface="Pretendard"/>
              <a:ea typeface="Pretendar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19850" y="3095625"/>
            <a:ext cx="6324600" cy="4191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2286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pic>
        <p:nvPicPr>
          <p:cNvPr id="28" name="Image 0" descr="C:/Users/Playdata/Documents/Answervice_PPT/assets/ppt/sk_networks_45/sk_networks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324225"/>
            <a:ext cx="1952625" cy="564833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0287000" y="3305175"/>
            <a:ext cx="2095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200" b="1">
                <a:solidFill>
                  <a:srgbClr val="176FE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8개 사업영역</a:t>
            </a:r>
            <a:endParaRPr lang="en-US" sz="2200">
              <a:ea typeface="Pretendard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781800" y="4076700"/>
            <a:ext cx="560070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781800" y="4248150"/>
            <a:ext cx="2705100" cy="457200"/>
          </a:xfrm>
          <a:prstGeom prst="roundRect">
            <a:avLst>
              <a:gd name="adj" fmla="val 29167"/>
            </a:avLst>
          </a:prstGeom>
          <a:solidFill>
            <a:srgbClr val="F7FAFF"/>
          </a:solidFill>
          <a:ln w="13335">
            <a:solidFill>
              <a:srgbClr val="B8CDE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6915150" y="4295775"/>
            <a:ext cx="2438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글로벌 투자</a:t>
            </a:r>
            <a:endParaRPr lang="en-US" sz="1450">
              <a:latin typeface="Pretendard"/>
              <a:ea typeface="Pretendard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9677400" y="4248150"/>
            <a:ext cx="2705100" cy="457200"/>
          </a:xfrm>
          <a:prstGeom prst="roundRect">
            <a:avLst>
              <a:gd name="adj" fmla="val 29167"/>
            </a:avLst>
          </a:prstGeom>
          <a:solidFill>
            <a:srgbClr val="F7FAFF"/>
          </a:solidFill>
          <a:ln w="13335">
            <a:solidFill>
              <a:srgbClr val="B8CDE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9810750" y="4295775"/>
            <a:ext cx="2438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정보통신</a:t>
            </a:r>
            <a:endParaRPr lang="en-US" sz="1450">
              <a:ea typeface="Pretendard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781800" y="4819650"/>
            <a:ext cx="2705100" cy="457200"/>
          </a:xfrm>
          <a:prstGeom prst="roundRect">
            <a:avLst>
              <a:gd name="adj" fmla="val 29167"/>
            </a:avLst>
          </a:prstGeom>
          <a:solidFill>
            <a:srgbClr val="176FE5"/>
          </a:solidFill>
          <a:ln w="12700">
            <a:solidFill>
              <a:srgbClr val="176F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6" name="Text 33"/>
          <p:cNvSpPr txBox="1"/>
          <p:nvPr/>
        </p:nvSpPr>
        <p:spPr>
          <a:xfrm>
            <a:off x="6915150" y="4867275"/>
            <a:ext cx="2438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호텔앤리조트 · 첫 검증</a:t>
            </a:r>
            <a:endParaRPr lang="en-US" sz="1450">
              <a:latin typeface="Pretendard"/>
              <a:ea typeface="Pretendard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9677400" y="4819650"/>
            <a:ext cx="2705100" cy="457200"/>
          </a:xfrm>
          <a:prstGeom prst="roundRect">
            <a:avLst>
              <a:gd name="adj" fmla="val 29167"/>
            </a:avLst>
          </a:prstGeom>
          <a:solidFill>
            <a:srgbClr val="F7FAFF"/>
          </a:solidFill>
          <a:ln w="13335">
            <a:solidFill>
              <a:srgbClr val="B8CDE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9810750" y="4867275"/>
            <a:ext cx="2438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153451"/>
                </a:solidFill>
                <a:latin typeface="Pretendard" pitchFamily="34" charset="0"/>
                <a:ea typeface="Pretendard"/>
                <a:cs typeface="Pretendard" pitchFamily="34" charset="-120"/>
              </a:rPr>
              <a:t>AI 웰니스 플랫폼</a:t>
            </a:r>
            <a:endParaRPr lang="en-US" sz="1450">
              <a:ea typeface="Pretendard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781800" y="5391150"/>
            <a:ext cx="2705100" cy="457200"/>
          </a:xfrm>
          <a:prstGeom prst="roundRect">
            <a:avLst>
              <a:gd name="adj" fmla="val 29167"/>
            </a:avLst>
          </a:prstGeom>
          <a:solidFill>
            <a:srgbClr val="F7FAFF"/>
          </a:solidFill>
          <a:ln w="13335">
            <a:solidFill>
              <a:srgbClr val="B8CDE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0" name="Text 37"/>
          <p:cNvSpPr txBox="1"/>
          <p:nvPr/>
        </p:nvSpPr>
        <p:spPr>
          <a:xfrm>
            <a:off x="6915150" y="5438775"/>
            <a:ext cx="2438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모빌리티</a:t>
            </a:r>
            <a:endParaRPr lang="en-US" sz="1450">
              <a:latin typeface="Pretendard"/>
              <a:ea typeface="Pretendard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9677400" y="5391150"/>
            <a:ext cx="2705100" cy="457200"/>
          </a:xfrm>
          <a:prstGeom prst="roundRect">
            <a:avLst>
              <a:gd name="adj" fmla="val 29167"/>
            </a:avLst>
          </a:prstGeom>
          <a:solidFill>
            <a:srgbClr val="F7FAFF"/>
          </a:solidFill>
          <a:ln w="13335">
            <a:solidFill>
              <a:srgbClr val="B8CDE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2" name="Text 39"/>
          <p:cNvSpPr txBox="1"/>
          <p:nvPr/>
        </p:nvSpPr>
        <p:spPr>
          <a:xfrm>
            <a:off x="9810750" y="5438775"/>
            <a:ext cx="2438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글로벌 트레이딩</a:t>
            </a:r>
            <a:endParaRPr lang="en-US" sz="1450">
              <a:latin typeface="Pretendard"/>
              <a:ea typeface="Pretendard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781800" y="5962650"/>
            <a:ext cx="2705100" cy="457200"/>
          </a:xfrm>
          <a:prstGeom prst="roundRect">
            <a:avLst>
              <a:gd name="adj" fmla="val 29167"/>
            </a:avLst>
          </a:prstGeom>
          <a:solidFill>
            <a:srgbClr val="F7FAFF"/>
          </a:solidFill>
          <a:ln w="13335">
            <a:solidFill>
              <a:srgbClr val="B8CDE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4" name="Text 41"/>
          <p:cNvSpPr txBox="1"/>
          <p:nvPr/>
        </p:nvSpPr>
        <p:spPr>
          <a:xfrm>
            <a:off x="6915150" y="6010275"/>
            <a:ext cx="2438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인공지능(AI)</a:t>
            </a:r>
            <a:endParaRPr lang="en-US" sz="1450">
              <a:latin typeface="Pretendard"/>
              <a:ea typeface="Pretendard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9677400" y="5962650"/>
            <a:ext cx="2705100" cy="457200"/>
          </a:xfrm>
          <a:prstGeom prst="roundRect">
            <a:avLst>
              <a:gd name="adj" fmla="val 29167"/>
            </a:avLst>
          </a:prstGeom>
          <a:solidFill>
            <a:srgbClr val="F7FAFF"/>
          </a:solidFill>
          <a:ln w="13335">
            <a:solidFill>
              <a:srgbClr val="B8CDE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6" name="Text 43"/>
          <p:cNvSpPr txBox="1"/>
          <p:nvPr/>
        </p:nvSpPr>
        <p:spPr>
          <a:xfrm>
            <a:off x="9810750" y="6010275"/>
            <a:ext cx="2438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디지털 마케팅</a:t>
            </a:r>
            <a:endParaRPr lang="en-US" sz="1450">
              <a:latin typeface="Pretendard"/>
              <a:ea typeface="Pretendard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6781800" y="6610350"/>
            <a:ext cx="5600700" cy="428625"/>
          </a:xfrm>
          <a:prstGeom prst="roundRect">
            <a:avLst>
              <a:gd name="adj" fmla="val 31111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48" name="Text 45"/>
          <p:cNvSpPr txBox="1"/>
          <p:nvPr/>
        </p:nvSpPr>
        <p:spPr>
          <a:xfrm>
            <a:off x="6991350" y="6677025"/>
            <a:ext cx="9525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공통 기준</a:t>
            </a:r>
            <a:endParaRPr lang="en-US" sz="1250">
              <a:latin typeface="Pretendard"/>
              <a:ea typeface="Pretendard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7953375" y="6696075"/>
            <a:ext cx="0" cy="257175"/>
          </a:xfrm>
          <a:prstGeom prst="line">
            <a:avLst/>
          </a:prstGeom>
          <a:noFill/>
          <a:ln w="8890">
            <a:solidFill>
              <a:srgbClr val="B8CDE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0" name="Text 47"/>
          <p:cNvSpPr txBox="1"/>
          <p:nvPr/>
        </p:nvSpPr>
        <p:spPr>
          <a:xfrm>
            <a:off x="8191500" y="6677025"/>
            <a:ext cx="1047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5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데이터 연결</a:t>
            </a:r>
            <a:endParaRPr lang="en-US" sz="1225">
              <a:latin typeface="Pretendard"/>
              <a:ea typeface="Pretendard"/>
            </a:endParaRPr>
          </a:p>
        </p:txBody>
      </p:sp>
      <p:sp>
        <p:nvSpPr>
          <p:cNvPr id="51" name="Text 48"/>
          <p:cNvSpPr txBox="1"/>
          <p:nvPr/>
        </p:nvSpPr>
        <p:spPr>
          <a:xfrm>
            <a:off x="9448800" y="6677025"/>
            <a:ext cx="1047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5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업무 용어</a:t>
            </a:r>
            <a:endParaRPr lang="en-US" sz="1225">
              <a:latin typeface="Pretendard"/>
              <a:ea typeface="Pretendard"/>
            </a:endParaRPr>
          </a:p>
        </p:txBody>
      </p:sp>
      <p:sp>
        <p:nvSpPr>
          <p:cNvPr id="52" name="Text 49"/>
          <p:cNvSpPr txBox="1"/>
          <p:nvPr/>
        </p:nvSpPr>
        <p:spPr>
          <a:xfrm>
            <a:off x="10525125" y="6677025"/>
            <a:ext cx="1047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5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권한 기준</a:t>
            </a:r>
            <a:endParaRPr lang="en-US" sz="1225">
              <a:latin typeface="Pretendard"/>
              <a:ea typeface="Pretendard"/>
            </a:endParaRPr>
          </a:p>
        </p:txBody>
      </p:sp>
      <p:sp>
        <p:nvSpPr>
          <p:cNvPr id="53" name="Text 50"/>
          <p:cNvSpPr txBox="1"/>
          <p:nvPr/>
        </p:nvSpPr>
        <p:spPr>
          <a:xfrm>
            <a:off x="11563350" y="6677025"/>
            <a:ext cx="7143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5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보고서</a:t>
            </a:r>
            <a:endParaRPr lang="en-US" sz="1225">
              <a:latin typeface="Pretendard"/>
              <a:ea typeface="Pretendard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13430250" y="2667000"/>
            <a:ext cx="3562350" cy="5048250"/>
          </a:xfrm>
          <a:prstGeom prst="roundRect">
            <a:avLst>
              <a:gd name="adj" fmla="val 3743"/>
            </a:avLst>
          </a:prstGeom>
          <a:solidFill>
            <a:srgbClr val="EAF3FF"/>
          </a:solidFill>
          <a:ln w="2794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6" name="Text 53"/>
          <p:cNvSpPr txBox="1"/>
          <p:nvPr/>
        </p:nvSpPr>
        <p:spPr>
          <a:xfrm>
            <a:off x="13868400" y="3320415"/>
            <a:ext cx="2686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SK그룹사</a:t>
            </a:r>
            <a:endParaRPr lang="en-US" sz="3450">
              <a:latin typeface="Pretendard"/>
              <a:ea typeface="Pretendard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14430375" y="4410075"/>
            <a:ext cx="1562100" cy="1562100"/>
          </a:xfrm>
          <a:prstGeom prst="ellipse">
            <a:avLst/>
          </a:prstGeom>
          <a:solidFill>
            <a:srgbClr val="FFFFFF"/>
          </a:solidFill>
          <a:ln w="3937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14811375" y="4791075"/>
            <a:ext cx="333375" cy="333375"/>
          </a:xfrm>
          <a:prstGeom prst="rect">
            <a:avLst/>
          </a:prstGeom>
          <a:solidFill>
            <a:srgbClr val="FFFFFF">
              <a:alpha val="0"/>
            </a:srgbClr>
          </a:solidFill>
          <a:ln w="2667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15278100" y="4791075"/>
            <a:ext cx="333375" cy="333375"/>
          </a:xfrm>
          <a:prstGeom prst="rect">
            <a:avLst/>
          </a:prstGeom>
          <a:solidFill>
            <a:srgbClr val="FFFFFF">
              <a:alpha val="0"/>
            </a:srgbClr>
          </a:solidFill>
          <a:ln w="2667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14811375" y="5257800"/>
            <a:ext cx="333375" cy="333375"/>
          </a:xfrm>
          <a:prstGeom prst="rect">
            <a:avLst/>
          </a:prstGeom>
          <a:solidFill>
            <a:srgbClr val="FFFFFF">
              <a:alpha val="0"/>
            </a:srgbClr>
          </a:solidFill>
          <a:ln w="2667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15278100" y="5257800"/>
            <a:ext cx="333375" cy="333375"/>
          </a:xfrm>
          <a:prstGeom prst="rect">
            <a:avLst/>
          </a:prstGeom>
          <a:solidFill>
            <a:srgbClr val="FFFFFF">
              <a:alpha val="0"/>
            </a:srgbClr>
          </a:solidFill>
          <a:ln w="2667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15144750" y="4957763"/>
            <a:ext cx="133350" cy="0"/>
          </a:xfrm>
          <a:prstGeom prst="line">
            <a:avLst/>
          </a:prstGeom>
          <a:noFill/>
          <a:ln w="2667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14978062" y="5124450"/>
            <a:ext cx="0" cy="133350"/>
          </a:xfrm>
          <a:prstGeom prst="line">
            <a:avLst/>
          </a:prstGeom>
          <a:noFill/>
          <a:ln w="2667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15444788" y="5124450"/>
            <a:ext cx="0" cy="133350"/>
          </a:xfrm>
          <a:prstGeom prst="line">
            <a:avLst/>
          </a:prstGeom>
          <a:noFill/>
          <a:ln w="2667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14220825" y="4705350"/>
            <a:ext cx="314325" cy="180975"/>
          </a:xfrm>
          <a:prstGeom prst="line">
            <a:avLst/>
          </a:prstGeom>
          <a:noFill/>
          <a:ln w="17780">
            <a:solidFill>
              <a:srgbClr val="9DB9D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6" name="Shape 63"/>
          <p:cNvSpPr/>
          <p:nvPr/>
        </p:nvSpPr>
        <p:spPr>
          <a:xfrm flipH="1">
            <a:off x="15887700" y="4686300"/>
            <a:ext cx="285750" cy="190500"/>
          </a:xfrm>
          <a:prstGeom prst="line">
            <a:avLst/>
          </a:prstGeom>
          <a:noFill/>
          <a:ln w="17780">
            <a:solidFill>
              <a:srgbClr val="9DB9D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7" name="Shape 64"/>
          <p:cNvSpPr/>
          <p:nvPr/>
        </p:nvSpPr>
        <p:spPr>
          <a:xfrm flipH="1" flipV="1">
            <a:off x="15944850" y="5581650"/>
            <a:ext cx="295275" cy="161925"/>
          </a:xfrm>
          <a:prstGeom prst="line">
            <a:avLst/>
          </a:prstGeom>
          <a:noFill/>
          <a:ln w="17780">
            <a:solidFill>
              <a:srgbClr val="9DB9D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8" name="Shape 65"/>
          <p:cNvSpPr/>
          <p:nvPr/>
        </p:nvSpPr>
        <p:spPr>
          <a:xfrm flipV="1">
            <a:off x="14192250" y="5610225"/>
            <a:ext cx="342900" cy="247650"/>
          </a:xfrm>
          <a:prstGeom prst="line">
            <a:avLst/>
          </a:prstGeom>
          <a:noFill/>
          <a:ln w="17780">
            <a:solidFill>
              <a:srgbClr val="9DB9D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13887450" y="4457700"/>
            <a:ext cx="342900" cy="3429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16154400" y="4371975"/>
            <a:ext cx="400050" cy="40005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1" name="Shape 68"/>
          <p:cNvSpPr/>
          <p:nvPr/>
        </p:nvSpPr>
        <p:spPr>
          <a:xfrm>
            <a:off x="16230600" y="5648325"/>
            <a:ext cx="361950" cy="36195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13820775" y="5762625"/>
            <a:ext cx="381000" cy="3810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6F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3" name="Text 70"/>
          <p:cNvSpPr txBox="1"/>
          <p:nvPr/>
        </p:nvSpPr>
        <p:spPr>
          <a:xfrm>
            <a:off x="13906500" y="6305550"/>
            <a:ext cx="2609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계열사별 데이터</a:t>
            </a:r>
            <a:endParaRPr lang="en-US" sz="2000">
              <a:latin typeface="Pretendard"/>
              <a:ea typeface="Pretendard"/>
            </a:endParaRPr>
          </a:p>
        </p:txBody>
      </p:sp>
      <p:sp>
        <p:nvSpPr>
          <p:cNvPr id="74" name="Text 71"/>
          <p:cNvSpPr txBox="1"/>
          <p:nvPr/>
        </p:nvSpPr>
        <p:spPr>
          <a:xfrm>
            <a:off x="13906500" y="6762750"/>
            <a:ext cx="2609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>
                <a:solidFill>
                  <a:srgbClr val="60758A"/>
                </a:solidFill>
                <a:latin typeface="Pretendard"/>
                <a:ea typeface="Pretendard"/>
                <a:cs typeface="Pretendard" pitchFamily="34" charset="-120"/>
              </a:rPr>
              <a:t>업무 기준 연결</a:t>
            </a:r>
            <a:endParaRPr lang="en-US" sz="1550">
              <a:latin typeface="Pretendard"/>
              <a:ea typeface="Pretendard"/>
            </a:endParaRPr>
          </a:p>
        </p:txBody>
      </p:sp>
      <p:sp>
        <p:nvSpPr>
          <p:cNvPr id="75" name="Shape 72"/>
          <p:cNvSpPr/>
          <p:nvPr/>
        </p:nvSpPr>
        <p:spPr>
          <a:xfrm>
            <a:off x="3181350" y="5191125"/>
            <a:ext cx="36195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5962650" y="5191125"/>
            <a:ext cx="36195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7" name="Shape 74"/>
          <p:cNvSpPr/>
          <p:nvPr/>
        </p:nvSpPr>
        <p:spPr>
          <a:xfrm>
            <a:off x="12934950" y="5191125"/>
            <a:ext cx="400050" cy="0"/>
          </a:xfrm>
          <a:prstGeom prst="line">
            <a:avLst/>
          </a:prstGeom>
          <a:noFill/>
          <a:ln w="19050">
            <a:solidFill>
              <a:srgbClr val="176FE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1009650" y="8782050"/>
            <a:ext cx="16268700" cy="0"/>
          </a:xfrm>
          <a:prstGeom prst="line">
            <a:avLst/>
          </a:prstGeom>
          <a:noFill/>
          <a:ln w="10160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9" name="Text 76"/>
          <p:cNvSpPr txBox="1"/>
          <p:nvPr/>
        </p:nvSpPr>
        <p:spPr>
          <a:xfrm>
            <a:off x="1009650" y="9039225"/>
            <a:ext cx="1238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5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확장 방향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2762250" y="8982075"/>
            <a:ext cx="11049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50" b="1">
                <a:solidFill>
                  <a:srgbClr val="153451"/>
                </a:solidFill>
                <a:latin typeface="Pretendard"/>
                <a:ea typeface="Pretendard"/>
                <a:cs typeface="Pretendard" pitchFamily="34" charset="-120"/>
              </a:rPr>
              <a:t>하나의 검증 환경에서 </a:t>
            </a:r>
            <a:r>
              <a:rPr lang="en-US" sz="2250" b="1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SK네트웍스 8개 사업영역과 SK그룹사로 확대</a:t>
            </a:r>
            <a:endParaRPr lang="en-US" sz="2250">
              <a:latin typeface="Pretendard"/>
              <a:ea typeface="Pretendard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242C3825-947A-CECE-5A17-1A916070539E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1" name="Text 1">
            <a:extLst>
              <a:ext uri="{FF2B5EF4-FFF2-40B4-BE49-F238E27FC236}">
                <a16:creationId xmlns:a16="http://schemas.microsoft.com/office/drawing/2014/main" id="{E27D6A30-2F12-D53E-9ED9-238A0574CB5F}"/>
              </a:ext>
            </a:extLst>
          </p:cNvPr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49 · SENTERPRISE SCALE</a:t>
            </a:r>
            <a:endParaRPr lang="en-US" sz="1100">
              <a:latin typeface="Pretendard"/>
            </a:endParaRPr>
          </a:p>
        </p:txBody>
      </p:sp>
      <p:sp>
        <p:nvSpPr>
          <p:cNvPr id="83" name="Text 3">
            <a:extLst>
              <a:ext uri="{FF2B5EF4-FFF2-40B4-BE49-F238E27FC236}">
                <a16:creationId xmlns:a16="http://schemas.microsoft.com/office/drawing/2014/main" id="{8E7853FD-C162-9014-9AF8-F1938C465C75}"/>
              </a:ext>
            </a:extLst>
          </p:cNvPr>
          <p:cNvSpPr txBox="1"/>
          <p:nvPr/>
        </p:nvSpPr>
        <p:spPr>
          <a:xfrm>
            <a:off x="1005840" y="1261872"/>
            <a:ext cx="15718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>
                <a:solidFill>
                  <a:srgbClr val="153451"/>
                </a:solidFill>
                <a:latin typeface="Pretendard"/>
                <a:ea typeface="Pretendard"/>
                <a:cs typeface="Calibri"/>
              </a:rPr>
              <a:t>확장성</a:t>
            </a:r>
          </a:p>
        </p:txBody>
      </p:sp>
    </p:spTree>
    <p:extLst>
      <p:ext uri="{BB962C8B-B14F-4D97-AF65-F5344CB8AC3E}">
        <p14:creationId xmlns:p14="http://schemas.microsoft.com/office/powerpoint/2010/main" val="35456283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9650" y="752475"/>
            <a:ext cx="16268700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572500" y="2305050"/>
            <a:ext cx="1143000" cy="0"/>
          </a:xfrm>
          <a:prstGeom prst="line">
            <a:avLst/>
          </a:prstGeom>
          <a:noFill/>
          <a:ln w="57150">
            <a:solidFill>
              <a:srgbClr val="176FE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810250" y="268605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400" b="1">
                <a:solidFill>
                  <a:srgbClr val="1534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5400"/>
          </a:p>
        </p:txBody>
      </p:sp>
      <p:sp>
        <p:nvSpPr>
          <p:cNvPr id="7" name="Text 5"/>
          <p:cNvSpPr txBox="1"/>
          <p:nvPr/>
        </p:nvSpPr>
        <p:spPr>
          <a:xfrm>
            <a:off x="5810250" y="3790950"/>
            <a:ext cx="666750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900" b="1">
                <a:solidFill>
                  <a:srgbClr val="176F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9900"/>
          </a:p>
        </p:txBody>
      </p:sp>
      <p:sp>
        <p:nvSpPr>
          <p:cNvPr id="8" name="Shape 6"/>
          <p:cNvSpPr/>
          <p:nvPr/>
        </p:nvSpPr>
        <p:spPr>
          <a:xfrm>
            <a:off x="5810250" y="6057900"/>
            <a:ext cx="6667500" cy="0"/>
          </a:xfrm>
          <a:prstGeom prst="line">
            <a:avLst/>
          </a:prstGeom>
          <a:noFill/>
          <a:ln w="19050">
            <a:solidFill>
              <a:srgbClr val="DCE7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334000" y="6496050"/>
            <a:ext cx="7620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50" b="1">
                <a:solidFill>
                  <a:srgbClr val="4B5F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기업의 질문에 서비스로 답하는,</a:t>
            </a:r>
            <a:endParaRPr lang="en-US" sz="2850"/>
          </a:p>
        </p:txBody>
      </p:sp>
      <p:sp>
        <p:nvSpPr>
          <p:cNvPr id="10" name="Text 8"/>
          <p:cNvSpPr txBox="1"/>
          <p:nvPr/>
        </p:nvSpPr>
        <p:spPr>
          <a:xfrm>
            <a:off x="5334000" y="7162800"/>
            <a:ext cx="7620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750" b="1">
                <a:solidFill>
                  <a:srgbClr val="176F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Answervice였습니다.</a:t>
            </a:r>
            <a:endParaRPr lang="en-US" sz="375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3658E865-C06C-52F8-F542-B262737DE8FE}"/>
              </a:ext>
            </a:extLst>
          </p:cNvPr>
          <p:cNvSpPr/>
          <p:nvPr/>
        </p:nvSpPr>
        <p:spPr>
          <a:xfrm>
            <a:off x="1005840" y="749808"/>
            <a:ext cx="16267176" cy="0"/>
          </a:xfrm>
          <a:prstGeom prst="line">
            <a:avLst/>
          </a:prstGeom>
          <a:noFill/>
          <a:ln w="9525">
            <a:solidFill>
              <a:srgbClr val="DCE7F4"/>
            </a:solidFill>
            <a:prstDash val="solid"/>
          </a:ln>
        </p:spPr>
        <p:txBody>
          <a:bodyPr/>
          <a:lstStyle/>
          <a:p>
            <a:endParaRPr lang="ko-KR" altLang="en-US">
              <a:ea typeface="Pretendard" panose="02000503000000020004" pitchFamily="2" charset="-127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026B1DE1-9E9E-7A03-4B7D-4E6DECB23751}"/>
              </a:ext>
            </a:extLst>
          </p:cNvPr>
          <p:cNvSpPr txBox="1"/>
          <p:nvPr/>
        </p:nvSpPr>
        <p:spPr>
          <a:xfrm>
            <a:off x="1005840" y="950976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>
                <a:solidFill>
                  <a:srgbClr val="176FE5"/>
                </a:solidFill>
                <a:latin typeface="Pretendard"/>
                <a:ea typeface="Pretendard"/>
                <a:cs typeface="Pretendard" pitchFamily="34" charset="-120"/>
              </a:rPr>
              <a:t>ANSWERVICE / 50 · Q&amp;A</a:t>
            </a:r>
            <a:endParaRPr lang="en-US" sz="1100">
              <a:latin typeface="Pretendar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0866c73-d84e-4976-9e76-2b027efee40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63BB446F8D88F43AE941EDE9559C296" ma:contentTypeVersion="5" ma:contentTypeDescription="새 문서를 만듭니다." ma:contentTypeScope="" ma:versionID="0b6626fd114513d19486b2b4e9d15276">
  <xsd:schema xmlns:xsd="http://www.w3.org/2001/XMLSchema" xmlns:xs="http://www.w3.org/2001/XMLSchema" xmlns:p="http://schemas.microsoft.com/office/2006/metadata/properties" xmlns:ns3="20866c73-d84e-4976-9e76-2b027efee40b" targetNamespace="http://schemas.microsoft.com/office/2006/metadata/properties" ma:root="true" ma:fieldsID="8ad03fb58199f88094153fb1c22551d5" ns3:_="">
    <xsd:import namespace="20866c73-d84e-4976-9e76-2b027efee40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866c73-d84e-4976-9e76-2b027efee40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D72BBE-FB80-4F06-BAC3-9D32D3BB3F80}">
  <ds:schemaRefs>
    <ds:schemaRef ds:uri="20866c73-d84e-4976-9e76-2b027efee40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B81C250-B6E9-4947-9F35-741A6C7B8B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BE0438-8866-4B01-8B04-0E1D960CE3F4}">
  <ds:schemaRefs>
    <ds:schemaRef ds:uri="20866c73-d84e-4976-9e76-2b027efee40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사용자 지정</PresentationFormat>
  <Slides>50</Slides>
  <Notes>50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1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4</cp:revision>
  <dcterms:created xsi:type="dcterms:W3CDTF">2026-08-31T07:08:31Z</dcterms:created>
  <dcterms:modified xsi:type="dcterms:W3CDTF">2026-09-03T02:57:51Z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0x010100863BB446F8D88F43AE941EDE9559C296</vt:lpwstr>
  </property>
</Properties>
</file>